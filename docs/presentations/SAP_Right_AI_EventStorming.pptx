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e0400dc6-391b-07a6-c09d-b6578d9509f0}">
          <p14:sldIdLst>
            <p14:sldId id="256"/>
            <p14:sldId id="257"/>
            <p14:sldId id="258"/>
          </p14:sldIdLst>
        </p14:section>
        <p14:section name="Processes" id="{f33b5ee1-624f-3f36-7be0-c634b2351607}">
          <p14:sldIdLst>
            <p14:sldId id="259"/>
            <p14:sldId id="260"/>
            <p14:sldId id="261"/>
            <p14:sldId id="262"/>
            <p14:sldId id="263"/>
            <p14:sldId id="264"/>
          </p14:sldIdLst>
        </p14:section>
        <p14:section name="Results" id="{5974e406-ca77-d3c8-947f-1ae77a73de85}">
          <p14:sldIdLst>
            <p14:sldId id="265"/>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used EventStorming to model how SAP's automations should live: from training the people who request them, to monitoring agents and turning those that behave like workflows into workflows. Our thesis stays the same: SAP does not need more AI to become an Autonomous Enterprise, it needs the right AI for each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followed the five EventStorming phases from the lecture: chaotic exploration, timeline, consistency, bounded contexts and detail. To keep this readable we only show four note types: orange events, star-marked pivotal events where a handover happens, yellow actors, green external systems and red hotspots for open questions. Commands, policies and data models stay out on purpose – they belong in the next, process-level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whole board on one slide. Six bounded contexts, connected by the events that hand work from one to the next; the starred ones are pivotal. It is a loop, not a line: every finished conversion goes back into the training as a real case. The first two contexts prevent over-engineering, the last two correct it. Our approach from the pitch maps one to one: Train, Triage, Monitor, Replace.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Enablement is the prevention lever. When someone becomes a process owner, ladder training is assigned automatically through the learning platform. The training teaches the automation ladder: use the lowest step that does the job. Rule behind the board: a new process owner always gets the training assigned. Finished conversions come back here as real cases, so training improves over time. Open question H1: is the training mandatory for everyone who requests automations, or only for those who want an 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process owner raises a need and answers a short triage tree. Rules behind the board: if the requester has not completed the ladder training, training comes first. If the steps are always the same, the result is a rule or a workflow; only open-ended tasks justify a GenAI call or an agent. "Automation approach decided" is the first pivotal event: from here the build team takes over. Open question H2: who may overrule the recommendation, and does choosing an agent need a written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AI engineer builds the automation on the workflow engine or agent platform; the process owner approves go-live. Rule behind the board: if the automation is an agent, it is always registered for monitoring – that is what makes the dashboard complete. Open question H3: what about agents that were built before the programme? We need a one-time inventory.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daily operation. A requester – an employee or a customer – submits a request, and the automation handles it, calling an LLM or cloud provider if it is an agent. Rule behind the board: an unknown case or a low-confidence answer is escalated to a human. Every run is logged with tokens, steps and output. These logs are the only input the monitoring needs.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our approach. Every night the monitoring service collects the run logs from the agent platform and calculates token usage and how similar outputs and tool-call paths have become. Rules behind the board (example values for discussion): similarity above the threshold for four weeks flags an agent as uniform; no runs for 90 days flags it as unused. No extra AI checks the AI – it is simple statistics on existing logs. Three hotspots: H4 which similarity counts, H5 tokens are only a proxy for energy, and H6 data protection and works council, since logs can contain personal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process owner reviews the recommendation, seeing the most frequent paths and the estimated token savings, and approves or rejects with a reason. The AI engineer derives a workflow from the frequent paths; standard cases go to the workflow and the agent keeps only the exceptions. Rules behind the board: no exceptions left for 90 days → the agent is retired; every closed conversion becomes a case in the training. Open policy question: does the owner always have to approve, or can low-risk agents be converted automatically? Hotspot H7: who pays for the conversion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takeaways. First, the lifecycle is a loop: conversions feed the training. Second, there are two levers – prevent and correct. Third, the dashboard needs no extra AI; it runs on logs that already exist. Fourth, people keep the decisions. On the right, the first cut of how the six contexts would become services, following the lecture heuristic of one context per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seven hotspots from the board, grouped by theme, each with a suggested next step. Two of them could block a pilot: H6, because run logs can contain personal data and allow conclusions about employees, which in Germany needs data protection and works council involvement; and H7, because someone has to pay for the conversion work. The measurement questions H4 and H5 we can answer with pilot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next steps. First, clear the two blockers, data protection and funding. Second, run a process-level EventStorming on one concrete use case, for example recruiting, where we add commands and policies. Third, turn the bounded contexts into services and start with the dashboard, because it only needs existing logs. To close: agents explore, workflows execute.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chemeClr val="tx2"/>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274320"/>
          </a:xfrm>
          <a:prstGeom prst="rect">
            <a:avLst/>
          </a:prstGeom>
          <a:noFill/>
          <a:ln/>
        </p:spPr>
        <p:txBody>
          <a:bodyPr wrap="square" rtlCol="0"/>
          <a:lstStyle>
            <a:lvl1pPr indent="0" marL="0">
              <a:buNone/>
              <a:defRPr lang="en-US" sz="1100" b="1" spc="200" kern="0" dirty="0">
                <a:solidFill>
                  <a:schemeClr val="accent1"/>
                </a:solidFill>
                <a:latin typeface="Arial" pitchFamily="34" charset="0"/>
                <a:ea typeface="Arial" pitchFamily="34" charset="-122"/>
                <a:cs typeface="Arial" pitchFamily="34" charset="-120"/>
              </a:defRPr>
            </a:lvl1pPr>
          </a:lstStyle>
          <a:p>
            <a:pPr indent="0" marL="0">
              <a:buNone/>
            </a:pPr>
            <a:endParaRPr lang="en-US" sz="1100" dirty="0"/>
          </a:p>
        </p:txBody>
      </p:sp>
      <p:sp>
        <p:nvSpPr>
          <p:cNvPr id="3" name="Text 0"/>
          <p:cNvSpPr/>
          <p:nvPr>
            <p:ph idx="101" type="title" hasCustomPrompt="1"/>
          </p:nvPr>
        </p:nvSpPr>
        <p:spPr>
          <a:xfrm>
            <a:off x="548640" y="640080"/>
            <a:ext cx="11064240" cy="868680"/>
          </a:xfrm>
          <a:prstGeom prst="rect">
            <a:avLst/>
          </a:prstGeom>
          <a:noFill/>
          <a:ln/>
        </p:spPr>
        <p:txBody>
          <a:bodyPr wrap="square" rtlCol="0"/>
          <a:lstStyle>
            <a:lvl1pPr algn="l" indent="0" marL="0">
              <a:buNone/>
              <a:defRPr lang="en-US" sz="2600" b="1" dirty="0">
                <a:solidFill>
                  <a:schemeClr val="tx1"/>
                </a:solidFill>
                <a:latin typeface="Arial" pitchFamily="34" charset="0"/>
                <a:ea typeface="Arial" pitchFamily="34" charset="-122"/>
                <a:cs typeface="Arial" pitchFamily="34" charset="-120"/>
              </a:defRPr>
            </a:lvl1pPr>
          </a:lstStyle>
          <a:p>
            <a:pPr algn="l" indent="0" marL="0">
              <a:buNone/>
            </a:pPr>
            <a:endParaRPr lang="en-US" sz="2600" dirty="0"/>
          </a:p>
        </p:txBody>
      </p:sp>
      <p:sp>
        <p:nvSpPr>
          <p:cNvPr id="4" name="Text 0"/>
          <p:cNvSpPr/>
          <p:nvPr/>
        </p:nvSpPr>
        <p:spPr>
          <a:xfrm>
            <a:off x="548640" y="6446520"/>
            <a:ext cx="5486400" cy="228600"/>
          </a:xfrm>
          <a:prstGeom prst="rect">
            <a:avLst/>
          </a:prstGeom>
          <a:noFill/>
          <a:ln/>
        </p:spPr>
        <p:txBody>
          <a:bodyPr wrap="square" lIns="0" tIns="0" rIns="0" bIns="0" rtlCol="0" anchor="ctr"/>
          <a:lstStyle/>
          <a:p>
            <a:pPr indent="0" marL="0">
              <a:buNone/>
            </a:pPr>
            <a:r>
              <a:rPr lang="en-US" sz="900" dirty="0">
                <a:solidFill>
                  <a:srgbClr val="5E6E6A"/>
                </a:solidFill>
                <a:latin typeface="Calibri" pitchFamily="34" charset="0"/>
                <a:ea typeface="Calibri" pitchFamily="34" charset="-122"/>
                <a:cs typeface="Calibri" pitchFamily="34" charset="-120"/>
              </a:rPr>
              <a:t>Scrumsterz  ·  Right AI EventStorming</a:t>
            </a:r>
            <a:endParaRPr lang="en-US" sz="900" dirty="0"/>
          </a:p>
        </p:txBody>
      </p:sp>
      <p:sp>
        <p:nvSpPr>
          <p:cNvPr id="25" name="Slide Number Placeholder 0"/>
          <p:cNvSpPr>
            <a:spLocks noGrp="1"/>
          </p:cNvSpPr>
          <p:nvPr>
            <p:ph type="sldNum" sz="quarter" idx="4294967295"/>
          </p:nvPr>
        </p:nvSpPr>
        <p:spPr>
          <a:xfrm>
            <a:off x="11274552" y="644652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E6E6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4552" y="644652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E6E6A"/>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3.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731520"/>
            <a:ext cx="9144000" cy="274320"/>
          </a:xfrm>
          <a:prstGeom prst="rect">
            <a:avLst/>
          </a:prstGeom>
          <a:noFill/>
          <a:ln/>
        </p:spPr>
        <p:txBody>
          <a:bodyPr wrap="square" lIns="0" tIns="0" rIns="0" bIns="0" rtlCol="0" anchor="ctr"/>
          <a:lstStyle/>
          <a:p>
            <a:pPr indent="0" marL="0">
              <a:buNone/>
            </a:pPr>
            <a:r>
              <a:rPr lang="en-US" sz="1200" b="1" spc="300" kern="0" dirty="0">
                <a:solidFill>
                  <a:schemeClr val="accent2"/>
                </a:solidFill>
                <a:latin typeface="Arial" pitchFamily="34" charset="0"/>
                <a:ea typeface="Arial" pitchFamily="34" charset="-122"/>
                <a:cs typeface="Arial" pitchFamily="34" charset="-120"/>
              </a:rPr>
              <a:t>SAP CHALLENGE  ·  EVENTSTORMING RESULTS</a:t>
            </a:r>
            <a:endParaRPr lang="en-US" sz="1200" dirty="0"/>
          </a:p>
        </p:txBody>
      </p:sp>
      <p:sp>
        <p:nvSpPr>
          <p:cNvPr id="3" name="Text 1"/>
          <p:cNvSpPr txBox="1"/>
          <p:nvPr/>
        </p:nvSpPr>
        <p:spPr>
          <a:xfrm>
            <a:off x="731520" y="1371600"/>
            <a:ext cx="8229600" cy="1737360"/>
          </a:xfrm>
          <a:prstGeom prst="rect">
            <a:avLst/>
          </a:prstGeom>
          <a:noFill/>
          <a:ln/>
        </p:spPr>
        <p:txBody>
          <a:bodyPr wrap="square" lIns="0" tIns="0" rIns="0" bIns="0" rtlCol="0" anchor="t"/>
          <a:lstStyle/>
          <a:p>
            <a:pPr indent="0" marL="0">
              <a:buNone/>
            </a:pPr>
            <a:r>
              <a:rPr lang="en-US" sz="5000" b="1" dirty="0">
                <a:solidFill>
                  <a:schemeClr val="bg1"/>
                </a:solidFill>
                <a:latin typeface="Arial" pitchFamily="34" charset="0"/>
                <a:ea typeface="Arial" pitchFamily="34" charset="-122"/>
                <a:cs typeface="Arial" pitchFamily="34" charset="-120"/>
              </a:rPr>
              <a:t>Not more AI,</a:t>
            </a:r>
            <a:endParaRPr lang="en-US" sz="5000" dirty="0"/>
          </a:p>
          <a:p>
            <a:pPr indent="0" marL="0">
              <a:buNone/>
            </a:pPr>
            <a:r>
              <a:rPr lang="en-US" sz="5000" b="1" dirty="0">
                <a:solidFill>
                  <a:schemeClr val="bg1"/>
                </a:solidFill>
                <a:latin typeface="Arial" pitchFamily="34" charset="0"/>
                <a:ea typeface="Arial" pitchFamily="34" charset="-122"/>
                <a:cs typeface="Arial" pitchFamily="34" charset="-120"/>
              </a:rPr>
              <a:t>but the right AI.</a:t>
            </a:r>
            <a:endParaRPr lang="en-US" sz="5000" dirty="0"/>
          </a:p>
        </p:txBody>
      </p:sp>
      <p:sp>
        <p:nvSpPr>
          <p:cNvPr id="4" name="Text 2"/>
          <p:cNvSpPr txBox="1"/>
          <p:nvPr/>
        </p:nvSpPr>
        <p:spPr>
          <a:xfrm>
            <a:off x="731520" y="3291840"/>
            <a:ext cx="7498080" cy="822960"/>
          </a:xfrm>
          <a:prstGeom prst="rect">
            <a:avLst/>
          </a:prstGeom>
          <a:noFill/>
          <a:ln/>
        </p:spPr>
        <p:txBody>
          <a:bodyPr wrap="square" lIns="0" tIns="0" rIns="0" bIns="0" rtlCol="0" anchor="t"/>
          <a:lstStyle/>
          <a:p>
            <a:pPr indent="0" marL="0">
              <a:buNone/>
            </a:pPr>
            <a:r>
              <a:rPr lang="en-US" sz="1800" dirty="0">
                <a:solidFill>
                  <a:schemeClr val="bg2"/>
                </a:solidFill>
                <a:latin typeface="Calibri" pitchFamily="34" charset="0"/>
                <a:ea typeface="Calibri" pitchFamily="34" charset="-122"/>
                <a:cs typeface="Calibri" pitchFamily="34" charset="-120"/>
              </a:rPr>
              <a:t>The Right AI lifecycle at SAP – from training process owners to turning uniform agents into workflows</a:t>
            </a:r>
            <a:endParaRPr lang="en-US" sz="1800" dirty="0"/>
          </a:p>
        </p:txBody>
      </p:sp>
      <p:sp>
        <p:nvSpPr>
          <p:cNvPr id="5" name="event note: Automation approach decided"/>
          <p:cNvSpPr/>
          <p:nvPr/>
        </p:nvSpPr>
        <p:spPr>
          <a:xfrm rot="-120000">
            <a:off x="8778240" y="1280160"/>
            <a:ext cx="1600200" cy="914400"/>
          </a:xfrm>
          <a:prstGeom prst="rect">
            <a:avLst/>
          </a:prstGeom>
          <a:solidFill>
            <a:schemeClr val="accent3"/>
          </a:solidFill>
          <a:ln w="28575">
            <a:solidFill>
              <a:schemeClr val="tx1"/>
            </a:solidFill>
            <a:prstDash val="solid"/>
          </a:ln>
          <a:effectLst>
            <a:outerShdw sx="100000" sy="100000" kx="0" ky="0" algn="bl" rotWithShape="0" blurRad="50800" dist="25400" dir="5400000">
              <a:srgbClr val="000000">
                <a:alpha val="18000"/>
              </a:srgbClr>
            </a:outerShdw>
          </a:effectLst>
        </p:spPr>
      </p:sp>
      <p:sp>
        <p:nvSpPr>
          <p:cNvPr id="6" name="Text 4"/>
          <p:cNvSpPr txBox="1"/>
          <p:nvPr/>
        </p:nvSpPr>
        <p:spPr>
          <a:xfrm rot="-120000">
            <a:off x="8851392" y="1335024"/>
            <a:ext cx="1453896" cy="804672"/>
          </a:xfrm>
          <a:prstGeom prst="rect">
            <a:avLst/>
          </a:prstGeom>
          <a:noFill/>
          <a:ln/>
        </p:spPr>
        <p:txBody>
          <a:bodyPr wrap="square" lIns="0" tIns="0" rIns="0" bIns="0" rtlCol="0" anchor="t">
            <a:normAutofit/>
          </a:bodyPr>
          <a:lstStyle/>
          <a:p>
            <a:pPr indent="0" marL="0">
              <a:buNone/>
            </a:pPr>
            <a:r>
              <a:rPr lang="en-US" sz="1300" dirty="0">
                <a:solidFill>
                  <a:schemeClr val="tx1"/>
                </a:solidFill>
                <a:latin typeface="Calibri" pitchFamily="34" charset="0"/>
                <a:ea typeface="Calibri" pitchFamily="34" charset="-122"/>
                <a:cs typeface="Calibri" pitchFamily="34" charset="-120"/>
              </a:rPr>
              <a:t>★ </a:t>
            </a:r>
            <a:pPr indent="0" marL="0">
              <a:buNone/>
            </a:pPr>
            <a:r>
              <a:rPr lang="en-US" sz="1300" b="1" dirty="0">
                <a:solidFill>
                  <a:schemeClr val="tx1"/>
                </a:solidFill>
                <a:latin typeface="Calibri" pitchFamily="34" charset="0"/>
                <a:ea typeface="Calibri" pitchFamily="34" charset="-122"/>
                <a:cs typeface="Calibri" pitchFamily="34" charset="-120"/>
              </a:rPr>
              <a:t>Automation approach decided</a:t>
            </a:r>
            <a:endParaRPr lang="en-US" sz="1300" dirty="0"/>
          </a:p>
        </p:txBody>
      </p:sp>
      <p:sp>
        <p:nvSpPr>
          <p:cNvPr id="7" name="actor note: Process owner"/>
          <p:cNvSpPr/>
          <p:nvPr/>
        </p:nvSpPr>
        <p:spPr>
          <a:xfrm rot="180000">
            <a:off x="10332720" y="2331720"/>
            <a:ext cx="1600200" cy="548640"/>
          </a:xfrm>
          <a:prstGeom prst="rect">
            <a:avLst/>
          </a:prstGeom>
          <a:solidFill>
            <a:schemeClr val="accent5"/>
          </a:solidFill>
          <a:ln w="6350">
            <a:solidFill>
              <a:schemeClr val="accent5"/>
            </a:solidFill>
            <a:prstDash val="solid"/>
          </a:ln>
          <a:effectLst>
            <a:outerShdw sx="100000" sy="100000" kx="0" ky="0" algn="bl" rotWithShape="0" blurRad="50800" dist="25400" dir="5400000">
              <a:srgbClr val="000000">
                <a:alpha val="18000"/>
              </a:srgbClr>
            </a:outerShdw>
          </a:effectLst>
        </p:spPr>
      </p:sp>
      <p:sp>
        <p:nvSpPr>
          <p:cNvPr id="8" name="Text 6"/>
          <p:cNvSpPr txBox="1"/>
          <p:nvPr/>
        </p:nvSpPr>
        <p:spPr>
          <a:xfrm rot="180000">
            <a:off x="10405872" y="2386584"/>
            <a:ext cx="1453896" cy="438912"/>
          </a:xfrm>
          <a:prstGeom prst="rect">
            <a:avLst/>
          </a:prstGeom>
          <a:noFill/>
          <a:ln/>
        </p:spPr>
        <p:txBody>
          <a:bodyPr wrap="square" lIns="0" tIns="0" rIns="0" bIns="0" rtlCol="0" anchor="t">
            <a:normAutofit/>
          </a:bodyPr>
          <a:lstStyle/>
          <a:p>
            <a:pPr indent="0" marL="0">
              <a:buNone/>
            </a:pPr>
            <a:r>
              <a:rPr lang="en-US" sz="1300" dirty="0">
                <a:solidFill>
                  <a:schemeClr val="tx1"/>
                </a:solidFill>
                <a:latin typeface="Calibri" pitchFamily="34" charset="0"/>
                <a:ea typeface="Calibri" pitchFamily="34" charset="-122"/>
                <a:cs typeface="Calibri" pitchFamily="34" charset="-120"/>
              </a:rPr>
              <a:t>Process owner</a:t>
            </a:r>
            <a:endParaRPr lang="en-US" sz="1300" dirty="0"/>
          </a:p>
        </p:txBody>
      </p:sp>
      <p:sp>
        <p:nvSpPr>
          <p:cNvPr id="9" name="ext note: Agent platform logs"/>
          <p:cNvSpPr/>
          <p:nvPr/>
        </p:nvSpPr>
        <p:spPr>
          <a:xfrm rot="120000">
            <a:off x="9052560" y="3154680"/>
            <a:ext cx="1600200" cy="914400"/>
          </a:xfrm>
          <a:prstGeom prst="rect">
            <a:avLst/>
          </a:prstGeom>
          <a:solidFill>
            <a:schemeClr val="accent4"/>
          </a:solidFill>
          <a:ln w="6350">
            <a:solidFill>
              <a:schemeClr val="accent4"/>
            </a:solidFill>
            <a:prstDash val="solid"/>
          </a:ln>
          <a:effectLst>
            <a:outerShdw sx="100000" sy="100000" kx="0" ky="0" algn="bl" rotWithShape="0" blurRad="50800" dist="25400" dir="5400000">
              <a:srgbClr val="000000">
                <a:alpha val="18000"/>
              </a:srgbClr>
            </a:outerShdw>
          </a:effectLst>
        </p:spPr>
      </p:sp>
      <p:sp>
        <p:nvSpPr>
          <p:cNvPr id="10" name="Text 8"/>
          <p:cNvSpPr txBox="1"/>
          <p:nvPr/>
        </p:nvSpPr>
        <p:spPr>
          <a:xfrm rot="120000">
            <a:off x="9125712" y="3209544"/>
            <a:ext cx="1453896" cy="804672"/>
          </a:xfrm>
          <a:prstGeom prst="rect">
            <a:avLst/>
          </a:prstGeom>
          <a:noFill/>
          <a:ln/>
        </p:spPr>
        <p:txBody>
          <a:bodyPr wrap="square" lIns="0" tIns="0" rIns="0" bIns="0" rtlCol="0" anchor="t">
            <a:normAutofit/>
          </a:bodyPr>
          <a:lstStyle/>
          <a:p>
            <a:pPr indent="0" marL="0">
              <a:buNone/>
            </a:pPr>
            <a:r>
              <a:rPr lang="en-US" sz="1300" dirty="0">
                <a:solidFill>
                  <a:schemeClr val="tx1"/>
                </a:solidFill>
                <a:latin typeface="Calibri" pitchFamily="34" charset="0"/>
                <a:ea typeface="Calibri" pitchFamily="34" charset="-122"/>
                <a:cs typeface="Calibri" pitchFamily="34" charset="-120"/>
              </a:rPr>
              <a:t>Agent platform logs</a:t>
            </a:r>
            <a:endParaRPr lang="en-US" sz="1300" dirty="0"/>
          </a:p>
        </p:txBody>
      </p:sp>
      <p:sp>
        <p:nvSpPr>
          <p:cNvPr id="11" name="hot note: Which similarity counts?"/>
          <p:cNvSpPr/>
          <p:nvPr/>
        </p:nvSpPr>
        <p:spPr>
          <a:xfrm rot="-240000">
            <a:off x="10241280" y="3977640"/>
            <a:ext cx="1600200" cy="914400"/>
          </a:xfrm>
          <a:prstGeom prst="rect">
            <a:avLst/>
          </a:prstGeom>
          <a:solidFill>
            <a:schemeClr val="accent6"/>
          </a:solidFill>
          <a:ln w="6350">
            <a:solidFill>
              <a:schemeClr val="accent6"/>
            </a:solidFill>
            <a:prstDash val="solid"/>
          </a:ln>
          <a:effectLst>
            <a:outerShdw sx="100000" sy="100000" kx="0" ky="0" algn="bl" rotWithShape="0" blurRad="50800" dist="25400" dir="5400000">
              <a:srgbClr val="000000">
                <a:alpha val="18000"/>
              </a:srgbClr>
            </a:outerShdw>
          </a:effectLst>
        </p:spPr>
      </p:sp>
      <p:sp>
        <p:nvSpPr>
          <p:cNvPr id="12" name="Text 10"/>
          <p:cNvSpPr txBox="1"/>
          <p:nvPr/>
        </p:nvSpPr>
        <p:spPr>
          <a:xfrm rot="-240000">
            <a:off x="10314432" y="4032504"/>
            <a:ext cx="1453896" cy="804672"/>
          </a:xfrm>
          <a:prstGeom prst="rect">
            <a:avLst/>
          </a:prstGeom>
          <a:noFill/>
          <a:ln/>
        </p:spPr>
        <p:txBody>
          <a:bodyPr wrap="square" lIns="0" tIns="0" rIns="0" bIns="0" rtlCol="0" anchor="t">
            <a:normAutofit/>
          </a:bodyPr>
          <a:lstStyle/>
          <a:p>
            <a:pPr indent="0" marL="0">
              <a:buNone/>
            </a:pPr>
            <a:r>
              <a:rPr lang="en-US" sz="1300" b="1" dirty="0">
                <a:solidFill>
                  <a:schemeClr val="bg1"/>
                </a:solidFill>
                <a:latin typeface="Calibri" pitchFamily="34" charset="0"/>
                <a:ea typeface="Calibri" pitchFamily="34" charset="-122"/>
                <a:cs typeface="Calibri" pitchFamily="34" charset="-120"/>
              </a:rPr>
              <a:t>Which similarity counts?</a:t>
            </a:r>
            <a:endParaRPr lang="en-US" sz="1300" dirty="0"/>
          </a:p>
        </p:txBody>
      </p:sp>
      <p:sp>
        <p:nvSpPr>
          <p:cNvPr id="13" name="Text 11"/>
          <p:cNvSpPr txBox="1"/>
          <p:nvPr/>
        </p:nvSpPr>
        <p:spPr>
          <a:xfrm>
            <a:off x="731520" y="5486400"/>
            <a:ext cx="5486400" cy="411480"/>
          </a:xfrm>
          <a:prstGeom prst="rect">
            <a:avLst/>
          </a:prstGeom>
          <a:noFill/>
          <a:ln/>
        </p:spPr>
        <p:txBody>
          <a:bodyPr wrap="square" lIns="0" tIns="0" rIns="0" bIns="0" rtlCol="0" anchor="ctr"/>
          <a:lstStyle/>
          <a:p>
            <a:pPr indent="0" marL="0">
              <a:buNone/>
            </a:pPr>
            <a:r>
              <a:rPr lang="en-US" sz="2000" b="1" dirty="0">
                <a:solidFill>
                  <a:schemeClr val="accent2"/>
                </a:solidFill>
                <a:latin typeface="Arial" pitchFamily="34" charset="0"/>
                <a:ea typeface="Arial" pitchFamily="34" charset="-122"/>
                <a:cs typeface="Arial" pitchFamily="34" charset="-120"/>
              </a:rPr>
              <a:t>Scrumsterz</a:t>
            </a:r>
            <a:endParaRPr lang="en-US" sz="2000" dirty="0"/>
          </a:p>
        </p:txBody>
      </p:sp>
      <p:sp>
        <p:nvSpPr>
          <p:cNvPr id="14" name="Text 12"/>
          <p:cNvSpPr txBox="1"/>
          <p:nvPr/>
        </p:nvSpPr>
        <p:spPr>
          <a:xfrm>
            <a:off x="731520" y="5943600"/>
            <a:ext cx="9144000" cy="274320"/>
          </a:xfrm>
          <a:prstGeom prst="rect">
            <a:avLst/>
          </a:prstGeom>
          <a:noFill/>
          <a:ln/>
        </p:spPr>
        <p:txBody>
          <a:bodyPr wrap="square" lIns="0" tIns="0" rIns="0" bIns="0" rtlCol="0" anchor="ctr"/>
          <a:lstStyle/>
          <a:p>
            <a:pPr indent="0" marL="0">
              <a:buNone/>
            </a:pPr>
            <a:r>
              <a:rPr lang="en-US" sz="1200" dirty="0">
                <a:solidFill>
                  <a:srgbClr val="9FB8AF"/>
                </a:solidFill>
                <a:latin typeface="Calibri" pitchFamily="34" charset="0"/>
                <a:ea typeface="Calibri" pitchFamily="34" charset="-122"/>
                <a:cs typeface="Calibri" pitchFamily="34" charset="-120"/>
              </a:rPr>
              <a:t>IS 615 Enterprise Cloud Design &amp; Development  ·  University of Mannheim  ·  October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274320"/>
          </a:xfrm>
          <a:prstGeom prst="rect">
            <a:avLst/>
          </a:prstGeom>
          <a:noFill/>
          <a:ln/>
        </p:spPr>
        <p:txBody>
          <a:bodyPr wrap="square" lIns="0" tIns="0" rIns="0" bIns="0" rtlCol="0"/>
          <a:lstStyle/>
          <a:p>
            <a:pPr indent="0" marL="0">
              <a:buNone/>
            </a:pPr>
            <a:r>
              <a:rPr lang="en-US" sz="1100" b="1" spc="200" kern="0" dirty="0">
                <a:solidFill>
                  <a:schemeClr val="accent1"/>
                </a:solidFill>
                <a:latin typeface="Arial" pitchFamily="34" charset="0"/>
                <a:ea typeface="Arial" pitchFamily="34" charset="-122"/>
                <a:cs typeface="Arial" pitchFamily="34" charset="-120"/>
              </a:rPr>
              <a:t>METHOD</a:t>
            </a:r>
            <a:endParaRPr lang="en-US" sz="1100" dirty="0"/>
          </a:p>
        </p:txBody>
      </p:sp>
      <p:sp>
        <p:nvSpPr>
          <p:cNvPr id="3" name="Text 0"/>
          <p:cNvSpPr/>
          <p:nvPr>
            <p:ph idx="101" type="title" hasCustomPrompt="1"/>
          </p:nvPr>
        </p:nvSpPr>
        <p:spPr>
          <a:xfrm>
            <a:off x="548640" y="640080"/>
            <a:ext cx="11064240" cy="868680"/>
          </a:xfrm>
          <a:prstGeom prst="rect">
            <a:avLst/>
          </a:prstGeom>
          <a:noFill/>
          <a:ln/>
        </p:spPr>
        <p:txBody>
          <a:bodyPr wrap="square" lIns="0" tIns="0" rIns="0" bIns="0" rtlCol="0" anchor="t"/>
          <a:lstStyle/>
          <a:p>
            <a:pPr algn="l" indent="0" marL="0">
              <a:buNone/>
            </a:pPr>
            <a:r>
              <a:rPr lang="en-US" sz="2600" b="1" dirty="0">
                <a:solidFill>
                  <a:schemeClr val="tx1"/>
                </a:solidFill>
                <a:latin typeface="Arial" pitchFamily="34" charset="0"/>
                <a:ea typeface="Arial" pitchFamily="34" charset="-122"/>
                <a:cs typeface="Arial" pitchFamily="34" charset="-120"/>
              </a:rPr>
              <a:t>We mapped the Right AI lifecycle with EventStorming at Big Picture level</a:t>
            </a:r>
            <a:endParaRPr lang="en-US" sz="2600" dirty="0"/>
          </a:p>
        </p:txBody>
      </p:sp>
      <p:sp>
        <p:nvSpPr>
          <p:cNvPr id="4" name="phase 1"/>
          <p:cNvSpPr/>
          <p:nvPr/>
        </p:nvSpPr>
        <p:spPr>
          <a:xfrm>
            <a:off x="548640" y="1783080"/>
            <a:ext cx="2035454" cy="1143000"/>
          </a:xfrm>
          <a:prstGeom prst="roundRect">
            <a:avLst>
              <a:gd name="adj" fmla="val 6400"/>
            </a:avLst>
          </a:prstGeom>
          <a:solidFill>
            <a:schemeClr val="bg2"/>
          </a:solidFill>
          <a:ln w="12700">
            <a:solidFill>
              <a:schemeClr val="bg2"/>
            </a:solidFill>
            <a:prstDash val="solid"/>
          </a:ln>
        </p:spPr>
      </p:sp>
      <p:sp>
        <p:nvSpPr>
          <p:cNvPr id="5" name="Text 3"/>
          <p:cNvSpPr txBox="1"/>
          <p:nvPr/>
        </p:nvSpPr>
        <p:spPr>
          <a:xfrm>
            <a:off x="713232" y="1892808"/>
            <a:ext cx="457200" cy="365760"/>
          </a:xfrm>
          <a:prstGeom prst="rect">
            <a:avLst/>
          </a:prstGeom>
          <a:noFill/>
          <a:ln/>
        </p:spPr>
        <p:txBody>
          <a:bodyPr wrap="square" lIns="0" tIns="0" rIns="0" bIns="0" rtlCol="0" anchor="ctr"/>
          <a:lstStyle/>
          <a:p>
            <a:pPr indent="0" marL="0">
              <a:buNone/>
            </a:pPr>
            <a:r>
              <a:rPr lang="en-US" sz="2000" b="1" dirty="0">
                <a:solidFill>
                  <a:schemeClr val="accent1"/>
                </a:solidFill>
                <a:latin typeface="Arial" pitchFamily="34" charset="0"/>
                <a:ea typeface="Arial" pitchFamily="34" charset="-122"/>
                <a:cs typeface="Arial" pitchFamily="34" charset="-120"/>
              </a:rPr>
              <a:t>1</a:t>
            </a:r>
            <a:endParaRPr lang="en-US" sz="2000" dirty="0"/>
          </a:p>
        </p:txBody>
      </p:sp>
      <p:sp>
        <p:nvSpPr>
          <p:cNvPr id="6" name="Text 4"/>
          <p:cNvSpPr txBox="1"/>
          <p:nvPr/>
        </p:nvSpPr>
        <p:spPr>
          <a:xfrm>
            <a:off x="713232" y="2258568"/>
            <a:ext cx="1761134" cy="274320"/>
          </a:xfrm>
          <a:prstGeom prst="rect">
            <a:avLst/>
          </a:prstGeom>
          <a:noFill/>
          <a:ln/>
        </p:spPr>
        <p:txBody>
          <a:bodyPr wrap="square" lIns="0" tIns="0" rIns="0" bIns="0" rtlCol="0" anchor="ctr"/>
          <a:lstStyle/>
          <a:p>
            <a:pPr indent="0" marL="0">
              <a:buNone/>
            </a:pPr>
            <a:r>
              <a:rPr lang="en-US" sz="1300" b="1" dirty="0">
                <a:solidFill>
                  <a:schemeClr val="tx1"/>
                </a:solidFill>
                <a:latin typeface="Calibri" pitchFamily="34" charset="0"/>
                <a:ea typeface="Calibri" pitchFamily="34" charset="-122"/>
                <a:cs typeface="Calibri" pitchFamily="34" charset="-120"/>
              </a:rPr>
              <a:t>Chaotic exploration</a:t>
            </a:r>
            <a:endParaRPr lang="en-US" sz="1300" dirty="0"/>
          </a:p>
        </p:txBody>
      </p:sp>
      <p:sp>
        <p:nvSpPr>
          <p:cNvPr id="7" name="Text 5"/>
          <p:cNvSpPr txBox="1"/>
          <p:nvPr/>
        </p:nvSpPr>
        <p:spPr>
          <a:xfrm>
            <a:off x="713232" y="2532888"/>
            <a:ext cx="1761134" cy="365760"/>
          </a:xfrm>
          <a:prstGeom prst="rect">
            <a:avLst/>
          </a:prstGeom>
          <a:noFill/>
          <a:ln/>
        </p:spPr>
        <p:txBody>
          <a:bodyPr wrap="square" lIns="0" tIns="0" rIns="0" bIns="0" rtlCol="0" anchor="t"/>
          <a:lstStyle/>
          <a:p>
            <a:pPr indent="0" marL="0">
              <a:buNone/>
            </a:pPr>
            <a:r>
              <a:rPr lang="en-US" sz="1100" dirty="0">
                <a:solidFill>
                  <a:srgbClr val="5E6E6A"/>
                </a:solidFill>
                <a:latin typeface="Calibri" pitchFamily="34" charset="0"/>
                <a:ea typeface="Calibri" pitchFamily="34" charset="-122"/>
                <a:cs typeface="Calibri" pitchFamily="34" charset="-120"/>
              </a:rPr>
              <a:t>Everyone writes down events in past tense</a:t>
            </a:r>
            <a:endParaRPr lang="en-US" sz="1100" dirty="0"/>
          </a:p>
        </p:txBody>
      </p:sp>
      <p:sp>
        <p:nvSpPr>
          <p:cNvPr id="8" name="Shape 6"/>
          <p:cNvSpPr/>
          <p:nvPr/>
        </p:nvSpPr>
        <p:spPr>
          <a:xfrm>
            <a:off x="2611526" y="2354580"/>
            <a:ext cx="173736" cy="0"/>
          </a:xfrm>
          <a:prstGeom prst="line">
            <a:avLst/>
          </a:prstGeom>
          <a:noFill/>
          <a:ln w="19050">
            <a:solidFill>
              <a:srgbClr val="9FB8AF"/>
            </a:solidFill>
            <a:prstDash val="solid"/>
            <a:tailEnd type="triangle"/>
          </a:ln>
        </p:spPr>
      </p:sp>
      <p:sp>
        <p:nvSpPr>
          <p:cNvPr id="9" name="phase 2"/>
          <p:cNvSpPr/>
          <p:nvPr/>
        </p:nvSpPr>
        <p:spPr>
          <a:xfrm>
            <a:off x="2812694" y="1783080"/>
            <a:ext cx="2035454" cy="1143000"/>
          </a:xfrm>
          <a:prstGeom prst="roundRect">
            <a:avLst>
              <a:gd name="adj" fmla="val 6400"/>
            </a:avLst>
          </a:prstGeom>
          <a:solidFill>
            <a:schemeClr val="bg2"/>
          </a:solidFill>
          <a:ln w="12700">
            <a:solidFill>
              <a:schemeClr val="bg2"/>
            </a:solidFill>
            <a:prstDash val="solid"/>
          </a:ln>
        </p:spPr>
      </p:sp>
      <p:sp>
        <p:nvSpPr>
          <p:cNvPr id="10" name="Text 8"/>
          <p:cNvSpPr txBox="1"/>
          <p:nvPr/>
        </p:nvSpPr>
        <p:spPr>
          <a:xfrm>
            <a:off x="2977286" y="1892808"/>
            <a:ext cx="457200" cy="365760"/>
          </a:xfrm>
          <a:prstGeom prst="rect">
            <a:avLst/>
          </a:prstGeom>
          <a:noFill/>
          <a:ln/>
        </p:spPr>
        <p:txBody>
          <a:bodyPr wrap="square" lIns="0" tIns="0" rIns="0" bIns="0" rtlCol="0" anchor="ctr"/>
          <a:lstStyle/>
          <a:p>
            <a:pPr indent="0" marL="0">
              <a:buNone/>
            </a:pPr>
            <a:r>
              <a:rPr lang="en-US" sz="2000" b="1" dirty="0">
                <a:solidFill>
                  <a:schemeClr val="accent1"/>
                </a:solidFill>
                <a:latin typeface="Arial" pitchFamily="34" charset="0"/>
                <a:ea typeface="Arial" pitchFamily="34" charset="-122"/>
                <a:cs typeface="Arial" pitchFamily="34" charset="-120"/>
              </a:rPr>
              <a:t>2</a:t>
            </a:r>
            <a:endParaRPr lang="en-US" sz="2000" dirty="0"/>
          </a:p>
        </p:txBody>
      </p:sp>
      <p:sp>
        <p:nvSpPr>
          <p:cNvPr id="11" name="Text 9"/>
          <p:cNvSpPr txBox="1"/>
          <p:nvPr/>
        </p:nvSpPr>
        <p:spPr>
          <a:xfrm>
            <a:off x="2977286" y="2258568"/>
            <a:ext cx="1761134" cy="274320"/>
          </a:xfrm>
          <a:prstGeom prst="rect">
            <a:avLst/>
          </a:prstGeom>
          <a:noFill/>
          <a:ln/>
        </p:spPr>
        <p:txBody>
          <a:bodyPr wrap="square" lIns="0" tIns="0" rIns="0" bIns="0" rtlCol="0" anchor="ctr"/>
          <a:lstStyle/>
          <a:p>
            <a:pPr indent="0" marL="0">
              <a:buNone/>
            </a:pPr>
            <a:r>
              <a:rPr lang="en-US" sz="1300" b="1" dirty="0">
                <a:solidFill>
                  <a:schemeClr val="tx1"/>
                </a:solidFill>
                <a:latin typeface="Calibri" pitchFamily="34" charset="0"/>
                <a:ea typeface="Calibri" pitchFamily="34" charset="-122"/>
                <a:cs typeface="Calibri" pitchFamily="34" charset="-120"/>
              </a:rPr>
              <a:t>Enforce the timeline</a:t>
            </a:r>
            <a:endParaRPr lang="en-US" sz="1300" dirty="0"/>
          </a:p>
        </p:txBody>
      </p:sp>
      <p:sp>
        <p:nvSpPr>
          <p:cNvPr id="12" name="Text 10"/>
          <p:cNvSpPr txBox="1"/>
          <p:nvPr/>
        </p:nvSpPr>
        <p:spPr>
          <a:xfrm>
            <a:off x="2977286" y="2532888"/>
            <a:ext cx="1761134" cy="365760"/>
          </a:xfrm>
          <a:prstGeom prst="rect">
            <a:avLst/>
          </a:prstGeom>
          <a:noFill/>
          <a:ln/>
        </p:spPr>
        <p:txBody>
          <a:bodyPr wrap="square" lIns="0" tIns="0" rIns="0" bIns="0" rtlCol="0" anchor="t"/>
          <a:lstStyle/>
          <a:p>
            <a:pPr indent="0" marL="0">
              <a:buNone/>
            </a:pPr>
            <a:r>
              <a:rPr lang="en-US" sz="1100" dirty="0">
                <a:solidFill>
                  <a:srgbClr val="5E6E6A"/>
                </a:solidFill>
                <a:latin typeface="Calibri" pitchFamily="34" charset="0"/>
                <a:ea typeface="Calibri" pitchFamily="34" charset="-122"/>
                <a:cs typeface="Calibri" pitchFamily="34" charset="-120"/>
              </a:rPr>
              <a:t>Sort events left to right</a:t>
            </a:r>
            <a:endParaRPr lang="en-US" sz="1100" dirty="0"/>
          </a:p>
        </p:txBody>
      </p:sp>
      <p:sp>
        <p:nvSpPr>
          <p:cNvPr id="13" name="Shape 11"/>
          <p:cNvSpPr/>
          <p:nvPr/>
        </p:nvSpPr>
        <p:spPr>
          <a:xfrm>
            <a:off x="4875581" y="2354580"/>
            <a:ext cx="173736" cy="0"/>
          </a:xfrm>
          <a:prstGeom prst="line">
            <a:avLst/>
          </a:prstGeom>
          <a:noFill/>
          <a:ln w="19050">
            <a:solidFill>
              <a:srgbClr val="9FB8AF"/>
            </a:solidFill>
            <a:prstDash val="solid"/>
            <a:tailEnd type="triangle"/>
          </a:ln>
        </p:spPr>
      </p:sp>
      <p:sp>
        <p:nvSpPr>
          <p:cNvPr id="14" name="phase 3"/>
          <p:cNvSpPr/>
          <p:nvPr/>
        </p:nvSpPr>
        <p:spPr>
          <a:xfrm>
            <a:off x="5076749" y="1783080"/>
            <a:ext cx="2035454" cy="1143000"/>
          </a:xfrm>
          <a:prstGeom prst="roundRect">
            <a:avLst>
              <a:gd name="adj" fmla="val 6400"/>
            </a:avLst>
          </a:prstGeom>
          <a:solidFill>
            <a:schemeClr val="bg2"/>
          </a:solidFill>
          <a:ln w="12700">
            <a:solidFill>
              <a:schemeClr val="bg2"/>
            </a:solidFill>
            <a:prstDash val="solid"/>
          </a:ln>
        </p:spPr>
      </p:sp>
      <p:sp>
        <p:nvSpPr>
          <p:cNvPr id="15" name="Text 13"/>
          <p:cNvSpPr txBox="1"/>
          <p:nvPr/>
        </p:nvSpPr>
        <p:spPr>
          <a:xfrm>
            <a:off x="5241341" y="1892808"/>
            <a:ext cx="457200" cy="365760"/>
          </a:xfrm>
          <a:prstGeom prst="rect">
            <a:avLst/>
          </a:prstGeom>
          <a:noFill/>
          <a:ln/>
        </p:spPr>
        <p:txBody>
          <a:bodyPr wrap="square" lIns="0" tIns="0" rIns="0" bIns="0" rtlCol="0" anchor="ctr"/>
          <a:lstStyle/>
          <a:p>
            <a:pPr indent="0" marL="0">
              <a:buNone/>
            </a:pPr>
            <a:r>
              <a:rPr lang="en-US" sz="2000" b="1" dirty="0">
                <a:solidFill>
                  <a:schemeClr val="accent1"/>
                </a:solidFill>
                <a:latin typeface="Arial" pitchFamily="34" charset="0"/>
                <a:ea typeface="Arial" pitchFamily="34" charset="-122"/>
                <a:cs typeface="Arial" pitchFamily="34" charset="-120"/>
              </a:rPr>
              <a:t>3</a:t>
            </a:r>
            <a:endParaRPr lang="en-US" sz="2000" dirty="0"/>
          </a:p>
        </p:txBody>
      </p:sp>
      <p:sp>
        <p:nvSpPr>
          <p:cNvPr id="16" name="Text 14"/>
          <p:cNvSpPr txBox="1"/>
          <p:nvPr/>
        </p:nvSpPr>
        <p:spPr>
          <a:xfrm>
            <a:off x="5241341" y="2258568"/>
            <a:ext cx="1761134" cy="274320"/>
          </a:xfrm>
          <a:prstGeom prst="rect">
            <a:avLst/>
          </a:prstGeom>
          <a:noFill/>
          <a:ln/>
        </p:spPr>
        <p:txBody>
          <a:bodyPr wrap="square" lIns="0" tIns="0" rIns="0" bIns="0" rtlCol="0" anchor="ctr"/>
          <a:lstStyle/>
          <a:p>
            <a:pPr indent="0" marL="0">
              <a:buNone/>
            </a:pPr>
            <a:r>
              <a:rPr lang="en-US" sz="1300" b="1" dirty="0">
                <a:solidFill>
                  <a:schemeClr val="tx1"/>
                </a:solidFill>
                <a:latin typeface="Calibri" pitchFamily="34" charset="0"/>
                <a:ea typeface="Calibri" pitchFamily="34" charset="-122"/>
                <a:cs typeface="Calibri" pitchFamily="34" charset="-120"/>
              </a:rPr>
              <a:t>Enforce consistency</a:t>
            </a:r>
            <a:endParaRPr lang="en-US" sz="1300" dirty="0"/>
          </a:p>
        </p:txBody>
      </p:sp>
      <p:sp>
        <p:nvSpPr>
          <p:cNvPr id="17" name="Text 15"/>
          <p:cNvSpPr txBox="1"/>
          <p:nvPr/>
        </p:nvSpPr>
        <p:spPr>
          <a:xfrm>
            <a:off x="5241341" y="2532888"/>
            <a:ext cx="1761134" cy="365760"/>
          </a:xfrm>
          <a:prstGeom prst="rect">
            <a:avLst/>
          </a:prstGeom>
          <a:noFill/>
          <a:ln/>
        </p:spPr>
        <p:txBody>
          <a:bodyPr wrap="square" lIns="0" tIns="0" rIns="0" bIns="0" rtlCol="0" anchor="t"/>
          <a:lstStyle/>
          <a:p>
            <a:pPr indent="0" marL="0">
              <a:buNone/>
            </a:pPr>
            <a:r>
              <a:rPr lang="en-US" sz="1100" dirty="0">
                <a:solidFill>
                  <a:srgbClr val="5E6E6A"/>
                </a:solidFill>
                <a:latin typeface="Calibri" pitchFamily="34" charset="0"/>
                <a:ea typeface="Calibri" pitchFamily="34" charset="-122"/>
                <a:cs typeface="Calibri" pitchFamily="34" charset="-120"/>
              </a:rPr>
              <a:t>Merge duplicates, agree on names</a:t>
            </a:r>
            <a:endParaRPr lang="en-US" sz="1100" dirty="0"/>
          </a:p>
        </p:txBody>
      </p:sp>
      <p:sp>
        <p:nvSpPr>
          <p:cNvPr id="18" name="Shape 16"/>
          <p:cNvSpPr/>
          <p:nvPr/>
        </p:nvSpPr>
        <p:spPr>
          <a:xfrm>
            <a:off x="7139635" y="2354580"/>
            <a:ext cx="173736" cy="0"/>
          </a:xfrm>
          <a:prstGeom prst="line">
            <a:avLst/>
          </a:prstGeom>
          <a:noFill/>
          <a:ln w="19050">
            <a:solidFill>
              <a:srgbClr val="9FB8AF"/>
            </a:solidFill>
            <a:prstDash val="solid"/>
            <a:tailEnd type="triangle"/>
          </a:ln>
        </p:spPr>
      </p:sp>
      <p:sp>
        <p:nvSpPr>
          <p:cNvPr id="19" name="phase 4"/>
          <p:cNvSpPr/>
          <p:nvPr/>
        </p:nvSpPr>
        <p:spPr>
          <a:xfrm>
            <a:off x="7340803" y="1783080"/>
            <a:ext cx="2035454" cy="1143000"/>
          </a:xfrm>
          <a:prstGeom prst="roundRect">
            <a:avLst>
              <a:gd name="adj" fmla="val 6400"/>
            </a:avLst>
          </a:prstGeom>
          <a:solidFill>
            <a:schemeClr val="bg2"/>
          </a:solidFill>
          <a:ln w="12700">
            <a:solidFill>
              <a:schemeClr val="bg2"/>
            </a:solidFill>
            <a:prstDash val="solid"/>
          </a:ln>
        </p:spPr>
      </p:sp>
      <p:sp>
        <p:nvSpPr>
          <p:cNvPr id="20" name="Text 18"/>
          <p:cNvSpPr txBox="1"/>
          <p:nvPr/>
        </p:nvSpPr>
        <p:spPr>
          <a:xfrm>
            <a:off x="7505395" y="1892808"/>
            <a:ext cx="457200" cy="365760"/>
          </a:xfrm>
          <a:prstGeom prst="rect">
            <a:avLst/>
          </a:prstGeom>
          <a:noFill/>
          <a:ln/>
        </p:spPr>
        <p:txBody>
          <a:bodyPr wrap="square" lIns="0" tIns="0" rIns="0" bIns="0" rtlCol="0" anchor="ctr"/>
          <a:lstStyle/>
          <a:p>
            <a:pPr indent="0" marL="0">
              <a:buNone/>
            </a:pPr>
            <a:r>
              <a:rPr lang="en-US" sz="2000" b="1" dirty="0">
                <a:solidFill>
                  <a:schemeClr val="accent1"/>
                </a:solidFill>
                <a:latin typeface="Arial" pitchFamily="34" charset="0"/>
                <a:ea typeface="Arial" pitchFamily="34" charset="-122"/>
                <a:cs typeface="Arial" pitchFamily="34" charset="-120"/>
              </a:rPr>
              <a:t>4</a:t>
            </a:r>
            <a:endParaRPr lang="en-US" sz="2000" dirty="0"/>
          </a:p>
        </p:txBody>
      </p:sp>
      <p:sp>
        <p:nvSpPr>
          <p:cNvPr id="21" name="Text 19"/>
          <p:cNvSpPr txBox="1"/>
          <p:nvPr/>
        </p:nvSpPr>
        <p:spPr>
          <a:xfrm>
            <a:off x="7505395" y="2258568"/>
            <a:ext cx="1761134" cy="274320"/>
          </a:xfrm>
          <a:prstGeom prst="rect">
            <a:avLst/>
          </a:prstGeom>
          <a:noFill/>
          <a:ln/>
        </p:spPr>
        <p:txBody>
          <a:bodyPr wrap="square" lIns="0" tIns="0" rIns="0" bIns="0" rtlCol="0" anchor="ctr"/>
          <a:lstStyle/>
          <a:p>
            <a:pPr indent="0" marL="0">
              <a:buNone/>
            </a:pPr>
            <a:r>
              <a:rPr lang="en-US" sz="1300" b="1" dirty="0">
                <a:solidFill>
                  <a:schemeClr val="tx1"/>
                </a:solidFill>
                <a:latin typeface="Calibri" pitchFamily="34" charset="0"/>
                <a:ea typeface="Calibri" pitchFamily="34" charset="-122"/>
                <a:cs typeface="Calibri" pitchFamily="34" charset="-120"/>
              </a:rPr>
              <a:t>Bounded contexts</a:t>
            </a:r>
            <a:endParaRPr lang="en-US" sz="1300" dirty="0"/>
          </a:p>
        </p:txBody>
      </p:sp>
      <p:sp>
        <p:nvSpPr>
          <p:cNvPr id="22" name="Text 20"/>
          <p:cNvSpPr txBox="1"/>
          <p:nvPr/>
        </p:nvSpPr>
        <p:spPr>
          <a:xfrm>
            <a:off x="7505395" y="2532888"/>
            <a:ext cx="1761134" cy="365760"/>
          </a:xfrm>
          <a:prstGeom prst="rect">
            <a:avLst/>
          </a:prstGeom>
          <a:noFill/>
          <a:ln/>
        </p:spPr>
        <p:txBody>
          <a:bodyPr wrap="square" lIns="0" tIns="0" rIns="0" bIns="0" rtlCol="0" anchor="t"/>
          <a:lstStyle/>
          <a:p>
            <a:pPr indent="0" marL="0">
              <a:buNone/>
            </a:pPr>
            <a:r>
              <a:rPr lang="en-US" sz="1100" dirty="0">
                <a:solidFill>
                  <a:srgbClr val="5E6E6A"/>
                </a:solidFill>
                <a:latin typeface="Calibri" pitchFamily="34" charset="0"/>
                <a:ea typeface="Calibri" pitchFamily="34" charset="-122"/>
                <a:cs typeface="Calibri" pitchFamily="34" charset="-120"/>
              </a:rPr>
              <a:t>Group events, find pivotal handovers</a:t>
            </a:r>
            <a:endParaRPr lang="en-US" sz="1100" dirty="0"/>
          </a:p>
        </p:txBody>
      </p:sp>
      <p:sp>
        <p:nvSpPr>
          <p:cNvPr id="23" name="Shape 21"/>
          <p:cNvSpPr/>
          <p:nvPr/>
        </p:nvSpPr>
        <p:spPr>
          <a:xfrm>
            <a:off x="9403690" y="2354580"/>
            <a:ext cx="173736" cy="0"/>
          </a:xfrm>
          <a:prstGeom prst="line">
            <a:avLst/>
          </a:prstGeom>
          <a:noFill/>
          <a:ln w="19050">
            <a:solidFill>
              <a:srgbClr val="9FB8AF"/>
            </a:solidFill>
            <a:prstDash val="solid"/>
            <a:tailEnd type="triangle"/>
          </a:ln>
        </p:spPr>
      </p:sp>
      <p:sp>
        <p:nvSpPr>
          <p:cNvPr id="24" name="phase 5"/>
          <p:cNvSpPr/>
          <p:nvPr/>
        </p:nvSpPr>
        <p:spPr>
          <a:xfrm>
            <a:off x="9604858" y="1783080"/>
            <a:ext cx="2035454" cy="1143000"/>
          </a:xfrm>
          <a:prstGeom prst="roundRect">
            <a:avLst>
              <a:gd name="adj" fmla="val 6400"/>
            </a:avLst>
          </a:prstGeom>
          <a:solidFill>
            <a:schemeClr val="bg2"/>
          </a:solidFill>
          <a:ln w="12700">
            <a:solidFill>
              <a:schemeClr val="bg2"/>
            </a:solidFill>
            <a:prstDash val="solid"/>
          </a:ln>
        </p:spPr>
      </p:sp>
      <p:sp>
        <p:nvSpPr>
          <p:cNvPr id="25" name="Text 23"/>
          <p:cNvSpPr txBox="1"/>
          <p:nvPr/>
        </p:nvSpPr>
        <p:spPr>
          <a:xfrm>
            <a:off x="9769450" y="1892808"/>
            <a:ext cx="457200" cy="365760"/>
          </a:xfrm>
          <a:prstGeom prst="rect">
            <a:avLst/>
          </a:prstGeom>
          <a:noFill/>
          <a:ln/>
        </p:spPr>
        <p:txBody>
          <a:bodyPr wrap="square" lIns="0" tIns="0" rIns="0" bIns="0" rtlCol="0" anchor="ctr"/>
          <a:lstStyle/>
          <a:p>
            <a:pPr indent="0" marL="0">
              <a:buNone/>
            </a:pPr>
            <a:r>
              <a:rPr lang="en-US" sz="2000" b="1" dirty="0">
                <a:solidFill>
                  <a:schemeClr val="accent1"/>
                </a:solidFill>
                <a:latin typeface="Arial" pitchFamily="34" charset="0"/>
                <a:ea typeface="Arial" pitchFamily="34" charset="-122"/>
                <a:cs typeface="Arial" pitchFamily="34" charset="-120"/>
              </a:rPr>
              <a:t>5</a:t>
            </a:r>
            <a:endParaRPr lang="en-US" sz="2000" dirty="0"/>
          </a:p>
        </p:txBody>
      </p:sp>
      <p:sp>
        <p:nvSpPr>
          <p:cNvPr id="26" name="Text 24"/>
          <p:cNvSpPr txBox="1"/>
          <p:nvPr/>
        </p:nvSpPr>
        <p:spPr>
          <a:xfrm>
            <a:off x="9769450" y="2258568"/>
            <a:ext cx="1761134" cy="274320"/>
          </a:xfrm>
          <a:prstGeom prst="rect">
            <a:avLst/>
          </a:prstGeom>
          <a:noFill/>
          <a:ln/>
        </p:spPr>
        <p:txBody>
          <a:bodyPr wrap="square" lIns="0" tIns="0" rIns="0" bIns="0" rtlCol="0" anchor="ctr"/>
          <a:lstStyle/>
          <a:p>
            <a:pPr indent="0" marL="0">
              <a:buNone/>
            </a:pPr>
            <a:r>
              <a:rPr lang="en-US" sz="1300" b="1" dirty="0">
                <a:solidFill>
                  <a:schemeClr val="tx1"/>
                </a:solidFill>
                <a:latin typeface="Calibri" pitchFamily="34" charset="0"/>
                <a:ea typeface="Calibri" pitchFamily="34" charset="-122"/>
                <a:cs typeface="Calibri" pitchFamily="34" charset="-120"/>
              </a:rPr>
              <a:t>Detail</a:t>
            </a:r>
            <a:endParaRPr lang="en-US" sz="1300" dirty="0"/>
          </a:p>
        </p:txBody>
      </p:sp>
      <p:sp>
        <p:nvSpPr>
          <p:cNvPr id="27" name="Text 25"/>
          <p:cNvSpPr txBox="1"/>
          <p:nvPr/>
        </p:nvSpPr>
        <p:spPr>
          <a:xfrm>
            <a:off x="9769450" y="2532888"/>
            <a:ext cx="1761134" cy="365760"/>
          </a:xfrm>
          <a:prstGeom prst="rect">
            <a:avLst/>
          </a:prstGeom>
          <a:noFill/>
          <a:ln/>
        </p:spPr>
        <p:txBody>
          <a:bodyPr wrap="square" lIns="0" tIns="0" rIns="0" bIns="0" rtlCol="0" anchor="t"/>
          <a:lstStyle/>
          <a:p>
            <a:pPr indent="0" marL="0">
              <a:buNone/>
            </a:pPr>
            <a:r>
              <a:rPr lang="en-US" sz="1100" dirty="0">
                <a:solidFill>
                  <a:srgbClr val="5E6E6A"/>
                </a:solidFill>
                <a:latin typeface="Calibri" pitchFamily="34" charset="0"/>
                <a:ea typeface="Calibri" pitchFamily="34" charset="-122"/>
                <a:cs typeface="Calibri" pitchFamily="34" charset="-120"/>
              </a:rPr>
              <a:t>Add actors, external systems, hotspots</a:t>
            </a:r>
            <a:endParaRPr lang="en-US" sz="1100" dirty="0"/>
          </a:p>
        </p:txBody>
      </p:sp>
      <p:sp>
        <p:nvSpPr>
          <p:cNvPr id="28" name="Text 26"/>
          <p:cNvSpPr txBox="1"/>
          <p:nvPr/>
        </p:nvSpPr>
        <p:spPr>
          <a:xfrm>
            <a:off x="548640" y="3291840"/>
            <a:ext cx="5486400" cy="274320"/>
          </a:xfrm>
          <a:prstGeom prst="rect">
            <a:avLst/>
          </a:prstGeom>
          <a:noFill/>
          <a:ln/>
        </p:spPr>
        <p:txBody>
          <a:bodyPr wrap="square" lIns="0" tIns="0" rIns="0" bIns="0" rtlCol="0" anchor="ctr"/>
          <a:lstStyle/>
          <a:p>
            <a:pPr indent="0" marL="0">
              <a:buNone/>
            </a:pPr>
            <a:r>
              <a:rPr lang="en-US" sz="1100" b="1" spc="200" kern="0" dirty="0">
                <a:solidFill>
                  <a:schemeClr val="accent1"/>
                </a:solidFill>
                <a:latin typeface="Arial" pitchFamily="34" charset="0"/>
                <a:ea typeface="Arial" pitchFamily="34" charset="-122"/>
                <a:cs typeface="Arial" pitchFamily="34" charset="-120"/>
              </a:rPr>
              <a:t>HOW TO READ THE BOARD</a:t>
            </a:r>
            <a:endParaRPr lang="en-US" sz="1100" dirty="0"/>
          </a:p>
        </p:txBody>
      </p:sp>
      <p:sp>
        <p:nvSpPr>
          <p:cNvPr id="29" name="event note: Event"/>
          <p:cNvSpPr/>
          <p:nvPr/>
        </p:nvSpPr>
        <p:spPr>
          <a:xfrm>
            <a:off x="548640" y="3703320"/>
            <a:ext cx="2035454" cy="868680"/>
          </a:xfrm>
          <a:prstGeom prst="rect">
            <a:avLst/>
          </a:prstGeom>
          <a:solidFill>
            <a:schemeClr val="accent3"/>
          </a:solidFill>
          <a:ln w="6350">
            <a:solidFill>
              <a:schemeClr val="accent3"/>
            </a:solidFill>
            <a:prstDash val="solid"/>
          </a:ln>
          <a:effectLst>
            <a:outerShdw sx="100000" sy="100000" kx="0" ky="0" algn="bl" rotWithShape="0" blurRad="50800" dist="25400" dir="5400000">
              <a:srgbClr val="000000">
                <a:alpha val="18000"/>
              </a:srgbClr>
            </a:outerShdw>
          </a:effectLst>
        </p:spPr>
      </p:sp>
      <p:sp>
        <p:nvSpPr>
          <p:cNvPr id="30" name="Text 28"/>
          <p:cNvSpPr txBox="1"/>
          <p:nvPr/>
        </p:nvSpPr>
        <p:spPr>
          <a:xfrm>
            <a:off x="621792" y="3758184"/>
            <a:ext cx="1889150" cy="758952"/>
          </a:xfrm>
          <a:prstGeom prst="rect">
            <a:avLst/>
          </a:prstGeom>
          <a:noFill/>
          <a:ln/>
        </p:spPr>
        <p:txBody>
          <a:bodyPr wrap="square" lIns="0" tIns="0" rIns="0" bIns="0" rtlCol="0" anchor="t">
            <a:normAutofit/>
          </a:bodyPr>
          <a:lstStyle/>
          <a:p>
            <a:pPr indent="0" marL="0">
              <a:buNone/>
            </a:pPr>
            <a:r>
              <a:rPr lang="en-US" sz="1400" b="1" dirty="0">
                <a:solidFill>
                  <a:schemeClr val="tx1"/>
                </a:solidFill>
                <a:latin typeface="Calibri" pitchFamily="34" charset="0"/>
                <a:ea typeface="Calibri" pitchFamily="34" charset="-122"/>
                <a:cs typeface="Calibri" pitchFamily="34" charset="-120"/>
              </a:rPr>
              <a:t>Event</a:t>
            </a:r>
            <a:endParaRPr lang="en-US" sz="1400" dirty="0"/>
          </a:p>
        </p:txBody>
      </p:sp>
      <p:sp>
        <p:nvSpPr>
          <p:cNvPr id="31" name="Text 29"/>
          <p:cNvSpPr txBox="1"/>
          <p:nvPr/>
        </p:nvSpPr>
        <p:spPr>
          <a:xfrm>
            <a:off x="548640" y="4709160"/>
            <a:ext cx="2035454" cy="457200"/>
          </a:xfrm>
          <a:prstGeom prst="rect">
            <a:avLst/>
          </a:prstGeom>
          <a:noFill/>
          <a:ln/>
        </p:spPr>
        <p:txBody>
          <a:bodyPr wrap="square" lIns="0" tIns="0" rIns="0" bIns="0" rtlCol="0" anchor="t"/>
          <a:lstStyle/>
          <a:p>
            <a:pPr indent="0" marL="0">
              <a:buNone/>
            </a:pPr>
            <a:r>
              <a:rPr lang="en-US" sz="1100" dirty="0">
                <a:solidFill>
                  <a:srgbClr val="5E6E6A"/>
                </a:solidFill>
                <a:latin typeface="Calibri" pitchFamily="34" charset="0"/>
                <a:ea typeface="Calibri" pitchFamily="34" charset="-122"/>
                <a:cs typeface="Calibri" pitchFamily="34" charset="-120"/>
              </a:rPr>
              <a:t>Something that happened, in past tense</a:t>
            </a:r>
            <a:endParaRPr lang="en-US" sz="1100" dirty="0"/>
          </a:p>
        </p:txBody>
      </p:sp>
      <p:sp>
        <p:nvSpPr>
          <p:cNvPr id="32" name="event note: Pivotal event"/>
          <p:cNvSpPr/>
          <p:nvPr/>
        </p:nvSpPr>
        <p:spPr>
          <a:xfrm>
            <a:off x="2812694" y="3703320"/>
            <a:ext cx="2035454" cy="868680"/>
          </a:xfrm>
          <a:prstGeom prst="rect">
            <a:avLst/>
          </a:prstGeom>
          <a:solidFill>
            <a:schemeClr val="accent3"/>
          </a:solidFill>
          <a:ln w="28575">
            <a:solidFill>
              <a:schemeClr val="tx1"/>
            </a:solidFill>
            <a:prstDash val="solid"/>
          </a:ln>
          <a:effectLst>
            <a:outerShdw sx="100000" sy="100000" kx="0" ky="0" algn="bl" rotWithShape="0" blurRad="50800" dist="25400" dir="5400000">
              <a:srgbClr val="000000">
                <a:alpha val="18000"/>
              </a:srgbClr>
            </a:outerShdw>
          </a:effectLst>
        </p:spPr>
      </p:sp>
      <p:sp>
        <p:nvSpPr>
          <p:cNvPr id="33" name="Text 31"/>
          <p:cNvSpPr txBox="1"/>
          <p:nvPr/>
        </p:nvSpPr>
        <p:spPr>
          <a:xfrm>
            <a:off x="2885846" y="3758184"/>
            <a:ext cx="1889150" cy="758952"/>
          </a:xfrm>
          <a:prstGeom prst="rect">
            <a:avLst/>
          </a:prstGeom>
          <a:noFill/>
          <a:ln/>
        </p:spPr>
        <p:txBody>
          <a:bodyPr wrap="square" lIns="0" tIns="0" rIns="0" bIns="0" rtlCol="0" anchor="t">
            <a:normAutofit/>
          </a:bodyPr>
          <a:lstStyle/>
          <a:p>
            <a:pPr indent="0" marL="0">
              <a:buNone/>
            </a:pPr>
            <a:r>
              <a:rPr lang="en-US" sz="1400" dirty="0">
                <a:solidFill>
                  <a:schemeClr val="tx1"/>
                </a:solidFill>
                <a:latin typeface="Calibri" pitchFamily="34" charset="0"/>
                <a:ea typeface="Calibri" pitchFamily="34" charset="-122"/>
                <a:cs typeface="Calibri" pitchFamily="34" charset="-120"/>
              </a:rPr>
              <a:t>★ </a:t>
            </a:r>
            <a:pPr indent="0" marL="0">
              <a:buNone/>
            </a:pPr>
            <a:r>
              <a:rPr lang="en-US" sz="1400" b="1" dirty="0">
                <a:solidFill>
                  <a:schemeClr val="tx1"/>
                </a:solidFill>
                <a:latin typeface="Calibri" pitchFamily="34" charset="0"/>
                <a:ea typeface="Calibri" pitchFamily="34" charset="-122"/>
                <a:cs typeface="Calibri" pitchFamily="34" charset="-120"/>
              </a:rPr>
              <a:t>Pivotal event</a:t>
            </a:r>
            <a:endParaRPr lang="en-US" sz="1400" dirty="0"/>
          </a:p>
        </p:txBody>
      </p:sp>
      <p:sp>
        <p:nvSpPr>
          <p:cNvPr id="34" name="Text 32"/>
          <p:cNvSpPr txBox="1"/>
          <p:nvPr/>
        </p:nvSpPr>
        <p:spPr>
          <a:xfrm>
            <a:off x="2812694" y="4709160"/>
            <a:ext cx="2035454" cy="457200"/>
          </a:xfrm>
          <a:prstGeom prst="rect">
            <a:avLst/>
          </a:prstGeom>
          <a:noFill/>
          <a:ln/>
        </p:spPr>
        <p:txBody>
          <a:bodyPr wrap="square" lIns="0" tIns="0" rIns="0" bIns="0" rtlCol="0" anchor="t"/>
          <a:lstStyle/>
          <a:p>
            <a:pPr indent="0" marL="0">
              <a:buNone/>
            </a:pPr>
            <a:r>
              <a:rPr lang="en-US" sz="1100" dirty="0">
                <a:solidFill>
                  <a:srgbClr val="5E6E6A"/>
                </a:solidFill>
                <a:latin typeface="Calibri" pitchFamily="34" charset="0"/>
                <a:ea typeface="Calibri" pitchFamily="34" charset="-122"/>
                <a:cs typeface="Calibri" pitchFamily="34" charset="-120"/>
              </a:rPr>
              <a:t>Handover to the next bounded context</a:t>
            </a:r>
            <a:endParaRPr lang="en-US" sz="1100" dirty="0"/>
          </a:p>
        </p:txBody>
      </p:sp>
      <p:sp>
        <p:nvSpPr>
          <p:cNvPr id="35" name="actor note: Actor"/>
          <p:cNvSpPr/>
          <p:nvPr/>
        </p:nvSpPr>
        <p:spPr>
          <a:xfrm>
            <a:off x="5076749" y="3703320"/>
            <a:ext cx="2035454" cy="548640"/>
          </a:xfrm>
          <a:prstGeom prst="rect">
            <a:avLst/>
          </a:prstGeom>
          <a:solidFill>
            <a:schemeClr val="accent5"/>
          </a:solidFill>
          <a:ln w="6350">
            <a:solidFill>
              <a:schemeClr val="accent5"/>
            </a:solidFill>
            <a:prstDash val="solid"/>
          </a:ln>
          <a:effectLst>
            <a:outerShdw sx="100000" sy="100000" kx="0" ky="0" algn="bl" rotWithShape="0" blurRad="50800" dist="25400" dir="5400000">
              <a:srgbClr val="000000">
                <a:alpha val="18000"/>
              </a:srgbClr>
            </a:outerShdw>
          </a:effectLst>
        </p:spPr>
      </p:sp>
      <p:sp>
        <p:nvSpPr>
          <p:cNvPr id="36" name="Text 34"/>
          <p:cNvSpPr txBox="1"/>
          <p:nvPr/>
        </p:nvSpPr>
        <p:spPr>
          <a:xfrm>
            <a:off x="5149901" y="3758184"/>
            <a:ext cx="1889150" cy="438912"/>
          </a:xfrm>
          <a:prstGeom prst="rect">
            <a:avLst/>
          </a:prstGeom>
          <a:noFill/>
          <a:ln/>
        </p:spPr>
        <p:txBody>
          <a:bodyPr wrap="square" lIns="0" tIns="0" rIns="0" bIns="0" rtlCol="0" anchor="t">
            <a:normAutofit/>
          </a:bodyPr>
          <a:lstStyle/>
          <a:p>
            <a:pPr indent="0" marL="0">
              <a:buNone/>
            </a:pPr>
            <a:r>
              <a:rPr lang="en-US" sz="1400" dirty="0">
                <a:solidFill>
                  <a:schemeClr val="tx1"/>
                </a:solidFill>
                <a:latin typeface="Calibri" pitchFamily="34" charset="0"/>
                <a:ea typeface="Calibri" pitchFamily="34" charset="-122"/>
                <a:cs typeface="Calibri" pitchFamily="34" charset="-120"/>
              </a:rPr>
              <a:t>Actor</a:t>
            </a:r>
            <a:endParaRPr lang="en-US" sz="1400" dirty="0"/>
          </a:p>
        </p:txBody>
      </p:sp>
      <p:sp>
        <p:nvSpPr>
          <p:cNvPr id="37" name="Text 35"/>
          <p:cNvSpPr txBox="1"/>
          <p:nvPr/>
        </p:nvSpPr>
        <p:spPr>
          <a:xfrm>
            <a:off x="5076749" y="4709160"/>
            <a:ext cx="2035454" cy="457200"/>
          </a:xfrm>
          <a:prstGeom prst="rect">
            <a:avLst/>
          </a:prstGeom>
          <a:noFill/>
          <a:ln/>
        </p:spPr>
        <p:txBody>
          <a:bodyPr wrap="square" lIns="0" tIns="0" rIns="0" bIns="0" rtlCol="0" anchor="t"/>
          <a:lstStyle/>
          <a:p>
            <a:pPr indent="0" marL="0">
              <a:buNone/>
            </a:pPr>
            <a:r>
              <a:rPr lang="en-US" sz="1100" dirty="0">
                <a:solidFill>
                  <a:srgbClr val="5E6E6A"/>
                </a:solidFill>
                <a:latin typeface="Calibri" pitchFamily="34" charset="0"/>
                <a:ea typeface="Calibri" pitchFamily="34" charset="-122"/>
                <a:cs typeface="Calibri" pitchFamily="34" charset="-120"/>
              </a:rPr>
              <a:t>Who causes the event below it</a:t>
            </a:r>
            <a:endParaRPr lang="en-US" sz="1100" dirty="0"/>
          </a:p>
        </p:txBody>
      </p:sp>
      <p:sp>
        <p:nvSpPr>
          <p:cNvPr id="38" name="ext note: External system"/>
          <p:cNvSpPr/>
          <p:nvPr/>
        </p:nvSpPr>
        <p:spPr>
          <a:xfrm>
            <a:off x="7340803" y="3703320"/>
            <a:ext cx="2035454" cy="868680"/>
          </a:xfrm>
          <a:prstGeom prst="rect">
            <a:avLst/>
          </a:prstGeom>
          <a:solidFill>
            <a:schemeClr val="accent4"/>
          </a:solidFill>
          <a:ln w="6350">
            <a:solidFill>
              <a:schemeClr val="accent4"/>
            </a:solidFill>
            <a:prstDash val="solid"/>
          </a:ln>
          <a:effectLst>
            <a:outerShdw sx="100000" sy="100000" kx="0" ky="0" algn="bl" rotWithShape="0" blurRad="50800" dist="25400" dir="5400000">
              <a:srgbClr val="000000">
                <a:alpha val="18000"/>
              </a:srgbClr>
            </a:outerShdw>
          </a:effectLst>
        </p:spPr>
      </p:sp>
      <p:sp>
        <p:nvSpPr>
          <p:cNvPr id="39" name="Text 37"/>
          <p:cNvSpPr txBox="1"/>
          <p:nvPr/>
        </p:nvSpPr>
        <p:spPr>
          <a:xfrm>
            <a:off x="7413955" y="3758184"/>
            <a:ext cx="1889150" cy="758952"/>
          </a:xfrm>
          <a:prstGeom prst="rect">
            <a:avLst/>
          </a:prstGeom>
          <a:noFill/>
          <a:ln/>
        </p:spPr>
        <p:txBody>
          <a:bodyPr wrap="square" lIns="0" tIns="0" rIns="0" bIns="0" rtlCol="0" anchor="t">
            <a:normAutofit/>
          </a:bodyPr>
          <a:lstStyle/>
          <a:p>
            <a:pPr indent="0" marL="0">
              <a:buNone/>
            </a:pPr>
            <a:r>
              <a:rPr lang="en-US" sz="1400" dirty="0">
                <a:solidFill>
                  <a:schemeClr val="tx1"/>
                </a:solidFill>
                <a:latin typeface="Calibri" pitchFamily="34" charset="0"/>
                <a:ea typeface="Calibri" pitchFamily="34" charset="-122"/>
                <a:cs typeface="Calibri" pitchFamily="34" charset="-120"/>
              </a:rPr>
              <a:t>External system</a:t>
            </a:r>
            <a:endParaRPr lang="en-US" sz="1400" dirty="0"/>
          </a:p>
        </p:txBody>
      </p:sp>
      <p:sp>
        <p:nvSpPr>
          <p:cNvPr id="40" name="Text 38"/>
          <p:cNvSpPr txBox="1"/>
          <p:nvPr/>
        </p:nvSpPr>
        <p:spPr>
          <a:xfrm>
            <a:off x="7340803" y="4709160"/>
            <a:ext cx="2035454" cy="457200"/>
          </a:xfrm>
          <a:prstGeom prst="rect">
            <a:avLst/>
          </a:prstGeom>
          <a:noFill/>
          <a:ln/>
        </p:spPr>
        <p:txBody>
          <a:bodyPr wrap="square" lIns="0" tIns="0" rIns="0" bIns="0" rtlCol="0" anchor="t"/>
          <a:lstStyle/>
          <a:p>
            <a:pPr indent="0" marL="0">
              <a:buNone/>
            </a:pPr>
            <a:r>
              <a:rPr lang="en-US" sz="1100" dirty="0">
                <a:solidFill>
                  <a:srgbClr val="5E6E6A"/>
                </a:solidFill>
                <a:latin typeface="Calibri" pitchFamily="34" charset="0"/>
                <a:ea typeface="Calibri" pitchFamily="34" charset="-122"/>
                <a:cs typeface="Calibri" pitchFamily="34" charset="-120"/>
              </a:rPr>
              <a:t>System outside the context we depend on</a:t>
            </a:r>
            <a:endParaRPr lang="en-US" sz="1100" dirty="0"/>
          </a:p>
        </p:txBody>
      </p:sp>
      <p:sp>
        <p:nvSpPr>
          <p:cNvPr id="41" name="hot note: Hotspot"/>
          <p:cNvSpPr/>
          <p:nvPr/>
        </p:nvSpPr>
        <p:spPr>
          <a:xfrm>
            <a:off x="9604858" y="3703320"/>
            <a:ext cx="2035454" cy="868680"/>
          </a:xfrm>
          <a:prstGeom prst="rect">
            <a:avLst/>
          </a:prstGeom>
          <a:solidFill>
            <a:schemeClr val="accent6"/>
          </a:solidFill>
          <a:ln w="6350">
            <a:solidFill>
              <a:schemeClr val="accent6"/>
            </a:solidFill>
            <a:prstDash val="solid"/>
          </a:ln>
          <a:effectLst>
            <a:outerShdw sx="100000" sy="100000" kx="0" ky="0" algn="bl" rotWithShape="0" blurRad="50800" dist="25400" dir="5400000">
              <a:srgbClr val="000000">
                <a:alpha val="18000"/>
              </a:srgbClr>
            </a:outerShdw>
          </a:effectLst>
        </p:spPr>
      </p:sp>
      <p:sp>
        <p:nvSpPr>
          <p:cNvPr id="42" name="Text 40"/>
          <p:cNvSpPr txBox="1"/>
          <p:nvPr/>
        </p:nvSpPr>
        <p:spPr>
          <a:xfrm>
            <a:off x="9678010" y="3758184"/>
            <a:ext cx="1889150" cy="758952"/>
          </a:xfrm>
          <a:prstGeom prst="rect">
            <a:avLst/>
          </a:prstGeom>
          <a:noFill/>
          <a:ln/>
        </p:spPr>
        <p:txBody>
          <a:bodyPr wrap="square" lIns="0" tIns="0" rIns="0" bIns="0" rtlCol="0" anchor="t">
            <a:normAutofit/>
          </a:bodyPr>
          <a:lstStyle/>
          <a:p>
            <a:pPr indent="0" marL="0">
              <a:buNone/>
            </a:pPr>
            <a:r>
              <a:rPr lang="en-US" sz="1300" b="1" dirty="0">
                <a:solidFill>
                  <a:schemeClr val="bg1"/>
                </a:solidFill>
                <a:latin typeface="Calibri" pitchFamily="34" charset="0"/>
                <a:ea typeface="Calibri" pitchFamily="34" charset="-122"/>
                <a:cs typeface="Calibri" pitchFamily="34" charset="-120"/>
              </a:rPr>
              <a:t>H#  </a:t>
            </a:r>
            <a:pPr indent="0" marL="0">
              <a:buNone/>
            </a:pPr>
            <a:r>
              <a:rPr lang="en-US" sz="1400" b="1" dirty="0">
                <a:solidFill>
                  <a:schemeClr val="bg1"/>
                </a:solidFill>
                <a:latin typeface="Calibri" pitchFamily="34" charset="0"/>
                <a:ea typeface="Calibri" pitchFamily="34" charset="-122"/>
                <a:cs typeface="Calibri" pitchFamily="34" charset="-120"/>
              </a:rPr>
              <a:t>Hotspot</a:t>
            </a:r>
            <a:endParaRPr lang="en-US" sz="1300" dirty="0"/>
          </a:p>
        </p:txBody>
      </p:sp>
      <p:sp>
        <p:nvSpPr>
          <p:cNvPr id="43" name="Text 41"/>
          <p:cNvSpPr txBox="1"/>
          <p:nvPr/>
        </p:nvSpPr>
        <p:spPr>
          <a:xfrm>
            <a:off x="9604858" y="4709160"/>
            <a:ext cx="2035454" cy="457200"/>
          </a:xfrm>
          <a:prstGeom prst="rect">
            <a:avLst/>
          </a:prstGeom>
          <a:noFill/>
          <a:ln/>
        </p:spPr>
        <p:txBody>
          <a:bodyPr wrap="square" lIns="0" tIns="0" rIns="0" bIns="0" rtlCol="0" anchor="t"/>
          <a:lstStyle/>
          <a:p>
            <a:pPr indent="0" marL="0">
              <a:buNone/>
            </a:pPr>
            <a:r>
              <a:rPr lang="en-US" sz="1100" dirty="0">
                <a:solidFill>
                  <a:srgbClr val="5E6E6A"/>
                </a:solidFill>
                <a:latin typeface="Calibri" pitchFamily="34" charset="0"/>
                <a:ea typeface="Calibri" pitchFamily="34" charset="-122"/>
                <a:cs typeface="Calibri" pitchFamily="34" charset="-120"/>
              </a:rPr>
              <a:t>Open question or conflict to resolve</a:t>
            </a:r>
            <a:endParaRPr lang="en-US" sz="1100" dirty="0"/>
          </a:p>
        </p:txBody>
      </p:sp>
      <p:sp>
        <p:nvSpPr>
          <p:cNvPr id="44" name="scope box"/>
          <p:cNvSpPr/>
          <p:nvPr/>
        </p:nvSpPr>
        <p:spPr>
          <a:xfrm>
            <a:off x="548640" y="5394960"/>
            <a:ext cx="11091672" cy="777240"/>
          </a:xfrm>
          <a:prstGeom prst="rect">
            <a:avLst/>
          </a:prstGeom>
          <a:solidFill>
            <a:schemeClr val="bg2"/>
          </a:solidFill>
          <a:ln w="12700">
            <a:solidFill>
              <a:schemeClr val="bg2"/>
            </a:solidFill>
            <a:prstDash val="solid"/>
          </a:ln>
        </p:spPr>
      </p:sp>
      <p:sp>
        <p:nvSpPr>
          <p:cNvPr id="45" name="Text 43"/>
          <p:cNvSpPr txBox="1"/>
          <p:nvPr/>
        </p:nvSpPr>
        <p:spPr>
          <a:xfrm>
            <a:off x="777240" y="5486400"/>
            <a:ext cx="10698480" cy="594360"/>
          </a:xfrm>
          <a:prstGeom prst="rect">
            <a:avLst/>
          </a:prstGeom>
          <a:noFill/>
          <a:ln/>
        </p:spPr>
        <p:txBody>
          <a:bodyPr wrap="square" lIns="0" tIns="0" rIns="0" bIns="0" rtlCol="0" anchor="ctr"/>
          <a:lstStyle/>
          <a:p>
            <a:pPr indent="0" marL="0">
              <a:buNone/>
            </a:pPr>
            <a:r>
              <a:rPr lang="en-US" sz="1300" b="1" dirty="0">
                <a:solidFill>
                  <a:schemeClr val="accent1"/>
                </a:solidFill>
                <a:latin typeface="Calibri" pitchFamily="34" charset="0"/>
                <a:ea typeface="Calibri" pitchFamily="34" charset="-122"/>
                <a:cs typeface="Calibri" pitchFamily="34" charset="-120"/>
              </a:rPr>
              <a:t>Scope  </a:t>
            </a:r>
            <a:pPr indent="0" marL="0">
              <a:buNone/>
            </a:pPr>
            <a:r>
              <a:rPr lang="en-US" sz="1300" dirty="0">
                <a:solidFill>
                  <a:schemeClr val="tx1"/>
                </a:solidFill>
                <a:latin typeface="Calibri" pitchFamily="34" charset="0"/>
                <a:ea typeface="Calibri" pitchFamily="34" charset="-122"/>
                <a:cs typeface="Calibri" pitchFamily="34" charset="-120"/>
              </a:rPr>
              <a:t>Top level and use-case neutral. We show events, actors, external systems and hotspots; commands, policies and data models are left for the process-level session on a concrete use case (e.g. recruiting).</a:t>
            </a:r>
            <a:endParaRPr lang="en-US" sz="1300" dirty="0"/>
          </a:p>
        </p:txBody>
      </p:sp>
      <p:sp>
        <p:nvSpPr>
          <p:cNvPr id="25" name="Slide Number Placeholder 0"/>
          <p:cNvSpPr>
            <a:spLocks noGrp="1"/>
          </p:cNvSpPr>
          <p:nvPr>
            <p:ph type="sldNum" sz="quarter" idx="4294967295"/>
          </p:nvPr>
        </p:nvSpPr>
        <p:spPr>
          <a:xfrm>
            <a:off x="11274552" y="644652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E6E6A"/>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274320"/>
          </a:xfrm>
          <a:prstGeom prst="rect">
            <a:avLst/>
          </a:prstGeom>
          <a:noFill/>
          <a:ln/>
        </p:spPr>
        <p:txBody>
          <a:bodyPr wrap="square" lIns="0" tIns="0" rIns="0" bIns="0" rtlCol="0"/>
          <a:lstStyle/>
          <a:p>
            <a:pPr indent="0" marL="0">
              <a:buNone/>
            </a:pPr>
            <a:r>
              <a:rPr lang="en-US" sz="1100" b="1" spc="200" kern="0" dirty="0">
                <a:solidFill>
                  <a:schemeClr val="accent1"/>
                </a:solidFill>
                <a:latin typeface="Arial" pitchFamily="34" charset="0"/>
                <a:ea typeface="Arial" pitchFamily="34" charset="-122"/>
                <a:cs typeface="Arial" pitchFamily="34" charset="-120"/>
              </a:rPr>
              <a:t>BIG PICTURE</a:t>
            </a:r>
            <a:endParaRPr lang="en-US" sz="1100" dirty="0"/>
          </a:p>
        </p:txBody>
      </p:sp>
      <p:sp>
        <p:nvSpPr>
          <p:cNvPr id="3" name="Text 0"/>
          <p:cNvSpPr/>
          <p:nvPr>
            <p:ph idx="101" type="title" hasCustomPrompt="1"/>
          </p:nvPr>
        </p:nvSpPr>
        <p:spPr>
          <a:xfrm>
            <a:off x="548640" y="640080"/>
            <a:ext cx="11064240" cy="868680"/>
          </a:xfrm>
          <a:prstGeom prst="rect">
            <a:avLst/>
          </a:prstGeom>
          <a:noFill/>
          <a:ln/>
        </p:spPr>
        <p:txBody>
          <a:bodyPr wrap="square" lIns="0" tIns="0" rIns="0" bIns="0" rtlCol="0" anchor="t"/>
          <a:lstStyle/>
          <a:p>
            <a:pPr algn="l" indent="0" marL="0">
              <a:buNone/>
            </a:pPr>
            <a:r>
              <a:rPr lang="en-US" sz="2600" b="1" dirty="0">
                <a:solidFill>
                  <a:schemeClr val="tx1"/>
                </a:solidFill>
                <a:latin typeface="Arial" pitchFamily="34" charset="0"/>
                <a:ea typeface="Arial" pitchFamily="34" charset="-122"/>
                <a:cs typeface="Arial" pitchFamily="34" charset="-120"/>
              </a:rPr>
              <a:t>Six bounded contexts form one loop: prevent over-engineering, then correct it</a:t>
            </a:r>
            <a:endParaRPr lang="en-US" sz="2600" dirty="0"/>
          </a:p>
        </p:txBody>
      </p:sp>
      <p:sp>
        <p:nvSpPr>
          <p:cNvPr id="4" name="context Enablement"/>
          <p:cNvSpPr/>
          <p:nvPr/>
        </p:nvSpPr>
        <p:spPr>
          <a:xfrm>
            <a:off x="548640" y="1783080"/>
            <a:ext cx="1505712" cy="1554480"/>
          </a:xfrm>
          <a:prstGeom prst="rect">
            <a:avLst/>
          </a:prstGeom>
          <a:solidFill>
            <a:schemeClr val="bg1"/>
          </a:solidFill>
          <a:ln w="19050">
            <a:solidFill>
              <a:srgbClr val="9FB8AF"/>
            </a:solidFill>
            <a:prstDash val="dash"/>
          </a:ln>
        </p:spPr>
      </p:sp>
      <p:sp>
        <p:nvSpPr>
          <p:cNvPr id="5" name="Shape 3"/>
          <p:cNvSpPr/>
          <p:nvPr/>
        </p:nvSpPr>
        <p:spPr>
          <a:xfrm>
            <a:off x="658368" y="1911096"/>
            <a:ext cx="868680" cy="256032"/>
          </a:xfrm>
          <a:prstGeom prst="roundRect">
            <a:avLst>
              <a:gd name="adj" fmla="val 50000"/>
            </a:avLst>
          </a:prstGeom>
          <a:solidFill>
            <a:schemeClr val="accent1"/>
          </a:solidFill>
          <a:ln w="12700">
            <a:solidFill>
              <a:schemeClr val="accent1"/>
            </a:solidFill>
            <a:prstDash val="solid"/>
          </a:ln>
        </p:spPr>
      </p:sp>
      <p:sp>
        <p:nvSpPr>
          <p:cNvPr id="6" name="Text 4"/>
          <p:cNvSpPr txBox="1"/>
          <p:nvPr/>
        </p:nvSpPr>
        <p:spPr>
          <a:xfrm>
            <a:off x="658368" y="1911096"/>
            <a:ext cx="868680" cy="256032"/>
          </a:xfrm>
          <a:prstGeom prst="rect">
            <a:avLst/>
          </a:prstGeom>
          <a:noFill/>
          <a:ln/>
        </p:spPr>
        <p:txBody>
          <a:bodyPr wrap="square" lIns="0" tIns="0" rIns="0" bIns="0" rtlCol="0" anchor="ctr"/>
          <a:lstStyle/>
          <a:p>
            <a:pPr algn="ctr" indent="0" marL="0">
              <a:buNone/>
            </a:pPr>
            <a:r>
              <a:rPr lang="en-US" sz="900" b="1" spc="100" kern="0" dirty="0">
                <a:solidFill>
                  <a:schemeClr val="bg1"/>
                </a:solidFill>
                <a:latin typeface="Calibri" pitchFamily="34" charset="0"/>
                <a:ea typeface="Calibri" pitchFamily="34" charset="-122"/>
                <a:cs typeface="Calibri" pitchFamily="34" charset="-120"/>
              </a:rPr>
              <a:t>TRAIN</a:t>
            </a:r>
            <a:endParaRPr lang="en-US" sz="900" dirty="0"/>
          </a:p>
        </p:txBody>
      </p:sp>
      <p:sp>
        <p:nvSpPr>
          <p:cNvPr id="7" name="Text 5"/>
          <p:cNvSpPr txBox="1"/>
          <p:nvPr/>
        </p:nvSpPr>
        <p:spPr>
          <a:xfrm>
            <a:off x="658368" y="2286000"/>
            <a:ext cx="1286256" cy="457200"/>
          </a:xfrm>
          <a:prstGeom prst="rect">
            <a:avLst/>
          </a:prstGeom>
          <a:noFill/>
          <a:ln/>
        </p:spPr>
        <p:txBody>
          <a:bodyPr wrap="square" lIns="0" tIns="0" rIns="0" bIns="0" rtlCol="0" anchor="t"/>
          <a:lstStyle/>
          <a:p>
            <a:pPr indent="0" marL="0">
              <a:buNone/>
            </a:pPr>
            <a:r>
              <a:rPr lang="en-US" sz="1300" b="1" dirty="0">
                <a:solidFill>
                  <a:schemeClr val="tx1"/>
                </a:solidFill>
                <a:latin typeface="Arial" pitchFamily="34" charset="0"/>
                <a:ea typeface="Arial" pitchFamily="34" charset="-122"/>
                <a:cs typeface="Arial" pitchFamily="34" charset="-120"/>
              </a:rPr>
              <a:t>Enablement</a:t>
            </a:r>
            <a:endParaRPr lang="en-US" sz="1300" dirty="0"/>
          </a:p>
        </p:txBody>
      </p:sp>
      <p:sp>
        <p:nvSpPr>
          <p:cNvPr id="8" name="Text 6"/>
          <p:cNvSpPr txBox="1"/>
          <p:nvPr/>
        </p:nvSpPr>
        <p:spPr>
          <a:xfrm>
            <a:off x="658368" y="2743200"/>
            <a:ext cx="1286256" cy="548640"/>
          </a:xfrm>
          <a:prstGeom prst="rect">
            <a:avLst/>
          </a:prstGeom>
          <a:noFill/>
          <a:ln/>
        </p:spPr>
        <p:txBody>
          <a:bodyPr wrap="square" lIns="0" tIns="0" rIns="0" bIns="0" rtlCol="0" anchor="t"/>
          <a:lstStyle/>
          <a:p>
            <a:pPr indent="0" marL="0">
              <a:buNone/>
            </a:pPr>
            <a:r>
              <a:rPr lang="en-US" sz="1100" dirty="0">
                <a:solidFill>
                  <a:srgbClr val="5E6E6A"/>
                </a:solidFill>
                <a:latin typeface="Calibri" pitchFamily="34" charset="0"/>
                <a:ea typeface="Calibri" pitchFamily="34" charset="-122"/>
                <a:cs typeface="Calibri" pitchFamily="34" charset="-120"/>
              </a:rPr>
              <a:t>Process owners learn the automation ladder</a:t>
            </a:r>
            <a:endParaRPr lang="en-US" sz="1100" dirty="0"/>
          </a:p>
        </p:txBody>
      </p:sp>
      <p:sp>
        <p:nvSpPr>
          <p:cNvPr id="9" name="context Automation Triage"/>
          <p:cNvSpPr/>
          <p:nvPr/>
        </p:nvSpPr>
        <p:spPr>
          <a:xfrm>
            <a:off x="2465832" y="1783080"/>
            <a:ext cx="1505712" cy="1554480"/>
          </a:xfrm>
          <a:prstGeom prst="rect">
            <a:avLst/>
          </a:prstGeom>
          <a:solidFill>
            <a:schemeClr val="bg1"/>
          </a:solidFill>
          <a:ln w="19050">
            <a:solidFill>
              <a:srgbClr val="9FB8AF"/>
            </a:solidFill>
            <a:prstDash val="dash"/>
          </a:ln>
        </p:spPr>
      </p:sp>
      <p:sp>
        <p:nvSpPr>
          <p:cNvPr id="10" name="Shape 8"/>
          <p:cNvSpPr/>
          <p:nvPr/>
        </p:nvSpPr>
        <p:spPr>
          <a:xfrm>
            <a:off x="2575560" y="1911096"/>
            <a:ext cx="868680" cy="256032"/>
          </a:xfrm>
          <a:prstGeom prst="roundRect">
            <a:avLst>
              <a:gd name="adj" fmla="val 50000"/>
            </a:avLst>
          </a:prstGeom>
          <a:solidFill>
            <a:schemeClr val="accent1"/>
          </a:solidFill>
          <a:ln w="12700">
            <a:solidFill>
              <a:schemeClr val="accent1"/>
            </a:solidFill>
            <a:prstDash val="solid"/>
          </a:ln>
        </p:spPr>
      </p:sp>
      <p:sp>
        <p:nvSpPr>
          <p:cNvPr id="11" name="Text 9"/>
          <p:cNvSpPr txBox="1"/>
          <p:nvPr/>
        </p:nvSpPr>
        <p:spPr>
          <a:xfrm>
            <a:off x="2575560" y="1911096"/>
            <a:ext cx="868680" cy="256032"/>
          </a:xfrm>
          <a:prstGeom prst="rect">
            <a:avLst/>
          </a:prstGeom>
          <a:noFill/>
          <a:ln/>
        </p:spPr>
        <p:txBody>
          <a:bodyPr wrap="square" lIns="0" tIns="0" rIns="0" bIns="0" rtlCol="0" anchor="ctr"/>
          <a:lstStyle/>
          <a:p>
            <a:pPr algn="ctr" indent="0" marL="0">
              <a:buNone/>
            </a:pPr>
            <a:r>
              <a:rPr lang="en-US" sz="900" b="1" spc="100" kern="0" dirty="0">
                <a:solidFill>
                  <a:schemeClr val="bg1"/>
                </a:solidFill>
                <a:latin typeface="Calibri" pitchFamily="34" charset="0"/>
                <a:ea typeface="Calibri" pitchFamily="34" charset="-122"/>
                <a:cs typeface="Calibri" pitchFamily="34" charset="-120"/>
              </a:rPr>
              <a:t>TRIAGE</a:t>
            </a:r>
            <a:endParaRPr lang="en-US" sz="900" dirty="0"/>
          </a:p>
        </p:txBody>
      </p:sp>
      <p:sp>
        <p:nvSpPr>
          <p:cNvPr id="12" name="Text 10"/>
          <p:cNvSpPr txBox="1"/>
          <p:nvPr/>
        </p:nvSpPr>
        <p:spPr>
          <a:xfrm>
            <a:off x="2575560" y="2286000"/>
            <a:ext cx="1286256" cy="457200"/>
          </a:xfrm>
          <a:prstGeom prst="rect">
            <a:avLst/>
          </a:prstGeom>
          <a:noFill/>
          <a:ln/>
        </p:spPr>
        <p:txBody>
          <a:bodyPr wrap="square" lIns="0" tIns="0" rIns="0" bIns="0" rtlCol="0" anchor="t"/>
          <a:lstStyle/>
          <a:p>
            <a:pPr indent="0" marL="0">
              <a:buNone/>
            </a:pPr>
            <a:r>
              <a:rPr lang="en-US" sz="1300" b="1" dirty="0">
                <a:solidFill>
                  <a:schemeClr val="tx1"/>
                </a:solidFill>
                <a:latin typeface="Arial" pitchFamily="34" charset="0"/>
                <a:ea typeface="Arial" pitchFamily="34" charset="-122"/>
                <a:cs typeface="Arial" pitchFamily="34" charset="-120"/>
              </a:rPr>
              <a:t>Automation Triage</a:t>
            </a:r>
            <a:endParaRPr lang="en-US" sz="1300" dirty="0"/>
          </a:p>
        </p:txBody>
      </p:sp>
      <p:sp>
        <p:nvSpPr>
          <p:cNvPr id="13" name="Text 11"/>
          <p:cNvSpPr txBox="1"/>
          <p:nvPr/>
        </p:nvSpPr>
        <p:spPr>
          <a:xfrm>
            <a:off x="2575560" y="2743200"/>
            <a:ext cx="1286256" cy="548640"/>
          </a:xfrm>
          <a:prstGeom prst="rect">
            <a:avLst/>
          </a:prstGeom>
          <a:noFill/>
          <a:ln/>
        </p:spPr>
        <p:txBody>
          <a:bodyPr wrap="square" lIns="0" tIns="0" rIns="0" bIns="0" rtlCol="0" anchor="t"/>
          <a:lstStyle/>
          <a:p>
            <a:pPr indent="0" marL="0">
              <a:buNone/>
            </a:pPr>
            <a:r>
              <a:rPr lang="en-US" sz="1100" dirty="0">
                <a:solidFill>
                  <a:srgbClr val="5E6E6A"/>
                </a:solidFill>
                <a:latin typeface="Calibri" pitchFamily="34" charset="0"/>
                <a:ea typeface="Calibri" pitchFamily="34" charset="-122"/>
                <a:cs typeface="Calibri" pitchFamily="34" charset="-120"/>
              </a:rPr>
              <a:t>Choose the lowest step that does the job</a:t>
            </a:r>
            <a:endParaRPr lang="en-US" sz="1100" dirty="0"/>
          </a:p>
        </p:txBody>
      </p:sp>
      <p:sp>
        <p:nvSpPr>
          <p:cNvPr id="14" name="context Build &amp; Deploy"/>
          <p:cNvSpPr/>
          <p:nvPr/>
        </p:nvSpPr>
        <p:spPr>
          <a:xfrm>
            <a:off x="4383024" y="1783080"/>
            <a:ext cx="1505712" cy="1554480"/>
          </a:xfrm>
          <a:prstGeom prst="rect">
            <a:avLst/>
          </a:prstGeom>
          <a:solidFill>
            <a:schemeClr val="bg1"/>
          </a:solidFill>
          <a:ln w="19050">
            <a:solidFill>
              <a:srgbClr val="9FB8AF"/>
            </a:solidFill>
            <a:prstDash val="dash"/>
          </a:ln>
        </p:spPr>
      </p:sp>
      <p:sp>
        <p:nvSpPr>
          <p:cNvPr id="15" name="Shape 13"/>
          <p:cNvSpPr/>
          <p:nvPr/>
        </p:nvSpPr>
        <p:spPr>
          <a:xfrm>
            <a:off x="4492752" y="1911096"/>
            <a:ext cx="868680" cy="256032"/>
          </a:xfrm>
          <a:prstGeom prst="roundRect">
            <a:avLst>
              <a:gd name="adj" fmla="val 50000"/>
            </a:avLst>
          </a:prstGeom>
          <a:solidFill>
            <a:schemeClr val="bg2"/>
          </a:solidFill>
          <a:ln w="12700">
            <a:solidFill>
              <a:schemeClr val="bg2"/>
            </a:solidFill>
            <a:prstDash val="solid"/>
          </a:ln>
        </p:spPr>
      </p:sp>
      <p:sp>
        <p:nvSpPr>
          <p:cNvPr id="16" name="Text 14"/>
          <p:cNvSpPr txBox="1"/>
          <p:nvPr/>
        </p:nvSpPr>
        <p:spPr>
          <a:xfrm>
            <a:off x="4492752" y="1911096"/>
            <a:ext cx="868680" cy="256032"/>
          </a:xfrm>
          <a:prstGeom prst="rect">
            <a:avLst/>
          </a:prstGeom>
          <a:noFill/>
          <a:ln/>
        </p:spPr>
        <p:txBody>
          <a:bodyPr wrap="square" lIns="0" tIns="0" rIns="0" bIns="0" rtlCol="0" anchor="ctr"/>
          <a:lstStyle/>
          <a:p>
            <a:pPr algn="ctr" indent="0" marL="0">
              <a:buNone/>
            </a:pPr>
            <a:r>
              <a:rPr lang="en-US" sz="900" b="1" spc="100" kern="0" dirty="0">
                <a:solidFill>
                  <a:schemeClr val="accent1"/>
                </a:solidFill>
                <a:latin typeface="Calibri" pitchFamily="34" charset="0"/>
                <a:ea typeface="Calibri" pitchFamily="34" charset="-122"/>
                <a:cs typeface="Calibri" pitchFamily="34" charset="-120"/>
              </a:rPr>
              <a:t>BUILD</a:t>
            </a:r>
            <a:endParaRPr lang="en-US" sz="900" dirty="0"/>
          </a:p>
        </p:txBody>
      </p:sp>
      <p:sp>
        <p:nvSpPr>
          <p:cNvPr id="17" name="Text 15"/>
          <p:cNvSpPr txBox="1"/>
          <p:nvPr/>
        </p:nvSpPr>
        <p:spPr>
          <a:xfrm>
            <a:off x="4492752" y="2286000"/>
            <a:ext cx="1286256" cy="457200"/>
          </a:xfrm>
          <a:prstGeom prst="rect">
            <a:avLst/>
          </a:prstGeom>
          <a:noFill/>
          <a:ln/>
        </p:spPr>
        <p:txBody>
          <a:bodyPr wrap="square" lIns="0" tIns="0" rIns="0" bIns="0" rtlCol="0" anchor="t"/>
          <a:lstStyle/>
          <a:p>
            <a:pPr indent="0" marL="0">
              <a:buNone/>
            </a:pPr>
            <a:r>
              <a:rPr lang="en-US" sz="1300" b="1" dirty="0">
                <a:solidFill>
                  <a:schemeClr val="tx1"/>
                </a:solidFill>
                <a:latin typeface="Arial" pitchFamily="34" charset="0"/>
                <a:ea typeface="Arial" pitchFamily="34" charset="-122"/>
                <a:cs typeface="Arial" pitchFamily="34" charset="-120"/>
              </a:rPr>
              <a:t>Build &amp; Deploy</a:t>
            </a:r>
            <a:endParaRPr lang="en-US" sz="1300" dirty="0"/>
          </a:p>
        </p:txBody>
      </p:sp>
      <p:sp>
        <p:nvSpPr>
          <p:cNvPr id="18" name="Text 16"/>
          <p:cNvSpPr txBox="1"/>
          <p:nvPr/>
        </p:nvSpPr>
        <p:spPr>
          <a:xfrm>
            <a:off x="4492752" y="2743200"/>
            <a:ext cx="1286256" cy="548640"/>
          </a:xfrm>
          <a:prstGeom prst="rect">
            <a:avLst/>
          </a:prstGeom>
          <a:noFill/>
          <a:ln/>
        </p:spPr>
        <p:txBody>
          <a:bodyPr wrap="square" lIns="0" tIns="0" rIns="0" bIns="0" rtlCol="0" anchor="t"/>
          <a:lstStyle/>
          <a:p>
            <a:pPr indent="0" marL="0">
              <a:buNone/>
            </a:pPr>
            <a:r>
              <a:rPr lang="en-US" sz="1100" dirty="0">
                <a:solidFill>
                  <a:srgbClr val="5E6E6A"/>
                </a:solidFill>
                <a:latin typeface="Calibri" pitchFamily="34" charset="0"/>
                <a:ea typeface="Calibri" pitchFamily="34" charset="-122"/>
                <a:cs typeface="Calibri" pitchFamily="34" charset="-120"/>
              </a:rPr>
              <a:t>Build, approve, register agents</a:t>
            </a:r>
            <a:endParaRPr lang="en-US" sz="1100" dirty="0"/>
          </a:p>
        </p:txBody>
      </p:sp>
      <p:sp>
        <p:nvSpPr>
          <p:cNvPr id="19" name="context Automation Run"/>
          <p:cNvSpPr/>
          <p:nvPr/>
        </p:nvSpPr>
        <p:spPr>
          <a:xfrm>
            <a:off x="6300216" y="1783080"/>
            <a:ext cx="1505712" cy="1554480"/>
          </a:xfrm>
          <a:prstGeom prst="rect">
            <a:avLst/>
          </a:prstGeom>
          <a:solidFill>
            <a:schemeClr val="bg1"/>
          </a:solidFill>
          <a:ln w="19050">
            <a:solidFill>
              <a:srgbClr val="9FB8AF"/>
            </a:solidFill>
            <a:prstDash val="dash"/>
          </a:ln>
        </p:spPr>
      </p:sp>
      <p:sp>
        <p:nvSpPr>
          <p:cNvPr id="20" name="Shape 18"/>
          <p:cNvSpPr/>
          <p:nvPr/>
        </p:nvSpPr>
        <p:spPr>
          <a:xfrm>
            <a:off x="6409944" y="1911096"/>
            <a:ext cx="868680" cy="256032"/>
          </a:xfrm>
          <a:prstGeom prst="roundRect">
            <a:avLst>
              <a:gd name="adj" fmla="val 50000"/>
            </a:avLst>
          </a:prstGeom>
          <a:solidFill>
            <a:schemeClr val="bg2"/>
          </a:solidFill>
          <a:ln w="12700">
            <a:solidFill>
              <a:schemeClr val="bg2"/>
            </a:solidFill>
            <a:prstDash val="solid"/>
          </a:ln>
        </p:spPr>
      </p:sp>
      <p:sp>
        <p:nvSpPr>
          <p:cNvPr id="21" name="Text 19"/>
          <p:cNvSpPr txBox="1"/>
          <p:nvPr/>
        </p:nvSpPr>
        <p:spPr>
          <a:xfrm>
            <a:off x="6409944" y="1911096"/>
            <a:ext cx="868680" cy="256032"/>
          </a:xfrm>
          <a:prstGeom prst="rect">
            <a:avLst/>
          </a:prstGeom>
          <a:noFill/>
          <a:ln/>
        </p:spPr>
        <p:txBody>
          <a:bodyPr wrap="square" lIns="0" tIns="0" rIns="0" bIns="0" rtlCol="0" anchor="ctr"/>
          <a:lstStyle/>
          <a:p>
            <a:pPr algn="ctr" indent="0" marL="0">
              <a:buNone/>
            </a:pPr>
            <a:r>
              <a:rPr lang="en-US" sz="900" b="1" spc="100" kern="0" dirty="0">
                <a:solidFill>
                  <a:schemeClr val="accent1"/>
                </a:solidFill>
                <a:latin typeface="Calibri" pitchFamily="34" charset="0"/>
                <a:ea typeface="Calibri" pitchFamily="34" charset="-122"/>
                <a:cs typeface="Calibri" pitchFamily="34" charset="-120"/>
              </a:rPr>
              <a:t>OPERATE</a:t>
            </a:r>
            <a:endParaRPr lang="en-US" sz="900" dirty="0"/>
          </a:p>
        </p:txBody>
      </p:sp>
      <p:sp>
        <p:nvSpPr>
          <p:cNvPr id="22" name="Text 20"/>
          <p:cNvSpPr txBox="1"/>
          <p:nvPr/>
        </p:nvSpPr>
        <p:spPr>
          <a:xfrm>
            <a:off x="6409944" y="2286000"/>
            <a:ext cx="1286256" cy="457200"/>
          </a:xfrm>
          <a:prstGeom prst="rect">
            <a:avLst/>
          </a:prstGeom>
          <a:noFill/>
          <a:ln/>
        </p:spPr>
        <p:txBody>
          <a:bodyPr wrap="square" lIns="0" tIns="0" rIns="0" bIns="0" rtlCol="0" anchor="t"/>
          <a:lstStyle/>
          <a:p>
            <a:pPr indent="0" marL="0">
              <a:buNone/>
            </a:pPr>
            <a:r>
              <a:rPr lang="en-US" sz="1300" b="1" dirty="0">
                <a:solidFill>
                  <a:schemeClr val="tx1"/>
                </a:solidFill>
                <a:latin typeface="Arial" pitchFamily="34" charset="0"/>
                <a:ea typeface="Arial" pitchFamily="34" charset="-122"/>
                <a:cs typeface="Arial" pitchFamily="34" charset="-120"/>
              </a:rPr>
              <a:t>Automation Run</a:t>
            </a:r>
            <a:endParaRPr lang="en-US" sz="1300" dirty="0"/>
          </a:p>
        </p:txBody>
      </p:sp>
      <p:sp>
        <p:nvSpPr>
          <p:cNvPr id="23" name="Text 21"/>
          <p:cNvSpPr txBox="1"/>
          <p:nvPr/>
        </p:nvSpPr>
        <p:spPr>
          <a:xfrm>
            <a:off x="6409944" y="2743200"/>
            <a:ext cx="1286256" cy="548640"/>
          </a:xfrm>
          <a:prstGeom prst="rect">
            <a:avLst/>
          </a:prstGeom>
          <a:noFill/>
          <a:ln/>
        </p:spPr>
        <p:txBody>
          <a:bodyPr wrap="square" lIns="0" tIns="0" rIns="0" bIns="0" rtlCol="0" anchor="t"/>
          <a:lstStyle/>
          <a:p>
            <a:pPr indent="0" marL="0">
              <a:buNone/>
            </a:pPr>
            <a:r>
              <a:rPr lang="en-US" sz="1100" dirty="0">
                <a:solidFill>
                  <a:srgbClr val="5E6E6A"/>
                </a:solidFill>
                <a:latin typeface="Calibri" pitchFamily="34" charset="0"/>
                <a:ea typeface="Calibri" pitchFamily="34" charset="-122"/>
                <a:cs typeface="Calibri" pitchFamily="34" charset="-120"/>
              </a:rPr>
              <a:t>Handle requests, escalate the unknown</a:t>
            </a:r>
            <a:endParaRPr lang="en-US" sz="1100" dirty="0"/>
          </a:p>
        </p:txBody>
      </p:sp>
      <p:sp>
        <p:nvSpPr>
          <p:cNvPr id="24" name="context Agent Monitoring"/>
          <p:cNvSpPr/>
          <p:nvPr/>
        </p:nvSpPr>
        <p:spPr>
          <a:xfrm>
            <a:off x="8217408" y="1783080"/>
            <a:ext cx="1505712" cy="1554480"/>
          </a:xfrm>
          <a:prstGeom prst="rect">
            <a:avLst/>
          </a:prstGeom>
          <a:solidFill>
            <a:schemeClr val="bg1"/>
          </a:solidFill>
          <a:ln w="19050">
            <a:solidFill>
              <a:srgbClr val="9FB8AF"/>
            </a:solidFill>
            <a:prstDash val="dash"/>
          </a:ln>
        </p:spPr>
      </p:sp>
      <p:sp>
        <p:nvSpPr>
          <p:cNvPr id="25" name="Shape 23"/>
          <p:cNvSpPr/>
          <p:nvPr/>
        </p:nvSpPr>
        <p:spPr>
          <a:xfrm>
            <a:off x="8327136" y="1911096"/>
            <a:ext cx="868680" cy="256032"/>
          </a:xfrm>
          <a:prstGeom prst="roundRect">
            <a:avLst>
              <a:gd name="adj" fmla="val 50000"/>
            </a:avLst>
          </a:prstGeom>
          <a:solidFill>
            <a:schemeClr val="accent1"/>
          </a:solidFill>
          <a:ln w="12700">
            <a:solidFill>
              <a:schemeClr val="accent1"/>
            </a:solidFill>
            <a:prstDash val="solid"/>
          </a:ln>
        </p:spPr>
      </p:sp>
      <p:sp>
        <p:nvSpPr>
          <p:cNvPr id="26" name="Text 24"/>
          <p:cNvSpPr txBox="1"/>
          <p:nvPr/>
        </p:nvSpPr>
        <p:spPr>
          <a:xfrm>
            <a:off x="8327136" y="1911096"/>
            <a:ext cx="868680" cy="256032"/>
          </a:xfrm>
          <a:prstGeom prst="rect">
            <a:avLst/>
          </a:prstGeom>
          <a:noFill/>
          <a:ln/>
        </p:spPr>
        <p:txBody>
          <a:bodyPr wrap="square" lIns="0" tIns="0" rIns="0" bIns="0" rtlCol="0" anchor="ctr"/>
          <a:lstStyle/>
          <a:p>
            <a:pPr algn="ctr" indent="0" marL="0">
              <a:buNone/>
            </a:pPr>
            <a:r>
              <a:rPr lang="en-US" sz="900" b="1" spc="100" kern="0" dirty="0">
                <a:solidFill>
                  <a:schemeClr val="bg1"/>
                </a:solidFill>
                <a:latin typeface="Calibri" pitchFamily="34" charset="0"/>
                <a:ea typeface="Calibri" pitchFamily="34" charset="-122"/>
                <a:cs typeface="Calibri" pitchFamily="34" charset="-120"/>
              </a:rPr>
              <a:t>MONITOR</a:t>
            </a:r>
            <a:endParaRPr lang="en-US" sz="900" dirty="0"/>
          </a:p>
        </p:txBody>
      </p:sp>
      <p:sp>
        <p:nvSpPr>
          <p:cNvPr id="27" name="Text 25"/>
          <p:cNvSpPr txBox="1"/>
          <p:nvPr/>
        </p:nvSpPr>
        <p:spPr>
          <a:xfrm>
            <a:off x="8327136" y="2286000"/>
            <a:ext cx="1286256" cy="457200"/>
          </a:xfrm>
          <a:prstGeom prst="rect">
            <a:avLst/>
          </a:prstGeom>
          <a:noFill/>
          <a:ln/>
        </p:spPr>
        <p:txBody>
          <a:bodyPr wrap="square" lIns="0" tIns="0" rIns="0" bIns="0" rtlCol="0" anchor="t"/>
          <a:lstStyle/>
          <a:p>
            <a:pPr indent="0" marL="0">
              <a:buNone/>
            </a:pPr>
            <a:r>
              <a:rPr lang="en-US" sz="1300" b="1" dirty="0">
                <a:solidFill>
                  <a:schemeClr val="tx1"/>
                </a:solidFill>
                <a:latin typeface="Arial" pitchFamily="34" charset="0"/>
                <a:ea typeface="Arial" pitchFamily="34" charset="-122"/>
                <a:cs typeface="Arial" pitchFamily="34" charset="-120"/>
              </a:rPr>
              <a:t>Agent Monitoring</a:t>
            </a:r>
            <a:endParaRPr lang="en-US" sz="1300" dirty="0"/>
          </a:p>
        </p:txBody>
      </p:sp>
      <p:sp>
        <p:nvSpPr>
          <p:cNvPr id="28" name="Text 26"/>
          <p:cNvSpPr txBox="1"/>
          <p:nvPr/>
        </p:nvSpPr>
        <p:spPr>
          <a:xfrm>
            <a:off x="8327136" y="2743200"/>
            <a:ext cx="1286256" cy="548640"/>
          </a:xfrm>
          <a:prstGeom prst="rect">
            <a:avLst/>
          </a:prstGeom>
          <a:noFill/>
          <a:ln/>
        </p:spPr>
        <p:txBody>
          <a:bodyPr wrap="square" lIns="0" tIns="0" rIns="0" bIns="0" rtlCol="0" anchor="t"/>
          <a:lstStyle/>
          <a:p>
            <a:pPr indent="0" marL="0">
              <a:buNone/>
            </a:pPr>
            <a:r>
              <a:rPr lang="en-US" sz="1100" dirty="0">
                <a:solidFill>
                  <a:srgbClr val="5E6E6A"/>
                </a:solidFill>
                <a:latin typeface="Calibri" pitchFamily="34" charset="0"/>
                <a:ea typeface="Calibri" pitchFamily="34" charset="-122"/>
                <a:cs typeface="Calibri" pitchFamily="34" charset="-120"/>
              </a:rPr>
              <a:t>Dashboard: tokens and similarity</a:t>
            </a:r>
            <a:endParaRPr lang="en-US" sz="1100" dirty="0"/>
          </a:p>
        </p:txBody>
      </p:sp>
      <p:sp>
        <p:nvSpPr>
          <p:cNvPr id="29" name="context Agent Conversion"/>
          <p:cNvSpPr/>
          <p:nvPr/>
        </p:nvSpPr>
        <p:spPr>
          <a:xfrm>
            <a:off x="10134600" y="1783080"/>
            <a:ext cx="1505712" cy="1554480"/>
          </a:xfrm>
          <a:prstGeom prst="rect">
            <a:avLst/>
          </a:prstGeom>
          <a:solidFill>
            <a:schemeClr val="bg1"/>
          </a:solidFill>
          <a:ln w="19050">
            <a:solidFill>
              <a:srgbClr val="9FB8AF"/>
            </a:solidFill>
            <a:prstDash val="dash"/>
          </a:ln>
        </p:spPr>
      </p:sp>
      <p:sp>
        <p:nvSpPr>
          <p:cNvPr id="30" name="Shape 28"/>
          <p:cNvSpPr/>
          <p:nvPr/>
        </p:nvSpPr>
        <p:spPr>
          <a:xfrm>
            <a:off x="10244328" y="1911096"/>
            <a:ext cx="868680" cy="256032"/>
          </a:xfrm>
          <a:prstGeom prst="roundRect">
            <a:avLst>
              <a:gd name="adj" fmla="val 50000"/>
            </a:avLst>
          </a:prstGeom>
          <a:solidFill>
            <a:schemeClr val="accent1"/>
          </a:solidFill>
          <a:ln w="12700">
            <a:solidFill>
              <a:schemeClr val="accent1"/>
            </a:solidFill>
            <a:prstDash val="solid"/>
          </a:ln>
        </p:spPr>
      </p:sp>
      <p:sp>
        <p:nvSpPr>
          <p:cNvPr id="31" name="Text 29"/>
          <p:cNvSpPr txBox="1"/>
          <p:nvPr/>
        </p:nvSpPr>
        <p:spPr>
          <a:xfrm>
            <a:off x="10244328" y="1911096"/>
            <a:ext cx="868680" cy="256032"/>
          </a:xfrm>
          <a:prstGeom prst="rect">
            <a:avLst/>
          </a:prstGeom>
          <a:noFill/>
          <a:ln/>
        </p:spPr>
        <p:txBody>
          <a:bodyPr wrap="square" lIns="0" tIns="0" rIns="0" bIns="0" rtlCol="0" anchor="ctr"/>
          <a:lstStyle/>
          <a:p>
            <a:pPr algn="ctr" indent="0" marL="0">
              <a:buNone/>
            </a:pPr>
            <a:r>
              <a:rPr lang="en-US" sz="900" b="1" spc="100" kern="0" dirty="0">
                <a:solidFill>
                  <a:schemeClr val="bg1"/>
                </a:solidFill>
                <a:latin typeface="Calibri" pitchFamily="34" charset="0"/>
                <a:ea typeface="Calibri" pitchFamily="34" charset="-122"/>
                <a:cs typeface="Calibri" pitchFamily="34" charset="-120"/>
              </a:rPr>
              <a:t>REPLACE</a:t>
            </a:r>
            <a:endParaRPr lang="en-US" sz="900" dirty="0"/>
          </a:p>
        </p:txBody>
      </p:sp>
      <p:sp>
        <p:nvSpPr>
          <p:cNvPr id="32" name="Text 30"/>
          <p:cNvSpPr txBox="1"/>
          <p:nvPr/>
        </p:nvSpPr>
        <p:spPr>
          <a:xfrm>
            <a:off x="10244328" y="2286000"/>
            <a:ext cx="1286256" cy="457200"/>
          </a:xfrm>
          <a:prstGeom prst="rect">
            <a:avLst/>
          </a:prstGeom>
          <a:noFill/>
          <a:ln/>
        </p:spPr>
        <p:txBody>
          <a:bodyPr wrap="square" lIns="0" tIns="0" rIns="0" bIns="0" rtlCol="0" anchor="t"/>
          <a:lstStyle/>
          <a:p>
            <a:pPr indent="0" marL="0">
              <a:buNone/>
            </a:pPr>
            <a:r>
              <a:rPr lang="en-US" sz="1300" b="1" dirty="0">
                <a:solidFill>
                  <a:schemeClr val="tx1"/>
                </a:solidFill>
                <a:latin typeface="Arial" pitchFamily="34" charset="0"/>
                <a:ea typeface="Arial" pitchFamily="34" charset="-122"/>
                <a:cs typeface="Arial" pitchFamily="34" charset="-120"/>
              </a:rPr>
              <a:t>Agent Conversion</a:t>
            </a:r>
            <a:endParaRPr lang="en-US" sz="1300" dirty="0"/>
          </a:p>
        </p:txBody>
      </p:sp>
      <p:sp>
        <p:nvSpPr>
          <p:cNvPr id="33" name="Text 31"/>
          <p:cNvSpPr txBox="1"/>
          <p:nvPr/>
        </p:nvSpPr>
        <p:spPr>
          <a:xfrm>
            <a:off x="10244328" y="2743200"/>
            <a:ext cx="1286256" cy="548640"/>
          </a:xfrm>
          <a:prstGeom prst="rect">
            <a:avLst/>
          </a:prstGeom>
          <a:noFill/>
          <a:ln/>
        </p:spPr>
        <p:txBody>
          <a:bodyPr wrap="square" lIns="0" tIns="0" rIns="0" bIns="0" rtlCol="0" anchor="t"/>
          <a:lstStyle/>
          <a:p>
            <a:pPr indent="0" marL="0">
              <a:buNone/>
            </a:pPr>
            <a:r>
              <a:rPr lang="en-US" sz="1100" dirty="0">
                <a:solidFill>
                  <a:srgbClr val="5E6E6A"/>
                </a:solidFill>
                <a:latin typeface="Calibri" pitchFamily="34" charset="0"/>
                <a:ea typeface="Calibri" pitchFamily="34" charset="-122"/>
                <a:cs typeface="Calibri" pitchFamily="34" charset="-120"/>
              </a:rPr>
              <a:t>Uniform agents become workflows</a:t>
            </a:r>
            <a:endParaRPr lang="en-US" sz="1100" dirty="0"/>
          </a:p>
        </p:txBody>
      </p:sp>
      <p:sp>
        <p:nvSpPr>
          <p:cNvPr id="34" name="Shape 32"/>
          <p:cNvSpPr/>
          <p:nvPr/>
        </p:nvSpPr>
        <p:spPr>
          <a:xfrm>
            <a:off x="2260092" y="2560320"/>
            <a:ext cx="0" cy="1143000"/>
          </a:xfrm>
          <a:prstGeom prst="line">
            <a:avLst/>
          </a:prstGeom>
          <a:noFill/>
          <a:ln w="15875">
            <a:solidFill>
              <a:schemeClr val="accent3"/>
            </a:solidFill>
            <a:prstDash val="dash"/>
          </a:ln>
        </p:spPr>
      </p:sp>
      <p:sp>
        <p:nvSpPr>
          <p:cNvPr id="35" name="event note: Ladder training completed"/>
          <p:cNvSpPr/>
          <p:nvPr/>
        </p:nvSpPr>
        <p:spPr>
          <a:xfrm>
            <a:off x="1528572" y="3749040"/>
            <a:ext cx="1463040" cy="713232"/>
          </a:xfrm>
          <a:prstGeom prst="rect">
            <a:avLst/>
          </a:prstGeom>
          <a:solidFill>
            <a:schemeClr val="accent3"/>
          </a:solidFill>
          <a:ln w="6350">
            <a:solidFill>
              <a:schemeClr val="accent3"/>
            </a:solidFill>
            <a:prstDash val="solid"/>
          </a:ln>
          <a:effectLst>
            <a:outerShdw sx="100000" sy="100000" kx="0" ky="0" algn="bl" rotWithShape="0" blurRad="50800" dist="25400" dir="5400000">
              <a:srgbClr val="000000">
                <a:alpha val="18000"/>
              </a:srgbClr>
            </a:outerShdw>
          </a:effectLst>
        </p:spPr>
      </p:sp>
      <p:sp>
        <p:nvSpPr>
          <p:cNvPr id="36" name="Text 34"/>
          <p:cNvSpPr txBox="1"/>
          <p:nvPr/>
        </p:nvSpPr>
        <p:spPr>
          <a:xfrm>
            <a:off x="1601724" y="3803904"/>
            <a:ext cx="1316736" cy="603504"/>
          </a:xfrm>
          <a:prstGeom prst="rect">
            <a:avLst/>
          </a:prstGeom>
          <a:noFill/>
          <a:ln/>
        </p:spPr>
        <p:txBody>
          <a:bodyPr wrap="square" lIns="0" tIns="0" rIns="0" bIns="0" rtlCol="0" anchor="t">
            <a:normAutofit/>
          </a:bodyPr>
          <a:lstStyle/>
          <a:p>
            <a:pPr indent="0" marL="0">
              <a:buNone/>
            </a:pPr>
            <a:r>
              <a:rPr lang="en-US" sz="1100" b="1" dirty="0">
                <a:solidFill>
                  <a:schemeClr val="tx1"/>
                </a:solidFill>
                <a:latin typeface="Calibri" pitchFamily="34" charset="0"/>
                <a:ea typeface="Calibri" pitchFamily="34" charset="-122"/>
                <a:cs typeface="Calibri" pitchFamily="34" charset="-120"/>
              </a:rPr>
              <a:t>Ladder training completed</a:t>
            </a:r>
            <a:endParaRPr lang="en-US" sz="1100" dirty="0"/>
          </a:p>
        </p:txBody>
      </p:sp>
      <p:sp>
        <p:nvSpPr>
          <p:cNvPr id="37" name="Shape 35"/>
          <p:cNvSpPr/>
          <p:nvPr/>
        </p:nvSpPr>
        <p:spPr>
          <a:xfrm>
            <a:off x="4177284" y="2560320"/>
            <a:ext cx="0" cy="1143000"/>
          </a:xfrm>
          <a:prstGeom prst="line">
            <a:avLst/>
          </a:prstGeom>
          <a:noFill/>
          <a:ln w="15875">
            <a:solidFill>
              <a:schemeClr val="accent3"/>
            </a:solidFill>
            <a:prstDash val="dash"/>
          </a:ln>
        </p:spPr>
      </p:sp>
      <p:sp>
        <p:nvSpPr>
          <p:cNvPr id="38" name="event note: Automation approach decided"/>
          <p:cNvSpPr/>
          <p:nvPr/>
        </p:nvSpPr>
        <p:spPr>
          <a:xfrm>
            <a:off x="3445764" y="3749040"/>
            <a:ext cx="1463040" cy="713232"/>
          </a:xfrm>
          <a:prstGeom prst="rect">
            <a:avLst/>
          </a:prstGeom>
          <a:solidFill>
            <a:schemeClr val="accent3"/>
          </a:solidFill>
          <a:ln w="28575">
            <a:solidFill>
              <a:schemeClr val="tx1"/>
            </a:solidFill>
            <a:prstDash val="solid"/>
          </a:ln>
          <a:effectLst>
            <a:outerShdw sx="100000" sy="100000" kx="0" ky="0" algn="bl" rotWithShape="0" blurRad="50800" dist="25400" dir="5400000">
              <a:srgbClr val="000000">
                <a:alpha val="18000"/>
              </a:srgbClr>
            </a:outerShdw>
          </a:effectLst>
        </p:spPr>
      </p:sp>
      <p:sp>
        <p:nvSpPr>
          <p:cNvPr id="39" name="Text 37"/>
          <p:cNvSpPr txBox="1"/>
          <p:nvPr/>
        </p:nvSpPr>
        <p:spPr>
          <a:xfrm>
            <a:off x="3518916" y="3803904"/>
            <a:ext cx="1316736" cy="603504"/>
          </a:xfrm>
          <a:prstGeom prst="rect">
            <a:avLst/>
          </a:prstGeom>
          <a:noFill/>
          <a:ln/>
        </p:spPr>
        <p:txBody>
          <a:bodyPr wrap="square" lIns="0" tIns="0" rIns="0" bIns="0" rtlCol="0" anchor="t">
            <a:normAutofit/>
          </a:bodyPr>
          <a:lstStyle/>
          <a:p>
            <a:pPr indent="0" marL="0">
              <a:buNone/>
            </a:pPr>
            <a:r>
              <a:rPr lang="en-US" sz="1100" dirty="0">
                <a:solidFill>
                  <a:schemeClr val="tx1"/>
                </a:solidFill>
                <a:latin typeface="Calibri" pitchFamily="34" charset="0"/>
                <a:ea typeface="Calibri" pitchFamily="34" charset="-122"/>
                <a:cs typeface="Calibri" pitchFamily="34" charset="-120"/>
              </a:rPr>
              <a:t>★ </a:t>
            </a:r>
            <a:pPr indent="0" marL="0">
              <a:buNone/>
            </a:pPr>
            <a:r>
              <a:rPr lang="en-US" sz="1100" b="1" dirty="0">
                <a:solidFill>
                  <a:schemeClr val="tx1"/>
                </a:solidFill>
                <a:latin typeface="Calibri" pitchFamily="34" charset="0"/>
                <a:ea typeface="Calibri" pitchFamily="34" charset="-122"/>
                <a:cs typeface="Calibri" pitchFamily="34" charset="-120"/>
              </a:rPr>
              <a:t>Automation approach decided</a:t>
            </a:r>
            <a:endParaRPr lang="en-US" sz="1100" dirty="0"/>
          </a:p>
        </p:txBody>
      </p:sp>
      <p:sp>
        <p:nvSpPr>
          <p:cNvPr id="40" name="Shape 38"/>
          <p:cNvSpPr/>
          <p:nvPr/>
        </p:nvSpPr>
        <p:spPr>
          <a:xfrm>
            <a:off x="6094476" y="2560320"/>
            <a:ext cx="0" cy="1143000"/>
          </a:xfrm>
          <a:prstGeom prst="line">
            <a:avLst/>
          </a:prstGeom>
          <a:noFill/>
          <a:ln w="15875">
            <a:solidFill>
              <a:schemeClr val="accent3"/>
            </a:solidFill>
            <a:prstDash val="dash"/>
          </a:ln>
        </p:spPr>
      </p:sp>
      <p:sp>
        <p:nvSpPr>
          <p:cNvPr id="41" name="event note: Automation deployed"/>
          <p:cNvSpPr/>
          <p:nvPr/>
        </p:nvSpPr>
        <p:spPr>
          <a:xfrm>
            <a:off x="5362956" y="3749040"/>
            <a:ext cx="1463040" cy="713232"/>
          </a:xfrm>
          <a:prstGeom prst="rect">
            <a:avLst/>
          </a:prstGeom>
          <a:solidFill>
            <a:schemeClr val="accent3"/>
          </a:solidFill>
          <a:ln w="28575">
            <a:solidFill>
              <a:schemeClr val="tx1"/>
            </a:solidFill>
            <a:prstDash val="solid"/>
          </a:ln>
          <a:effectLst>
            <a:outerShdw sx="100000" sy="100000" kx="0" ky="0" algn="bl" rotWithShape="0" blurRad="50800" dist="25400" dir="5400000">
              <a:srgbClr val="000000">
                <a:alpha val="18000"/>
              </a:srgbClr>
            </a:outerShdw>
          </a:effectLst>
        </p:spPr>
      </p:sp>
      <p:sp>
        <p:nvSpPr>
          <p:cNvPr id="42" name="Text 40"/>
          <p:cNvSpPr txBox="1"/>
          <p:nvPr/>
        </p:nvSpPr>
        <p:spPr>
          <a:xfrm>
            <a:off x="5436108" y="3803904"/>
            <a:ext cx="1316736" cy="603504"/>
          </a:xfrm>
          <a:prstGeom prst="rect">
            <a:avLst/>
          </a:prstGeom>
          <a:noFill/>
          <a:ln/>
        </p:spPr>
        <p:txBody>
          <a:bodyPr wrap="square" lIns="0" tIns="0" rIns="0" bIns="0" rtlCol="0" anchor="t">
            <a:normAutofit/>
          </a:bodyPr>
          <a:lstStyle/>
          <a:p>
            <a:pPr indent="0" marL="0">
              <a:buNone/>
            </a:pPr>
            <a:r>
              <a:rPr lang="en-US" sz="1100" dirty="0">
                <a:solidFill>
                  <a:schemeClr val="tx1"/>
                </a:solidFill>
                <a:latin typeface="Calibri" pitchFamily="34" charset="0"/>
                <a:ea typeface="Calibri" pitchFamily="34" charset="-122"/>
                <a:cs typeface="Calibri" pitchFamily="34" charset="-120"/>
              </a:rPr>
              <a:t>★ </a:t>
            </a:r>
            <a:pPr indent="0" marL="0">
              <a:buNone/>
            </a:pPr>
            <a:r>
              <a:rPr lang="en-US" sz="1100" b="1" dirty="0">
                <a:solidFill>
                  <a:schemeClr val="tx1"/>
                </a:solidFill>
                <a:latin typeface="Calibri" pitchFamily="34" charset="0"/>
                <a:ea typeface="Calibri" pitchFamily="34" charset="-122"/>
                <a:cs typeface="Calibri" pitchFamily="34" charset="-120"/>
              </a:rPr>
              <a:t>Automation deployed</a:t>
            </a:r>
            <a:endParaRPr lang="en-US" sz="1100" dirty="0"/>
          </a:p>
        </p:txBody>
      </p:sp>
      <p:sp>
        <p:nvSpPr>
          <p:cNvPr id="43" name="Shape 41"/>
          <p:cNvSpPr/>
          <p:nvPr/>
        </p:nvSpPr>
        <p:spPr>
          <a:xfrm>
            <a:off x="8011668" y="2560320"/>
            <a:ext cx="0" cy="1143000"/>
          </a:xfrm>
          <a:prstGeom prst="line">
            <a:avLst/>
          </a:prstGeom>
          <a:noFill/>
          <a:ln w="15875">
            <a:solidFill>
              <a:schemeClr val="accent3"/>
            </a:solidFill>
            <a:prstDash val="dash"/>
          </a:ln>
        </p:spPr>
      </p:sp>
      <p:sp>
        <p:nvSpPr>
          <p:cNvPr id="44" name="event note: Run logged"/>
          <p:cNvSpPr/>
          <p:nvPr/>
        </p:nvSpPr>
        <p:spPr>
          <a:xfrm>
            <a:off x="7280148" y="3749040"/>
            <a:ext cx="1463040" cy="713232"/>
          </a:xfrm>
          <a:prstGeom prst="rect">
            <a:avLst/>
          </a:prstGeom>
          <a:solidFill>
            <a:schemeClr val="accent3"/>
          </a:solidFill>
          <a:ln w="6350">
            <a:solidFill>
              <a:schemeClr val="accent3"/>
            </a:solidFill>
            <a:prstDash val="solid"/>
          </a:ln>
          <a:effectLst>
            <a:outerShdw sx="100000" sy="100000" kx="0" ky="0" algn="bl" rotWithShape="0" blurRad="50800" dist="25400" dir="5400000">
              <a:srgbClr val="000000">
                <a:alpha val="18000"/>
              </a:srgbClr>
            </a:outerShdw>
          </a:effectLst>
        </p:spPr>
      </p:sp>
      <p:sp>
        <p:nvSpPr>
          <p:cNvPr id="45" name="Text 43"/>
          <p:cNvSpPr txBox="1"/>
          <p:nvPr/>
        </p:nvSpPr>
        <p:spPr>
          <a:xfrm>
            <a:off x="7353300" y="3803904"/>
            <a:ext cx="1316736" cy="603504"/>
          </a:xfrm>
          <a:prstGeom prst="rect">
            <a:avLst/>
          </a:prstGeom>
          <a:noFill/>
          <a:ln/>
        </p:spPr>
        <p:txBody>
          <a:bodyPr wrap="square" lIns="0" tIns="0" rIns="0" bIns="0" rtlCol="0" anchor="t">
            <a:normAutofit/>
          </a:bodyPr>
          <a:lstStyle/>
          <a:p>
            <a:pPr indent="0" marL="0">
              <a:buNone/>
            </a:pPr>
            <a:r>
              <a:rPr lang="en-US" sz="1100" b="1" dirty="0">
                <a:solidFill>
                  <a:schemeClr val="tx1"/>
                </a:solidFill>
                <a:latin typeface="Calibri" pitchFamily="34" charset="0"/>
                <a:ea typeface="Calibri" pitchFamily="34" charset="-122"/>
                <a:cs typeface="Calibri" pitchFamily="34" charset="-120"/>
              </a:rPr>
              <a:t>Run logged</a:t>
            </a:r>
            <a:endParaRPr lang="en-US" sz="1100" dirty="0"/>
          </a:p>
        </p:txBody>
      </p:sp>
      <p:sp>
        <p:nvSpPr>
          <p:cNvPr id="46" name="Shape 44"/>
          <p:cNvSpPr/>
          <p:nvPr/>
        </p:nvSpPr>
        <p:spPr>
          <a:xfrm>
            <a:off x="9928860" y="2560320"/>
            <a:ext cx="0" cy="1143000"/>
          </a:xfrm>
          <a:prstGeom prst="line">
            <a:avLst/>
          </a:prstGeom>
          <a:noFill/>
          <a:ln w="15875">
            <a:solidFill>
              <a:schemeClr val="accent3"/>
            </a:solidFill>
            <a:prstDash val="dash"/>
          </a:ln>
        </p:spPr>
      </p:sp>
      <p:sp>
        <p:nvSpPr>
          <p:cNvPr id="47" name="event note: Agent flagged as uniform"/>
          <p:cNvSpPr/>
          <p:nvPr/>
        </p:nvSpPr>
        <p:spPr>
          <a:xfrm>
            <a:off x="9197340" y="3749040"/>
            <a:ext cx="1463040" cy="713232"/>
          </a:xfrm>
          <a:prstGeom prst="rect">
            <a:avLst/>
          </a:prstGeom>
          <a:solidFill>
            <a:schemeClr val="accent3"/>
          </a:solidFill>
          <a:ln w="28575">
            <a:solidFill>
              <a:schemeClr val="tx1"/>
            </a:solidFill>
            <a:prstDash val="solid"/>
          </a:ln>
          <a:effectLst>
            <a:outerShdw sx="100000" sy="100000" kx="0" ky="0" algn="bl" rotWithShape="0" blurRad="50800" dist="25400" dir="5400000">
              <a:srgbClr val="000000">
                <a:alpha val="18000"/>
              </a:srgbClr>
            </a:outerShdw>
          </a:effectLst>
        </p:spPr>
      </p:sp>
      <p:sp>
        <p:nvSpPr>
          <p:cNvPr id="48" name="Text 46"/>
          <p:cNvSpPr txBox="1"/>
          <p:nvPr/>
        </p:nvSpPr>
        <p:spPr>
          <a:xfrm>
            <a:off x="9270492" y="3803904"/>
            <a:ext cx="1316736" cy="603504"/>
          </a:xfrm>
          <a:prstGeom prst="rect">
            <a:avLst/>
          </a:prstGeom>
          <a:noFill/>
          <a:ln/>
        </p:spPr>
        <p:txBody>
          <a:bodyPr wrap="square" lIns="0" tIns="0" rIns="0" bIns="0" rtlCol="0" anchor="t">
            <a:normAutofit/>
          </a:bodyPr>
          <a:lstStyle/>
          <a:p>
            <a:pPr indent="0" marL="0">
              <a:buNone/>
            </a:pPr>
            <a:r>
              <a:rPr lang="en-US" sz="1100" dirty="0">
                <a:solidFill>
                  <a:schemeClr val="tx1"/>
                </a:solidFill>
                <a:latin typeface="Calibri" pitchFamily="34" charset="0"/>
                <a:ea typeface="Calibri" pitchFamily="34" charset="-122"/>
                <a:cs typeface="Calibri" pitchFamily="34" charset="-120"/>
              </a:rPr>
              <a:t>★ </a:t>
            </a:r>
            <a:pPr indent="0" marL="0">
              <a:buNone/>
            </a:pPr>
            <a:r>
              <a:rPr lang="en-US" sz="1100" b="1" dirty="0">
                <a:solidFill>
                  <a:schemeClr val="tx1"/>
                </a:solidFill>
                <a:latin typeface="Calibri" pitchFamily="34" charset="0"/>
                <a:ea typeface="Calibri" pitchFamily="34" charset="-122"/>
                <a:cs typeface="Calibri" pitchFamily="34" charset="-120"/>
              </a:rPr>
              <a:t>Agent flagged as uniform</a:t>
            </a:r>
            <a:endParaRPr lang="en-US" sz="1100" dirty="0"/>
          </a:p>
        </p:txBody>
      </p:sp>
      <p:sp>
        <p:nvSpPr>
          <p:cNvPr id="49" name="Shape 47"/>
          <p:cNvSpPr/>
          <p:nvPr/>
        </p:nvSpPr>
        <p:spPr>
          <a:xfrm>
            <a:off x="10887456" y="3337560"/>
            <a:ext cx="0" cy="1645920"/>
          </a:xfrm>
          <a:prstGeom prst="line">
            <a:avLst/>
          </a:prstGeom>
          <a:noFill/>
          <a:ln w="22225">
            <a:solidFill>
              <a:schemeClr val="accent1"/>
            </a:solidFill>
            <a:prstDash val="solid"/>
          </a:ln>
        </p:spPr>
      </p:sp>
      <p:sp>
        <p:nvSpPr>
          <p:cNvPr id="50" name="Shape 48"/>
          <p:cNvSpPr/>
          <p:nvPr/>
        </p:nvSpPr>
        <p:spPr>
          <a:xfrm>
            <a:off x="1301496" y="4983480"/>
            <a:ext cx="9585960" cy="0"/>
          </a:xfrm>
          <a:prstGeom prst="line">
            <a:avLst/>
          </a:prstGeom>
          <a:noFill/>
          <a:ln w="22225">
            <a:solidFill>
              <a:schemeClr val="accent1"/>
            </a:solidFill>
            <a:prstDash val="solid"/>
          </a:ln>
        </p:spPr>
      </p:sp>
      <p:sp>
        <p:nvSpPr>
          <p:cNvPr id="51" name="Shape 49"/>
          <p:cNvSpPr/>
          <p:nvPr/>
        </p:nvSpPr>
        <p:spPr>
          <a:xfrm flipV="1">
            <a:off x="1301496" y="3337560"/>
            <a:ext cx="0" cy="1645920"/>
          </a:xfrm>
          <a:prstGeom prst="line">
            <a:avLst/>
          </a:prstGeom>
          <a:noFill/>
          <a:ln w="22225">
            <a:solidFill>
              <a:schemeClr val="accent1"/>
            </a:solidFill>
            <a:prstDash val="solid"/>
            <a:tailEnd type="triangle"/>
          </a:ln>
        </p:spPr>
      </p:sp>
      <p:sp>
        <p:nvSpPr>
          <p:cNvPr id="52" name="event note: Conversion case added to training"/>
          <p:cNvSpPr/>
          <p:nvPr/>
        </p:nvSpPr>
        <p:spPr>
          <a:xfrm>
            <a:off x="4905756" y="4709160"/>
            <a:ext cx="2377440" cy="548640"/>
          </a:xfrm>
          <a:prstGeom prst="rect">
            <a:avLst/>
          </a:prstGeom>
          <a:solidFill>
            <a:schemeClr val="accent3"/>
          </a:solidFill>
          <a:ln w="6350">
            <a:solidFill>
              <a:schemeClr val="accent3"/>
            </a:solidFill>
            <a:prstDash val="solid"/>
          </a:ln>
          <a:effectLst>
            <a:outerShdw sx="100000" sy="100000" kx="0" ky="0" algn="bl" rotWithShape="0" blurRad="50800" dist="25400" dir="5400000">
              <a:srgbClr val="000000">
                <a:alpha val="18000"/>
              </a:srgbClr>
            </a:outerShdw>
          </a:effectLst>
        </p:spPr>
      </p:sp>
      <p:sp>
        <p:nvSpPr>
          <p:cNvPr id="53" name="Text 51"/>
          <p:cNvSpPr txBox="1"/>
          <p:nvPr/>
        </p:nvSpPr>
        <p:spPr>
          <a:xfrm>
            <a:off x="4978908" y="4764024"/>
            <a:ext cx="2231136" cy="438912"/>
          </a:xfrm>
          <a:prstGeom prst="rect">
            <a:avLst/>
          </a:prstGeom>
          <a:noFill/>
          <a:ln/>
        </p:spPr>
        <p:txBody>
          <a:bodyPr wrap="square" lIns="0" tIns="0" rIns="0" bIns="0" rtlCol="0" anchor="t">
            <a:normAutofit/>
          </a:bodyPr>
          <a:lstStyle/>
          <a:p>
            <a:pPr indent="0" marL="0">
              <a:buNone/>
            </a:pPr>
            <a:r>
              <a:rPr lang="en-US" sz="1100" b="1" dirty="0">
                <a:solidFill>
                  <a:schemeClr val="tx1"/>
                </a:solidFill>
                <a:latin typeface="Calibri" pitchFamily="34" charset="0"/>
                <a:ea typeface="Calibri" pitchFamily="34" charset="-122"/>
                <a:cs typeface="Calibri" pitchFamily="34" charset="-120"/>
              </a:rPr>
              <a:t>Conversion case added to training</a:t>
            </a:r>
            <a:endParaRPr lang="en-US" sz="1100" dirty="0"/>
          </a:p>
        </p:txBody>
      </p:sp>
      <p:sp>
        <p:nvSpPr>
          <p:cNvPr id="54" name="Text 52"/>
          <p:cNvSpPr txBox="1"/>
          <p:nvPr/>
        </p:nvSpPr>
        <p:spPr>
          <a:xfrm>
            <a:off x="548640" y="5440680"/>
            <a:ext cx="5394960" cy="548640"/>
          </a:xfrm>
          <a:prstGeom prst="rect">
            <a:avLst/>
          </a:prstGeom>
          <a:noFill/>
          <a:ln/>
        </p:spPr>
        <p:txBody>
          <a:bodyPr wrap="square" lIns="0" tIns="0" rIns="0" bIns="0" rtlCol="0" anchor="t"/>
          <a:lstStyle/>
          <a:p>
            <a:pPr indent="0" marL="0">
              <a:buNone/>
            </a:pPr>
            <a:r>
              <a:rPr lang="en-US" sz="1200" b="1" dirty="0">
                <a:solidFill>
                  <a:schemeClr val="accent1"/>
                </a:solidFill>
                <a:latin typeface="Calibri" pitchFamily="34" charset="0"/>
                <a:ea typeface="Calibri" pitchFamily="34" charset="-122"/>
                <a:cs typeface="Calibri" pitchFamily="34" charset="-120"/>
              </a:rPr>
              <a:t>Prevent  </a:t>
            </a:r>
            <a:pPr indent="0" marL="0">
              <a:buNone/>
            </a:pPr>
            <a:r>
              <a:rPr lang="en-US" sz="1200" dirty="0">
                <a:solidFill>
                  <a:schemeClr val="tx1"/>
                </a:solidFill>
                <a:latin typeface="Calibri" pitchFamily="34" charset="0"/>
                <a:ea typeface="Calibri" pitchFamily="34" charset="-122"/>
                <a:cs typeface="Calibri" pitchFamily="34" charset="-120"/>
              </a:rPr>
              <a:t>Enablement and Triage stop over-engineered agents before they are built.</a:t>
            </a:r>
            <a:endParaRPr lang="en-US" sz="1200" dirty="0"/>
          </a:p>
        </p:txBody>
      </p:sp>
      <p:sp>
        <p:nvSpPr>
          <p:cNvPr id="55" name="Text 53"/>
          <p:cNvSpPr txBox="1"/>
          <p:nvPr/>
        </p:nvSpPr>
        <p:spPr>
          <a:xfrm>
            <a:off x="6245352" y="5440680"/>
            <a:ext cx="5394960" cy="548640"/>
          </a:xfrm>
          <a:prstGeom prst="rect">
            <a:avLst/>
          </a:prstGeom>
          <a:noFill/>
          <a:ln/>
        </p:spPr>
        <p:txBody>
          <a:bodyPr wrap="square" lIns="0" tIns="0" rIns="0" bIns="0" rtlCol="0" anchor="t"/>
          <a:lstStyle/>
          <a:p>
            <a:pPr indent="0" marL="0">
              <a:buNone/>
            </a:pPr>
            <a:r>
              <a:rPr lang="en-US" sz="1200" b="1" dirty="0">
                <a:solidFill>
                  <a:schemeClr val="accent1"/>
                </a:solidFill>
                <a:latin typeface="Calibri" pitchFamily="34" charset="0"/>
                <a:ea typeface="Calibri" pitchFamily="34" charset="-122"/>
                <a:cs typeface="Calibri" pitchFamily="34" charset="-120"/>
              </a:rPr>
              <a:t>Correct  </a:t>
            </a:r>
            <a:pPr indent="0" marL="0">
              <a:buNone/>
            </a:pPr>
            <a:r>
              <a:rPr lang="en-US" sz="1200" dirty="0">
                <a:solidFill>
                  <a:schemeClr val="tx1"/>
                </a:solidFill>
                <a:latin typeface="Calibri" pitchFamily="34" charset="0"/>
                <a:ea typeface="Calibri" pitchFamily="34" charset="-122"/>
                <a:cs typeface="Calibri" pitchFamily="34" charset="-120"/>
              </a:rPr>
              <a:t>Monitoring and Conversion find agents that behave like workflows and replace them.</a:t>
            </a:r>
            <a:endParaRPr lang="en-US" sz="1200" dirty="0"/>
          </a:p>
        </p:txBody>
      </p:sp>
      <p:sp>
        <p:nvSpPr>
          <p:cNvPr id="25" name="Slide Number Placeholder 0"/>
          <p:cNvSpPr>
            <a:spLocks noGrp="1"/>
          </p:cNvSpPr>
          <p:nvPr>
            <p:ph type="sldNum" sz="quarter" idx="4294967295"/>
          </p:nvPr>
        </p:nvSpPr>
        <p:spPr>
          <a:xfrm>
            <a:off x="11274552" y="644652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E6E6A"/>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274320"/>
          </a:xfrm>
          <a:prstGeom prst="rect">
            <a:avLst/>
          </a:prstGeom>
          <a:noFill/>
          <a:ln/>
        </p:spPr>
        <p:txBody>
          <a:bodyPr wrap="square" lIns="0" tIns="0" rIns="0" bIns="0" rtlCol="0"/>
          <a:lstStyle/>
          <a:p>
            <a:pPr indent="0" marL="0">
              <a:buNone/>
            </a:pPr>
            <a:r>
              <a:rPr lang="en-US" sz="1100" b="1" spc="200" kern="0" dirty="0">
                <a:solidFill>
                  <a:schemeClr val="accent1"/>
                </a:solidFill>
                <a:latin typeface="Arial" pitchFamily="34" charset="0"/>
                <a:ea typeface="Arial" pitchFamily="34" charset="-122"/>
                <a:cs typeface="Arial" pitchFamily="34" charset="-120"/>
              </a:rPr>
              <a:t>PROCESS 1 OF 6  ·  ENABLEMENT  ·  TRAIN</a:t>
            </a:r>
            <a:endParaRPr lang="en-US" sz="1100" dirty="0"/>
          </a:p>
        </p:txBody>
      </p:sp>
      <p:sp>
        <p:nvSpPr>
          <p:cNvPr id="3" name="Text 0"/>
          <p:cNvSpPr/>
          <p:nvPr>
            <p:ph idx="101" type="title" hasCustomPrompt="1"/>
          </p:nvPr>
        </p:nvSpPr>
        <p:spPr>
          <a:xfrm>
            <a:off x="548640" y="640080"/>
            <a:ext cx="11064240" cy="868680"/>
          </a:xfrm>
          <a:prstGeom prst="rect">
            <a:avLst/>
          </a:prstGeom>
          <a:noFill/>
          <a:ln/>
        </p:spPr>
        <p:txBody>
          <a:bodyPr wrap="square" lIns="0" tIns="0" rIns="0" bIns="0" rtlCol="0" anchor="t"/>
          <a:lstStyle/>
          <a:p>
            <a:pPr algn="l" indent="0" marL="0">
              <a:buNone/>
            </a:pPr>
            <a:r>
              <a:rPr lang="en-US" sz="2600" b="1" dirty="0">
                <a:solidFill>
                  <a:schemeClr val="tx1"/>
                </a:solidFill>
                <a:latin typeface="Arial" pitchFamily="34" charset="0"/>
                <a:ea typeface="Arial" pitchFamily="34" charset="-122"/>
                <a:cs typeface="Arial" pitchFamily="34" charset="-120"/>
              </a:rPr>
              <a:t>Enablement: every process owner learns the automation ladder before building</a:t>
            </a:r>
            <a:endParaRPr lang="en-US" sz="2600" dirty="0"/>
          </a:p>
        </p:txBody>
      </p:sp>
      <p:sp>
        <p:nvSpPr>
          <p:cNvPr id="4" name="lane ACTOR"/>
          <p:cNvSpPr/>
          <p:nvPr/>
        </p:nvSpPr>
        <p:spPr>
          <a:xfrm>
            <a:off x="548640" y="1874520"/>
            <a:ext cx="11091672" cy="502920"/>
          </a:xfrm>
          <a:prstGeom prst="rect">
            <a:avLst/>
          </a:prstGeom>
          <a:solidFill>
            <a:srgbClr val="F4F7F5"/>
          </a:solidFill>
          <a:ln w="12700">
            <a:solidFill>
              <a:srgbClr val="F4F7F5"/>
            </a:solidFill>
            <a:prstDash val="solid"/>
          </a:ln>
        </p:spPr>
      </p:sp>
      <p:sp>
        <p:nvSpPr>
          <p:cNvPr id="5" name="Text 3"/>
          <p:cNvSpPr txBox="1"/>
          <p:nvPr/>
        </p:nvSpPr>
        <p:spPr>
          <a:xfrm>
            <a:off x="685800" y="1874520"/>
            <a:ext cx="1051560" cy="502920"/>
          </a:xfrm>
          <a:prstGeom prst="rect">
            <a:avLst/>
          </a:prstGeom>
          <a:noFill/>
          <a:ln/>
        </p:spPr>
        <p:txBody>
          <a:bodyPr wrap="square" lIns="0" tIns="0" rIns="0" bIns="0" rtlCol="0" anchor="ctr"/>
          <a:lstStyle/>
          <a:p>
            <a:pPr indent="0" marL="0">
              <a:buNone/>
            </a:pPr>
            <a:r>
              <a:rPr lang="en-US" sz="900" b="1" spc="200" kern="0" dirty="0">
                <a:solidFill>
                  <a:srgbClr val="5E6E6A"/>
                </a:solidFill>
                <a:latin typeface="Arial" pitchFamily="34" charset="0"/>
                <a:ea typeface="Arial" pitchFamily="34" charset="-122"/>
                <a:cs typeface="Arial" pitchFamily="34" charset="-120"/>
              </a:rPr>
              <a:t>ACTOR</a:t>
            </a:r>
            <a:endParaRPr lang="en-US" sz="900" dirty="0"/>
          </a:p>
        </p:txBody>
      </p:sp>
      <p:sp>
        <p:nvSpPr>
          <p:cNvPr id="6" name="lane EVENT"/>
          <p:cNvSpPr/>
          <p:nvPr/>
        </p:nvSpPr>
        <p:spPr>
          <a:xfrm>
            <a:off x="548640" y="2514600"/>
            <a:ext cx="11091672" cy="1691640"/>
          </a:xfrm>
          <a:prstGeom prst="rect">
            <a:avLst/>
          </a:prstGeom>
          <a:solidFill>
            <a:srgbClr val="F4F7F5"/>
          </a:solidFill>
          <a:ln w="12700">
            <a:solidFill>
              <a:srgbClr val="F4F7F5"/>
            </a:solidFill>
            <a:prstDash val="solid"/>
          </a:ln>
        </p:spPr>
      </p:sp>
      <p:sp>
        <p:nvSpPr>
          <p:cNvPr id="7" name="Text 5"/>
          <p:cNvSpPr txBox="1"/>
          <p:nvPr/>
        </p:nvSpPr>
        <p:spPr>
          <a:xfrm>
            <a:off x="685800" y="2514600"/>
            <a:ext cx="1051560" cy="1691640"/>
          </a:xfrm>
          <a:prstGeom prst="rect">
            <a:avLst/>
          </a:prstGeom>
          <a:noFill/>
          <a:ln/>
        </p:spPr>
        <p:txBody>
          <a:bodyPr wrap="square" lIns="0" tIns="0" rIns="0" bIns="0" rtlCol="0" anchor="ctr"/>
          <a:lstStyle/>
          <a:p>
            <a:pPr indent="0" marL="0">
              <a:buNone/>
            </a:pPr>
            <a:r>
              <a:rPr lang="en-US" sz="900" b="1" spc="200" kern="0" dirty="0">
                <a:solidFill>
                  <a:srgbClr val="5E6E6A"/>
                </a:solidFill>
                <a:latin typeface="Arial" pitchFamily="34" charset="0"/>
                <a:ea typeface="Arial" pitchFamily="34" charset="-122"/>
                <a:cs typeface="Arial" pitchFamily="34" charset="-120"/>
              </a:rPr>
              <a:t>EVENT</a:t>
            </a:r>
            <a:endParaRPr lang="en-US" sz="900" dirty="0"/>
          </a:p>
        </p:txBody>
      </p:sp>
      <p:sp>
        <p:nvSpPr>
          <p:cNvPr id="8" name="lane EXTERNAL"/>
          <p:cNvSpPr/>
          <p:nvPr/>
        </p:nvSpPr>
        <p:spPr>
          <a:xfrm>
            <a:off x="548640" y="4370832"/>
            <a:ext cx="11091672" cy="548640"/>
          </a:xfrm>
          <a:prstGeom prst="rect">
            <a:avLst/>
          </a:prstGeom>
          <a:solidFill>
            <a:srgbClr val="F4F7F5"/>
          </a:solidFill>
          <a:ln w="12700">
            <a:solidFill>
              <a:srgbClr val="F4F7F5"/>
            </a:solidFill>
            <a:prstDash val="solid"/>
          </a:ln>
        </p:spPr>
      </p:sp>
      <p:sp>
        <p:nvSpPr>
          <p:cNvPr id="9" name="Text 7"/>
          <p:cNvSpPr txBox="1"/>
          <p:nvPr/>
        </p:nvSpPr>
        <p:spPr>
          <a:xfrm>
            <a:off x="685800" y="4370832"/>
            <a:ext cx="1051560" cy="548640"/>
          </a:xfrm>
          <a:prstGeom prst="rect">
            <a:avLst/>
          </a:prstGeom>
          <a:noFill/>
          <a:ln/>
        </p:spPr>
        <p:txBody>
          <a:bodyPr wrap="square" lIns="0" tIns="0" rIns="0" bIns="0" rtlCol="0" anchor="ctr"/>
          <a:lstStyle/>
          <a:p>
            <a:pPr indent="0" marL="0">
              <a:buNone/>
            </a:pPr>
            <a:r>
              <a:rPr lang="en-US" sz="900" b="1" spc="200" kern="0" dirty="0">
                <a:solidFill>
                  <a:srgbClr val="5E6E6A"/>
                </a:solidFill>
                <a:latin typeface="Arial" pitchFamily="34" charset="0"/>
                <a:ea typeface="Arial" pitchFamily="34" charset="-122"/>
                <a:cs typeface="Arial" pitchFamily="34" charset="-120"/>
              </a:rPr>
              <a:t>EXTERNAL</a:t>
            </a:r>
            <a:endParaRPr lang="en-US" sz="900" dirty="0"/>
          </a:p>
        </p:txBody>
      </p:sp>
      <p:sp>
        <p:nvSpPr>
          <p:cNvPr id="10" name="Text 8"/>
          <p:cNvSpPr txBox="1"/>
          <p:nvPr/>
        </p:nvSpPr>
        <p:spPr>
          <a:xfrm>
            <a:off x="1828800" y="1572768"/>
            <a:ext cx="548640" cy="201168"/>
          </a:xfrm>
          <a:prstGeom prst="rect">
            <a:avLst/>
          </a:prstGeom>
          <a:noFill/>
          <a:ln/>
        </p:spPr>
        <p:txBody>
          <a:bodyPr wrap="square" lIns="0" tIns="0" rIns="0" bIns="0" rtlCol="0" anchor="ctr"/>
          <a:lstStyle/>
          <a:p>
            <a:pPr indent="0" marL="0">
              <a:buNone/>
            </a:pPr>
            <a:r>
              <a:rPr lang="en-US" sz="800" b="1" spc="200" kern="0" dirty="0">
                <a:solidFill>
                  <a:srgbClr val="9FB8AF"/>
                </a:solidFill>
                <a:latin typeface="Arial" pitchFamily="34" charset="0"/>
                <a:ea typeface="Arial" pitchFamily="34" charset="-122"/>
                <a:cs typeface="Arial" pitchFamily="34" charset="-120"/>
              </a:rPr>
              <a:t>TIME</a:t>
            </a:r>
            <a:endParaRPr lang="en-US" sz="800" dirty="0"/>
          </a:p>
        </p:txBody>
      </p:sp>
      <p:sp>
        <p:nvSpPr>
          <p:cNvPr id="11" name="Shape 9"/>
          <p:cNvSpPr/>
          <p:nvPr/>
        </p:nvSpPr>
        <p:spPr>
          <a:xfrm>
            <a:off x="2331720" y="1673352"/>
            <a:ext cx="9308592" cy="0"/>
          </a:xfrm>
          <a:prstGeom prst="line">
            <a:avLst/>
          </a:prstGeom>
          <a:noFill/>
          <a:ln w="12700">
            <a:solidFill>
              <a:srgbClr val="9FB8AF"/>
            </a:solidFill>
            <a:prstDash val="solid"/>
            <a:tailEnd type="triangle"/>
          </a:ln>
        </p:spPr>
      </p:sp>
      <p:sp>
        <p:nvSpPr>
          <p:cNvPr id="12" name="event note: Process owner role assigned"/>
          <p:cNvSpPr/>
          <p:nvPr/>
        </p:nvSpPr>
        <p:spPr>
          <a:xfrm>
            <a:off x="1828800" y="2761488"/>
            <a:ext cx="2057400" cy="1188720"/>
          </a:xfrm>
          <a:prstGeom prst="rect">
            <a:avLst/>
          </a:prstGeom>
          <a:solidFill>
            <a:schemeClr val="accent3"/>
          </a:solidFill>
          <a:ln w="6350">
            <a:solidFill>
              <a:schemeClr val="accent3"/>
            </a:solidFill>
            <a:prstDash val="solid"/>
          </a:ln>
          <a:effectLst>
            <a:outerShdw sx="100000" sy="100000" kx="0" ky="0" algn="bl" rotWithShape="0" blurRad="50800" dist="25400" dir="5400000">
              <a:srgbClr val="000000">
                <a:alpha val="18000"/>
              </a:srgbClr>
            </a:outerShdw>
          </a:effectLst>
        </p:spPr>
      </p:sp>
      <p:sp>
        <p:nvSpPr>
          <p:cNvPr id="13" name="Text 11"/>
          <p:cNvSpPr txBox="1"/>
          <p:nvPr/>
        </p:nvSpPr>
        <p:spPr>
          <a:xfrm>
            <a:off x="1901952" y="2816352"/>
            <a:ext cx="1911096" cy="1078992"/>
          </a:xfrm>
          <a:prstGeom prst="rect">
            <a:avLst/>
          </a:prstGeom>
          <a:noFill/>
          <a:ln/>
        </p:spPr>
        <p:txBody>
          <a:bodyPr wrap="square" lIns="0" tIns="0" rIns="0" bIns="0" rtlCol="0" anchor="t">
            <a:normAutofit/>
          </a:bodyPr>
          <a:lstStyle/>
          <a:p>
            <a:pPr indent="0" marL="0">
              <a:buNone/>
            </a:pPr>
            <a:r>
              <a:rPr lang="en-US" sz="1200" b="1" dirty="0">
                <a:solidFill>
                  <a:schemeClr val="tx1"/>
                </a:solidFill>
                <a:latin typeface="Calibri" pitchFamily="34" charset="0"/>
                <a:ea typeface="Calibri" pitchFamily="34" charset="-122"/>
                <a:cs typeface="Calibri" pitchFamily="34" charset="-120"/>
              </a:rPr>
              <a:t>Process owner role assigned</a:t>
            </a:r>
            <a:endParaRPr lang="en-US" sz="1200" dirty="0"/>
          </a:p>
        </p:txBody>
      </p:sp>
      <p:sp>
        <p:nvSpPr>
          <p:cNvPr id="14" name="Shape 12"/>
          <p:cNvSpPr/>
          <p:nvPr/>
        </p:nvSpPr>
        <p:spPr>
          <a:xfrm>
            <a:off x="3941064" y="3383280"/>
            <a:ext cx="274320" cy="0"/>
          </a:xfrm>
          <a:prstGeom prst="line">
            <a:avLst/>
          </a:prstGeom>
          <a:noFill/>
          <a:ln w="19050">
            <a:solidFill>
              <a:srgbClr val="9FB8AF"/>
            </a:solidFill>
            <a:prstDash val="solid"/>
            <a:tailEnd type="triangle"/>
          </a:ln>
        </p:spPr>
      </p:sp>
      <p:sp>
        <p:nvSpPr>
          <p:cNvPr id="15" name="actor note: L&amp;D"/>
          <p:cNvSpPr/>
          <p:nvPr/>
        </p:nvSpPr>
        <p:spPr>
          <a:xfrm>
            <a:off x="4270248" y="1920240"/>
            <a:ext cx="1554480" cy="411480"/>
          </a:xfrm>
          <a:prstGeom prst="rect">
            <a:avLst/>
          </a:prstGeom>
          <a:solidFill>
            <a:schemeClr val="accent5"/>
          </a:solidFill>
          <a:ln w="6350">
            <a:solidFill>
              <a:schemeClr val="accent5"/>
            </a:solidFill>
            <a:prstDash val="solid"/>
          </a:ln>
          <a:effectLst>
            <a:outerShdw sx="100000" sy="100000" kx="0" ky="0" algn="bl" rotWithShape="0" blurRad="50800" dist="25400" dir="5400000">
              <a:srgbClr val="000000">
                <a:alpha val="18000"/>
              </a:srgbClr>
            </a:outerShdw>
          </a:effectLst>
        </p:spPr>
      </p:sp>
      <p:sp>
        <p:nvSpPr>
          <p:cNvPr id="16" name="Text 14"/>
          <p:cNvSpPr txBox="1"/>
          <p:nvPr/>
        </p:nvSpPr>
        <p:spPr>
          <a:xfrm>
            <a:off x="4343400" y="1975104"/>
            <a:ext cx="1408176" cy="301752"/>
          </a:xfrm>
          <a:prstGeom prst="rect">
            <a:avLst/>
          </a:prstGeom>
          <a:noFill/>
          <a:ln/>
        </p:spPr>
        <p:txBody>
          <a:bodyPr wrap="square" lIns="0" tIns="0" rIns="0" bIns="0" rtlCol="0" anchor="t">
            <a:normAutofit/>
          </a:bodyPr>
          <a:lstStyle/>
          <a:p>
            <a:pPr indent="0" marL="0">
              <a:buNone/>
            </a:pPr>
            <a:r>
              <a:rPr lang="en-US" sz="1100" dirty="0">
                <a:solidFill>
                  <a:schemeClr val="tx1"/>
                </a:solidFill>
                <a:latin typeface="Calibri" pitchFamily="34" charset="0"/>
                <a:ea typeface="Calibri" pitchFamily="34" charset="-122"/>
                <a:cs typeface="Calibri" pitchFamily="34" charset="-120"/>
              </a:rPr>
              <a:t>L&amp;D</a:t>
            </a:r>
            <a:endParaRPr lang="en-US" sz="1100" dirty="0"/>
          </a:p>
        </p:txBody>
      </p:sp>
      <p:sp>
        <p:nvSpPr>
          <p:cNvPr id="17" name="event note: Ladder training assigned"/>
          <p:cNvSpPr/>
          <p:nvPr/>
        </p:nvSpPr>
        <p:spPr>
          <a:xfrm>
            <a:off x="4270248" y="2761488"/>
            <a:ext cx="2057400" cy="1188720"/>
          </a:xfrm>
          <a:prstGeom prst="rect">
            <a:avLst/>
          </a:prstGeom>
          <a:solidFill>
            <a:schemeClr val="accent3"/>
          </a:solidFill>
          <a:ln w="6350">
            <a:solidFill>
              <a:schemeClr val="accent3"/>
            </a:solidFill>
            <a:prstDash val="solid"/>
          </a:ln>
          <a:effectLst>
            <a:outerShdw sx="100000" sy="100000" kx="0" ky="0" algn="bl" rotWithShape="0" blurRad="50800" dist="25400" dir="5400000">
              <a:srgbClr val="000000">
                <a:alpha val="18000"/>
              </a:srgbClr>
            </a:outerShdw>
          </a:effectLst>
        </p:spPr>
      </p:sp>
      <p:sp>
        <p:nvSpPr>
          <p:cNvPr id="18" name="Text 16"/>
          <p:cNvSpPr txBox="1"/>
          <p:nvPr/>
        </p:nvSpPr>
        <p:spPr>
          <a:xfrm>
            <a:off x="4343400" y="2816352"/>
            <a:ext cx="1911096" cy="1078992"/>
          </a:xfrm>
          <a:prstGeom prst="rect">
            <a:avLst/>
          </a:prstGeom>
          <a:noFill/>
          <a:ln/>
        </p:spPr>
        <p:txBody>
          <a:bodyPr wrap="square" lIns="0" tIns="0" rIns="0" bIns="0" rtlCol="0" anchor="t">
            <a:normAutofit/>
          </a:bodyPr>
          <a:lstStyle/>
          <a:p>
            <a:pPr indent="0" marL="0">
              <a:buNone/>
            </a:pPr>
            <a:r>
              <a:rPr lang="en-US" sz="1200" b="1" dirty="0">
                <a:solidFill>
                  <a:schemeClr val="tx1"/>
                </a:solidFill>
                <a:latin typeface="Calibri" pitchFamily="34" charset="0"/>
                <a:ea typeface="Calibri" pitchFamily="34" charset="-122"/>
                <a:cs typeface="Calibri" pitchFamily="34" charset="-120"/>
              </a:rPr>
              <a:t>Ladder training assigned</a:t>
            </a:r>
            <a:endParaRPr lang="en-US" sz="1200" dirty="0"/>
          </a:p>
        </p:txBody>
      </p:sp>
      <p:sp>
        <p:nvSpPr>
          <p:cNvPr id="19" name="ext note: Learning platform"/>
          <p:cNvSpPr/>
          <p:nvPr/>
        </p:nvSpPr>
        <p:spPr>
          <a:xfrm>
            <a:off x="4270248" y="4416552"/>
            <a:ext cx="2057400" cy="457200"/>
          </a:xfrm>
          <a:prstGeom prst="rect">
            <a:avLst/>
          </a:prstGeom>
          <a:solidFill>
            <a:schemeClr val="accent4"/>
          </a:solidFill>
          <a:ln w="6350">
            <a:solidFill>
              <a:schemeClr val="accent4"/>
            </a:solidFill>
            <a:prstDash val="solid"/>
          </a:ln>
          <a:effectLst>
            <a:outerShdw sx="100000" sy="100000" kx="0" ky="0" algn="bl" rotWithShape="0" blurRad="50800" dist="25400" dir="5400000">
              <a:srgbClr val="000000">
                <a:alpha val="18000"/>
              </a:srgbClr>
            </a:outerShdw>
          </a:effectLst>
        </p:spPr>
      </p:sp>
      <p:sp>
        <p:nvSpPr>
          <p:cNvPr id="20" name="Text 18"/>
          <p:cNvSpPr txBox="1"/>
          <p:nvPr/>
        </p:nvSpPr>
        <p:spPr>
          <a:xfrm>
            <a:off x="4343400" y="4471416"/>
            <a:ext cx="1911096" cy="347472"/>
          </a:xfrm>
          <a:prstGeom prst="rect">
            <a:avLst/>
          </a:prstGeom>
          <a:noFill/>
          <a:ln/>
        </p:spPr>
        <p:txBody>
          <a:bodyPr wrap="square" lIns="0" tIns="0" rIns="0" bIns="0" rtlCol="0" anchor="t">
            <a:normAutofit/>
          </a:bodyPr>
          <a:lstStyle/>
          <a:p>
            <a:pPr indent="0" marL="0">
              <a:buNone/>
            </a:pPr>
            <a:r>
              <a:rPr lang="en-US" sz="1050" dirty="0">
                <a:solidFill>
                  <a:schemeClr val="tx1"/>
                </a:solidFill>
                <a:latin typeface="Calibri" pitchFamily="34" charset="0"/>
                <a:ea typeface="Calibri" pitchFamily="34" charset="-122"/>
                <a:cs typeface="Calibri" pitchFamily="34" charset="-120"/>
              </a:rPr>
              <a:t>Learning platform</a:t>
            </a:r>
            <a:endParaRPr lang="en-US" sz="1050" dirty="0"/>
          </a:p>
        </p:txBody>
      </p:sp>
      <p:sp>
        <p:nvSpPr>
          <p:cNvPr id="21" name="Shape 19"/>
          <p:cNvSpPr/>
          <p:nvPr/>
        </p:nvSpPr>
        <p:spPr>
          <a:xfrm>
            <a:off x="6382512" y="3383280"/>
            <a:ext cx="274320" cy="0"/>
          </a:xfrm>
          <a:prstGeom prst="line">
            <a:avLst/>
          </a:prstGeom>
          <a:noFill/>
          <a:ln w="19050">
            <a:solidFill>
              <a:srgbClr val="9FB8AF"/>
            </a:solidFill>
            <a:prstDash val="solid"/>
            <a:tailEnd type="triangle"/>
          </a:ln>
        </p:spPr>
      </p:sp>
      <p:sp>
        <p:nvSpPr>
          <p:cNvPr id="22" name="actor note: Process owner"/>
          <p:cNvSpPr/>
          <p:nvPr/>
        </p:nvSpPr>
        <p:spPr>
          <a:xfrm>
            <a:off x="6711696" y="1920240"/>
            <a:ext cx="1554480" cy="411480"/>
          </a:xfrm>
          <a:prstGeom prst="rect">
            <a:avLst/>
          </a:prstGeom>
          <a:solidFill>
            <a:schemeClr val="accent5"/>
          </a:solidFill>
          <a:ln w="6350">
            <a:solidFill>
              <a:schemeClr val="accent5"/>
            </a:solidFill>
            <a:prstDash val="solid"/>
          </a:ln>
          <a:effectLst>
            <a:outerShdw sx="100000" sy="100000" kx="0" ky="0" algn="bl" rotWithShape="0" blurRad="50800" dist="25400" dir="5400000">
              <a:srgbClr val="000000">
                <a:alpha val="18000"/>
              </a:srgbClr>
            </a:outerShdw>
          </a:effectLst>
        </p:spPr>
      </p:sp>
      <p:sp>
        <p:nvSpPr>
          <p:cNvPr id="23" name="Text 21"/>
          <p:cNvSpPr txBox="1"/>
          <p:nvPr/>
        </p:nvSpPr>
        <p:spPr>
          <a:xfrm>
            <a:off x="6784848" y="1975104"/>
            <a:ext cx="1408176" cy="301752"/>
          </a:xfrm>
          <a:prstGeom prst="rect">
            <a:avLst/>
          </a:prstGeom>
          <a:noFill/>
          <a:ln/>
        </p:spPr>
        <p:txBody>
          <a:bodyPr wrap="square" lIns="0" tIns="0" rIns="0" bIns="0" rtlCol="0" anchor="t">
            <a:normAutofit/>
          </a:bodyPr>
          <a:lstStyle/>
          <a:p>
            <a:pPr indent="0" marL="0">
              <a:buNone/>
            </a:pPr>
            <a:r>
              <a:rPr lang="en-US" sz="1100" dirty="0">
                <a:solidFill>
                  <a:schemeClr val="tx1"/>
                </a:solidFill>
                <a:latin typeface="Calibri" pitchFamily="34" charset="0"/>
                <a:ea typeface="Calibri" pitchFamily="34" charset="-122"/>
                <a:cs typeface="Calibri" pitchFamily="34" charset="-120"/>
              </a:rPr>
              <a:t>Process owner</a:t>
            </a:r>
            <a:endParaRPr lang="en-US" sz="1100" dirty="0"/>
          </a:p>
        </p:txBody>
      </p:sp>
      <p:sp>
        <p:nvSpPr>
          <p:cNvPr id="24" name="event note: Ladder training completed"/>
          <p:cNvSpPr/>
          <p:nvPr/>
        </p:nvSpPr>
        <p:spPr>
          <a:xfrm>
            <a:off x="6711696" y="2761488"/>
            <a:ext cx="2057400" cy="1188720"/>
          </a:xfrm>
          <a:prstGeom prst="rect">
            <a:avLst/>
          </a:prstGeom>
          <a:solidFill>
            <a:schemeClr val="accent3"/>
          </a:solidFill>
          <a:ln w="6350">
            <a:solidFill>
              <a:schemeClr val="accent3"/>
            </a:solidFill>
            <a:prstDash val="solid"/>
          </a:ln>
          <a:effectLst>
            <a:outerShdw sx="100000" sy="100000" kx="0" ky="0" algn="bl" rotWithShape="0" blurRad="50800" dist="25400" dir="5400000">
              <a:srgbClr val="000000">
                <a:alpha val="18000"/>
              </a:srgbClr>
            </a:outerShdw>
          </a:effectLst>
        </p:spPr>
      </p:sp>
      <p:sp>
        <p:nvSpPr>
          <p:cNvPr id="25" name="Text 23"/>
          <p:cNvSpPr txBox="1"/>
          <p:nvPr/>
        </p:nvSpPr>
        <p:spPr>
          <a:xfrm>
            <a:off x="6784848" y="2816352"/>
            <a:ext cx="1911096" cy="1078992"/>
          </a:xfrm>
          <a:prstGeom prst="rect">
            <a:avLst/>
          </a:prstGeom>
          <a:noFill/>
          <a:ln/>
        </p:spPr>
        <p:txBody>
          <a:bodyPr wrap="square" lIns="0" tIns="0" rIns="0" bIns="0" rtlCol="0" anchor="t">
            <a:normAutofit/>
          </a:bodyPr>
          <a:lstStyle/>
          <a:p>
            <a:pPr indent="0" marL="0">
              <a:buNone/>
            </a:pPr>
            <a:r>
              <a:rPr lang="en-US" sz="1200" b="1" dirty="0">
                <a:solidFill>
                  <a:schemeClr val="tx1"/>
                </a:solidFill>
                <a:latin typeface="Calibri" pitchFamily="34" charset="0"/>
                <a:ea typeface="Calibri" pitchFamily="34" charset="-122"/>
                <a:cs typeface="Calibri" pitchFamily="34" charset="-120"/>
              </a:rPr>
              <a:t>Ladder training completed</a:t>
            </a:r>
            <a:endParaRPr lang="en-US" sz="1200" dirty="0"/>
          </a:p>
        </p:txBody>
      </p:sp>
      <p:sp>
        <p:nvSpPr>
          <p:cNvPr id="26" name="Shape 24"/>
          <p:cNvSpPr/>
          <p:nvPr/>
        </p:nvSpPr>
        <p:spPr>
          <a:xfrm>
            <a:off x="8823960" y="3383280"/>
            <a:ext cx="274320" cy="0"/>
          </a:xfrm>
          <a:prstGeom prst="line">
            <a:avLst/>
          </a:prstGeom>
          <a:noFill/>
          <a:ln w="19050">
            <a:solidFill>
              <a:srgbClr val="9FB8AF"/>
            </a:solidFill>
            <a:prstDash val="solid"/>
            <a:tailEnd type="triangle"/>
          </a:ln>
        </p:spPr>
      </p:sp>
      <p:sp>
        <p:nvSpPr>
          <p:cNvPr id="27" name="hot note: Mandatory for everyone who requests automations, or only for agent builders?"/>
          <p:cNvSpPr/>
          <p:nvPr/>
        </p:nvSpPr>
        <p:spPr>
          <a:xfrm rot="-120000">
            <a:off x="9189720" y="2761488"/>
            <a:ext cx="1984248" cy="1188720"/>
          </a:xfrm>
          <a:prstGeom prst="rect">
            <a:avLst/>
          </a:prstGeom>
          <a:solidFill>
            <a:schemeClr val="accent6"/>
          </a:solidFill>
          <a:ln w="6350">
            <a:solidFill>
              <a:schemeClr val="accent6"/>
            </a:solidFill>
            <a:prstDash val="solid"/>
          </a:ln>
          <a:effectLst>
            <a:outerShdw sx="100000" sy="100000" kx="0" ky="0" algn="bl" rotWithShape="0" blurRad="50800" dist="25400" dir="5400000">
              <a:srgbClr val="000000">
                <a:alpha val="18000"/>
              </a:srgbClr>
            </a:outerShdw>
          </a:effectLst>
        </p:spPr>
      </p:sp>
      <p:sp>
        <p:nvSpPr>
          <p:cNvPr id="28" name="Text 26"/>
          <p:cNvSpPr txBox="1"/>
          <p:nvPr/>
        </p:nvSpPr>
        <p:spPr>
          <a:xfrm rot="-120000">
            <a:off x="9262872" y="2816352"/>
            <a:ext cx="1837944" cy="1078992"/>
          </a:xfrm>
          <a:prstGeom prst="rect">
            <a:avLst/>
          </a:prstGeom>
          <a:noFill/>
          <a:ln/>
        </p:spPr>
        <p:txBody>
          <a:bodyPr wrap="square" lIns="0" tIns="0" rIns="0" bIns="0" rtlCol="0" anchor="t">
            <a:normAutofit/>
          </a:bodyPr>
          <a:lstStyle/>
          <a:p>
            <a:pPr indent="0" marL="0">
              <a:buNone/>
            </a:pPr>
            <a:r>
              <a:rPr lang="en-US" sz="950" b="1" dirty="0">
                <a:solidFill>
                  <a:schemeClr val="bg1"/>
                </a:solidFill>
                <a:latin typeface="Calibri" pitchFamily="34" charset="0"/>
                <a:ea typeface="Calibri" pitchFamily="34" charset="-122"/>
                <a:cs typeface="Calibri" pitchFamily="34" charset="-120"/>
              </a:rPr>
              <a:t>H1  </a:t>
            </a:r>
            <a:pPr indent="0" marL="0">
              <a:buNone/>
            </a:pPr>
            <a:r>
              <a:rPr lang="en-US" sz="1050" b="1" dirty="0">
                <a:solidFill>
                  <a:schemeClr val="bg1"/>
                </a:solidFill>
                <a:latin typeface="Calibri" pitchFamily="34" charset="0"/>
                <a:ea typeface="Calibri" pitchFamily="34" charset="-122"/>
                <a:cs typeface="Calibri" pitchFamily="34" charset="-120"/>
              </a:rPr>
              <a:t>Mandatory for everyone who requests automations, or only for agent builders?</a:t>
            </a:r>
            <a:endParaRPr lang="en-US" sz="950" dirty="0"/>
          </a:p>
        </p:txBody>
      </p:sp>
      <p:sp>
        <p:nvSpPr>
          <p:cNvPr id="29" name="ubiquitous language"/>
          <p:cNvSpPr/>
          <p:nvPr/>
        </p:nvSpPr>
        <p:spPr>
          <a:xfrm>
            <a:off x="548640" y="5120640"/>
            <a:ext cx="7178040" cy="1143000"/>
          </a:xfrm>
          <a:prstGeom prst="rect">
            <a:avLst/>
          </a:prstGeom>
          <a:solidFill>
            <a:schemeClr val="bg2"/>
          </a:solidFill>
          <a:ln w="12700">
            <a:solidFill>
              <a:schemeClr val="bg2"/>
            </a:solidFill>
            <a:prstDash val="solid"/>
          </a:ln>
        </p:spPr>
      </p:sp>
      <p:sp>
        <p:nvSpPr>
          <p:cNvPr id="30" name="Text 28"/>
          <p:cNvSpPr txBox="1"/>
          <p:nvPr/>
        </p:nvSpPr>
        <p:spPr>
          <a:xfrm>
            <a:off x="731520" y="5212080"/>
            <a:ext cx="4572000" cy="228600"/>
          </a:xfrm>
          <a:prstGeom prst="rect">
            <a:avLst/>
          </a:prstGeom>
          <a:noFill/>
          <a:ln/>
        </p:spPr>
        <p:txBody>
          <a:bodyPr wrap="square" lIns="0" tIns="0" rIns="0" bIns="0" rtlCol="0" anchor="ctr"/>
          <a:lstStyle/>
          <a:p>
            <a:pPr indent="0" marL="0">
              <a:buNone/>
            </a:pPr>
            <a:r>
              <a:rPr lang="en-US" sz="900" b="1" spc="200" kern="0" dirty="0">
                <a:solidFill>
                  <a:schemeClr val="accent1"/>
                </a:solidFill>
                <a:latin typeface="Arial" pitchFamily="34" charset="0"/>
                <a:ea typeface="Arial" pitchFamily="34" charset="-122"/>
                <a:cs typeface="Arial" pitchFamily="34" charset="-120"/>
              </a:rPr>
              <a:t>UBIQUITOUS LANGUAGE</a:t>
            </a:r>
            <a:endParaRPr lang="en-US" sz="900" dirty="0"/>
          </a:p>
        </p:txBody>
      </p:sp>
      <p:sp>
        <p:nvSpPr>
          <p:cNvPr id="31" name="Text 29"/>
          <p:cNvSpPr txBox="1"/>
          <p:nvPr/>
        </p:nvSpPr>
        <p:spPr>
          <a:xfrm>
            <a:off x="731520" y="5468112"/>
            <a:ext cx="6812280" cy="731520"/>
          </a:xfrm>
          <a:prstGeom prst="rect">
            <a:avLst/>
          </a:prstGeom>
          <a:noFill/>
          <a:ln/>
        </p:spPr>
        <p:txBody>
          <a:bodyPr wrap="square" lIns="0" tIns="0" rIns="0" bIns="0" rtlCol="0" anchor="t">
            <a:normAutofit/>
          </a:bodyPr>
          <a:lstStyle/>
          <a:p>
            <a:pPr indent="0" marL="0">
              <a:buNone/>
            </a:pPr>
            <a:r>
              <a:rPr lang="en-US" sz="1150" b="1" dirty="0">
                <a:solidFill>
                  <a:schemeClr val="tx1"/>
                </a:solidFill>
                <a:latin typeface="Calibri" pitchFamily="34" charset="0"/>
                <a:ea typeface="Calibri" pitchFamily="34" charset="-122"/>
                <a:cs typeface="Calibri" pitchFamily="34" charset="-120"/>
              </a:rPr>
              <a:t>Process owner  </a:t>
            </a:r>
            <a:pPr indent="0" marL="0">
              <a:spcAft>
                <a:spcPts val="300"/>
              </a:spcAft>
              <a:buNone/>
            </a:pPr>
            <a:r>
              <a:rPr lang="en-US" sz="1150" dirty="0">
                <a:solidFill>
                  <a:schemeClr val="tx1"/>
                </a:solidFill>
                <a:latin typeface="Calibri" pitchFamily="34" charset="0"/>
                <a:ea typeface="Calibri" pitchFamily="34" charset="-122"/>
                <a:cs typeface="Calibri" pitchFamily="34" charset="-120"/>
              </a:rPr>
              <a:t>Person in a business unit who requests and is accountable for an automation.</a:t>
            </a:r>
            <a:endParaRPr lang="en-US" sz="1150" dirty="0"/>
          </a:p>
          <a:p>
            <a:pPr indent="0" marL="0">
              <a:buNone/>
            </a:pPr>
            <a:r>
              <a:rPr lang="en-US" sz="1150" b="1" dirty="0">
                <a:solidFill>
                  <a:schemeClr val="tx1"/>
                </a:solidFill>
                <a:latin typeface="Calibri" pitchFamily="34" charset="0"/>
                <a:ea typeface="Calibri" pitchFamily="34" charset="-122"/>
                <a:cs typeface="Calibri" pitchFamily="34" charset="-120"/>
              </a:rPr>
              <a:t>Automation ladder  </a:t>
            </a:r>
            <a:pPr indent="0" marL="0">
              <a:spcAft>
                <a:spcPts val="300"/>
              </a:spcAft>
              <a:buNone/>
            </a:pPr>
            <a:r>
              <a:rPr lang="en-US" sz="1150" dirty="0">
                <a:solidFill>
                  <a:schemeClr val="tx1"/>
                </a:solidFill>
                <a:latin typeface="Calibri" pitchFamily="34" charset="0"/>
                <a:ea typeface="Calibri" pitchFamily="34" charset="-122"/>
                <a:cs typeface="Calibri" pitchFamily="34" charset="-120"/>
              </a:rPr>
              <a:t>Rule → workflow → classic ML → single GenAI call → agent → multi-agent. Use the lowest step that does the job.</a:t>
            </a:r>
            <a:endParaRPr lang="en-US" sz="1150" dirty="0"/>
          </a:p>
        </p:txBody>
      </p:sp>
      <p:sp>
        <p:nvSpPr>
          <p:cNvPr id="32" name="handover"/>
          <p:cNvSpPr/>
          <p:nvPr/>
        </p:nvSpPr>
        <p:spPr>
          <a:xfrm>
            <a:off x="7955280" y="5120640"/>
            <a:ext cx="3685032" cy="1143000"/>
          </a:xfrm>
          <a:prstGeom prst="rect">
            <a:avLst/>
          </a:prstGeom>
          <a:solidFill>
            <a:schemeClr val="bg1"/>
          </a:solidFill>
          <a:ln w="12700">
            <a:solidFill>
              <a:srgbClr val="C9D6D0"/>
            </a:solidFill>
            <a:prstDash val="solid"/>
          </a:ln>
        </p:spPr>
      </p:sp>
      <p:sp>
        <p:nvSpPr>
          <p:cNvPr id="33" name="Text 31"/>
          <p:cNvSpPr txBox="1"/>
          <p:nvPr/>
        </p:nvSpPr>
        <p:spPr>
          <a:xfrm>
            <a:off x="8138160" y="5212080"/>
            <a:ext cx="3383280" cy="978408"/>
          </a:xfrm>
          <a:prstGeom prst="rect">
            <a:avLst/>
          </a:prstGeom>
          <a:noFill/>
          <a:ln/>
        </p:spPr>
        <p:txBody>
          <a:bodyPr wrap="square" lIns="0" tIns="0" rIns="0" bIns="0" rtlCol="0" anchor="t">
            <a:normAutofit/>
          </a:bodyPr>
          <a:lstStyle/>
          <a:p>
            <a:pPr indent="0" marL="0">
              <a:buNone/>
            </a:pPr>
            <a:r>
              <a:rPr lang="en-US" sz="900" b="1" spc="200" kern="0" dirty="0">
                <a:solidFill>
                  <a:schemeClr val="accent1"/>
                </a:solidFill>
                <a:latin typeface="Calibri" pitchFamily="34" charset="0"/>
                <a:ea typeface="Calibri" pitchFamily="34" charset="-122"/>
                <a:cs typeface="Calibri" pitchFamily="34" charset="-120"/>
              </a:rPr>
              <a:t>RECEIVES</a:t>
            </a:r>
            <a:endParaRPr lang="en-US" sz="900" dirty="0"/>
          </a:p>
          <a:p>
            <a:pPr indent="0" marL="0">
              <a:spcAft>
                <a:spcPts val="400"/>
              </a:spcAft>
              <a:buNone/>
            </a:pPr>
            <a:r>
              <a:rPr lang="en-US" sz="1050" dirty="0">
                <a:solidFill>
                  <a:schemeClr val="tx1"/>
                </a:solidFill>
                <a:latin typeface="Calibri" pitchFamily="34" charset="0"/>
                <a:ea typeface="Calibri" pitchFamily="34" charset="-122"/>
                <a:cs typeface="Calibri" pitchFamily="34" charset="-120"/>
              </a:rPr>
              <a:t>Process owner role assigned (organisation)  ·  Conversion case added to training (Agent Conversion)</a:t>
            </a:r>
            <a:endParaRPr lang="en-US" sz="900" dirty="0"/>
          </a:p>
          <a:p>
            <a:pPr indent="0" marL="0">
              <a:buNone/>
            </a:pPr>
            <a:r>
              <a:rPr lang="en-US" sz="900" b="1" spc="200" kern="0" dirty="0">
                <a:solidFill>
                  <a:schemeClr val="accent1"/>
                </a:solidFill>
                <a:latin typeface="Calibri" pitchFamily="34" charset="0"/>
                <a:ea typeface="Calibri" pitchFamily="34" charset="-122"/>
                <a:cs typeface="Calibri" pitchFamily="34" charset="-120"/>
              </a:rPr>
              <a:t>HANDS OVER</a:t>
            </a:r>
            <a:endParaRPr lang="en-US" sz="900" dirty="0"/>
          </a:p>
          <a:p>
            <a:pPr indent="0" marL="0">
              <a:buNone/>
            </a:pPr>
            <a:r>
              <a:rPr lang="en-US" sz="1050" dirty="0">
                <a:solidFill>
                  <a:schemeClr val="tx1"/>
                </a:solidFill>
                <a:latin typeface="Calibri" pitchFamily="34" charset="0"/>
                <a:ea typeface="Calibri" pitchFamily="34" charset="-122"/>
                <a:cs typeface="Calibri" pitchFamily="34" charset="-120"/>
              </a:rPr>
              <a:t>Ladder training completed → Automation Triage</a:t>
            </a:r>
            <a:endParaRPr lang="en-US" sz="900" dirty="0"/>
          </a:p>
        </p:txBody>
      </p:sp>
      <p:sp>
        <p:nvSpPr>
          <p:cNvPr id="25" name="Slide Number Placeholder 0"/>
          <p:cNvSpPr>
            <a:spLocks noGrp="1"/>
          </p:cNvSpPr>
          <p:nvPr>
            <p:ph type="sldNum" sz="quarter" idx="4294967295"/>
          </p:nvPr>
        </p:nvSpPr>
        <p:spPr>
          <a:xfrm>
            <a:off x="11274552" y="644652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E6E6A"/>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274320"/>
          </a:xfrm>
          <a:prstGeom prst="rect">
            <a:avLst/>
          </a:prstGeom>
          <a:noFill/>
          <a:ln/>
        </p:spPr>
        <p:txBody>
          <a:bodyPr wrap="square" lIns="0" tIns="0" rIns="0" bIns="0" rtlCol="0"/>
          <a:lstStyle/>
          <a:p>
            <a:pPr indent="0" marL="0">
              <a:buNone/>
            </a:pPr>
            <a:r>
              <a:rPr lang="en-US" sz="1100" b="1" spc="200" kern="0" dirty="0">
                <a:solidFill>
                  <a:schemeClr val="accent1"/>
                </a:solidFill>
                <a:latin typeface="Arial" pitchFamily="34" charset="0"/>
                <a:ea typeface="Arial" pitchFamily="34" charset="-122"/>
                <a:cs typeface="Arial" pitchFamily="34" charset="-120"/>
              </a:rPr>
              <a:t>PROCESS 2 OF 6  ·  AUTOMATION TRIAGE  ·  TRIAGE</a:t>
            </a:r>
            <a:endParaRPr lang="en-US" sz="1100" dirty="0"/>
          </a:p>
        </p:txBody>
      </p:sp>
      <p:sp>
        <p:nvSpPr>
          <p:cNvPr id="3" name="Text 0"/>
          <p:cNvSpPr/>
          <p:nvPr>
            <p:ph idx="101" type="title" hasCustomPrompt="1"/>
          </p:nvPr>
        </p:nvSpPr>
        <p:spPr>
          <a:xfrm>
            <a:off x="548640" y="640080"/>
            <a:ext cx="11064240" cy="868680"/>
          </a:xfrm>
          <a:prstGeom prst="rect">
            <a:avLst/>
          </a:prstGeom>
          <a:noFill/>
          <a:ln/>
        </p:spPr>
        <p:txBody>
          <a:bodyPr wrap="square" lIns="0" tIns="0" rIns="0" bIns="0" rtlCol="0" anchor="t"/>
          <a:lstStyle/>
          <a:p>
            <a:pPr algn="l" indent="0" marL="0">
              <a:buNone/>
            </a:pPr>
            <a:r>
              <a:rPr lang="en-US" sz="2600" b="1" dirty="0">
                <a:solidFill>
                  <a:schemeClr val="tx1"/>
                </a:solidFill>
                <a:latin typeface="Arial" pitchFamily="34" charset="0"/>
                <a:ea typeface="Arial" pitchFamily="34" charset="-122"/>
                <a:cs typeface="Arial" pitchFamily="34" charset="-120"/>
              </a:rPr>
              <a:t>Triage: the lowest ladder step that does the job is decided before anything is built</a:t>
            </a:r>
            <a:endParaRPr lang="en-US" sz="2600" dirty="0"/>
          </a:p>
        </p:txBody>
      </p:sp>
      <p:sp>
        <p:nvSpPr>
          <p:cNvPr id="4" name="lane ACTOR"/>
          <p:cNvSpPr/>
          <p:nvPr/>
        </p:nvSpPr>
        <p:spPr>
          <a:xfrm>
            <a:off x="548640" y="1874520"/>
            <a:ext cx="11091672" cy="502920"/>
          </a:xfrm>
          <a:prstGeom prst="rect">
            <a:avLst/>
          </a:prstGeom>
          <a:solidFill>
            <a:srgbClr val="F4F7F5"/>
          </a:solidFill>
          <a:ln w="12700">
            <a:solidFill>
              <a:srgbClr val="F4F7F5"/>
            </a:solidFill>
            <a:prstDash val="solid"/>
          </a:ln>
        </p:spPr>
      </p:sp>
      <p:sp>
        <p:nvSpPr>
          <p:cNvPr id="5" name="Text 3"/>
          <p:cNvSpPr txBox="1"/>
          <p:nvPr/>
        </p:nvSpPr>
        <p:spPr>
          <a:xfrm>
            <a:off x="685800" y="1874520"/>
            <a:ext cx="1051560" cy="502920"/>
          </a:xfrm>
          <a:prstGeom prst="rect">
            <a:avLst/>
          </a:prstGeom>
          <a:noFill/>
          <a:ln/>
        </p:spPr>
        <p:txBody>
          <a:bodyPr wrap="square" lIns="0" tIns="0" rIns="0" bIns="0" rtlCol="0" anchor="ctr"/>
          <a:lstStyle/>
          <a:p>
            <a:pPr indent="0" marL="0">
              <a:buNone/>
            </a:pPr>
            <a:r>
              <a:rPr lang="en-US" sz="900" b="1" spc="200" kern="0" dirty="0">
                <a:solidFill>
                  <a:srgbClr val="5E6E6A"/>
                </a:solidFill>
                <a:latin typeface="Arial" pitchFamily="34" charset="0"/>
                <a:ea typeface="Arial" pitchFamily="34" charset="-122"/>
                <a:cs typeface="Arial" pitchFamily="34" charset="-120"/>
              </a:rPr>
              <a:t>ACTOR</a:t>
            </a:r>
            <a:endParaRPr lang="en-US" sz="900" dirty="0"/>
          </a:p>
        </p:txBody>
      </p:sp>
      <p:sp>
        <p:nvSpPr>
          <p:cNvPr id="6" name="lane EVENT"/>
          <p:cNvSpPr/>
          <p:nvPr/>
        </p:nvSpPr>
        <p:spPr>
          <a:xfrm>
            <a:off x="548640" y="2514600"/>
            <a:ext cx="11091672" cy="1691640"/>
          </a:xfrm>
          <a:prstGeom prst="rect">
            <a:avLst/>
          </a:prstGeom>
          <a:solidFill>
            <a:srgbClr val="F4F7F5"/>
          </a:solidFill>
          <a:ln w="12700">
            <a:solidFill>
              <a:srgbClr val="F4F7F5"/>
            </a:solidFill>
            <a:prstDash val="solid"/>
          </a:ln>
        </p:spPr>
      </p:sp>
      <p:sp>
        <p:nvSpPr>
          <p:cNvPr id="7" name="Text 5"/>
          <p:cNvSpPr txBox="1"/>
          <p:nvPr/>
        </p:nvSpPr>
        <p:spPr>
          <a:xfrm>
            <a:off x="685800" y="2514600"/>
            <a:ext cx="1051560" cy="1691640"/>
          </a:xfrm>
          <a:prstGeom prst="rect">
            <a:avLst/>
          </a:prstGeom>
          <a:noFill/>
          <a:ln/>
        </p:spPr>
        <p:txBody>
          <a:bodyPr wrap="square" lIns="0" tIns="0" rIns="0" bIns="0" rtlCol="0" anchor="ctr"/>
          <a:lstStyle/>
          <a:p>
            <a:pPr indent="0" marL="0">
              <a:buNone/>
            </a:pPr>
            <a:r>
              <a:rPr lang="en-US" sz="900" b="1" spc="200" kern="0" dirty="0">
                <a:solidFill>
                  <a:srgbClr val="5E6E6A"/>
                </a:solidFill>
                <a:latin typeface="Arial" pitchFamily="34" charset="0"/>
                <a:ea typeface="Arial" pitchFamily="34" charset="-122"/>
                <a:cs typeface="Arial" pitchFamily="34" charset="-120"/>
              </a:rPr>
              <a:t>EVENT</a:t>
            </a:r>
            <a:endParaRPr lang="en-US" sz="900" dirty="0"/>
          </a:p>
        </p:txBody>
      </p:sp>
      <p:sp>
        <p:nvSpPr>
          <p:cNvPr id="8" name="lane EXTERNAL"/>
          <p:cNvSpPr/>
          <p:nvPr/>
        </p:nvSpPr>
        <p:spPr>
          <a:xfrm>
            <a:off x="548640" y="4370832"/>
            <a:ext cx="11091672" cy="548640"/>
          </a:xfrm>
          <a:prstGeom prst="rect">
            <a:avLst/>
          </a:prstGeom>
          <a:solidFill>
            <a:srgbClr val="F4F7F5"/>
          </a:solidFill>
          <a:ln w="12700">
            <a:solidFill>
              <a:srgbClr val="F4F7F5"/>
            </a:solidFill>
            <a:prstDash val="solid"/>
          </a:ln>
        </p:spPr>
      </p:sp>
      <p:sp>
        <p:nvSpPr>
          <p:cNvPr id="9" name="Text 7"/>
          <p:cNvSpPr txBox="1"/>
          <p:nvPr/>
        </p:nvSpPr>
        <p:spPr>
          <a:xfrm>
            <a:off x="685800" y="4370832"/>
            <a:ext cx="1051560" cy="548640"/>
          </a:xfrm>
          <a:prstGeom prst="rect">
            <a:avLst/>
          </a:prstGeom>
          <a:noFill/>
          <a:ln/>
        </p:spPr>
        <p:txBody>
          <a:bodyPr wrap="square" lIns="0" tIns="0" rIns="0" bIns="0" rtlCol="0" anchor="ctr"/>
          <a:lstStyle/>
          <a:p>
            <a:pPr indent="0" marL="0">
              <a:buNone/>
            </a:pPr>
            <a:r>
              <a:rPr lang="en-US" sz="900" b="1" spc="200" kern="0" dirty="0">
                <a:solidFill>
                  <a:srgbClr val="5E6E6A"/>
                </a:solidFill>
                <a:latin typeface="Arial" pitchFamily="34" charset="0"/>
                <a:ea typeface="Arial" pitchFamily="34" charset="-122"/>
                <a:cs typeface="Arial" pitchFamily="34" charset="-120"/>
              </a:rPr>
              <a:t>EXTERNAL</a:t>
            </a:r>
            <a:endParaRPr lang="en-US" sz="900" dirty="0"/>
          </a:p>
        </p:txBody>
      </p:sp>
      <p:sp>
        <p:nvSpPr>
          <p:cNvPr id="10" name="Text 8"/>
          <p:cNvSpPr txBox="1"/>
          <p:nvPr/>
        </p:nvSpPr>
        <p:spPr>
          <a:xfrm>
            <a:off x="1828800" y="1572768"/>
            <a:ext cx="548640" cy="201168"/>
          </a:xfrm>
          <a:prstGeom prst="rect">
            <a:avLst/>
          </a:prstGeom>
          <a:noFill/>
          <a:ln/>
        </p:spPr>
        <p:txBody>
          <a:bodyPr wrap="square" lIns="0" tIns="0" rIns="0" bIns="0" rtlCol="0" anchor="ctr"/>
          <a:lstStyle/>
          <a:p>
            <a:pPr indent="0" marL="0">
              <a:buNone/>
            </a:pPr>
            <a:r>
              <a:rPr lang="en-US" sz="800" b="1" spc="200" kern="0" dirty="0">
                <a:solidFill>
                  <a:srgbClr val="9FB8AF"/>
                </a:solidFill>
                <a:latin typeface="Arial" pitchFamily="34" charset="0"/>
                <a:ea typeface="Arial" pitchFamily="34" charset="-122"/>
                <a:cs typeface="Arial" pitchFamily="34" charset="-120"/>
              </a:rPr>
              <a:t>TIME</a:t>
            </a:r>
            <a:endParaRPr lang="en-US" sz="800" dirty="0"/>
          </a:p>
        </p:txBody>
      </p:sp>
      <p:sp>
        <p:nvSpPr>
          <p:cNvPr id="11" name="Shape 9"/>
          <p:cNvSpPr/>
          <p:nvPr/>
        </p:nvSpPr>
        <p:spPr>
          <a:xfrm>
            <a:off x="2331720" y="1673352"/>
            <a:ext cx="9308592" cy="0"/>
          </a:xfrm>
          <a:prstGeom prst="line">
            <a:avLst/>
          </a:prstGeom>
          <a:noFill/>
          <a:ln w="12700">
            <a:solidFill>
              <a:srgbClr val="9FB8AF"/>
            </a:solidFill>
            <a:prstDash val="solid"/>
            <a:tailEnd type="triangle"/>
          </a:ln>
        </p:spPr>
      </p:sp>
      <p:sp>
        <p:nvSpPr>
          <p:cNvPr id="12" name="actor note: Process owner"/>
          <p:cNvSpPr/>
          <p:nvPr/>
        </p:nvSpPr>
        <p:spPr>
          <a:xfrm>
            <a:off x="1828800" y="1920240"/>
            <a:ext cx="1554480" cy="411480"/>
          </a:xfrm>
          <a:prstGeom prst="rect">
            <a:avLst/>
          </a:prstGeom>
          <a:solidFill>
            <a:schemeClr val="accent5"/>
          </a:solidFill>
          <a:ln w="6350">
            <a:solidFill>
              <a:schemeClr val="accent5"/>
            </a:solidFill>
            <a:prstDash val="solid"/>
          </a:ln>
          <a:effectLst>
            <a:outerShdw sx="100000" sy="100000" kx="0" ky="0" algn="bl" rotWithShape="0" blurRad="50800" dist="25400" dir="5400000">
              <a:srgbClr val="000000">
                <a:alpha val="18000"/>
              </a:srgbClr>
            </a:outerShdw>
          </a:effectLst>
        </p:spPr>
      </p:sp>
      <p:sp>
        <p:nvSpPr>
          <p:cNvPr id="13" name="Text 11"/>
          <p:cNvSpPr txBox="1"/>
          <p:nvPr/>
        </p:nvSpPr>
        <p:spPr>
          <a:xfrm>
            <a:off x="1901952" y="1975104"/>
            <a:ext cx="1408176" cy="301752"/>
          </a:xfrm>
          <a:prstGeom prst="rect">
            <a:avLst/>
          </a:prstGeom>
          <a:noFill/>
          <a:ln/>
        </p:spPr>
        <p:txBody>
          <a:bodyPr wrap="square" lIns="0" tIns="0" rIns="0" bIns="0" rtlCol="0" anchor="t">
            <a:normAutofit/>
          </a:bodyPr>
          <a:lstStyle/>
          <a:p>
            <a:pPr indent="0" marL="0">
              <a:buNone/>
            </a:pPr>
            <a:r>
              <a:rPr lang="en-US" sz="1100" dirty="0">
                <a:solidFill>
                  <a:schemeClr val="tx1"/>
                </a:solidFill>
                <a:latin typeface="Calibri" pitchFamily="34" charset="0"/>
                <a:ea typeface="Calibri" pitchFamily="34" charset="-122"/>
                <a:cs typeface="Calibri" pitchFamily="34" charset="-120"/>
              </a:rPr>
              <a:t>Process owner</a:t>
            </a:r>
            <a:endParaRPr lang="en-US" sz="1100" dirty="0"/>
          </a:p>
        </p:txBody>
      </p:sp>
      <p:sp>
        <p:nvSpPr>
          <p:cNvPr id="14" name="event note: Automation need raised"/>
          <p:cNvSpPr/>
          <p:nvPr/>
        </p:nvSpPr>
        <p:spPr>
          <a:xfrm>
            <a:off x="1828800" y="2761488"/>
            <a:ext cx="2057400" cy="1188720"/>
          </a:xfrm>
          <a:prstGeom prst="rect">
            <a:avLst/>
          </a:prstGeom>
          <a:solidFill>
            <a:schemeClr val="accent3"/>
          </a:solidFill>
          <a:ln w="6350">
            <a:solidFill>
              <a:schemeClr val="accent3"/>
            </a:solidFill>
            <a:prstDash val="solid"/>
          </a:ln>
          <a:effectLst>
            <a:outerShdw sx="100000" sy="100000" kx="0" ky="0" algn="bl" rotWithShape="0" blurRad="50800" dist="25400" dir="5400000">
              <a:srgbClr val="000000">
                <a:alpha val="18000"/>
              </a:srgbClr>
            </a:outerShdw>
          </a:effectLst>
        </p:spPr>
      </p:sp>
      <p:sp>
        <p:nvSpPr>
          <p:cNvPr id="15" name="Text 13"/>
          <p:cNvSpPr txBox="1"/>
          <p:nvPr/>
        </p:nvSpPr>
        <p:spPr>
          <a:xfrm>
            <a:off x="1901952" y="2816352"/>
            <a:ext cx="1911096" cy="1078992"/>
          </a:xfrm>
          <a:prstGeom prst="rect">
            <a:avLst/>
          </a:prstGeom>
          <a:noFill/>
          <a:ln/>
        </p:spPr>
        <p:txBody>
          <a:bodyPr wrap="square" lIns="0" tIns="0" rIns="0" bIns="0" rtlCol="0" anchor="t">
            <a:normAutofit/>
          </a:bodyPr>
          <a:lstStyle/>
          <a:p>
            <a:pPr indent="0" marL="0">
              <a:buNone/>
            </a:pPr>
            <a:r>
              <a:rPr lang="en-US" sz="1200" b="1" dirty="0">
                <a:solidFill>
                  <a:schemeClr val="tx1"/>
                </a:solidFill>
                <a:latin typeface="Calibri" pitchFamily="34" charset="0"/>
                <a:ea typeface="Calibri" pitchFamily="34" charset="-122"/>
                <a:cs typeface="Calibri" pitchFamily="34" charset="-120"/>
              </a:rPr>
              <a:t>Automation need raised</a:t>
            </a:r>
            <a:endParaRPr lang="en-US" sz="1200" dirty="0"/>
          </a:p>
        </p:txBody>
      </p:sp>
      <p:sp>
        <p:nvSpPr>
          <p:cNvPr id="16" name="Shape 14"/>
          <p:cNvSpPr/>
          <p:nvPr/>
        </p:nvSpPr>
        <p:spPr>
          <a:xfrm>
            <a:off x="3941064" y="3383280"/>
            <a:ext cx="274320" cy="0"/>
          </a:xfrm>
          <a:prstGeom prst="line">
            <a:avLst/>
          </a:prstGeom>
          <a:noFill/>
          <a:ln w="19050">
            <a:solidFill>
              <a:srgbClr val="9FB8AF"/>
            </a:solidFill>
            <a:prstDash val="solid"/>
            <a:tailEnd type="triangle"/>
          </a:ln>
        </p:spPr>
      </p:sp>
      <p:sp>
        <p:nvSpPr>
          <p:cNvPr id="17" name="actor note: Process owner"/>
          <p:cNvSpPr/>
          <p:nvPr/>
        </p:nvSpPr>
        <p:spPr>
          <a:xfrm>
            <a:off x="4270248" y="1920240"/>
            <a:ext cx="1554480" cy="411480"/>
          </a:xfrm>
          <a:prstGeom prst="rect">
            <a:avLst/>
          </a:prstGeom>
          <a:solidFill>
            <a:schemeClr val="accent5"/>
          </a:solidFill>
          <a:ln w="6350">
            <a:solidFill>
              <a:schemeClr val="accent5"/>
            </a:solidFill>
            <a:prstDash val="solid"/>
          </a:ln>
          <a:effectLst>
            <a:outerShdw sx="100000" sy="100000" kx="0" ky="0" algn="bl" rotWithShape="0" blurRad="50800" dist="25400" dir="5400000">
              <a:srgbClr val="000000">
                <a:alpha val="18000"/>
              </a:srgbClr>
            </a:outerShdw>
          </a:effectLst>
        </p:spPr>
      </p:sp>
      <p:sp>
        <p:nvSpPr>
          <p:cNvPr id="18" name="Text 16"/>
          <p:cNvSpPr txBox="1"/>
          <p:nvPr/>
        </p:nvSpPr>
        <p:spPr>
          <a:xfrm>
            <a:off x="4343400" y="1975104"/>
            <a:ext cx="1408176" cy="301752"/>
          </a:xfrm>
          <a:prstGeom prst="rect">
            <a:avLst/>
          </a:prstGeom>
          <a:noFill/>
          <a:ln/>
        </p:spPr>
        <p:txBody>
          <a:bodyPr wrap="square" lIns="0" tIns="0" rIns="0" bIns="0" rtlCol="0" anchor="t">
            <a:normAutofit/>
          </a:bodyPr>
          <a:lstStyle/>
          <a:p>
            <a:pPr indent="0" marL="0">
              <a:buNone/>
            </a:pPr>
            <a:r>
              <a:rPr lang="en-US" sz="1100" dirty="0">
                <a:solidFill>
                  <a:schemeClr val="tx1"/>
                </a:solidFill>
                <a:latin typeface="Calibri" pitchFamily="34" charset="0"/>
                <a:ea typeface="Calibri" pitchFamily="34" charset="-122"/>
                <a:cs typeface="Calibri" pitchFamily="34" charset="-120"/>
              </a:rPr>
              <a:t>Process owner</a:t>
            </a:r>
            <a:endParaRPr lang="en-US" sz="1100" dirty="0"/>
          </a:p>
        </p:txBody>
      </p:sp>
      <p:sp>
        <p:nvSpPr>
          <p:cNvPr id="19" name="event note: Triage completed"/>
          <p:cNvSpPr/>
          <p:nvPr/>
        </p:nvSpPr>
        <p:spPr>
          <a:xfrm>
            <a:off x="4270248" y="2761488"/>
            <a:ext cx="2057400" cy="1188720"/>
          </a:xfrm>
          <a:prstGeom prst="rect">
            <a:avLst/>
          </a:prstGeom>
          <a:solidFill>
            <a:schemeClr val="accent3"/>
          </a:solidFill>
          <a:ln w="6350">
            <a:solidFill>
              <a:schemeClr val="accent3"/>
            </a:solidFill>
            <a:prstDash val="solid"/>
          </a:ln>
          <a:effectLst>
            <a:outerShdw sx="100000" sy="100000" kx="0" ky="0" algn="bl" rotWithShape="0" blurRad="50800" dist="25400" dir="5400000">
              <a:srgbClr val="000000">
                <a:alpha val="18000"/>
              </a:srgbClr>
            </a:outerShdw>
          </a:effectLst>
        </p:spPr>
      </p:sp>
      <p:sp>
        <p:nvSpPr>
          <p:cNvPr id="20" name="Text 18"/>
          <p:cNvSpPr txBox="1"/>
          <p:nvPr/>
        </p:nvSpPr>
        <p:spPr>
          <a:xfrm>
            <a:off x="4343400" y="2816352"/>
            <a:ext cx="1911096" cy="1078992"/>
          </a:xfrm>
          <a:prstGeom prst="rect">
            <a:avLst/>
          </a:prstGeom>
          <a:noFill/>
          <a:ln/>
        </p:spPr>
        <p:txBody>
          <a:bodyPr wrap="square" lIns="0" tIns="0" rIns="0" bIns="0" rtlCol="0" anchor="t">
            <a:normAutofit/>
          </a:bodyPr>
          <a:lstStyle/>
          <a:p>
            <a:pPr indent="0" marL="0">
              <a:buNone/>
            </a:pPr>
            <a:r>
              <a:rPr lang="en-US" sz="1200" b="1" dirty="0">
                <a:solidFill>
                  <a:schemeClr val="tx1"/>
                </a:solidFill>
                <a:latin typeface="Calibri" pitchFamily="34" charset="0"/>
                <a:ea typeface="Calibri" pitchFamily="34" charset="-122"/>
                <a:cs typeface="Calibri" pitchFamily="34" charset="-120"/>
              </a:rPr>
              <a:t>Triage completed</a:t>
            </a:r>
            <a:endParaRPr lang="en-US" sz="1200" dirty="0"/>
          </a:p>
        </p:txBody>
      </p:sp>
      <p:sp>
        <p:nvSpPr>
          <p:cNvPr id="21" name="Shape 19"/>
          <p:cNvSpPr/>
          <p:nvPr/>
        </p:nvSpPr>
        <p:spPr>
          <a:xfrm>
            <a:off x="6382512" y="3383280"/>
            <a:ext cx="274320" cy="0"/>
          </a:xfrm>
          <a:prstGeom prst="line">
            <a:avLst/>
          </a:prstGeom>
          <a:noFill/>
          <a:ln w="19050">
            <a:solidFill>
              <a:srgbClr val="9FB8AF"/>
            </a:solidFill>
            <a:prstDash val="solid"/>
            <a:tailEnd type="triangle"/>
          </a:ln>
        </p:spPr>
      </p:sp>
      <p:sp>
        <p:nvSpPr>
          <p:cNvPr id="22" name="event note: Automation approach decided"/>
          <p:cNvSpPr/>
          <p:nvPr/>
        </p:nvSpPr>
        <p:spPr>
          <a:xfrm>
            <a:off x="6711696" y="2761488"/>
            <a:ext cx="2057400" cy="1188720"/>
          </a:xfrm>
          <a:prstGeom prst="rect">
            <a:avLst/>
          </a:prstGeom>
          <a:solidFill>
            <a:schemeClr val="accent3"/>
          </a:solidFill>
          <a:ln w="28575">
            <a:solidFill>
              <a:schemeClr val="tx1"/>
            </a:solidFill>
            <a:prstDash val="solid"/>
          </a:ln>
          <a:effectLst>
            <a:outerShdw sx="100000" sy="100000" kx="0" ky="0" algn="bl" rotWithShape="0" blurRad="50800" dist="25400" dir="5400000">
              <a:srgbClr val="000000">
                <a:alpha val="18000"/>
              </a:srgbClr>
            </a:outerShdw>
          </a:effectLst>
        </p:spPr>
      </p:sp>
      <p:sp>
        <p:nvSpPr>
          <p:cNvPr id="23" name="Text 21"/>
          <p:cNvSpPr txBox="1"/>
          <p:nvPr/>
        </p:nvSpPr>
        <p:spPr>
          <a:xfrm>
            <a:off x="6784848" y="2816352"/>
            <a:ext cx="1911096" cy="1078992"/>
          </a:xfrm>
          <a:prstGeom prst="rect">
            <a:avLst/>
          </a:prstGeom>
          <a:noFill/>
          <a:ln/>
        </p:spPr>
        <p:txBody>
          <a:bodyPr wrap="square" lIns="0" tIns="0" rIns="0" bIns="0" rtlCol="0" anchor="t">
            <a:normAutofit/>
          </a:bodyPr>
          <a:lstStyle/>
          <a:p>
            <a:pPr indent="0" marL="0">
              <a:buNone/>
            </a:pPr>
            <a:r>
              <a:rPr lang="en-US" sz="1200" dirty="0">
                <a:solidFill>
                  <a:schemeClr val="tx1"/>
                </a:solidFill>
                <a:latin typeface="Calibri" pitchFamily="34" charset="0"/>
                <a:ea typeface="Calibri" pitchFamily="34" charset="-122"/>
                <a:cs typeface="Calibri" pitchFamily="34" charset="-120"/>
              </a:rPr>
              <a:t>★ </a:t>
            </a:r>
            <a:pPr indent="0" marL="0">
              <a:buNone/>
            </a:pPr>
            <a:r>
              <a:rPr lang="en-US" sz="1200" b="1" dirty="0">
                <a:solidFill>
                  <a:schemeClr val="tx1"/>
                </a:solidFill>
                <a:latin typeface="Calibri" pitchFamily="34" charset="0"/>
                <a:ea typeface="Calibri" pitchFamily="34" charset="-122"/>
                <a:cs typeface="Calibri" pitchFamily="34" charset="-120"/>
              </a:rPr>
              <a:t>Automation approach decided</a:t>
            </a:r>
            <a:endParaRPr lang="en-US" sz="1200" dirty="0"/>
          </a:p>
        </p:txBody>
      </p:sp>
      <p:sp>
        <p:nvSpPr>
          <p:cNvPr id="24" name="Shape 22"/>
          <p:cNvSpPr/>
          <p:nvPr/>
        </p:nvSpPr>
        <p:spPr>
          <a:xfrm>
            <a:off x="8823960" y="3383280"/>
            <a:ext cx="274320" cy="0"/>
          </a:xfrm>
          <a:prstGeom prst="line">
            <a:avLst/>
          </a:prstGeom>
          <a:noFill/>
          <a:ln w="19050">
            <a:solidFill>
              <a:srgbClr val="9FB8AF"/>
            </a:solidFill>
            <a:prstDash val="solid"/>
            <a:tailEnd type="triangle"/>
          </a:ln>
        </p:spPr>
      </p:sp>
      <p:sp>
        <p:nvSpPr>
          <p:cNvPr id="25" name="hot note: Who can overrule the recommendation? Does an agent need a written reason?"/>
          <p:cNvSpPr/>
          <p:nvPr/>
        </p:nvSpPr>
        <p:spPr>
          <a:xfrm rot="-120000">
            <a:off x="9189720" y="2761488"/>
            <a:ext cx="1984248" cy="1188720"/>
          </a:xfrm>
          <a:prstGeom prst="rect">
            <a:avLst/>
          </a:prstGeom>
          <a:solidFill>
            <a:schemeClr val="accent6"/>
          </a:solidFill>
          <a:ln w="6350">
            <a:solidFill>
              <a:schemeClr val="accent6"/>
            </a:solidFill>
            <a:prstDash val="solid"/>
          </a:ln>
          <a:effectLst>
            <a:outerShdw sx="100000" sy="100000" kx="0" ky="0" algn="bl" rotWithShape="0" blurRad="50800" dist="25400" dir="5400000">
              <a:srgbClr val="000000">
                <a:alpha val="18000"/>
              </a:srgbClr>
            </a:outerShdw>
          </a:effectLst>
        </p:spPr>
      </p:sp>
      <p:sp>
        <p:nvSpPr>
          <p:cNvPr id="26" name="Text 24"/>
          <p:cNvSpPr txBox="1"/>
          <p:nvPr/>
        </p:nvSpPr>
        <p:spPr>
          <a:xfrm rot="-120000">
            <a:off x="9262872" y="2816352"/>
            <a:ext cx="1837944" cy="1078992"/>
          </a:xfrm>
          <a:prstGeom prst="rect">
            <a:avLst/>
          </a:prstGeom>
          <a:noFill/>
          <a:ln/>
        </p:spPr>
        <p:txBody>
          <a:bodyPr wrap="square" lIns="0" tIns="0" rIns="0" bIns="0" rtlCol="0" anchor="t">
            <a:normAutofit/>
          </a:bodyPr>
          <a:lstStyle/>
          <a:p>
            <a:pPr indent="0" marL="0">
              <a:buNone/>
            </a:pPr>
            <a:r>
              <a:rPr lang="en-US" sz="950" b="1" dirty="0">
                <a:solidFill>
                  <a:schemeClr val="bg1"/>
                </a:solidFill>
                <a:latin typeface="Calibri" pitchFamily="34" charset="0"/>
                <a:ea typeface="Calibri" pitchFamily="34" charset="-122"/>
                <a:cs typeface="Calibri" pitchFamily="34" charset="-120"/>
              </a:rPr>
              <a:t>H2  </a:t>
            </a:r>
            <a:pPr indent="0" marL="0">
              <a:buNone/>
            </a:pPr>
            <a:r>
              <a:rPr lang="en-US" sz="1050" b="1" dirty="0">
                <a:solidFill>
                  <a:schemeClr val="bg1"/>
                </a:solidFill>
                <a:latin typeface="Calibri" pitchFamily="34" charset="0"/>
                <a:ea typeface="Calibri" pitchFamily="34" charset="-122"/>
                <a:cs typeface="Calibri" pitchFamily="34" charset="-120"/>
              </a:rPr>
              <a:t>Who can overrule the recommendation? Does an agent need a written reason?</a:t>
            </a:r>
            <a:endParaRPr lang="en-US" sz="950" dirty="0"/>
          </a:p>
        </p:txBody>
      </p:sp>
      <p:sp>
        <p:nvSpPr>
          <p:cNvPr id="27" name="ubiquitous language"/>
          <p:cNvSpPr/>
          <p:nvPr/>
        </p:nvSpPr>
        <p:spPr>
          <a:xfrm>
            <a:off x="548640" y="5120640"/>
            <a:ext cx="7178040" cy="1143000"/>
          </a:xfrm>
          <a:prstGeom prst="rect">
            <a:avLst/>
          </a:prstGeom>
          <a:solidFill>
            <a:schemeClr val="bg2"/>
          </a:solidFill>
          <a:ln w="12700">
            <a:solidFill>
              <a:schemeClr val="bg2"/>
            </a:solidFill>
            <a:prstDash val="solid"/>
          </a:ln>
        </p:spPr>
      </p:sp>
      <p:sp>
        <p:nvSpPr>
          <p:cNvPr id="28" name="Text 26"/>
          <p:cNvSpPr txBox="1"/>
          <p:nvPr/>
        </p:nvSpPr>
        <p:spPr>
          <a:xfrm>
            <a:off x="731520" y="5212080"/>
            <a:ext cx="4572000" cy="228600"/>
          </a:xfrm>
          <a:prstGeom prst="rect">
            <a:avLst/>
          </a:prstGeom>
          <a:noFill/>
          <a:ln/>
        </p:spPr>
        <p:txBody>
          <a:bodyPr wrap="square" lIns="0" tIns="0" rIns="0" bIns="0" rtlCol="0" anchor="ctr"/>
          <a:lstStyle/>
          <a:p>
            <a:pPr indent="0" marL="0">
              <a:buNone/>
            </a:pPr>
            <a:r>
              <a:rPr lang="en-US" sz="900" b="1" spc="200" kern="0" dirty="0">
                <a:solidFill>
                  <a:schemeClr val="accent1"/>
                </a:solidFill>
                <a:latin typeface="Arial" pitchFamily="34" charset="0"/>
                <a:ea typeface="Arial" pitchFamily="34" charset="-122"/>
                <a:cs typeface="Arial" pitchFamily="34" charset="-120"/>
              </a:rPr>
              <a:t>UBIQUITOUS LANGUAGE</a:t>
            </a:r>
            <a:endParaRPr lang="en-US" sz="900" dirty="0"/>
          </a:p>
        </p:txBody>
      </p:sp>
      <p:sp>
        <p:nvSpPr>
          <p:cNvPr id="29" name="Text 27"/>
          <p:cNvSpPr txBox="1"/>
          <p:nvPr/>
        </p:nvSpPr>
        <p:spPr>
          <a:xfrm>
            <a:off x="731520" y="5468112"/>
            <a:ext cx="6812280" cy="731520"/>
          </a:xfrm>
          <a:prstGeom prst="rect">
            <a:avLst/>
          </a:prstGeom>
          <a:noFill/>
          <a:ln/>
        </p:spPr>
        <p:txBody>
          <a:bodyPr wrap="square" lIns="0" tIns="0" rIns="0" bIns="0" rtlCol="0" anchor="t">
            <a:normAutofit/>
          </a:bodyPr>
          <a:lstStyle/>
          <a:p>
            <a:pPr indent="0" marL="0">
              <a:buNone/>
            </a:pPr>
            <a:r>
              <a:rPr lang="en-US" sz="1050" b="1" dirty="0">
                <a:solidFill>
                  <a:schemeClr val="tx1"/>
                </a:solidFill>
                <a:latin typeface="Calibri" pitchFamily="34" charset="0"/>
                <a:ea typeface="Calibri" pitchFamily="34" charset="-122"/>
                <a:cs typeface="Calibri" pitchFamily="34" charset="-120"/>
              </a:rPr>
              <a:t>Triage  </a:t>
            </a:r>
            <a:pPr indent="0" marL="0">
              <a:spcAft>
                <a:spcPts val="300"/>
              </a:spcAft>
              <a:buNone/>
            </a:pPr>
            <a:r>
              <a:rPr lang="en-US" sz="1050" dirty="0">
                <a:solidFill>
                  <a:schemeClr val="tx1"/>
                </a:solidFill>
                <a:latin typeface="Calibri" pitchFamily="34" charset="0"/>
                <a:ea typeface="Calibri" pitchFamily="34" charset="-122"/>
                <a:cs typeface="Calibri" pitchFamily="34" charset="-120"/>
              </a:rPr>
              <a:t>Short decision tree run before anything is built. Its result is the recommended ladder step.</a:t>
            </a:r>
            <a:endParaRPr lang="en-US" sz="1050" dirty="0"/>
          </a:p>
          <a:p>
            <a:pPr indent="0" marL="0">
              <a:buNone/>
            </a:pPr>
            <a:r>
              <a:rPr lang="en-US" sz="1050" b="1" dirty="0">
                <a:solidFill>
                  <a:schemeClr val="tx1"/>
                </a:solidFill>
                <a:latin typeface="Calibri" pitchFamily="34" charset="0"/>
                <a:ea typeface="Calibri" pitchFamily="34" charset="-122"/>
                <a:cs typeface="Calibri" pitchFamily="34" charset="-120"/>
              </a:rPr>
              <a:t>Automation ladder  </a:t>
            </a:r>
            <a:pPr indent="0" marL="0">
              <a:spcAft>
                <a:spcPts val="300"/>
              </a:spcAft>
              <a:buNone/>
            </a:pPr>
            <a:r>
              <a:rPr lang="en-US" sz="1050" dirty="0">
                <a:solidFill>
                  <a:schemeClr val="tx1"/>
                </a:solidFill>
                <a:latin typeface="Calibri" pitchFamily="34" charset="0"/>
                <a:ea typeface="Calibri" pitchFamily="34" charset="-122"/>
                <a:cs typeface="Calibri" pitchFamily="34" charset="-120"/>
              </a:rPr>
              <a:t>Rule → workflow → classic ML → single GenAI call → agent → multi-agent. Use the lowest step that does the job.</a:t>
            </a:r>
            <a:endParaRPr lang="en-US" sz="1050" dirty="0"/>
          </a:p>
          <a:p>
            <a:pPr indent="0" marL="0">
              <a:buNone/>
            </a:pPr>
            <a:r>
              <a:rPr lang="en-US" sz="1050" b="1" dirty="0">
                <a:solidFill>
                  <a:schemeClr val="tx1"/>
                </a:solidFill>
                <a:latin typeface="Calibri" pitchFamily="34" charset="0"/>
                <a:ea typeface="Calibri" pitchFamily="34" charset="-122"/>
                <a:cs typeface="Calibri" pitchFamily="34" charset="-120"/>
              </a:rPr>
              <a:t>Pivotal event  </a:t>
            </a:r>
            <a:pPr indent="0" marL="0">
              <a:spcAft>
                <a:spcPts val="300"/>
              </a:spcAft>
              <a:buNone/>
            </a:pPr>
            <a:r>
              <a:rPr lang="en-US" sz="1050" dirty="0">
                <a:solidFill>
                  <a:schemeClr val="tx1"/>
                </a:solidFill>
                <a:latin typeface="Calibri" pitchFamily="34" charset="0"/>
                <a:ea typeface="Calibri" pitchFamily="34" charset="-122"/>
                <a:cs typeface="Calibri" pitchFamily="34" charset="-120"/>
              </a:rPr>
              <a:t>An event where responsibility passes from one bounded context to the next (★ on the board).</a:t>
            </a:r>
            <a:endParaRPr lang="en-US" sz="1050" dirty="0"/>
          </a:p>
        </p:txBody>
      </p:sp>
      <p:sp>
        <p:nvSpPr>
          <p:cNvPr id="30" name="handover"/>
          <p:cNvSpPr/>
          <p:nvPr/>
        </p:nvSpPr>
        <p:spPr>
          <a:xfrm>
            <a:off x="7955280" y="5120640"/>
            <a:ext cx="3685032" cy="1143000"/>
          </a:xfrm>
          <a:prstGeom prst="rect">
            <a:avLst/>
          </a:prstGeom>
          <a:solidFill>
            <a:schemeClr val="bg1"/>
          </a:solidFill>
          <a:ln w="12700">
            <a:solidFill>
              <a:srgbClr val="C9D6D0"/>
            </a:solidFill>
            <a:prstDash val="solid"/>
          </a:ln>
        </p:spPr>
      </p:sp>
      <p:sp>
        <p:nvSpPr>
          <p:cNvPr id="31" name="Text 29"/>
          <p:cNvSpPr txBox="1"/>
          <p:nvPr/>
        </p:nvSpPr>
        <p:spPr>
          <a:xfrm>
            <a:off x="8138160" y="5212080"/>
            <a:ext cx="3383280" cy="978408"/>
          </a:xfrm>
          <a:prstGeom prst="rect">
            <a:avLst/>
          </a:prstGeom>
          <a:noFill/>
          <a:ln/>
        </p:spPr>
        <p:txBody>
          <a:bodyPr wrap="square" lIns="0" tIns="0" rIns="0" bIns="0" rtlCol="0" anchor="t">
            <a:normAutofit/>
          </a:bodyPr>
          <a:lstStyle/>
          <a:p>
            <a:pPr indent="0" marL="0">
              <a:buNone/>
            </a:pPr>
            <a:r>
              <a:rPr lang="en-US" sz="900" b="1" spc="200" kern="0" dirty="0">
                <a:solidFill>
                  <a:schemeClr val="accent1"/>
                </a:solidFill>
                <a:latin typeface="Calibri" pitchFamily="34" charset="0"/>
                <a:ea typeface="Calibri" pitchFamily="34" charset="-122"/>
                <a:cs typeface="Calibri" pitchFamily="34" charset="-120"/>
              </a:rPr>
              <a:t>RECEIVES</a:t>
            </a:r>
            <a:endParaRPr lang="en-US" sz="900" dirty="0"/>
          </a:p>
          <a:p>
            <a:pPr indent="0" marL="0">
              <a:spcAft>
                <a:spcPts val="400"/>
              </a:spcAft>
              <a:buNone/>
            </a:pPr>
            <a:r>
              <a:rPr lang="en-US" sz="1050" dirty="0">
                <a:solidFill>
                  <a:schemeClr val="tx1"/>
                </a:solidFill>
                <a:latin typeface="Calibri" pitchFamily="34" charset="0"/>
                <a:ea typeface="Calibri" pitchFamily="34" charset="-122"/>
                <a:cs typeface="Calibri" pitchFamily="34" charset="-120"/>
              </a:rPr>
              <a:t>Ladder training completed (Enablement)</a:t>
            </a:r>
            <a:endParaRPr lang="en-US" sz="900" dirty="0"/>
          </a:p>
          <a:p>
            <a:pPr indent="0" marL="0">
              <a:buNone/>
            </a:pPr>
            <a:r>
              <a:rPr lang="en-US" sz="900" b="1" spc="200" kern="0" dirty="0">
                <a:solidFill>
                  <a:schemeClr val="accent1"/>
                </a:solidFill>
                <a:latin typeface="Calibri" pitchFamily="34" charset="0"/>
                <a:ea typeface="Calibri" pitchFamily="34" charset="-122"/>
                <a:cs typeface="Calibri" pitchFamily="34" charset="-120"/>
              </a:rPr>
              <a:t>HANDS OVER</a:t>
            </a:r>
            <a:endParaRPr lang="en-US" sz="900" dirty="0"/>
          </a:p>
          <a:p>
            <a:pPr indent="0" marL="0">
              <a:buNone/>
            </a:pPr>
            <a:r>
              <a:rPr lang="en-US" sz="1050" dirty="0">
                <a:solidFill>
                  <a:schemeClr val="tx1"/>
                </a:solidFill>
                <a:latin typeface="Calibri" pitchFamily="34" charset="0"/>
                <a:ea typeface="Calibri" pitchFamily="34" charset="-122"/>
                <a:cs typeface="Calibri" pitchFamily="34" charset="-120"/>
              </a:rPr>
              <a:t>★ Automation approach decided → Build &amp; Deploy</a:t>
            </a:r>
            <a:endParaRPr lang="en-US" sz="900" dirty="0"/>
          </a:p>
        </p:txBody>
      </p:sp>
      <p:sp>
        <p:nvSpPr>
          <p:cNvPr id="25" name="Slide Number Placeholder 0"/>
          <p:cNvSpPr>
            <a:spLocks noGrp="1"/>
          </p:cNvSpPr>
          <p:nvPr>
            <p:ph type="sldNum" sz="quarter" idx="4294967295"/>
          </p:nvPr>
        </p:nvSpPr>
        <p:spPr>
          <a:xfrm>
            <a:off x="11274552" y="644652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E6E6A"/>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274320"/>
          </a:xfrm>
          <a:prstGeom prst="rect">
            <a:avLst/>
          </a:prstGeom>
          <a:noFill/>
          <a:ln/>
        </p:spPr>
        <p:txBody>
          <a:bodyPr wrap="square" lIns="0" tIns="0" rIns="0" bIns="0" rtlCol="0"/>
          <a:lstStyle/>
          <a:p>
            <a:pPr indent="0" marL="0">
              <a:buNone/>
            </a:pPr>
            <a:r>
              <a:rPr lang="en-US" sz="1100" b="1" spc="200" kern="0" dirty="0">
                <a:solidFill>
                  <a:schemeClr val="accent1"/>
                </a:solidFill>
                <a:latin typeface="Arial" pitchFamily="34" charset="0"/>
                <a:ea typeface="Arial" pitchFamily="34" charset="-122"/>
                <a:cs typeface="Arial" pitchFamily="34" charset="-120"/>
              </a:rPr>
              <a:t>PROCESS 3 OF 6  ·  BUILD &amp; DEPLOY  ·  BUILD</a:t>
            </a:r>
            <a:endParaRPr lang="en-US" sz="1100" dirty="0"/>
          </a:p>
        </p:txBody>
      </p:sp>
      <p:sp>
        <p:nvSpPr>
          <p:cNvPr id="3" name="Text 0"/>
          <p:cNvSpPr/>
          <p:nvPr>
            <p:ph idx="101" type="title" hasCustomPrompt="1"/>
          </p:nvPr>
        </p:nvSpPr>
        <p:spPr>
          <a:xfrm>
            <a:off x="548640" y="640080"/>
            <a:ext cx="11064240" cy="868680"/>
          </a:xfrm>
          <a:prstGeom prst="rect">
            <a:avLst/>
          </a:prstGeom>
          <a:noFill/>
          <a:ln/>
        </p:spPr>
        <p:txBody>
          <a:bodyPr wrap="square" lIns="0" tIns="0" rIns="0" bIns="0" rtlCol="0" anchor="t"/>
          <a:lstStyle/>
          <a:p>
            <a:pPr algn="l" indent="0" marL="0">
              <a:buNone/>
            </a:pPr>
            <a:r>
              <a:rPr lang="en-US" sz="2600" b="1" dirty="0">
                <a:solidFill>
                  <a:schemeClr val="tx1"/>
                </a:solidFill>
                <a:latin typeface="Arial" pitchFamily="34" charset="0"/>
                <a:ea typeface="Arial" pitchFamily="34" charset="-122"/>
                <a:cs typeface="Arial" pitchFamily="34" charset="-120"/>
              </a:rPr>
              <a:t>Build &amp; Deploy: every agent that goes live is registered for monitoring</a:t>
            </a:r>
            <a:endParaRPr lang="en-US" sz="2600" dirty="0"/>
          </a:p>
        </p:txBody>
      </p:sp>
      <p:sp>
        <p:nvSpPr>
          <p:cNvPr id="4" name="lane ACTOR"/>
          <p:cNvSpPr/>
          <p:nvPr/>
        </p:nvSpPr>
        <p:spPr>
          <a:xfrm>
            <a:off x="548640" y="1874520"/>
            <a:ext cx="11091672" cy="502920"/>
          </a:xfrm>
          <a:prstGeom prst="rect">
            <a:avLst/>
          </a:prstGeom>
          <a:solidFill>
            <a:srgbClr val="F4F7F5"/>
          </a:solidFill>
          <a:ln w="12700">
            <a:solidFill>
              <a:srgbClr val="F4F7F5"/>
            </a:solidFill>
            <a:prstDash val="solid"/>
          </a:ln>
        </p:spPr>
      </p:sp>
      <p:sp>
        <p:nvSpPr>
          <p:cNvPr id="5" name="Text 3"/>
          <p:cNvSpPr txBox="1"/>
          <p:nvPr/>
        </p:nvSpPr>
        <p:spPr>
          <a:xfrm>
            <a:off x="685800" y="1874520"/>
            <a:ext cx="1051560" cy="502920"/>
          </a:xfrm>
          <a:prstGeom prst="rect">
            <a:avLst/>
          </a:prstGeom>
          <a:noFill/>
          <a:ln/>
        </p:spPr>
        <p:txBody>
          <a:bodyPr wrap="square" lIns="0" tIns="0" rIns="0" bIns="0" rtlCol="0" anchor="ctr"/>
          <a:lstStyle/>
          <a:p>
            <a:pPr indent="0" marL="0">
              <a:buNone/>
            </a:pPr>
            <a:r>
              <a:rPr lang="en-US" sz="900" b="1" spc="200" kern="0" dirty="0">
                <a:solidFill>
                  <a:srgbClr val="5E6E6A"/>
                </a:solidFill>
                <a:latin typeface="Arial" pitchFamily="34" charset="0"/>
                <a:ea typeface="Arial" pitchFamily="34" charset="-122"/>
                <a:cs typeface="Arial" pitchFamily="34" charset="-120"/>
              </a:rPr>
              <a:t>ACTOR</a:t>
            </a:r>
            <a:endParaRPr lang="en-US" sz="900" dirty="0"/>
          </a:p>
        </p:txBody>
      </p:sp>
      <p:sp>
        <p:nvSpPr>
          <p:cNvPr id="6" name="lane EVENT"/>
          <p:cNvSpPr/>
          <p:nvPr/>
        </p:nvSpPr>
        <p:spPr>
          <a:xfrm>
            <a:off x="548640" y="2514600"/>
            <a:ext cx="11091672" cy="1691640"/>
          </a:xfrm>
          <a:prstGeom prst="rect">
            <a:avLst/>
          </a:prstGeom>
          <a:solidFill>
            <a:srgbClr val="F4F7F5"/>
          </a:solidFill>
          <a:ln w="12700">
            <a:solidFill>
              <a:srgbClr val="F4F7F5"/>
            </a:solidFill>
            <a:prstDash val="solid"/>
          </a:ln>
        </p:spPr>
      </p:sp>
      <p:sp>
        <p:nvSpPr>
          <p:cNvPr id="7" name="Text 5"/>
          <p:cNvSpPr txBox="1"/>
          <p:nvPr/>
        </p:nvSpPr>
        <p:spPr>
          <a:xfrm>
            <a:off x="685800" y="2514600"/>
            <a:ext cx="1051560" cy="1691640"/>
          </a:xfrm>
          <a:prstGeom prst="rect">
            <a:avLst/>
          </a:prstGeom>
          <a:noFill/>
          <a:ln/>
        </p:spPr>
        <p:txBody>
          <a:bodyPr wrap="square" lIns="0" tIns="0" rIns="0" bIns="0" rtlCol="0" anchor="ctr"/>
          <a:lstStyle/>
          <a:p>
            <a:pPr indent="0" marL="0">
              <a:buNone/>
            </a:pPr>
            <a:r>
              <a:rPr lang="en-US" sz="900" b="1" spc="200" kern="0" dirty="0">
                <a:solidFill>
                  <a:srgbClr val="5E6E6A"/>
                </a:solidFill>
                <a:latin typeface="Arial" pitchFamily="34" charset="0"/>
                <a:ea typeface="Arial" pitchFamily="34" charset="-122"/>
                <a:cs typeface="Arial" pitchFamily="34" charset="-120"/>
              </a:rPr>
              <a:t>EVENT</a:t>
            </a:r>
            <a:endParaRPr lang="en-US" sz="900" dirty="0"/>
          </a:p>
        </p:txBody>
      </p:sp>
      <p:sp>
        <p:nvSpPr>
          <p:cNvPr id="8" name="lane EXTERNAL"/>
          <p:cNvSpPr/>
          <p:nvPr/>
        </p:nvSpPr>
        <p:spPr>
          <a:xfrm>
            <a:off x="548640" y="4370832"/>
            <a:ext cx="11091672" cy="548640"/>
          </a:xfrm>
          <a:prstGeom prst="rect">
            <a:avLst/>
          </a:prstGeom>
          <a:solidFill>
            <a:srgbClr val="F4F7F5"/>
          </a:solidFill>
          <a:ln w="12700">
            <a:solidFill>
              <a:srgbClr val="F4F7F5"/>
            </a:solidFill>
            <a:prstDash val="solid"/>
          </a:ln>
        </p:spPr>
      </p:sp>
      <p:sp>
        <p:nvSpPr>
          <p:cNvPr id="9" name="Text 7"/>
          <p:cNvSpPr txBox="1"/>
          <p:nvPr/>
        </p:nvSpPr>
        <p:spPr>
          <a:xfrm>
            <a:off x="685800" y="4370832"/>
            <a:ext cx="1051560" cy="548640"/>
          </a:xfrm>
          <a:prstGeom prst="rect">
            <a:avLst/>
          </a:prstGeom>
          <a:noFill/>
          <a:ln/>
        </p:spPr>
        <p:txBody>
          <a:bodyPr wrap="square" lIns="0" tIns="0" rIns="0" bIns="0" rtlCol="0" anchor="ctr"/>
          <a:lstStyle/>
          <a:p>
            <a:pPr indent="0" marL="0">
              <a:buNone/>
            </a:pPr>
            <a:r>
              <a:rPr lang="en-US" sz="900" b="1" spc="200" kern="0" dirty="0">
                <a:solidFill>
                  <a:srgbClr val="5E6E6A"/>
                </a:solidFill>
                <a:latin typeface="Arial" pitchFamily="34" charset="0"/>
                <a:ea typeface="Arial" pitchFamily="34" charset="-122"/>
                <a:cs typeface="Arial" pitchFamily="34" charset="-120"/>
              </a:rPr>
              <a:t>EXTERNAL</a:t>
            </a:r>
            <a:endParaRPr lang="en-US" sz="900" dirty="0"/>
          </a:p>
        </p:txBody>
      </p:sp>
      <p:sp>
        <p:nvSpPr>
          <p:cNvPr id="10" name="Text 8"/>
          <p:cNvSpPr txBox="1"/>
          <p:nvPr/>
        </p:nvSpPr>
        <p:spPr>
          <a:xfrm>
            <a:off x="1828800" y="1572768"/>
            <a:ext cx="548640" cy="201168"/>
          </a:xfrm>
          <a:prstGeom prst="rect">
            <a:avLst/>
          </a:prstGeom>
          <a:noFill/>
          <a:ln/>
        </p:spPr>
        <p:txBody>
          <a:bodyPr wrap="square" lIns="0" tIns="0" rIns="0" bIns="0" rtlCol="0" anchor="ctr"/>
          <a:lstStyle/>
          <a:p>
            <a:pPr indent="0" marL="0">
              <a:buNone/>
            </a:pPr>
            <a:r>
              <a:rPr lang="en-US" sz="800" b="1" spc="200" kern="0" dirty="0">
                <a:solidFill>
                  <a:srgbClr val="9FB8AF"/>
                </a:solidFill>
                <a:latin typeface="Arial" pitchFamily="34" charset="0"/>
                <a:ea typeface="Arial" pitchFamily="34" charset="-122"/>
                <a:cs typeface="Arial" pitchFamily="34" charset="-120"/>
              </a:rPr>
              <a:t>TIME</a:t>
            </a:r>
            <a:endParaRPr lang="en-US" sz="800" dirty="0"/>
          </a:p>
        </p:txBody>
      </p:sp>
      <p:sp>
        <p:nvSpPr>
          <p:cNvPr id="11" name="Shape 9"/>
          <p:cNvSpPr/>
          <p:nvPr/>
        </p:nvSpPr>
        <p:spPr>
          <a:xfrm>
            <a:off x="2331720" y="1673352"/>
            <a:ext cx="9308592" cy="0"/>
          </a:xfrm>
          <a:prstGeom prst="line">
            <a:avLst/>
          </a:prstGeom>
          <a:noFill/>
          <a:ln w="12700">
            <a:solidFill>
              <a:srgbClr val="9FB8AF"/>
            </a:solidFill>
            <a:prstDash val="solid"/>
            <a:tailEnd type="triangle"/>
          </a:ln>
        </p:spPr>
      </p:sp>
      <p:sp>
        <p:nvSpPr>
          <p:cNvPr id="12" name="actor note: AI engineer"/>
          <p:cNvSpPr/>
          <p:nvPr/>
        </p:nvSpPr>
        <p:spPr>
          <a:xfrm>
            <a:off x="1828800" y="1920240"/>
            <a:ext cx="1554480" cy="411480"/>
          </a:xfrm>
          <a:prstGeom prst="rect">
            <a:avLst/>
          </a:prstGeom>
          <a:solidFill>
            <a:schemeClr val="accent5"/>
          </a:solidFill>
          <a:ln w="6350">
            <a:solidFill>
              <a:schemeClr val="accent5"/>
            </a:solidFill>
            <a:prstDash val="solid"/>
          </a:ln>
          <a:effectLst>
            <a:outerShdw sx="100000" sy="100000" kx="0" ky="0" algn="bl" rotWithShape="0" blurRad="50800" dist="25400" dir="5400000">
              <a:srgbClr val="000000">
                <a:alpha val="18000"/>
              </a:srgbClr>
            </a:outerShdw>
          </a:effectLst>
        </p:spPr>
      </p:sp>
      <p:sp>
        <p:nvSpPr>
          <p:cNvPr id="13" name="Text 11"/>
          <p:cNvSpPr txBox="1"/>
          <p:nvPr/>
        </p:nvSpPr>
        <p:spPr>
          <a:xfrm>
            <a:off x="1901952" y="1975104"/>
            <a:ext cx="1408176" cy="301752"/>
          </a:xfrm>
          <a:prstGeom prst="rect">
            <a:avLst/>
          </a:prstGeom>
          <a:noFill/>
          <a:ln/>
        </p:spPr>
        <p:txBody>
          <a:bodyPr wrap="square" lIns="0" tIns="0" rIns="0" bIns="0" rtlCol="0" anchor="t">
            <a:normAutofit/>
          </a:bodyPr>
          <a:lstStyle/>
          <a:p>
            <a:pPr indent="0" marL="0">
              <a:buNone/>
            </a:pPr>
            <a:r>
              <a:rPr lang="en-US" sz="1100" dirty="0">
                <a:solidFill>
                  <a:schemeClr val="tx1"/>
                </a:solidFill>
                <a:latin typeface="Calibri" pitchFamily="34" charset="0"/>
                <a:ea typeface="Calibri" pitchFamily="34" charset="-122"/>
                <a:cs typeface="Calibri" pitchFamily="34" charset="-120"/>
              </a:rPr>
              <a:t>AI engineer</a:t>
            </a:r>
            <a:endParaRPr lang="en-US" sz="1100" dirty="0"/>
          </a:p>
        </p:txBody>
      </p:sp>
      <p:sp>
        <p:nvSpPr>
          <p:cNvPr id="14" name="event note: Automation built"/>
          <p:cNvSpPr/>
          <p:nvPr/>
        </p:nvSpPr>
        <p:spPr>
          <a:xfrm>
            <a:off x="1828800" y="2761488"/>
            <a:ext cx="2057400" cy="1188720"/>
          </a:xfrm>
          <a:prstGeom prst="rect">
            <a:avLst/>
          </a:prstGeom>
          <a:solidFill>
            <a:schemeClr val="accent3"/>
          </a:solidFill>
          <a:ln w="6350">
            <a:solidFill>
              <a:schemeClr val="accent3"/>
            </a:solidFill>
            <a:prstDash val="solid"/>
          </a:ln>
          <a:effectLst>
            <a:outerShdw sx="100000" sy="100000" kx="0" ky="0" algn="bl" rotWithShape="0" blurRad="50800" dist="25400" dir="5400000">
              <a:srgbClr val="000000">
                <a:alpha val="18000"/>
              </a:srgbClr>
            </a:outerShdw>
          </a:effectLst>
        </p:spPr>
      </p:sp>
      <p:sp>
        <p:nvSpPr>
          <p:cNvPr id="15" name="Text 13"/>
          <p:cNvSpPr txBox="1"/>
          <p:nvPr/>
        </p:nvSpPr>
        <p:spPr>
          <a:xfrm>
            <a:off x="1901952" y="2816352"/>
            <a:ext cx="1911096" cy="1078992"/>
          </a:xfrm>
          <a:prstGeom prst="rect">
            <a:avLst/>
          </a:prstGeom>
          <a:noFill/>
          <a:ln/>
        </p:spPr>
        <p:txBody>
          <a:bodyPr wrap="square" lIns="0" tIns="0" rIns="0" bIns="0" rtlCol="0" anchor="t">
            <a:normAutofit/>
          </a:bodyPr>
          <a:lstStyle/>
          <a:p>
            <a:pPr indent="0" marL="0">
              <a:buNone/>
            </a:pPr>
            <a:r>
              <a:rPr lang="en-US" sz="1200" b="1" dirty="0">
                <a:solidFill>
                  <a:schemeClr val="tx1"/>
                </a:solidFill>
                <a:latin typeface="Calibri" pitchFamily="34" charset="0"/>
                <a:ea typeface="Calibri" pitchFamily="34" charset="-122"/>
                <a:cs typeface="Calibri" pitchFamily="34" charset="-120"/>
              </a:rPr>
              <a:t>Automation built</a:t>
            </a:r>
            <a:endParaRPr lang="en-US" sz="1200" dirty="0"/>
          </a:p>
        </p:txBody>
      </p:sp>
      <p:sp>
        <p:nvSpPr>
          <p:cNvPr id="16" name="ext note: Workflow engine / agent platform"/>
          <p:cNvSpPr/>
          <p:nvPr/>
        </p:nvSpPr>
        <p:spPr>
          <a:xfrm>
            <a:off x="1828800" y="4416552"/>
            <a:ext cx="2057400" cy="457200"/>
          </a:xfrm>
          <a:prstGeom prst="rect">
            <a:avLst/>
          </a:prstGeom>
          <a:solidFill>
            <a:schemeClr val="accent4"/>
          </a:solidFill>
          <a:ln w="6350">
            <a:solidFill>
              <a:schemeClr val="accent4"/>
            </a:solidFill>
            <a:prstDash val="solid"/>
          </a:ln>
          <a:effectLst>
            <a:outerShdw sx="100000" sy="100000" kx="0" ky="0" algn="bl" rotWithShape="0" blurRad="50800" dist="25400" dir="5400000">
              <a:srgbClr val="000000">
                <a:alpha val="18000"/>
              </a:srgbClr>
            </a:outerShdw>
          </a:effectLst>
        </p:spPr>
      </p:sp>
      <p:sp>
        <p:nvSpPr>
          <p:cNvPr id="17" name="Text 15"/>
          <p:cNvSpPr txBox="1"/>
          <p:nvPr/>
        </p:nvSpPr>
        <p:spPr>
          <a:xfrm>
            <a:off x="1901952" y="4471416"/>
            <a:ext cx="1911096" cy="347472"/>
          </a:xfrm>
          <a:prstGeom prst="rect">
            <a:avLst/>
          </a:prstGeom>
          <a:noFill/>
          <a:ln/>
        </p:spPr>
        <p:txBody>
          <a:bodyPr wrap="square" lIns="0" tIns="0" rIns="0" bIns="0" rtlCol="0" anchor="t">
            <a:normAutofit/>
          </a:bodyPr>
          <a:lstStyle/>
          <a:p>
            <a:pPr indent="0" marL="0">
              <a:buNone/>
            </a:pPr>
            <a:r>
              <a:rPr lang="en-US" sz="1050" dirty="0">
                <a:solidFill>
                  <a:schemeClr val="tx1"/>
                </a:solidFill>
                <a:latin typeface="Calibri" pitchFamily="34" charset="0"/>
                <a:ea typeface="Calibri" pitchFamily="34" charset="-122"/>
                <a:cs typeface="Calibri" pitchFamily="34" charset="-120"/>
              </a:rPr>
              <a:t>Workflow engine / agent platform</a:t>
            </a:r>
            <a:endParaRPr lang="en-US" sz="1050" dirty="0"/>
          </a:p>
        </p:txBody>
      </p:sp>
      <p:sp>
        <p:nvSpPr>
          <p:cNvPr id="18" name="Shape 16"/>
          <p:cNvSpPr/>
          <p:nvPr/>
        </p:nvSpPr>
        <p:spPr>
          <a:xfrm>
            <a:off x="3941064" y="3383280"/>
            <a:ext cx="274320" cy="0"/>
          </a:xfrm>
          <a:prstGeom prst="line">
            <a:avLst/>
          </a:prstGeom>
          <a:noFill/>
          <a:ln w="19050">
            <a:solidFill>
              <a:srgbClr val="9FB8AF"/>
            </a:solidFill>
            <a:prstDash val="solid"/>
            <a:tailEnd type="triangle"/>
          </a:ln>
        </p:spPr>
      </p:sp>
      <p:sp>
        <p:nvSpPr>
          <p:cNvPr id="19" name="actor note: Process owner"/>
          <p:cNvSpPr/>
          <p:nvPr/>
        </p:nvSpPr>
        <p:spPr>
          <a:xfrm>
            <a:off x="4270248" y="1920240"/>
            <a:ext cx="1554480" cy="411480"/>
          </a:xfrm>
          <a:prstGeom prst="rect">
            <a:avLst/>
          </a:prstGeom>
          <a:solidFill>
            <a:schemeClr val="accent5"/>
          </a:solidFill>
          <a:ln w="6350">
            <a:solidFill>
              <a:schemeClr val="accent5"/>
            </a:solidFill>
            <a:prstDash val="solid"/>
          </a:ln>
          <a:effectLst>
            <a:outerShdw sx="100000" sy="100000" kx="0" ky="0" algn="bl" rotWithShape="0" blurRad="50800" dist="25400" dir="5400000">
              <a:srgbClr val="000000">
                <a:alpha val="18000"/>
              </a:srgbClr>
            </a:outerShdw>
          </a:effectLst>
        </p:spPr>
      </p:sp>
      <p:sp>
        <p:nvSpPr>
          <p:cNvPr id="20" name="Text 18"/>
          <p:cNvSpPr txBox="1"/>
          <p:nvPr/>
        </p:nvSpPr>
        <p:spPr>
          <a:xfrm>
            <a:off x="4343400" y="1975104"/>
            <a:ext cx="1408176" cy="301752"/>
          </a:xfrm>
          <a:prstGeom prst="rect">
            <a:avLst/>
          </a:prstGeom>
          <a:noFill/>
          <a:ln/>
        </p:spPr>
        <p:txBody>
          <a:bodyPr wrap="square" lIns="0" tIns="0" rIns="0" bIns="0" rtlCol="0" anchor="t">
            <a:normAutofit/>
          </a:bodyPr>
          <a:lstStyle/>
          <a:p>
            <a:pPr indent="0" marL="0">
              <a:buNone/>
            </a:pPr>
            <a:r>
              <a:rPr lang="en-US" sz="1100" dirty="0">
                <a:solidFill>
                  <a:schemeClr val="tx1"/>
                </a:solidFill>
                <a:latin typeface="Calibri" pitchFamily="34" charset="0"/>
                <a:ea typeface="Calibri" pitchFamily="34" charset="-122"/>
                <a:cs typeface="Calibri" pitchFamily="34" charset="-120"/>
              </a:rPr>
              <a:t>Process owner</a:t>
            </a:r>
            <a:endParaRPr lang="en-US" sz="1100" dirty="0"/>
          </a:p>
        </p:txBody>
      </p:sp>
      <p:sp>
        <p:nvSpPr>
          <p:cNvPr id="21" name="event note: Automation deployed"/>
          <p:cNvSpPr/>
          <p:nvPr/>
        </p:nvSpPr>
        <p:spPr>
          <a:xfrm>
            <a:off x="4270248" y="2761488"/>
            <a:ext cx="2057400" cy="1188720"/>
          </a:xfrm>
          <a:prstGeom prst="rect">
            <a:avLst/>
          </a:prstGeom>
          <a:solidFill>
            <a:schemeClr val="accent3"/>
          </a:solidFill>
          <a:ln w="28575">
            <a:solidFill>
              <a:schemeClr val="tx1"/>
            </a:solidFill>
            <a:prstDash val="solid"/>
          </a:ln>
          <a:effectLst>
            <a:outerShdw sx="100000" sy="100000" kx="0" ky="0" algn="bl" rotWithShape="0" blurRad="50800" dist="25400" dir="5400000">
              <a:srgbClr val="000000">
                <a:alpha val="18000"/>
              </a:srgbClr>
            </a:outerShdw>
          </a:effectLst>
        </p:spPr>
      </p:sp>
      <p:sp>
        <p:nvSpPr>
          <p:cNvPr id="22" name="Text 20"/>
          <p:cNvSpPr txBox="1"/>
          <p:nvPr/>
        </p:nvSpPr>
        <p:spPr>
          <a:xfrm>
            <a:off x="4343400" y="2816352"/>
            <a:ext cx="1911096" cy="1078992"/>
          </a:xfrm>
          <a:prstGeom prst="rect">
            <a:avLst/>
          </a:prstGeom>
          <a:noFill/>
          <a:ln/>
        </p:spPr>
        <p:txBody>
          <a:bodyPr wrap="square" lIns="0" tIns="0" rIns="0" bIns="0" rtlCol="0" anchor="t">
            <a:normAutofit/>
          </a:bodyPr>
          <a:lstStyle/>
          <a:p>
            <a:pPr indent="0" marL="0">
              <a:buNone/>
            </a:pPr>
            <a:r>
              <a:rPr lang="en-US" sz="1200" dirty="0">
                <a:solidFill>
                  <a:schemeClr val="tx1"/>
                </a:solidFill>
                <a:latin typeface="Calibri" pitchFamily="34" charset="0"/>
                <a:ea typeface="Calibri" pitchFamily="34" charset="-122"/>
                <a:cs typeface="Calibri" pitchFamily="34" charset="-120"/>
              </a:rPr>
              <a:t>★ </a:t>
            </a:r>
            <a:pPr indent="0" marL="0">
              <a:buNone/>
            </a:pPr>
            <a:r>
              <a:rPr lang="en-US" sz="1200" b="1" dirty="0">
                <a:solidFill>
                  <a:schemeClr val="tx1"/>
                </a:solidFill>
                <a:latin typeface="Calibri" pitchFamily="34" charset="0"/>
                <a:ea typeface="Calibri" pitchFamily="34" charset="-122"/>
                <a:cs typeface="Calibri" pitchFamily="34" charset="-120"/>
              </a:rPr>
              <a:t>Automation deployed</a:t>
            </a:r>
            <a:endParaRPr lang="en-US" sz="1200" dirty="0"/>
          </a:p>
        </p:txBody>
      </p:sp>
      <p:sp>
        <p:nvSpPr>
          <p:cNvPr id="23" name="Shape 21"/>
          <p:cNvSpPr/>
          <p:nvPr/>
        </p:nvSpPr>
        <p:spPr>
          <a:xfrm>
            <a:off x="6382512" y="3383280"/>
            <a:ext cx="274320" cy="0"/>
          </a:xfrm>
          <a:prstGeom prst="line">
            <a:avLst/>
          </a:prstGeom>
          <a:noFill/>
          <a:ln w="19050">
            <a:solidFill>
              <a:srgbClr val="9FB8AF"/>
            </a:solidFill>
            <a:prstDash val="solid"/>
            <a:tailEnd type="triangle"/>
          </a:ln>
        </p:spPr>
      </p:sp>
      <p:sp>
        <p:nvSpPr>
          <p:cNvPr id="24" name="event note: Agent registered for monitoring"/>
          <p:cNvSpPr/>
          <p:nvPr/>
        </p:nvSpPr>
        <p:spPr>
          <a:xfrm>
            <a:off x="6711696" y="2761488"/>
            <a:ext cx="2057400" cy="1188720"/>
          </a:xfrm>
          <a:prstGeom prst="rect">
            <a:avLst/>
          </a:prstGeom>
          <a:solidFill>
            <a:schemeClr val="accent3"/>
          </a:solidFill>
          <a:ln w="6350">
            <a:solidFill>
              <a:schemeClr val="accent3"/>
            </a:solidFill>
            <a:prstDash val="solid"/>
          </a:ln>
          <a:effectLst>
            <a:outerShdw sx="100000" sy="100000" kx="0" ky="0" algn="bl" rotWithShape="0" blurRad="50800" dist="25400" dir="5400000">
              <a:srgbClr val="000000">
                <a:alpha val="18000"/>
              </a:srgbClr>
            </a:outerShdw>
          </a:effectLst>
        </p:spPr>
      </p:sp>
      <p:sp>
        <p:nvSpPr>
          <p:cNvPr id="25" name="Text 23"/>
          <p:cNvSpPr txBox="1"/>
          <p:nvPr/>
        </p:nvSpPr>
        <p:spPr>
          <a:xfrm>
            <a:off x="6784848" y="2816352"/>
            <a:ext cx="1911096" cy="1078992"/>
          </a:xfrm>
          <a:prstGeom prst="rect">
            <a:avLst/>
          </a:prstGeom>
          <a:noFill/>
          <a:ln/>
        </p:spPr>
        <p:txBody>
          <a:bodyPr wrap="square" lIns="0" tIns="0" rIns="0" bIns="0" rtlCol="0" anchor="t">
            <a:normAutofit/>
          </a:bodyPr>
          <a:lstStyle/>
          <a:p>
            <a:pPr indent="0" marL="0">
              <a:buNone/>
            </a:pPr>
            <a:r>
              <a:rPr lang="en-US" sz="1200" b="1" dirty="0">
                <a:solidFill>
                  <a:schemeClr val="tx1"/>
                </a:solidFill>
                <a:latin typeface="Calibri" pitchFamily="34" charset="0"/>
                <a:ea typeface="Calibri" pitchFamily="34" charset="-122"/>
                <a:cs typeface="Calibri" pitchFamily="34" charset="-120"/>
              </a:rPr>
              <a:t>Agent registered for monitoring</a:t>
            </a:r>
            <a:endParaRPr lang="en-US" sz="1200" dirty="0"/>
          </a:p>
        </p:txBody>
      </p:sp>
      <p:sp>
        <p:nvSpPr>
          <p:cNvPr id="26" name="Shape 24"/>
          <p:cNvSpPr/>
          <p:nvPr/>
        </p:nvSpPr>
        <p:spPr>
          <a:xfrm>
            <a:off x="8823960" y="3383280"/>
            <a:ext cx="274320" cy="0"/>
          </a:xfrm>
          <a:prstGeom prst="line">
            <a:avLst/>
          </a:prstGeom>
          <a:noFill/>
          <a:ln w="19050">
            <a:solidFill>
              <a:srgbClr val="9FB8AF"/>
            </a:solidFill>
            <a:prstDash val="solid"/>
            <a:tailEnd type="triangle"/>
          </a:ln>
        </p:spPr>
      </p:sp>
      <p:sp>
        <p:nvSpPr>
          <p:cNvPr id="27" name="hot note: Agents built before the programme: how do they get into the inventory?"/>
          <p:cNvSpPr/>
          <p:nvPr/>
        </p:nvSpPr>
        <p:spPr>
          <a:xfrm rot="-120000">
            <a:off x="9189720" y="2761488"/>
            <a:ext cx="1984248" cy="1188720"/>
          </a:xfrm>
          <a:prstGeom prst="rect">
            <a:avLst/>
          </a:prstGeom>
          <a:solidFill>
            <a:schemeClr val="accent6"/>
          </a:solidFill>
          <a:ln w="6350">
            <a:solidFill>
              <a:schemeClr val="accent6"/>
            </a:solidFill>
            <a:prstDash val="solid"/>
          </a:ln>
          <a:effectLst>
            <a:outerShdw sx="100000" sy="100000" kx="0" ky="0" algn="bl" rotWithShape="0" blurRad="50800" dist="25400" dir="5400000">
              <a:srgbClr val="000000">
                <a:alpha val="18000"/>
              </a:srgbClr>
            </a:outerShdw>
          </a:effectLst>
        </p:spPr>
      </p:sp>
      <p:sp>
        <p:nvSpPr>
          <p:cNvPr id="28" name="Text 26"/>
          <p:cNvSpPr txBox="1"/>
          <p:nvPr/>
        </p:nvSpPr>
        <p:spPr>
          <a:xfrm rot="-120000">
            <a:off x="9262872" y="2816352"/>
            <a:ext cx="1837944" cy="1078992"/>
          </a:xfrm>
          <a:prstGeom prst="rect">
            <a:avLst/>
          </a:prstGeom>
          <a:noFill/>
          <a:ln/>
        </p:spPr>
        <p:txBody>
          <a:bodyPr wrap="square" lIns="0" tIns="0" rIns="0" bIns="0" rtlCol="0" anchor="t">
            <a:normAutofit/>
          </a:bodyPr>
          <a:lstStyle/>
          <a:p>
            <a:pPr indent="0" marL="0">
              <a:buNone/>
            </a:pPr>
            <a:r>
              <a:rPr lang="en-US" sz="950" b="1" dirty="0">
                <a:solidFill>
                  <a:schemeClr val="bg1"/>
                </a:solidFill>
                <a:latin typeface="Calibri" pitchFamily="34" charset="0"/>
                <a:ea typeface="Calibri" pitchFamily="34" charset="-122"/>
                <a:cs typeface="Calibri" pitchFamily="34" charset="-120"/>
              </a:rPr>
              <a:t>H3  </a:t>
            </a:r>
            <a:pPr indent="0" marL="0">
              <a:buNone/>
            </a:pPr>
            <a:r>
              <a:rPr lang="en-US" sz="1050" b="1" dirty="0">
                <a:solidFill>
                  <a:schemeClr val="bg1"/>
                </a:solidFill>
                <a:latin typeface="Calibri" pitchFamily="34" charset="0"/>
                <a:ea typeface="Calibri" pitchFamily="34" charset="-122"/>
                <a:cs typeface="Calibri" pitchFamily="34" charset="-120"/>
              </a:rPr>
              <a:t>Agents built before the programme: how do they get into the inventory?</a:t>
            </a:r>
            <a:endParaRPr lang="en-US" sz="950" dirty="0"/>
          </a:p>
        </p:txBody>
      </p:sp>
      <p:sp>
        <p:nvSpPr>
          <p:cNvPr id="29" name="ubiquitous language"/>
          <p:cNvSpPr/>
          <p:nvPr/>
        </p:nvSpPr>
        <p:spPr>
          <a:xfrm>
            <a:off x="548640" y="5120640"/>
            <a:ext cx="7178040" cy="1143000"/>
          </a:xfrm>
          <a:prstGeom prst="rect">
            <a:avLst/>
          </a:prstGeom>
          <a:solidFill>
            <a:schemeClr val="bg2"/>
          </a:solidFill>
          <a:ln w="12700">
            <a:solidFill>
              <a:schemeClr val="bg2"/>
            </a:solidFill>
            <a:prstDash val="solid"/>
          </a:ln>
        </p:spPr>
      </p:sp>
      <p:sp>
        <p:nvSpPr>
          <p:cNvPr id="30" name="Text 28"/>
          <p:cNvSpPr txBox="1"/>
          <p:nvPr/>
        </p:nvSpPr>
        <p:spPr>
          <a:xfrm>
            <a:off x="731520" y="5212080"/>
            <a:ext cx="4572000" cy="228600"/>
          </a:xfrm>
          <a:prstGeom prst="rect">
            <a:avLst/>
          </a:prstGeom>
          <a:noFill/>
          <a:ln/>
        </p:spPr>
        <p:txBody>
          <a:bodyPr wrap="square" lIns="0" tIns="0" rIns="0" bIns="0" rtlCol="0" anchor="ctr"/>
          <a:lstStyle/>
          <a:p>
            <a:pPr indent="0" marL="0">
              <a:buNone/>
            </a:pPr>
            <a:r>
              <a:rPr lang="en-US" sz="900" b="1" spc="200" kern="0" dirty="0">
                <a:solidFill>
                  <a:schemeClr val="accent1"/>
                </a:solidFill>
                <a:latin typeface="Arial" pitchFamily="34" charset="0"/>
                <a:ea typeface="Arial" pitchFamily="34" charset="-122"/>
                <a:cs typeface="Arial" pitchFamily="34" charset="-120"/>
              </a:rPr>
              <a:t>UBIQUITOUS LANGUAGE</a:t>
            </a:r>
            <a:endParaRPr lang="en-US" sz="900" dirty="0"/>
          </a:p>
        </p:txBody>
      </p:sp>
      <p:sp>
        <p:nvSpPr>
          <p:cNvPr id="31" name="Text 29"/>
          <p:cNvSpPr txBox="1"/>
          <p:nvPr/>
        </p:nvSpPr>
        <p:spPr>
          <a:xfrm>
            <a:off x="731520" y="5468112"/>
            <a:ext cx="6812280" cy="731520"/>
          </a:xfrm>
          <a:prstGeom prst="rect">
            <a:avLst/>
          </a:prstGeom>
          <a:noFill/>
          <a:ln/>
        </p:spPr>
        <p:txBody>
          <a:bodyPr wrap="square" lIns="0" tIns="0" rIns="0" bIns="0" rtlCol="0" anchor="t">
            <a:normAutofit/>
          </a:bodyPr>
          <a:lstStyle/>
          <a:p>
            <a:pPr indent="0" marL="0">
              <a:buNone/>
            </a:pPr>
            <a:r>
              <a:rPr lang="en-US" sz="1150" b="1" dirty="0">
                <a:solidFill>
                  <a:schemeClr val="tx1"/>
                </a:solidFill>
                <a:latin typeface="Calibri" pitchFamily="34" charset="0"/>
                <a:ea typeface="Calibri" pitchFamily="34" charset="-122"/>
                <a:cs typeface="Calibri" pitchFamily="34" charset="-120"/>
              </a:rPr>
              <a:t>Agent inventory  </a:t>
            </a:r>
            <a:pPr indent="0" marL="0">
              <a:spcAft>
                <a:spcPts val="300"/>
              </a:spcAft>
              <a:buNone/>
            </a:pPr>
            <a:r>
              <a:rPr lang="en-US" sz="1150" dirty="0">
                <a:solidFill>
                  <a:schemeClr val="tx1"/>
                </a:solidFill>
                <a:latin typeface="Calibri" pitchFamily="34" charset="0"/>
                <a:ea typeface="Calibri" pitchFamily="34" charset="-122"/>
                <a:cs typeface="Calibri" pitchFamily="34" charset="-120"/>
              </a:rPr>
              <a:t>Register of all automations and agents, including those built before the programme. The basis for monitoring.</a:t>
            </a:r>
            <a:endParaRPr lang="en-US" sz="1150" dirty="0"/>
          </a:p>
          <a:p>
            <a:pPr indent="0" marL="0">
              <a:buNone/>
            </a:pPr>
            <a:r>
              <a:rPr lang="en-US" sz="1150" b="1" dirty="0">
                <a:solidFill>
                  <a:schemeClr val="tx1"/>
                </a:solidFill>
                <a:latin typeface="Calibri" pitchFamily="34" charset="0"/>
                <a:ea typeface="Calibri" pitchFamily="34" charset="-122"/>
                <a:cs typeface="Calibri" pitchFamily="34" charset="-120"/>
              </a:rPr>
              <a:t>Process owner  </a:t>
            </a:r>
            <a:pPr indent="0" marL="0">
              <a:spcAft>
                <a:spcPts val="300"/>
              </a:spcAft>
              <a:buNone/>
            </a:pPr>
            <a:r>
              <a:rPr lang="en-US" sz="1150" dirty="0">
                <a:solidFill>
                  <a:schemeClr val="tx1"/>
                </a:solidFill>
                <a:latin typeface="Calibri" pitchFamily="34" charset="0"/>
                <a:ea typeface="Calibri" pitchFamily="34" charset="-122"/>
                <a:cs typeface="Calibri" pitchFamily="34" charset="-120"/>
              </a:rPr>
              <a:t>Person in a business unit who requests and is accountable for an automation.</a:t>
            </a:r>
            <a:endParaRPr lang="en-US" sz="1150" dirty="0"/>
          </a:p>
        </p:txBody>
      </p:sp>
      <p:sp>
        <p:nvSpPr>
          <p:cNvPr id="32" name="handover"/>
          <p:cNvSpPr/>
          <p:nvPr/>
        </p:nvSpPr>
        <p:spPr>
          <a:xfrm>
            <a:off x="7955280" y="5120640"/>
            <a:ext cx="3685032" cy="1143000"/>
          </a:xfrm>
          <a:prstGeom prst="rect">
            <a:avLst/>
          </a:prstGeom>
          <a:solidFill>
            <a:schemeClr val="bg1"/>
          </a:solidFill>
          <a:ln w="12700">
            <a:solidFill>
              <a:srgbClr val="C9D6D0"/>
            </a:solidFill>
            <a:prstDash val="solid"/>
          </a:ln>
        </p:spPr>
      </p:sp>
      <p:sp>
        <p:nvSpPr>
          <p:cNvPr id="33" name="Text 31"/>
          <p:cNvSpPr txBox="1"/>
          <p:nvPr/>
        </p:nvSpPr>
        <p:spPr>
          <a:xfrm>
            <a:off x="8138160" y="5212080"/>
            <a:ext cx="3383280" cy="978408"/>
          </a:xfrm>
          <a:prstGeom prst="rect">
            <a:avLst/>
          </a:prstGeom>
          <a:noFill/>
          <a:ln/>
        </p:spPr>
        <p:txBody>
          <a:bodyPr wrap="square" lIns="0" tIns="0" rIns="0" bIns="0" rtlCol="0" anchor="t">
            <a:normAutofit/>
          </a:bodyPr>
          <a:lstStyle/>
          <a:p>
            <a:pPr indent="0" marL="0">
              <a:buNone/>
            </a:pPr>
            <a:r>
              <a:rPr lang="en-US" sz="900" b="1" spc="200" kern="0" dirty="0">
                <a:solidFill>
                  <a:schemeClr val="accent1"/>
                </a:solidFill>
                <a:latin typeface="Calibri" pitchFamily="34" charset="0"/>
                <a:ea typeface="Calibri" pitchFamily="34" charset="-122"/>
                <a:cs typeface="Calibri" pitchFamily="34" charset="-120"/>
              </a:rPr>
              <a:t>RECEIVES</a:t>
            </a:r>
            <a:endParaRPr lang="en-US" sz="900" dirty="0"/>
          </a:p>
          <a:p>
            <a:pPr indent="0" marL="0">
              <a:spcAft>
                <a:spcPts val="400"/>
              </a:spcAft>
              <a:buNone/>
            </a:pPr>
            <a:r>
              <a:rPr lang="en-US" sz="1050" dirty="0">
                <a:solidFill>
                  <a:schemeClr val="tx1"/>
                </a:solidFill>
                <a:latin typeface="Calibri" pitchFamily="34" charset="0"/>
                <a:ea typeface="Calibri" pitchFamily="34" charset="-122"/>
                <a:cs typeface="Calibri" pitchFamily="34" charset="-120"/>
              </a:rPr>
              <a:t>★ Automation approach decided (Triage)  ·  Conversion approved (Agent Conversion)</a:t>
            </a:r>
            <a:endParaRPr lang="en-US" sz="900" dirty="0"/>
          </a:p>
          <a:p>
            <a:pPr indent="0" marL="0">
              <a:buNone/>
            </a:pPr>
            <a:r>
              <a:rPr lang="en-US" sz="900" b="1" spc="200" kern="0" dirty="0">
                <a:solidFill>
                  <a:schemeClr val="accent1"/>
                </a:solidFill>
                <a:latin typeface="Calibri" pitchFamily="34" charset="0"/>
                <a:ea typeface="Calibri" pitchFamily="34" charset="-122"/>
                <a:cs typeface="Calibri" pitchFamily="34" charset="-120"/>
              </a:rPr>
              <a:t>HANDS OVER</a:t>
            </a:r>
            <a:endParaRPr lang="en-US" sz="900" dirty="0"/>
          </a:p>
          <a:p>
            <a:pPr indent="0" marL="0">
              <a:buNone/>
            </a:pPr>
            <a:r>
              <a:rPr lang="en-US" sz="1050" dirty="0">
                <a:solidFill>
                  <a:schemeClr val="tx1"/>
                </a:solidFill>
                <a:latin typeface="Calibri" pitchFamily="34" charset="0"/>
                <a:ea typeface="Calibri" pitchFamily="34" charset="-122"/>
                <a:cs typeface="Calibri" pitchFamily="34" charset="-120"/>
              </a:rPr>
              <a:t>★ Automation deployed → Automation Run  ·  Agent registered → Agent Monitoring</a:t>
            </a:r>
            <a:endParaRPr lang="en-US" sz="900" dirty="0"/>
          </a:p>
        </p:txBody>
      </p:sp>
      <p:sp>
        <p:nvSpPr>
          <p:cNvPr id="25" name="Slide Number Placeholder 0"/>
          <p:cNvSpPr>
            <a:spLocks noGrp="1"/>
          </p:cNvSpPr>
          <p:nvPr>
            <p:ph type="sldNum" sz="quarter" idx="4294967295"/>
          </p:nvPr>
        </p:nvSpPr>
        <p:spPr>
          <a:xfrm>
            <a:off x="11274552" y="644652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E6E6A"/>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274320"/>
          </a:xfrm>
          <a:prstGeom prst="rect">
            <a:avLst/>
          </a:prstGeom>
          <a:noFill/>
          <a:ln/>
        </p:spPr>
        <p:txBody>
          <a:bodyPr wrap="square" lIns="0" tIns="0" rIns="0" bIns="0" rtlCol="0"/>
          <a:lstStyle/>
          <a:p>
            <a:pPr indent="0" marL="0">
              <a:buNone/>
            </a:pPr>
            <a:r>
              <a:rPr lang="en-US" sz="1100" b="1" spc="200" kern="0" dirty="0">
                <a:solidFill>
                  <a:schemeClr val="accent1"/>
                </a:solidFill>
                <a:latin typeface="Arial" pitchFamily="34" charset="0"/>
                <a:ea typeface="Arial" pitchFamily="34" charset="-122"/>
                <a:cs typeface="Arial" pitchFamily="34" charset="-120"/>
              </a:rPr>
              <a:t>PROCESS 4 OF 6  ·  AUTOMATION RUN  ·  OPERATE</a:t>
            </a:r>
            <a:endParaRPr lang="en-US" sz="1100" dirty="0"/>
          </a:p>
        </p:txBody>
      </p:sp>
      <p:sp>
        <p:nvSpPr>
          <p:cNvPr id="3" name="Text 0"/>
          <p:cNvSpPr/>
          <p:nvPr>
            <p:ph idx="101" type="title" hasCustomPrompt="1"/>
          </p:nvPr>
        </p:nvSpPr>
        <p:spPr>
          <a:xfrm>
            <a:off x="548640" y="640080"/>
            <a:ext cx="11064240" cy="868680"/>
          </a:xfrm>
          <a:prstGeom prst="rect">
            <a:avLst/>
          </a:prstGeom>
          <a:noFill/>
          <a:ln/>
        </p:spPr>
        <p:txBody>
          <a:bodyPr wrap="square" lIns="0" tIns="0" rIns="0" bIns="0" rtlCol="0" anchor="t"/>
          <a:lstStyle/>
          <a:p>
            <a:pPr algn="l" indent="0" marL="0">
              <a:buNone/>
            </a:pPr>
            <a:r>
              <a:rPr lang="en-US" sz="2600" b="1" dirty="0">
                <a:solidFill>
                  <a:schemeClr val="tx1"/>
                </a:solidFill>
                <a:latin typeface="Arial" pitchFamily="34" charset="0"/>
                <a:ea typeface="Arial" pitchFamily="34" charset="-122"/>
                <a:cs typeface="Arial" pitchFamily="34" charset="-120"/>
              </a:rPr>
              <a:t>Automation Run: standard cases close automatically, unknown cases go to a human</a:t>
            </a:r>
            <a:endParaRPr lang="en-US" sz="2600" dirty="0"/>
          </a:p>
        </p:txBody>
      </p:sp>
      <p:sp>
        <p:nvSpPr>
          <p:cNvPr id="4" name="lane ACTOR"/>
          <p:cNvSpPr/>
          <p:nvPr/>
        </p:nvSpPr>
        <p:spPr>
          <a:xfrm>
            <a:off x="548640" y="1874520"/>
            <a:ext cx="11091672" cy="502920"/>
          </a:xfrm>
          <a:prstGeom prst="rect">
            <a:avLst/>
          </a:prstGeom>
          <a:solidFill>
            <a:srgbClr val="F4F7F5"/>
          </a:solidFill>
          <a:ln w="12700">
            <a:solidFill>
              <a:srgbClr val="F4F7F5"/>
            </a:solidFill>
            <a:prstDash val="solid"/>
          </a:ln>
        </p:spPr>
      </p:sp>
      <p:sp>
        <p:nvSpPr>
          <p:cNvPr id="5" name="Text 3"/>
          <p:cNvSpPr txBox="1"/>
          <p:nvPr/>
        </p:nvSpPr>
        <p:spPr>
          <a:xfrm>
            <a:off x="685800" y="1874520"/>
            <a:ext cx="1051560" cy="502920"/>
          </a:xfrm>
          <a:prstGeom prst="rect">
            <a:avLst/>
          </a:prstGeom>
          <a:noFill/>
          <a:ln/>
        </p:spPr>
        <p:txBody>
          <a:bodyPr wrap="square" lIns="0" tIns="0" rIns="0" bIns="0" rtlCol="0" anchor="ctr"/>
          <a:lstStyle/>
          <a:p>
            <a:pPr indent="0" marL="0">
              <a:buNone/>
            </a:pPr>
            <a:r>
              <a:rPr lang="en-US" sz="900" b="1" spc="200" kern="0" dirty="0">
                <a:solidFill>
                  <a:srgbClr val="5E6E6A"/>
                </a:solidFill>
                <a:latin typeface="Arial" pitchFamily="34" charset="0"/>
                <a:ea typeface="Arial" pitchFamily="34" charset="-122"/>
                <a:cs typeface="Arial" pitchFamily="34" charset="-120"/>
              </a:rPr>
              <a:t>ACTOR</a:t>
            </a:r>
            <a:endParaRPr lang="en-US" sz="900" dirty="0"/>
          </a:p>
        </p:txBody>
      </p:sp>
      <p:sp>
        <p:nvSpPr>
          <p:cNvPr id="6" name="lane EVENT"/>
          <p:cNvSpPr/>
          <p:nvPr/>
        </p:nvSpPr>
        <p:spPr>
          <a:xfrm>
            <a:off x="548640" y="2514600"/>
            <a:ext cx="11091672" cy="1691640"/>
          </a:xfrm>
          <a:prstGeom prst="rect">
            <a:avLst/>
          </a:prstGeom>
          <a:solidFill>
            <a:srgbClr val="F4F7F5"/>
          </a:solidFill>
          <a:ln w="12700">
            <a:solidFill>
              <a:srgbClr val="F4F7F5"/>
            </a:solidFill>
            <a:prstDash val="solid"/>
          </a:ln>
        </p:spPr>
      </p:sp>
      <p:sp>
        <p:nvSpPr>
          <p:cNvPr id="7" name="Text 5"/>
          <p:cNvSpPr txBox="1"/>
          <p:nvPr/>
        </p:nvSpPr>
        <p:spPr>
          <a:xfrm>
            <a:off x="685800" y="2514600"/>
            <a:ext cx="1051560" cy="1691640"/>
          </a:xfrm>
          <a:prstGeom prst="rect">
            <a:avLst/>
          </a:prstGeom>
          <a:noFill/>
          <a:ln/>
        </p:spPr>
        <p:txBody>
          <a:bodyPr wrap="square" lIns="0" tIns="0" rIns="0" bIns="0" rtlCol="0" anchor="ctr"/>
          <a:lstStyle/>
          <a:p>
            <a:pPr indent="0" marL="0">
              <a:buNone/>
            </a:pPr>
            <a:r>
              <a:rPr lang="en-US" sz="900" b="1" spc="200" kern="0" dirty="0">
                <a:solidFill>
                  <a:srgbClr val="5E6E6A"/>
                </a:solidFill>
                <a:latin typeface="Arial" pitchFamily="34" charset="0"/>
                <a:ea typeface="Arial" pitchFamily="34" charset="-122"/>
                <a:cs typeface="Arial" pitchFamily="34" charset="-120"/>
              </a:rPr>
              <a:t>EVENT</a:t>
            </a:r>
            <a:endParaRPr lang="en-US" sz="900" dirty="0"/>
          </a:p>
        </p:txBody>
      </p:sp>
      <p:sp>
        <p:nvSpPr>
          <p:cNvPr id="8" name="lane EXTERNAL"/>
          <p:cNvSpPr/>
          <p:nvPr/>
        </p:nvSpPr>
        <p:spPr>
          <a:xfrm>
            <a:off x="548640" y="4370832"/>
            <a:ext cx="11091672" cy="548640"/>
          </a:xfrm>
          <a:prstGeom prst="rect">
            <a:avLst/>
          </a:prstGeom>
          <a:solidFill>
            <a:srgbClr val="F4F7F5"/>
          </a:solidFill>
          <a:ln w="12700">
            <a:solidFill>
              <a:srgbClr val="F4F7F5"/>
            </a:solidFill>
            <a:prstDash val="solid"/>
          </a:ln>
        </p:spPr>
      </p:sp>
      <p:sp>
        <p:nvSpPr>
          <p:cNvPr id="9" name="Text 7"/>
          <p:cNvSpPr txBox="1"/>
          <p:nvPr/>
        </p:nvSpPr>
        <p:spPr>
          <a:xfrm>
            <a:off x="685800" y="4370832"/>
            <a:ext cx="1051560" cy="548640"/>
          </a:xfrm>
          <a:prstGeom prst="rect">
            <a:avLst/>
          </a:prstGeom>
          <a:noFill/>
          <a:ln/>
        </p:spPr>
        <p:txBody>
          <a:bodyPr wrap="square" lIns="0" tIns="0" rIns="0" bIns="0" rtlCol="0" anchor="ctr"/>
          <a:lstStyle/>
          <a:p>
            <a:pPr indent="0" marL="0">
              <a:buNone/>
            </a:pPr>
            <a:r>
              <a:rPr lang="en-US" sz="900" b="1" spc="200" kern="0" dirty="0">
                <a:solidFill>
                  <a:srgbClr val="5E6E6A"/>
                </a:solidFill>
                <a:latin typeface="Arial" pitchFamily="34" charset="0"/>
                <a:ea typeface="Arial" pitchFamily="34" charset="-122"/>
                <a:cs typeface="Arial" pitchFamily="34" charset="-120"/>
              </a:rPr>
              <a:t>EXTERNAL</a:t>
            </a:r>
            <a:endParaRPr lang="en-US" sz="900" dirty="0"/>
          </a:p>
        </p:txBody>
      </p:sp>
      <p:sp>
        <p:nvSpPr>
          <p:cNvPr id="10" name="Text 8"/>
          <p:cNvSpPr txBox="1"/>
          <p:nvPr/>
        </p:nvSpPr>
        <p:spPr>
          <a:xfrm>
            <a:off x="1828800" y="1572768"/>
            <a:ext cx="548640" cy="201168"/>
          </a:xfrm>
          <a:prstGeom prst="rect">
            <a:avLst/>
          </a:prstGeom>
          <a:noFill/>
          <a:ln/>
        </p:spPr>
        <p:txBody>
          <a:bodyPr wrap="square" lIns="0" tIns="0" rIns="0" bIns="0" rtlCol="0" anchor="ctr"/>
          <a:lstStyle/>
          <a:p>
            <a:pPr indent="0" marL="0">
              <a:buNone/>
            </a:pPr>
            <a:r>
              <a:rPr lang="en-US" sz="800" b="1" spc="200" kern="0" dirty="0">
                <a:solidFill>
                  <a:srgbClr val="9FB8AF"/>
                </a:solidFill>
                <a:latin typeface="Arial" pitchFamily="34" charset="0"/>
                <a:ea typeface="Arial" pitchFamily="34" charset="-122"/>
                <a:cs typeface="Arial" pitchFamily="34" charset="-120"/>
              </a:rPr>
              <a:t>TIME</a:t>
            </a:r>
            <a:endParaRPr lang="en-US" sz="800" dirty="0"/>
          </a:p>
        </p:txBody>
      </p:sp>
      <p:sp>
        <p:nvSpPr>
          <p:cNvPr id="11" name="Shape 9"/>
          <p:cNvSpPr/>
          <p:nvPr/>
        </p:nvSpPr>
        <p:spPr>
          <a:xfrm>
            <a:off x="2331720" y="1673352"/>
            <a:ext cx="9308592" cy="0"/>
          </a:xfrm>
          <a:prstGeom prst="line">
            <a:avLst/>
          </a:prstGeom>
          <a:noFill/>
          <a:ln w="12700">
            <a:solidFill>
              <a:srgbClr val="9FB8AF"/>
            </a:solidFill>
            <a:prstDash val="solid"/>
            <a:tailEnd type="triangle"/>
          </a:ln>
        </p:spPr>
      </p:sp>
      <p:sp>
        <p:nvSpPr>
          <p:cNvPr id="12" name="actor note: Requester"/>
          <p:cNvSpPr/>
          <p:nvPr/>
        </p:nvSpPr>
        <p:spPr>
          <a:xfrm>
            <a:off x="1828800" y="1920240"/>
            <a:ext cx="1554480" cy="411480"/>
          </a:xfrm>
          <a:prstGeom prst="rect">
            <a:avLst/>
          </a:prstGeom>
          <a:solidFill>
            <a:schemeClr val="accent5"/>
          </a:solidFill>
          <a:ln w="6350">
            <a:solidFill>
              <a:schemeClr val="accent5"/>
            </a:solidFill>
            <a:prstDash val="solid"/>
          </a:ln>
          <a:effectLst>
            <a:outerShdw sx="100000" sy="100000" kx="0" ky="0" algn="bl" rotWithShape="0" blurRad="50800" dist="25400" dir="5400000">
              <a:srgbClr val="000000">
                <a:alpha val="18000"/>
              </a:srgbClr>
            </a:outerShdw>
          </a:effectLst>
        </p:spPr>
      </p:sp>
      <p:sp>
        <p:nvSpPr>
          <p:cNvPr id="13" name="Text 11"/>
          <p:cNvSpPr txBox="1"/>
          <p:nvPr/>
        </p:nvSpPr>
        <p:spPr>
          <a:xfrm>
            <a:off x="1901952" y="1975104"/>
            <a:ext cx="1408176" cy="301752"/>
          </a:xfrm>
          <a:prstGeom prst="rect">
            <a:avLst/>
          </a:prstGeom>
          <a:noFill/>
          <a:ln/>
        </p:spPr>
        <p:txBody>
          <a:bodyPr wrap="square" lIns="0" tIns="0" rIns="0" bIns="0" rtlCol="0" anchor="t">
            <a:normAutofit/>
          </a:bodyPr>
          <a:lstStyle/>
          <a:p>
            <a:pPr indent="0" marL="0">
              <a:buNone/>
            </a:pPr>
            <a:r>
              <a:rPr lang="en-US" sz="1100" dirty="0">
                <a:solidFill>
                  <a:schemeClr val="tx1"/>
                </a:solidFill>
                <a:latin typeface="Calibri" pitchFamily="34" charset="0"/>
                <a:ea typeface="Calibri" pitchFamily="34" charset="-122"/>
                <a:cs typeface="Calibri" pitchFamily="34" charset="-120"/>
              </a:rPr>
              <a:t>Requester</a:t>
            </a:r>
            <a:endParaRPr lang="en-US" sz="1100" dirty="0"/>
          </a:p>
        </p:txBody>
      </p:sp>
      <p:sp>
        <p:nvSpPr>
          <p:cNvPr id="14" name="event note: Request received"/>
          <p:cNvSpPr/>
          <p:nvPr/>
        </p:nvSpPr>
        <p:spPr>
          <a:xfrm>
            <a:off x="1828800" y="2761488"/>
            <a:ext cx="2057400" cy="1188720"/>
          </a:xfrm>
          <a:prstGeom prst="rect">
            <a:avLst/>
          </a:prstGeom>
          <a:solidFill>
            <a:schemeClr val="accent3"/>
          </a:solidFill>
          <a:ln w="6350">
            <a:solidFill>
              <a:schemeClr val="accent3"/>
            </a:solidFill>
            <a:prstDash val="solid"/>
          </a:ln>
          <a:effectLst>
            <a:outerShdw sx="100000" sy="100000" kx="0" ky="0" algn="bl" rotWithShape="0" blurRad="50800" dist="25400" dir="5400000">
              <a:srgbClr val="000000">
                <a:alpha val="18000"/>
              </a:srgbClr>
            </a:outerShdw>
          </a:effectLst>
        </p:spPr>
      </p:sp>
      <p:sp>
        <p:nvSpPr>
          <p:cNvPr id="15" name="Text 13"/>
          <p:cNvSpPr txBox="1"/>
          <p:nvPr/>
        </p:nvSpPr>
        <p:spPr>
          <a:xfrm>
            <a:off x="1901952" y="2816352"/>
            <a:ext cx="1911096" cy="1078992"/>
          </a:xfrm>
          <a:prstGeom prst="rect">
            <a:avLst/>
          </a:prstGeom>
          <a:noFill/>
          <a:ln/>
        </p:spPr>
        <p:txBody>
          <a:bodyPr wrap="square" lIns="0" tIns="0" rIns="0" bIns="0" rtlCol="0" anchor="t">
            <a:normAutofit/>
          </a:bodyPr>
          <a:lstStyle/>
          <a:p>
            <a:pPr indent="0" marL="0">
              <a:buNone/>
            </a:pPr>
            <a:r>
              <a:rPr lang="en-US" sz="1200" b="1" dirty="0">
                <a:solidFill>
                  <a:schemeClr val="tx1"/>
                </a:solidFill>
                <a:latin typeface="Calibri" pitchFamily="34" charset="0"/>
                <a:ea typeface="Calibri" pitchFamily="34" charset="-122"/>
                <a:cs typeface="Calibri" pitchFamily="34" charset="-120"/>
              </a:rPr>
              <a:t>Request received</a:t>
            </a:r>
            <a:endParaRPr lang="en-US" sz="1200" dirty="0"/>
          </a:p>
        </p:txBody>
      </p:sp>
      <p:sp>
        <p:nvSpPr>
          <p:cNvPr id="16" name="Shape 14"/>
          <p:cNvSpPr/>
          <p:nvPr/>
        </p:nvSpPr>
        <p:spPr>
          <a:xfrm>
            <a:off x="3941064" y="3383280"/>
            <a:ext cx="274320" cy="0"/>
          </a:xfrm>
          <a:prstGeom prst="line">
            <a:avLst/>
          </a:prstGeom>
          <a:noFill/>
          <a:ln w="19050">
            <a:solidFill>
              <a:srgbClr val="9FB8AF"/>
            </a:solidFill>
            <a:prstDash val="solid"/>
            <a:tailEnd type="triangle"/>
          </a:ln>
        </p:spPr>
      </p:sp>
      <p:sp>
        <p:nvSpPr>
          <p:cNvPr id="17" name="event note: Request completed"/>
          <p:cNvSpPr/>
          <p:nvPr/>
        </p:nvSpPr>
        <p:spPr>
          <a:xfrm>
            <a:off x="4270248" y="2560320"/>
            <a:ext cx="2057400" cy="749808"/>
          </a:xfrm>
          <a:prstGeom prst="rect">
            <a:avLst/>
          </a:prstGeom>
          <a:solidFill>
            <a:schemeClr val="accent3"/>
          </a:solidFill>
          <a:ln w="6350">
            <a:solidFill>
              <a:schemeClr val="accent3"/>
            </a:solidFill>
            <a:prstDash val="solid"/>
          </a:ln>
          <a:effectLst>
            <a:outerShdw sx="100000" sy="100000" kx="0" ky="0" algn="bl" rotWithShape="0" blurRad="50800" dist="25400" dir="5400000">
              <a:srgbClr val="000000">
                <a:alpha val="18000"/>
              </a:srgbClr>
            </a:outerShdw>
          </a:effectLst>
        </p:spPr>
      </p:sp>
      <p:sp>
        <p:nvSpPr>
          <p:cNvPr id="18" name="Text 16"/>
          <p:cNvSpPr txBox="1"/>
          <p:nvPr/>
        </p:nvSpPr>
        <p:spPr>
          <a:xfrm>
            <a:off x="4343400" y="2615184"/>
            <a:ext cx="1911096" cy="640080"/>
          </a:xfrm>
          <a:prstGeom prst="rect">
            <a:avLst/>
          </a:prstGeom>
          <a:noFill/>
          <a:ln/>
        </p:spPr>
        <p:txBody>
          <a:bodyPr wrap="square" lIns="0" tIns="0" rIns="0" bIns="0" rtlCol="0" anchor="t">
            <a:normAutofit/>
          </a:bodyPr>
          <a:lstStyle/>
          <a:p>
            <a:pPr indent="0" marL="0">
              <a:buNone/>
            </a:pPr>
            <a:r>
              <a:rPr lang="en-US" sz="1200" b="1" dirty="0">
                <a:solidFill>
                  <a:schemeClr val="tx1"/>
                </a:solidFill>
                <a:latin typeface="Calibri" pitchFamily="34" charset="0"/>
                <a:ea typeface="Calibri" pitchFamily="34" charset="-122"/>
                <a:cs typeface="Calibri" pitchFamily="34" charset="-120"/>
              </a:rPr>
              <a:t>Request completed</a:t>
            </a:r>
            <a:endParaRPr lang="en-US" sz="1200" dirty="0"/>
          </a:p>
        </p:txBody>
      </p:sp>
      <p:sp>
        <p:nvSpPr>
          <p:cNvPr id="19" name="event note: Request escalated to human"/>
          <p:cNvSpPr/>
          <p:nvPr/>
        </p:nvSpPr>
        <p:spPr>
          <a:xfrm>
            <a:off x="4270248" y="3419856"/>
            <a:ext cx="2057400" cy="749808"/>
          </a:xfrm>
          <a:prstGeom prst="rect">
            <a:avLst/>
          </a:prstGeom>
          <a:solidFill>
            <a:schemeClr val="accent3"/>
          </a:solidFill>
          <a:ln w="6350">
            <a:solidFill>
              <a:schemeClr val="accent3"/>
            </a:solidFill>
            <a:prstDash val="solid"/>
          </a:ln>
          <a:effectLst>
            <a:outerShdw sx="100000" sy="100000" kx="0" ky="0" algn="bl" rotWithShape="0" blurRad="50800" dist="25400" dir="5400000">
              <a:srgbClr val="000000">
                <a:alpha val="18000"/>
              </a:srgbClr>
            </a:outerShdw>
          </a:effectLst>
        </p:spPr>
      </p:sp>
      <p:sp>
        <p:nvSpPr>
          <p:cNvPr id="20" name="Text 18"/>
          <p:cNvSpPr txBox="1"/>
          <p:nvPr/>
        </p:nvSpPr>
        <p:spPr>
          <a:xfrm>
            <a:off x="4343400" y="3474720"/>
            <a:ext cx="1911096" cy="640080"/>
          </a:xfrm>
          <a:prstGeom prst="rect">
            <a:avLst/>
          </a:prstGeom>
          <a:noFill/>
          <a:ln/>
        </p:spPr>
        <p:txBody>
          <a:bodyPr wrap="square" lIns="0" tIns="0" rIns="0" bIns="0" rtlCol="0" anchor="t">
            <a:normAutofit/>
          </a:bodyPr>
          <a:lstStyle/>
          <a:p>
            <a:pPr indent="0" marL="0">
              <a:buNone/>
            </a:pPr>
            <a:r>
              <a:rPr lang="en-US" sz="1200" b="1" dirty="0">
                <a:solidFill>
                  <a:schemeClr val="tx1"/>
                </a:solidFill>
                <a:latin typeface="Calibri" pitchFamily="34" charset="0"/>
                <a:ea typeface="Calibri" pitchFamily="34" charset="-122"/>
                <a:cs typeface="Calibri" pitchFamily="34" charset="-120"/>
              </a:rPr>
              <a:t>Request escalated to human</a:t>
            </a:r>
            <a:endParaRPr lang="en-US" sz="1200" dirty="0"/>
          </a:p>
        </p:txBody>
      </p:sp>
      <p:sp>
        <p:nvSpPr>
          <p:cNvPr id="21" name="ext note: LLM / cloud provider"/>
          <p:cNvSpPr/>
          <p:nvPr/>
        </p:nvSpPr>
        <p:spPr>
          <a:xfrm>
            <a:off x="4270248" y="4416552"/>
            <a:ext cx="2057400" cy="457200"/>
          </a:xfrm>
          <a:prstGeom prst="rect">
            <a:avLst/>
          </a:prstGeom>
          <a:solidFill>
            <a:schemeClr val="accent4"/>
          </a:solidFill>
          <a:ln w="6350">
            <a:solidFill>
              <a:schemeClr val="accent4"/>
            </a:solidFill>
            <a:prstDash val="solid"/>
          </a:ln>
          <a:effectLst>
            <a:outerShdw sx="100000" sy="100000" kx="0" ky="0" algn="bl" rotWithShape="0" blurRad="50800" dist="25400" dir="5400000">
              <a:srgbClr val="000000">
                <a:alpha val="18000"/>
              </a:srgbClr>
            </a:outerShdw>
          </a:effectLst>
        </p:spPr>
      </p:sp>
      <p:sp>
        <p:nvSpPr>
          <p:cNvPr id="22" name="Text 20"/>
          <p:cNvSpPr txBox="1"/>
          <p:nvPr/>
        </p:nvSpPr>
        <p:spPr>
          <a:xfrm>
            <a:off x="4343400" y="4471416"/>
            <a:ext cx="1911096" cy="347472"/>
          </a:xfrm>
          <a:prstGeom prst="rect">
            <a:avLst/>
          </a:prstGeom>
          <a:noFill/>
          <a:ln/>
        </p:spPr>
        <p:txBody>
          <a:bodyPr wrap="square" lIns="0" tIns="0" rIns="0" bIns="0" rtlCol="0" anchor="t">
            <a:normAutofit/>
          </a:bodyPr>
          <a:lstStyle/>
          <a:p>
            <a:pPr indent="0" marL="0">
              <a:buNone/>
            </a:pPr>
            <a:r>
              <a:rPr lang="en-US" sz="1050" dirty="0">
                <a:solidFill>
                  <a:schemeClr val="tx1"/>
                </a:solidFill>
                <a:latin typeface="Calibri" pitchFamily="34" charset="0"/>
                <a:ea typeface="Calibri" pitchFamily="34" charset="-122"/>
                <a:cs typeface="Calibri" pitchFamily="34" charset="-120"/>
              </a:rPr>
              <a:t>LLM / cloud provider</a:t>
            </a:r>
            <a:endParaRPr lang="en-US" sz="1050" dirty="0"/>
          </a:p>
        </p:txBody>
      </p:sp>
      <p:sp>
        <p:nvSpPr>
          <p:cNvPr id="23" name="Shape 21"/>
          <p:cNvSpPr/>
          <p:nvPr/>
        </p:nvSpPr>
        <p:spPr>
          <a:xfrm>
            <a:off x="6382512" y="3383280"/>
            <a:ext cx="274320" cy="0"/>
          </a:xfrm>
          <a:prstGeom prst="line">
            <a:avLst/>
          </a:prstGeom>
          <a:noFill/>
          <a:ln w="19050">
            <a:solidFill>
              <a:srgbClr val="9FB8AF"/>
            </a:solidFill>
            <a:prstDash val="solid"/>
            <a:tailEnd type="triangle"/>
          </a:ln>
        </p:spPr>
      </p:sp>
      <p:sp>
        <p:nvSpPr>
          <p:cNvPr id="24" name="event note: Run logged"/>
          <p:cNvSpPr/>
          <p:nvPr/>
        </p:nvSpPr>
        <p:spPr>
          <a:xfrm>
            <a:off x="6711696" y="2761488"/>
            <a:ext cx="2057400" cy="1188720"/>
          </a:xfrm>
          <a:prstGeom prst="rect">
            <a:avLst/>
          </a:prstGeom>
          <a:solidFill>
            <a:schemeClr val="accent3"/>
          </a:solidFill>
          <a:ln w="6350">
            <a:solidFill>
              <a:schemeClr val="accent3"/>
            </a:solidFill>
            <a:prstDash val="solid"/>
          </a:ln>
          <a:effectLst>
            <a:outerShdw sx="100000" sy="100000" kx="0" ky="0" algn="bl" rotWithShape="0" blurRad="50800" dist="25400" dir="5400000">
              <a:srgbClr val="000000">
                <a:alpha val="18000"/>
              </a:srgbClr>
            </a:outerShdw>
          </a:effectLst>
        </p:spPr>
      </p:sp>
      <p:sp>
        <p:nvSpPr>
          <p:cNvPr id="25" name="Text 23"/>
          <p:cNvSpPr txBox="1"/>
          <p:nvPr/>
        </p:nvSpPr>
        <p:spPr>
          <a:xfrm>
            <a:off x="6784848" y="2816352"/>
            <a:ext cx="1911096" cy="1078992"/>
          </a:xfrm>
          <a:prstGeom prst="rect">
            <a:avLst/>
          </a:prstGeom>
          <a:noFill/>
          <a:ln/>
        </p:spPr>
        <p:txBody>
          <a:bodyPr wrap="square" lIns="0" tIns="0" rIns="0" bIns="0" rtlCol="0" anchor="t">
            <a:normAutofit/>
          </a:bodyPr>
          <a:lstStyle/>
          <a:p>
            <a:pPr indent="0" marL="0">
              <a:buNone/>
            </a:pPr>
            <a:r>
              <a:rPr lang="en-US" sz="1200" b="1" dirty="0">
                <a:solidFill>
                  <a:schemeClr val="tx1"/>
                </a:solidFill>
                <a:latin typeface="Calibri" pitchFamily="34" charset="0"/>
                <a:ea typeface="Calibri" pitchFamily="34" charset="-122"/>
                <a:cs typeface="Calibri" pitchFamily="34" charset="-120"/>
              </a:rPr>
              <a:t>Run logged</a:t>
            </a:r>
            <a:endParaRPr lang="en-US" sz="1200" dirty="0"/>
          </a:p>
        </p:txBody>
      </p:sp>
      <p:sp>
        <p:nvSpPr>
          <p:cNvPr id="26" name="ubiquitous language"/>
          <p:cNvSpPr/>
          <p:nvPr/>
        </p:nvSpPr>
        <p:spPr>
          <a:xfrm>
            <a:off x="548640" y="5120640"/>
            <a:ext cx="7178040" cy="1143000"/>
          </a:xfrm>
          <a:prstGeom prst="rect">
            <a:avLst/>
          </a:prstGeom>
          <a:solidFill>
            <a:schemeClr val="bg2"/>
          </a:solidFill>
          <a:ln w="12700">
            <a:solidFill>
              <a:schemeClr val="bg2"/>
            </a:solidFill>
            <a:prstDash val="solid"/>
          </a:ln>
        </p:spPr>
      </p:sp>
      <p:sp>
        <p:nvSpPr>
          <p:cNvPr id="27" name="Text 25"/>
          <p:cNvSpPr txBox="1"/>
          <p:nvPr/>
        </p:nvSpPr>
        <p:spPr>
          <a:xfrm>
            <a:off x="731520" y="5212080"/>
            <a:ext cx="4572000" cy="228600"/>
          </a:xfrm>
          <a:prstGeom prst="rect">
            <a:avLst/>
          </a:prstGeom>
          <a:noFill/>
          <a:ln/>
        </p:spPr>
        <p:txBody>
          <a:bodyPr wrap="square" lIns="0" tIns="0" rIns="0" bIns="0" rtlCol="0" anchor="ctr"/>
          <a:lstStyle/>
          <a:p>
            <a:pPr indent="0" marL="0">
              <a:buNone/>
            </a:pPr>
            <a:r>
              <a:rPr lang="en-US" sz="900" b="1" spc="200" kern="0" dirty="0">
                <a:solidFill>
                  <a:schemeClr val="accent1"/>
                </a:solidFill>
                <a:latin typeface="Arial" pitchFamily="34" charset="0"/>
                <a:ea typeface="Arial" pitchFamily="34" charset="-122"/>
                <a:cs typeface="Arial" pitchFamily="34" charset="-120"/>
              </a:rPr>
              <a:t>UBIQUITOUS LANGUAGE</a:t>
            </a:r>
            <a:endParaRPr lang="en-US" sz="900" dirty="0"/>
          </a:p>
        </p:txBody>
      </p:sp>
      <p:sp>
        <p:nvSpPr>
          <p:cNvPr id="28" name="Text 26"/>
          <p:cNvSpPr txBox="1"/>
          <p:nvPr/>
        </p:nvSpPr>
        <p:spPr>
          <a:xfrm>
            <a:off x="731520" y="5468112"/>
            <a:ext cx="6812280" cy="731520"/>
          </a:xfrm>
          <a:prstGeom prst="rect">
            <a:avLst/>
          </a:prstGeom>
          <a:noFill/>
          <a:ln/>
        </p:spPr>
        <p:txBody>
          <a:bodyPr wrap="square" lIns="0" tIns="0" rIns="0" bIns="0" rtlCol="0" anchor="t">
            <a:normAutofit/>
          </a:bodyPr>
          <a:lstStyle/>
          <a:p>
            <a:pPr indent="0" marL="0">
              <a:buNone/>
            </a:pPr>
            <a:r>
              <a:rPr lang="en-US" sz="1150" b="1" dirty="0">
                <a:solidFill>
                  <a:schemeClr val="tx1"/>
                </a:solidFill>
                <a:latin typeface="Calibri" pitchFamily="34" charset="0"/>
                <a:ea typeface="Calibri" pitchFamily="34" charset="-122"/>
                <a:cs typeface="Calibri" pitchFamily="34" charset="-120"/>
              </a:rPr>
              <a:t>Escalation  </a:t>
            </a:r>
            <a:pPr indent="0" marL="0">
              <a:spcAft>
                <a:spcPts val="300"/>
              </a:spcAft>
              <a:buNone/>
            </a:pPr>
            <a:r>
              <a:rPr lang="en-US" sz="1150" dirty="0">
                <a:solidFill>
                  <a:schemeClr val="tx1"/>
                </a:solidFill>
                <a:latin typeface="Calibri" pitchFamily="34" charset="0"/>
                <a:ea typeface="Calibri" pitchFamily="34" charset="-122"/>
                <a:cs typeface="Calibri" pitchFamily="34" charset="-120"/>
              </a:rPr>
              <a:t>Handing a request the automation cannot solve reliably to a human.</a:t>
            </a:r>
            <a:endParaRPr lang="en-US" sz="1150" dirty="0"/>
          </a:p>
        </p:txBody>
      </p:sp>
      <p:sp>
        <p:nvSpPr>
          <p:cNvPr id="29" name="handover"/>
          <p:cNvSpPr/>
          <p:nvPr/>
        </p:nvSpPr>
        <p:spPr>
          <a:xfrm>
            <a:off x="7955280" y="5120640"/>
            <a:ext cx="3685032" cy="1143000"/>
          </a:xfrm>
          <a:prstGeom prst="rect">
            <a:avLst/>
          </a:prstGeom>
          <a:solidFill>
            <a:schemeClr val="bg1"/>
          </a:solidFill>
          <a:ln w="12700">
            <a:solidFill>
              <a:srgbClr val="C9D6D0"/>
            </a:solidFill>
            <a:prstDash val="solid"/>
          </a:ln>
        </p:spPr>
      </p:sp>
      <p:sp>
        <p:nvSpPr>
          <p:cNvPr id="30" name="Text 28"/>
          <p:cNvSpPr txBox="1"/>
          <p:nvPr/>
        </p:nvSpPr>
        <p:spPr>
          <a:xfrm>
            <a:off x="8138160" y="5212080"/>
            <a:ext cx="3383280" cy="978408"/>
          </a:xfrm>
          <a:prstGeom prst="rect">
            <a:avLst/>
          </a:prstGeom>
          <a:noFill/>
          <a:ln/>
        </p:spPr>
        <p:txBody>
          <a:bodyPr wrap="square" lIns="0" tIns="0" rIns="0" bIns="0" rtlCol="0" anchor="t">
            <a:normAutofit/>
          </a:bodyPr>
          <a:lstStyle/>
          <a:p>
            <a:pPr indent="0" marL="0">
              <a:buNone/>
            </a:pPr>
            <a:r>
              <a:rPr lang="en-US" sz="900" b="1" spc="200" kern="0" dirty="0">
                <a:solidFill>
                  <a:schemeClr val="accent1"/>
                </a:solidFill>
                <a:latin typeface="Calibri" pitchFamily="34" charset="0"/>
                <a:ea typeface="Calibri" pitchFamily="34" charset="-122"/>
                <a:cs typeface="Calibri" pitchFamily="34" charset="-120"/>
              </a:rPr>
              <a:t>RECEIVES</a:t>
            </a:r>
            <a:endParaRPr lang="en-US" sz="900" dirty="0"/>
          </a:p>
          <a:p>
            <a:pPr indent="0" marL="0">
              <a:spcAft>
                <a:spcPts val="400"/>
              </a:spcAft>
              <a:buNone/>
            </a:pPr>
            <a:r>
              <a:rPr lang="en-US" sz="1050" dirty="0">
                <a:solidFill>
                  <a:schemeClr val="tx1"/>
                </a:solidFill>
                <a:latin typeface="Calibri" pitchFamily="34" charset="0"/>
                <a:ea typeface="Calibri" pitchFamily="34" charset="-122"/>
                <a:cs typeface="Calibri" pitchFamily="34" charset="-120"/>
              </a:rPr>
              <a:t>★ Automation deployed (Build &amp; Deploy)</a:t>
            </a:r>
            <a:endParaRPr lang="en-US" sz="900" dirty="0"/>
          </a:p>
          <a:p>
            <a:pPr indent="0" marL="0">
              <a:buNone/>
            </a:pPr>
            <a:r>
              <a:rPr lang="en-US" sz="900" b="1" spc="200" kern="0" dirty="0">
                <a:solidFill>
                  <a:schemeClr val="accent1"/>
                </a:solidFill>
                <a:latin typeface="Calibri" pitchFamily="34" charset="0"/>
                <a:ea typeface="Calibri" pitchFamily="34" charset="-122"/>
                <a:cs typeface="Calibri" pitchFamily="34" charset="-120"/>
              </a:rPr>
              <a:t>HANDS OVER</a:t>
            </a:r>
            <a:endParaRPr lang="en-US" sz="900" dirty="0"/>
          </a:p>
          <a:p>
            <a:pPr indent="0" marL="0">
              <a:buNone/>
            </a:pPr>
            <a:r>
              <a:rPr lang="en-US" sz="1050" dirty="0">
                <a:solidFill>
                  <a:schemeClr val="tx1"/>
                </a:solidFill>
                <a:latin typeface="Calibri" pitchFamily="34" charset="0"/>
                <a:ea typeface="Calibri" pitchFamily="34" charset="-122"/>
                <a:cs typeface="Calibri" pitchFamily="34" charset="-120"/>
              </a:rPr>
              <a:t>Run logged → Agent Monitoring</a:t>
            </a:r>
            <a:endParaRPr lang="en-US" sz="900" dirty="0"/>
          </a:p>
        </p:txBody>
      </p:sp>
      <p:sp>
        <p:nvSpPr>
          <p:cNvPr id="25" name="Slide Number Placeholder 0"/>
          <p:cNvSpPr>
            <a:spLocks noGrp="1"/>
          </p:cNvSpPr>
          <p:nvPr>
            <p:ph type="sldNum" sz="quarter" idx="4294967295"/>
          </p:nvPr>
        </p:nvSpPr>
        <p:spPr>
          <a:xfrm>
            <a:off x="11274552" y="644652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E6E6A"/>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274320"/>
          </a:xfrm>
          <a:prstGeom prst="rect">
            <a:avLst/>
          </a:prstGeom>
          <a:noFill/>
          <a:ln/>
        </p:spPr>
        <p:txBody>
          <a:bodyPr wrap="square" lIns="0" tIns="0" rIns="0" bIns="0" rtlCol="0"/>
          <a:lstStyle/>
          <a:p>
            <a:pPr indent="0" marL="0">
              <a:buNone/>
            </a:pPr>
            <a:r>
              <a:rPr lang="en-US" sz="1100" b="1" spc="200" kern="0" dirty="0">
                <a:solidFill>
                  <a:schemeClr val="accent1"/>
                </a:solidFill>
                <a:latin typeface="Arial" pitchFamily="34" charset="0"/>
                <a:ea typeface="Arial" pitchFamily="34" charset="-122"/>
                <a:cs typeface="Arial" pitchFamily="34" charset="-120"/>
              </a:rPr>
              <a:t>PROCESS 5 OF 6  ·  AGENT MONITORING  ·  MONITOR</a:t>
            </a:r>
            <a:endParaRPr lang="en-US" sz="1100" dirty="0"/>
          </a:p>
        </p:txBody>
      </p:sp>
      <p:sp>
        <p:nvSpPr>
          <p:cNvPr id="3" name="Text 0"/>
          <p:cNvSpPr/>
          <p:nvPr>
            <p:ph idx="101" type="title" hasCustomPrompt="1"/>
          </p:nvPr>
        </p:nvSpPr>
        <p:spPr>
          <a:xfrm>
            <a:off x="548640" y="640080"/>
            <a:ext cx="11064240" cy="868680"/>
          </a:xfrm>
          <a:prstGeom prst="rect">
            <a:avLst/>
          </a:prstGeom>
          <a:noFill/>
          <a:ln/>
        </p:spPr>
        <p:txBody>
          <a:bodyPr wrap="square" lIns="0" tIns="0" rIns="0" bIns="0" rtlCol="0" anchor="t"/>
          <a:lstStyle/>
          <a:p>
            <a:pPr algn="l" indent="0" marL="0">
              <a:buNone/>
            </a:pPr>
            <a:r>
              <a:rPr lang="en-US" sz="2600" b="1" dirty="0">
                <a:solidFill>
                  <a:schemeClr val="tx1"/>
                </a:solidFill>
                <a:latin typeface="Arial" pitchFamily="34" charset="0"/>
                <a:ea typeface="Arial" pitchFamily="34" charset="-122"/>
                <a:cs typeface="Arial" pitchFamily="34" charset="-120"/>
              </a:rPr>
              <a:t>Agent Monitoring: the dashboard turns run logs into a decision</a:t>
            </a:r>
            <a:endParaRPr lang="en-US" sz="2600" dirty="0"/>
          </a:p>
        </p:txBody>
      </p:sp>
      <p:sp>
        <p:nvSpPr>
          <p:cNvPr id="4" name="lane ACTOR"/>
          <p:cNvSpPr/>
          <p:nvPr/>
        </p:nvSpPr>
        <p:spPr>
          <a:xfrm>
            <a:off x="548640" y="1874520"/>
            <a:ext cx="11091672" cy="502920"/>
          </a:xfrm>
          <a:prstGeom prst="rect">
            <a:avLst/>
          </a:prstGeom>
          <a:solidFill>
            <a:srgbClr val="F4F7F5"/>
          </a:solidFill>
          <a:ln w="12700">
            <a:solidFill>
              <a:srgbClr val="F4F7F5"/>
            </a:solidFill>
            <a:prstDash val="solid"/>
          </a:ln>
        </p:spPr>
      </p:sp>
      <p:sp>
        <p:nvSpPr>
          <p:cNvPr id="5" name="Text 3"/>
          <p:cNvSpPr txBox="1"/>
          <p:nvPr/>
        </p:nvSpPr>
        <p:spPr>
          <a:xfrm>
            <a:off x="685800" y="1874520"/>
            <a:ext cx="1051560" cy="502920"/>
          </a:xfrm>
          <a:prstGeom prst="rect">
            <a:avLst/>
          </a:prstGeom>
          <a:noFill/>
          <a:ln/>
        </p:spPr>
        <p:txBody>
          <a:bodyPr wrap="square" lIns="0" tIns="0" rIns="0" bIns="0" rtlCol="0" anchor="ctr"/>
          <a:lstStyle/>
          <a:p>
            <a:pPr indent="0" marL="0">
              <a:buNone/>
            </a:pPr>
            <a:r>
              <a:rPr lang="en-US" sz="900" b="1" spc="200" kern="0" dirty="0">
                <a:solidFill>
                  <a:srgbClr val="5E6E6A"/>
                </a:solidFill>
                <a:latin typeface="Arial" pitchFamily="34" charset="0"/>
                <a:ea typeface="Arial" pitchFamily="34" charset="-122"/>
                <a:cs typeface="Arial" pitchFamily="34" charset="-120"/>
              </a:rPr>
              <a:t>ACTOR</a:t>
            </a:r>
            <a:endParaRPr lang="en-US" sz="900" dirty="0"/>
          </a:p>
        </p:txBody>
      </p:sp>
      <p:sp>
        <p:nvSpPr>
          <p:cNvPr id="6" name="lane EVENT"/>
          <p:cNvSpPr/>
          <p:nvPr/>
        </p:nvSpPr>
        <p:spPr>
          <a:xfrm>
            <a:off x="548640" y="2514600"/>
            <a:ext cx="11091672" cy="1691640"/>
          </a:xfrm>
          <a:prstGeom prst="rect">
            <a:avLst/>
          </a:prstGeom>
          <a:solidFill>
            <a:srgbClr val="F4F7F5"/>
          </a:solidFill>
          <a:ln w="12700">
            <a:solidFill>
              <a:srgbClr val="F4F7F5"/>
            </a:solidFill>
            <a:prstDash val="solid"/>
          </a:ln>
        </p:spPr>
      </p:sp>
      <p:sp>
        <p:nvSpPr>
          <p:cNvPr id="7" name="Text 5"/>
          <p:cNvSpPr txBox="1"/>
          <p:nvPr/>
        </p:nvSpPr>
        <p:spPr>
          <a:xfrm>
            <a:off x="685800" y="2514600"/>
            <a:ext cx="1051560" cy="1691640"/>
          </a:xfrm>
          <a:prstGeom prst="rect">
            <a:avLst/>
          </a:prstGeom>
          <a:noFill/>
          <a:ln/>
        </p:spPr>
        <p:txBody>
          <a:bodyPr wrap="square" lIns="0" tIns="0" rIns="0" bIns="0" rtlCol="0" anchor="ctr"/>
          <a:lstStyle/>
          <a:p>
            <a:pPr indent="0" marL="0">
              <a:buNone/>
            </a:pPr>
            <a:r>
              <a:rPr lang="en-US" sz="900" b="1" spc="200" kern="0" dirty="0">
                <a:solidFill>
                  <a:srgbClr val="5E6E6A"/>
                </a:solidFill>
                <a:latin typeface="Arial" pitchFamily="34" charset="0"/>
                <a:ea typeface="Arial" pitchFamily="34" charset="-122"/>
                <a:cs typeface="Arial" pitchFamily="34" charset="-120"/>
              </a:rPr>
              <a:t>EVENT</a:t>
            </a:r>
            <a:endParaRPr lang="en-US" sz="900" dirty="0"/>
          </a:p>
        </p:txBody>
      </p:sp>
      <p:sp>
        <p:nvSpPr>
          <p:cNvPr id="8" name="lane EXTERNAL"/>
          <p:cNvSpPr/>
          <p:nvPr/>
        </p:nvSpPr>
        <p:spPr>
          <a:xfrm>
            <a:off x="548640" y="4370832"/>
            <a:ext cx="11091672" cy="548640"/>
          </a:xfrm>
          <a:prstGeom prst="rect">
            <a:avLst/>
          </a:prstGeom>
          <a:solidFill>
            <a:srgbClr val="F4F7F5"/>
          </a:solidFill>
          <a:ln w="12700">
            <a:solidFill>
              <a:srgbClr val="F4F7F5"/>
            </a:solidFill>
            <a:prstDash val="solid"/>
          </a:ln>
        </p:spPr>
      </p:sp>
      <p:sp>
        <p:nvSpPr>
          <p:cNvPr id="9" name="Text 7"/>
          <p:cNvSpPr txBox="1"/>
          <p:nvPr/>
        </p:nvSpPr>
        <p:spPr>
          <a:xfrm>
            <a:off x="685800" y="4370832"/>
            <a:ext cx="1051560" cy="548640"/>
          </a:xfrm>
          <a:prstGeom prst="rect">
            <a:avLst/>
          </a:prstGeom>
          <a:noFill/>
          <a:ln/>
        </p:spPr>
        <p:txBody>
          <a:bodyPr wrap="square" lIns="0" tIns="0" rIns="0" bIns="0" rtlCol="0" anchor="ctr"/>
          <a:lstStyle/>
          <a:p>
            <a:pPr indent="0" marL="0">
              <a:buNone/>
            </a:pPr>
            <a:r>
              <a:rPr lang="en-US" sz="900" b="1" spc="200" kern="0" dirty="0">
                <a:solidFill>
                  <a:srgbClr val="5E6E6A"/>
                </a:solidFill>
                <a:latin typeface="Arial" pitchFamily="34" charset="0"/>
                <a:ea typeface="Arial" pitchFamily="34" charset="-122"/>
                <a:cs typeface="Arial" pitchFamily="34" charset="-120"/>
              </a:rPr>
              <a:t>EXTERNAL</a:t>
            </a:r>
            <a:endParaRPr lang="en-US" sz="900" dirty="0"/>
          </a:p>
        </p:txBody>
      </p:sp>
      <p:sp>
        <p:nvSpPr>
          <p:cNvPr id="10" name="Text 8"/>
          <p:cNvSpPr txBox="1"/>
          <p:nvPr/>
        </p:nvSpPr>
        <p:spPr>
          <a:xfrm>
            <a:off x="1828800" y="1572768"/>
            <a:ext cx="548640" cy="201168"/>
          </a:xfrm>
          <a:prstGeom prst="rect">
            <a:avLst/>
          </a:prstGeom>
          <a:noFill/>
          <a:ln/>
        </p:spPr>
        <p:txBody>
          <a:bodyPr wrap="square" lIns="0" tIns="0" rIns="0" bIns="0" rtlCol="0" anchor="ctr"/>
          <a:lstStyle/>
          <a:p>
            <a:pPr indent="0" marL="0">
              <a:buNone/>
            </a:pPr>
            <a:r>
              <a:rPr lang="en-US" sz="800" b="1" spc="200" kern="0" dirty="0">
                <a:solidFill>
                  <a:srgbClr val="9FB8AF"/>
                </a:solidFill>
                <a:latin typeface="Arial" pitchFamily="34" charset="0"/>
                <a:ea typeface="Arial" pitchFamily="34" charset="-122"/>
                <a:cs typeface="Arial" pitchFamily="34" charset="-120"/>
              </a:rPr>
              <a:t>TIME</a:t>
            </a:r>
            <a:endParaRPr lang="en-US" sz="800" dirty="0"/>
          </a:p>
        </p:txBody>
      </p:sp>
      <p:sp>
        <p:nvSpPr>
          <p:cNvPr id="11" name="Shape 9"/>
          <p:cNvSpPr/>
          <p:nvPr/>
        </p:nvSpPr>
        <p:spPr>
          <a:xfrm>
            <a:off x="2331720" y="1673352"/>
            <a:ext cx="9308592" cy="0"/>
          </a:xfrm>
          <a:prstGeom prst="line">
            <a:avLst/>
          </a:prstGeom>
          <a:noFill/>
          <a:ln w="12700">
            <a:solidFill>
              <a:srgbClr val="9FB8AF"/>
            </a:solidFill>
            <a:prstDash val="solid"/>
            <a:tailEnd type="triangle"/>
          </a:ln>
        </p:spPr>
      </p:sp>
      <p:sp>
        <p:nvSpPr>
          <p:cNvPr id="12" name="actor note: Monitoring service"/>
          <p:cNvSpPr/>
          <p:nvPr/>
        </p:nvSpPr>
        <p:spPr>
          <a:xfrm>
            <a:off x="1828800" y="1920240"/>
            <a:ext cx="1554480" cy="411480"/>
          </a:xfrm>
          <a:prstGeom prst="rect">
            <a:avLst/>
          </a:prstGeom>
          <a:solidFill>
            <a:schemeClr val="accent5"/>
          </a:solidFill>
          <a:ln w="6350">
            <a:solidFill>
              <a:schemeClr val="accent5"/>
            </a:solidFill>
            <a:prstDash val="solid"/>
          </a:ln>
          <a:effectLst>
            <a:outerShdw sx="100000" sy="100000" kx="0" ky="0" algn="bl" rotWithShape="0" blurRad="50800" dist="25400" dir="5400000">
              <a:srgbClr val="000000">
                <a:alpha val="18000"/>
              </a:srgbClr>
            </a:outerShdw>
          </a:effectLst>
        </p:spPr>
      </p:sp>
      <p:sp>
        <p:nvSpPr>
          <p:cNvPr id="13" name="Text 11"/>
          <p:cNvSpPr txBox="1"/>
          <p:nvPr/>
        </p:nvSpPr>
        <p:spPr>
          <a:xfrm>
            <a:off x="1901952" y="1975104"/>
            <a:ext cx="1408176" cy="301752"/>
          </a:xfrm>
          <a:prstGeom prst="rect">
            <a:avLst/>
          </a:prstGeom>
          <a:noFill/>
          <a:ln/>
        </p:spPr>
        <p:txBody>
          <a:bodyPr wrap="square" lIns="0" tIns="0" rIns="0" bIns="0" rtlCol="0" anchor="t">
            <a:normAutofit/>
          </a:bodyPr>
          <a:lstStyle/>
          <a:p>
            <a:pPr indent="0" marL="0">
              <a:buNone/>
            </a:pPr>
            <a:r>
              <a:rPr lang="en-US" sz="1100" dirty="0">
                <a:solidFill>
                  <a:schemeClr val="tx1"/>
                </a:solidFill>
                <a:latin typeface="Calibri" pitchFamily="34" charset="0"/>
                <a:ea typeface="Calibri" pitchFamily="34" charset="-122"/>
                <a:cs typeface="Calibri" pitchFamily="34" charset="-120"/>
              </a:rPr>
              <a:t>Monitoring service</a:t>
            </a:r>
            <a:endParaRPr lang="en-US" sz="1100" dirty="0"/>
          </a:p>
        </p:txBody>
      </p:sp>
      <p:sp>
        <p:nvSpPr>
          <p:cNvPr id="14" name="event note: Token usage calculated"/>
          <p:cNvSpPr/>
          <p:nvPr/>
        </p:nvSpPr>
        <p:spPr>
          <a:xfrm>
            <a:off x="1828800" y="2560320"/>
            <a:ext cx="1655064" cy="749808"/>
          </a:xfrm>
          <a:prstGeom prst="rect">
            <a:avLst/>
          </a:prstGeom>
          <a:solidFill>
            <a:schemeClr val="accent3"/>
          </a:solidFill>
          <a:ln w="6350">
            <a:solidFill>
              <a:schemeClr val="accent3"/>
            </a:solidFill>
            <a:prstDash val="solid"/>
          </a:ln>
          <a:effectLst>
            <a:outerShdw sx="100000" sy="100000" kx="0" ky="0" algn="bl" rotWithShape="0" blurRad="50800" dist="25400" dir="5400000">
              <a:srgbClr val="000000">
                <a:alpha val="18000"/>
              </a:srgbClr>
            </a:outerShdw>
          </a:effectLst>
        </p:spPr>
      </p:sp>
      <p:sp>
        <p:nvSpPr>
          <p:cNvPr id="15" name="Text 13"/>
          <p:cNvSpPr txBox="1"/>
          <p:nvPr/>
        </p:nvSpPr>
        <p:spPr>
          <a:xfrm>
            <a:off x="1901952" y="2615184"/>
            <a:ext cx="1508760" cy="640080"/>
          </a:xfrm>
          <a:prstGeom prst="rect">
            <a:avLst/>
          </a:prstGeom>
          <a:noFill/>
          <a:ln/>
        </p:spPr>
        <p:txBody>
          <a:bodyPr wrap="square" lIns="0" tIns="0" rIns="0" bIns="0" rtlCol="0" anchor="t">
            <a:normAutofit/>
          </a:bodyPr>
          <a:lstStyle/>
          <a:p>
            <a:pPr indent="0" marL="0">
              <a:buNone/>
            </a:pPr>
            <a:r>
              <a:rPr lang="en-US" sz="1200" b="1" dirty="0">
                <a:solidFill>
                  <a:schemeClr val="tx1"/>
                </a:solidFill>
                <a:latin typeface="Calibri" pitchFamily="34" charset="0"/>
                <a:ea typeface="Calibri" pitchFamily="34" charset="-122"/>
                <a:cs typeface="Calibri" pitchFamily="34" charset="-120"/>
              </a:rPr>
              <a:t>Token usage calculated</a:t>
            </a:r>
            <a:endParaRPr lang="en-US" sz="1200" dirty="0"/>
          </a:p>
        </p:txBody>
      </p:sp>
      <p:sp>
        <p:nvSpPr>
          <p:cNvPr id="16" name="event note: Output and path similarity calculated"/>
          <p:cNvSpPr/>
          <p:nvPr/>
        </p:nvSpPr>
        <p:spPr>
          <a:xfrm>
            <a:off x="1828800" y="3419856"/>
            <a:ext cx="1655064" cy="749808"/>
          </a:xfrm>
          <a:prstGeom prst="rect">
            <a:avLst/>
          </a:prstGeom>
          <a:solidFill>
            <a:schemeClr val="accent3"/>
          </a:solidFill>
          <a:ln w="6350">
            <a:solidFill>
              <a:schemeClr val="accent3"/>
            </a:solidFill>
            <a:prstDash val="solid"/>
          </a:ln>
          <a:effectLst>
            <a:outerShdw sx="100000" sy="100000" kx="0" ky="0" algn="bl" rotWithShape="0" blurRad="50800" dist="25400" dir="5400000">
              <a:srgbClr val="000000">
                <a:alpha val="18000"/>
              </a:srgbClr>
            </a:outerShdw>
          </a:effectLst>
        </p:spPr>
      </p:sp>
      <p:sp>
        <p:nvSpPr>
          <p:cNvPr id="17" name="Text 15"/>
          <p:cNvSpPr txBox="1"/>
          <p:nvPr/>
        </p:nvSpPr>
        <p:spPr>
          <a:xfrm>
            <a:off x="1901952" y="3474720"/>
            <a:ext cx="1508760" cy="640080"/>
          </a:xfrm>
          <a:prstGeom prst="rect">
            <a:avLst/>
          </a:prstGeom>
          <a:noFill/>
          <a:ln/>
        </p:spPr>
        <p:txBody>
          <a:bodyPr wrap="square" lIns="0" tIns="0" rIns="0" bIns="0" rtlCol="0" anchor="t">
            <a:normAutofit/>
          </a:bodyPr>
          <a:lstStyle/>
          <a:p>
            <a:pPr indent="0" marL="0">
              <a:buNone/>
            </a:pPr>
            <a:r>
              <a:rPr lang="en-US" sz="1200" b="1" dirty="0">
                <a:solidFill>
                  <a:schemeClr val="tx1"/>
                </a:solidFill>
                <a:latin typeface="Calibri" pitchFamily="34" charset="0"/>
                <a:ea typeface="Calibri" pitchFamily="34" charset="-122"/>
                <a:cs typeface="Calibri" pitchFamily="34" charset="-120"/>
              </a:rPr>
              <a:t>Output and path similarity calculated</a:t>
            </a:r>
            <a:endParaRPr lang="en-US" sz="1200" dirty="0"/>
          </a:p>
        </p:txBody>
      </p:sp>
      <p:sp>
        <p:nvSpPr>
          <p:cNvPr id="18" name="ext note: Agent platform logs"/>
          <p:cNvSpPr/>
          <p:nvPr/>
        </p:nvSpPr>
        <p:spPr>
          <a:xfrm>
            <a:off x="1828800" y="4416552"/>
            <a:ext cx="1655064" cy="457200"/>
          </a:xfrm>
          <a:prstGeom prst="rect">
            <a:avLst/>
          </a:prstGeom>
          <a:solidFill>
            <a:schemeClr val="accent4"/>
          </a:solidFill>
          <a:ln w="6350">
            <a:solidFill>
              <a:schemeClr val="accent4"/>
            </a:solidFill>
            <a:prstDash val="solid"/>
          </a:ln>
          <a:effectLst>
            <a:outerShdw sx="100000" sy="100000" kx="0" ky="0" algn="bl" rotWithShape="0" blurRad="50800" dist="25400" dir="5400000">
              <a:srgbClr val="000000">
                <a:alpha val="18000"/>
              </a:srgbClr>
            </a:outerShdw>
          </a:effectLst>
        </p:spPr>
      </p:sp>
      <p:sp>
        <p:nvSpPr>
          <p:cNvPr id="19" name="Text 17"/>
          <p:cNvSpPr txBox="1"/>
          <p:nvPr/>
        </p:nvSpPr>
        <p:spPr>
          <a:xfrm>
            <a:off x="1901952" y="4471416"/>
            <a:ext cx="1508760" cy="347472"/>
          </a:xfrm>
          <a:prstGeom prst="rect">
            <a:avLst/>
          </a:prstGeom>
          <a:noFill/>
          <a:ln/>
        </p:spPr>
        <p:txBody>
          <a:bodyPr wrap="square" lIns="0" tIns="0" rIns="0" bIns="0" rtlCol="0" anchor="t">
            <a:normAutofit/>
          </a:bodyPr>
          <a:lstStyle/>
          <a:p>
            <a:pPr indent="0" marL="0">
              <a:buNone/>
            </a:pPr>
            <a:r>
              <a:rPr lang="en-US" sz="1050" dirty="0">
                <a:solidFill>
                  <a:schemeClr val="tx1"/>
                </a:solidFill>
                <a:latin typeface="Calibri" pitchFamily="34" charset="0"/>
                <a:ea typeface="Calibri" pitchFamily="34" charset="-122"/>
                <a:cs typeface="Calibri" pitchFamily="34" charset="-120"/>
              </a:rPr>
              <a:t>Agent platform logs</a:t>
            </a:r>
            <a:endParaRPr lang="en-US" sz="1050" dirty="0"/>
          </a:p>
        </p:txBody>
      </p:sp>
      <p:sp>
        <p:nvSpPr>
          <p:cNvPr id="20" name="Shape 18"/>
          <p:cNvSpPr/>
          <p:nvPr/>
        </p:nvSpPr>
        <p:spPr>
          <a:xfrm>
            <a:off x="3538728" y="3383280"/>
            <a:ext cx="274320" cy="0"/>
          </a:xfrm>
          <a:prstGeom prst="line">
            <a:avLst/>
          </a:prstGeom>
          <a:noFill/>
          <a:ln w="19050">
            <a:solidFill>
              <a:srgbClr val="9FB8AF"/>
            </a:solidFill>
            <a:prstDash val="solid"/>
            <a:tailEnd type="triangle"/>
          </a:ln>
        </p:spPr>
      </p:sp>
      <p:sp>
        <p:nvSpPr>
          <p:cNvPr id="21" name="event note: Dashboard updated"/>
          <p:cNvSpPr/>
          <p:nvPr/>
        </p:nvSpPr>
        <p:spPr>
          <a:xfrm>
            <a:off x="3867912" y="2761488"/>
            <a:ext cx="1655064" cy="1188720"/>
          </a:xfrm>
          <a:prstGeom prst="rect">
            <a:avLst/>
          </a:prstGeom>
          <a:solidFill>
            <a:schemeClr val="accent3"/>
          </a:solidFill>
          <a:ln w="6350">
            <a:solidFill>
              <a:schemeClr val="accent3"/>
            </a:solidFill>
            <a:prstDash val="solid"/>
          </a:ln>
          <a:effectLst>
            <a:outerShdw sx="100000" sy="100000" kx="0" ky="0" algn="bl" rotWithShape="0" blurRad="50800" dist="25400" dir="5400000">
              <a:srgbClr val="000000">
                <a:alpha val="18000"/>
              </a:srgbClr>
            </a:outerShdw>
          </a:effectLst>
        </p:spPr>
      </p:sp>
      <p:sp>
        <p:nvSpPr>
          <p:cNvPr id="22" name="Text 20"/>
          <p:cNvSpPr txBox="1"/>
          <p:nvPr/>
        </p:nvSpPr>
        <p:spPr>
          <a:xfrm>
            <a:off x="3941064" y="2816352"/>
            <a:ext cx="1508760" cy="1078992"/>
          </a:xfrm>
          <a:prstGeom prst="rect">
            <a:avLst/>
          </a:prstGeom>
          <a:noFill/>
          <a:ln/>
        </p:spPr>
        <p:txBody>
          <a:bodyPr wrap="square" lIns="0" tIns="0" rIns="0" bIns="0" rtlCol="0" anchor="t">
            <a:normAutofit/>
          </a:bodyPr>
          <a:lstStyle/>
          <a:p>
            <a:pPr indent="0" marL="0">
              <a:buNone/>
            </a:pPr>
            <a:r>
              <a:rPr lang="en-US" sz="1200" b="1" dirty="0">
                <a:solidFill>
                  <a:schemeClr val="tx1"/>
                </a:solidFill>
                <a:latin typeface="Calibri" pitchFamily="34" charset="0"/>
                <a:ea typeface="Calibri" pitchFamily="34" charset="-122"/>
                <a:cs typeface="Calibri" pitchFamily="34" charset="-120"/>
              </a:rPr>
              <a:t>Dashboard updated</a:t>
            </a:r>
            <a:endParaRPr lang="en-US" sz="1200" dirty="0"/>
          </a:p>
        </p:txBody>
      </p:sp>
      <p:sp>
        <p:nvSpPr>
          <p:cNvPr id="23" name="Shape 21"/>
          <p:cNvSpPr/>
          <p:nvPr/>
        </p:nvSpPr>
        <p:spPr>
          <a:xfrm>
            <a:off x="5577840" y="3383280"/>
            <a:ext cx="274320" cy="0"/>
          </a:xfrm>
          <a:prstGeom prst="line">
            <a:avLst/>
          </a:prstGeom>
          <a:noFill/>
          <a:ln w="19050">
            <a:solidFill>
              <a:srgbClr val="9FB8AF"/>
            </a:solidFill>
            <a:prstDash val="solid"/>
            <a:tailEnd type="triangle"/>
          </a:ln>
        </p:spPr>
      </p:sp>
      <p:sp>
        <p:nvSpPr>
          <p:cNvPr id="24" name="event note: Agent flagged as uniform"/>
          <p:cNvSpPr/>
          <p:nvPr/>
        </p:nvSpPr>
        <p:spPr>
          <a:xfrm>
            <a:off x="5907024" y="2560320"/>
            <a:ext cx="1655064" cy="749808"/>
          </a:xfrm>
          <a:prstGeom prst="rect">
            <a:avLst/>
          </a:prstGeom>
          <a:solidFill>
            <a:schemeClr val="accent3"/>
          </a:solidFill>
          <a:ln w="28575">
            <a:solidFill>
              <a:schemeClr val="tx1"/>
            </a:solidFill>
            <a:prstDash val="solid"/>
          </a:ln>
          <a:effectLst>
            <a:outerShdw sx="100000" sy="100000" kx="0" ky="0" algn="bl" rotWithShape="0" blurRad="50800" dist="25400" dir="5400000">
              <a:srgbClr val="000000">
                <a:alpha val="18000"/>
              </a:srgbClr>
            </a:outerShdw>
          </a:effectLst>
        </p:spPr>
      </p:sp>
      <p:sp>
        <p:nvSpPr>
          <p:cNvPr id="25" name="Text 23"/>
          <p:cNvSpPr txBox="1"/>
          <p:nvPr/>
        </p:nvSpPr>
        <p:spPr>
          <a:xfrm>
            <a:off x="5980176" y="2615184"/>
            <a:ext cx="1508760" cy="640080"/>
          </a:xfrm>
          <a:prstGeom prst="rect">
            <a:avLst/>
          </a:prstGeom>
          <a:noFill/>
          <a:ln/>
        </p:spPr>
        <p:txBody>
          <a:bodyPr wrap="square" lIns="0" tIns="0" rIns="0" bIns="0" rtlCol="0" anchor="t">
            <a:normAutofit/>
          </a:bodyPr>
          <a:lstStyle/>
          <a:p>
            <a:pPr indent="0" marL="0">
              <a:buNone/>
            </a:pPr>
            <a:r>
              <a:rPr lang="en-US" sz="1200" dirty="0">
                <a:solidFill>
                  <a:schemeClr val="tx1"/>
                </a:solidFill>
                <a:latin typeface="Calibri" pitchFamily="34" charset="0"/>
                <a:ea typeface="Calibri" pitchFamily="34" charset="-122"/>
                <a:cs typeface="Calibri" pitchFamily="34" charset="-120"/>
              </a:rPr>
              <a:t>★ </a:t>
            </a:r>
            <a:pPr indent="0" marL="0">
              <a:buNone/>
            </a:pPr>
            <a:r>
              <a:rPr lang="en-US" sz="1200" b="1" dirty="0">
                <a:solidFill>
                  <a:schemeClr val="tx1"/>
                </a:solidFill>
                <a:latin typeface="Calibri" pitchFamily="34" charset="0"/>
                <a:ea typeface="Calibri" pitchFamily="34" charset="-122"/>
                <a:cs typeface="Calibri" pitchFamily="34" charset="-120"/>
              </a:rPr>
              <a:t>Agent flagged as uniform</a:t>
            </a:r>
            <a:endParaRPr lang="en-US" sz="1200" dirty="0"/>
          </a:p>
        </p:txBody>
      </p:sp>
      <p:sp>
        <p:nvSpPr>
          <p:cNvPr id="26" name="event note: Agent flagged as unused"/>
          <p:cNvSpPr/>
          <p:nvPr/>
        </p:nvSpPr>
        <p:spPr>
          <a:xfrm>
            <a:off x="5907024" y="3419856"/>
            <a:ext cx="1655064" cy="749808"/>
          </a:xfrm>
          <a:prstGeom prst="rect">
            <a:avLst/>
          </a:prstGeom>
          <a:solidFill>
            <a:schemeClr val="accent3"/>
          </a:solidFill>
          <a:ln w="6350">
            <a:solidFill>
              <a:schemeClr val="accent3"/>
            </a:solidFill>
            <a:prstDash val="solid"/>
          </a:ln>
          <a:effectLst>
            <a:outerShdw sx="100000" sy="100000" kx="0" ky="0" algn="bl" rotWithShape="0" blurRad="50800" dist="25400" dir="5400000">
              <a:srgbClr val="000000">
                <a:alpha val="18000"/>
              </a:srgbClr>
            </a:outerShdw>
          </a:effectLst>
        </p:spPr>
      </p:sp>
      <p:sp>
        <p:nvSpPr>
          <p:cNvPr id="27" name="Text 25"/>
          <p:cNvSpPr txBox="1"/>
          <p:nvPr/>
        </p:nvSpPr>
        <p:spPr>
          <a:xfrm>
            <a:off x="5980176" y="3474720"/>
            <a:ext cx="1508760" cy="640080"/>
          </a:xfrm>
          <a:prstGeom prst="rect">
            <a:avLst/>
          </a:prstGeom>
          <a:noFill/>
          <a:ln/>
        </p:spPr>
        <p:txBody>
          <a:bodyPr wrap="square" lIns="0" tIns="0" rIns="0" bIns="0" rtlCol="0" anchor="t">
            <a:normAutofit/>
          </a:bodyPr>
          <a:lstStyle/>
          <a:p>
            <a:pPr indent="0" marL="0">
              <a:buNone/>
            </a:pPr>
            <a:r>
              <a:rPr lang="en-US" sz="1200" b="1" dirty="0">
                <a:solidFill>
                  <a:schemeClr val="tx1"/>
                </a:solidFill>
                <a:latin typeface="Calibri" pitchFamily="34" charset="0"/>
                <a:ea typeface="Calibri" pitchFamily="34" charset="-122"/>
                <a:cs typeface="Calibri" pitchFamily="34" charset="-120"/>
              </a:rPr>
              <a:t>Agent flagged as unused</a:t>
            </a:r>
            <a:endParaRPr lang="en-US" sz="1200" dirty="0"/>
          </a:p>
        </p:txBody>
      </p:sp>
      <p:sp>
        <p:nvSpPr>
          <p:cNvPr id="28" name="Shape 26"/>
          <p:cNvSpPr/>
          <p:nvPr/>
        </p:nvSpPr>
        <p:spPr>
          <a:xfrm>
            <a:off x="7616952" y="3383280"/>
            <a:ext cx="274320" cy="0"/>
          </a:xfrm>
          <a:prstGeom prst="line">
            <a:avLst/>
          </a:prstGeom>
          <a:noFill/>
          <a:ln w="19050">
            <a:solidFill>
              <a:srgbClr val="9FB8AF"/>
            </a:solidFill>
            <a:prstDash val="solid"/>
            <a:tailEnd type="triangle"/>
          </a:ln>
        </p:spPr>
      </p:sp>
      <p:sp>
        <p:nvSpPr>
          <p:cNvPr id="29" name="hot note: Similar text is not the same as similar steps. Which similarity counts?"/>
          <p:cNvSpPr/>
          <p:nvPr/>
        </p:nvSpPr>
        <p:spPr>
          <a:xfrm rot="-120000">
            <a:off x="7982712" y="2560320"/>
            <a:ext cx="1581912" cy="749808"/>
          </a:xfrm>
          <a:prstGeom prst="rect">
            <a:avLst/>
          </a:prstGeom>
          <a:solidFill>
            <a:schemeClr val="accent6"/>
          </a:solidFill>
          <a:ln w="6350">
            <a:solidFill>
              <a:schemeClr val="accent6"/>
            </a:solidFill>
            <a:prstDash val="solid"/>
          </a:ln>
          <a:effectLst>
            <a:outerShdw sx="100000" sy="100000" kx="0" ky="0" algn="bl" rotWithShape="0" blurRad="50800" dist="25400" dir="5400000">
              <a:srgbClr val="000000">
                <a:alpha val="18000"/>
              </a:srgbClr>
            </a:outerShdw>
          </a:effectLst>
        </p:spPr>
      </p:sp>
      <p:sp>
        <p:nvSpPr>
          <p:cNvPr id="30" name="Text 28"/>
          <p:cNvSpPr txBox="1"/>
          <p:nvPr/>
        </p:nvSpPr>
        <p:spPr>
          <a:xfrm rot="-120000">
            <a:off x="8055864" y="2615184"/>
            <a:ext cx="1435608" cy="640080"/>
          </a:xfrm>
          <a:prstGeom prst="rect">
            <a:avLst/>
          </a:prstGeom>
          <a:noFill/>
          <a:ln/>
        </p:spPr>
        <p:txBody>
          <a:bodyPr wrap="square" lIns="0" tIns="0" rIns="0" bIns="0" rtlCol="0" anchor="t">
            <a:normAutofit/>
          </a:bodyPr>
          <a:lstStyle/>
          <a:p>
            <a:pPr indent="0" marL="0">
              <a:buNone/>
            </a:pPr>
            <a:r>
              <a:rPr lang="en-US" sz="950" b="1" dirty="0">
                <a:solidFill>
                  <a:schemeClr val="bg1"/>
                </a:solidFill>
                <a:latin typeface="Calibri" pitchFamily="34" charset="0"/>
                <a:ea typeface="Calibri" pitchFamily="34" charset="-122"/>
                <a:cs typeface="Calibri" pitchFamily="34" charset="-120"/>
              </a:rPr>
              <a:t>H4  </a:t>
            </a:r>
            <a:pPr indent="0" marL="0">
              <a:buNone/>
            </a:pPr>
            <a:r>
              <a:rPr lang="en-US" sz="1050" b="1" dirty="0">
                <a:solidFill>
                  <a:schemeClr val="bg1"/>
                </a:solidFill>
                <a:latin typeface="Calibri" pitchFamily="34" charset="0"/>
                <a:ea typeface="Calibri" pitchFamily="34" charset="-122"/>
                <a:cs typeface="Calibri" pitchFamily="34" charset="-120"/>
              </a:rPr>
              <a:t>Similar text is not the same as similar steps. Which similarity counts?</a:t>
            </a:r>
            <a:endParaRPr lang="en-US" sz="950" dirty="0"/>
          </a:p>
        </p:txBody>
      </p:sp>
      <p:sp>
        <p:nvSpPr>
          <p:cNvPr id="31" name="hot note: Tokens are not energy: no reliable emissions per token from providers."/>
          <p:cNvSpPr/>
          <p:nvPr/>
        </p:nvSpPr>
        <p:spPr>
          <a:xfrm rot="-120000">
            <a:off x="7982712" y="3419856"/>
            <a:ext cx="1581912" cy="749808"/>
          </a:xfrm>
          <a:prstGeom prst="rect">
            <a:avLst/>
          </a:prstGeom>
          <a:solidFill>
            <a:schemeClr val="accent6"/>
          </a:solidFill>
          <a:ln w="6350">
            <a:solidFill>
              <a:schemeClr val="accent6"/>
            </a:solidFill>
            <a:prstDash val="solid"/>
          </a:ln>
          <a:effectLst>
            <a:outerShdw sx="100000" sy="100000" kx="0" ky="0" algn="bl" rotWithShape="0" blurRad="50800" dist="25400" dir="5400000">
              <a:srgbClr val="000000">
                <a:alpha val="18000"/>
              </a:srgbClr>
            </a:outerShdw>
          </a:effectLst>
        </p:spPr>
      </p:sp>
      <p:sp>
        <p:nvSpPr>
          <p:cNvPr id="32" name="Text 30"/>
          <p:cNvSpPr txBox="1"/>
          <p:nvPr/>
        </p:nvSpPr>
        <p:spPr>
          <a:xfrm rot="-120000">
            <a:off x="8055864" y="3474720"/>
            <a:ext cx="1435608" cy="640080"/>
          </a:xfrm>
          <a:prstGeom prst="rect">
            <a:avLst/>
          </a:prstGeom>
          <a:noFill/>
          <a:ln/>
        </p:spPr>
        <p:txBody>
          <a:bodyPr wrap="square" lIns="0" tIns="0" rIns="0" bIns="0" rtlCol="0" anchor="t">
            <a:normAutofit/>
          </a:bodyPr>
          <a:lstStyle/>
          <a:p>
            <a:pPr indent="0" marL="0">
              <a:buNone/>
            </a:pPr>
            <a:r>
              <a:rPr lang="en-US" sz="950" b="1" dirty="0">
                <a:solidFill>
                  <a:schemeClr val="bg1"/>
                </a:solidFill>
                <a:latin typeface="Calibri" pitchFamily="34" charset="0"/>
                <a:ea typeface="Calibri" pitchFamily="34" charset="-122"/>
                <a:cs typeface="Calibri" pitchFamily="34" charset="-120"/>
              </a:rPr>
              <a:t>H5  </a:t>
            </a:r>
            <a:pPr indent="0" marL="0">
              <a:buNone/>
            </a:pPr>
            <a:r>
              <a:rPr lang="en-US" sz="1050" b="1" dirty="0">
                <a:solidFill>
                  <a:schemeClr val="bg1"/>
                </a:solidFill>
                <a:latin typeface="Calibri" pitchFamily="34" charset="0"/>
                <a:ea typeface="Calibri" pitchFamily="34" charset="-122"/>
                <a:cs typeface="Calibri" pitchFamily="34" charset="-120"/>
              </a:rPr>
              <a:t>Tokens are not energy: no reliable emissions per token from providers.</a:t>
            </a:r>
            <a:endParaRPr lang="en-US" sz="950" dirty="0"/>
          </a:p>
        </p:txBody>
      </p:sp>
      <p:sp>
        <p:nvSpPr>
          <p:cNvPr id="33" name="hot note: Logs may hold personal data (GDPR) and allow conclusions about employees (works council, § 87 BetrVG)."/>
          <p:cNvSpPr/>
          <p:nvPr/>
        </p:nvSpPr>
        <p:spPr>
          <a:xfrm rot="-120000">
            <a:off x="10021824" y="2761488"/>
            <a:ext cx="1581912" cy="1188720"/>
          </a:xfrm>
          <a:prstGeom prst="rect">
            <a:avLst/>
          </a:prstGeom>
          <a:solidFill>
            <a:schemeClr val="accent6"/>
          </a:solidFill>
          <a:ln w="6350">
            <a:solidFill>
              <a:schemeClr val="accent6"/>
            </a:solidFill>
            <a:prstDash val="solid"/>
          </a:ln>
          <a:effectLst>
            <a:outerShdw sx="100000" sy="100000" kx="0" ky="0" algn="bl" rotWithShape="0" blurRad="50800" dist="25400" dir="5400000">
              <a:srgbClr val="000000">
                <a:alpha val="18000"/>
              </a:srgbClr>
            </a:outerShdw>
          </a:effectLst>
        </p:spPr>
      </p:sp>
      <p:sp>
        <p:nvSpPr>
          <p:cNvPr id="34" name="Text 32"/>
          <p:cNvSpPr txBox="1"/>
          <p:nvPr/>
        </p:nvSpPr>
        <p:spPr>
          <a:xfrm rot="-120000">
            <a:off x="10094976" y="2816352"/>
            <a:ext cx="1435608" cy="1078992"/>
          </a:xfrm>
          <a:prstGeom prst="rect">
            <a:avLst/>
          </a:prstGeom>
          <a:noFill/>
          <a:ln/>
        </p:spPr>
        <p:txBody>
          <a:bodyPr wrap="square" lIns="0" tIns="0" rIns="0" bIns="0" rtlCol="0" anchor="t">
            <a:normAutofit/>
          </a:bodyPr>
          <a:lstStyle/>
          <a:p>
            <a:pPr indent="0" marL="0">
              <a:buNone/>
            </a:pPr>
            <a:r>
              <a:rPr lang="en-US" sz="950" b="1" dirty="0">
                <a:solidFill>
                  <a:schemeClr val="bg1"/>
                </a:solidFill>
                <a:latin typeface="Calibri" pitchFamily="34" charset="0"/>
                <a:ea typeface="Calibri" pitchFamily="34" charset="-122"/>
                <a:cs typeface="Calibri" pitchFamily="34" charset="-120"/>
              </a:rPr>
              <a:t>H6  </a:t>
            </a:r>
            <a:pPr indent="0" marL="0">
              <a:buNone/>
            </a:pPr>
            <a:r>
              <a:rPr lang="en-US" sz="1050" b="1" dirty="0">
                <a:solidFill>
                  <a:schemeClr val="bg1"/>
                </a:solidFill>
                <a:latin typeface="Calibri" pitchFamily="34" charset="0"/>
                <a:ea typeface="Calibri" pitchFamily="34" charset="-122"/>
                <a:cs typeface="Calibri" pitchFamily="34" charset="-120"/>
              </a:rPr>
              <a:t>Logs may hold personal data (GDPR) and allow conclusions about employees (works council, § 87 BetrVG).</a:t>
            </a:r>
            <a:endParaRPr lang="en-US" sz="950" dirty="0"/>
          </a:p>
        </p:txBody>
      </p:sp>
      <p:sp>
        <p:nvSpPr>
          <p:cNvPr id="35" name="ubiquitous language"/>
          <p:cNvSpPr/>
          <p:nvPr/>
        </p:nvSpPr>
        <p:spPr>
          <a:xfrm>
            <a:off x="548640" y="5120640"/>
            <a:ext cx="7178040" cy="1143000"/>
          </a:xfrm>
          <a:prstGeom prst="rect">
            <a:avLst/>
          </a:prstGeom>
          <a:solidFill>
            <a:schemeClr val="bg2"/>
          </a:solidFill>
          <a:ln w="12700">
            <a:solidFill>
              <a:schemeClr val="bg2"/>
            </a:solidFill>
            <a:prstDash val="solid"/>
          </a:ln>
        </p:spPr>
      </p:sp>
      <p:sp>
        <p:nvSpPr>
          <p:cNvPr id="36" name="Text 34"/>
          <p:cNvSpPr txBox="1"/>
          <p:nvPr/>
        </p:nvSpPr>
        <p:spPr>
          <a:xfrm>
            <a:off x="731520" y="5212080"/>
            <a:ext cx="4572000" cy="228600"/>
          </a:xfrm>
          <a:prstGeom prst="rect">
            <a:avLst/>
          </a:prstGeom>
          <a:noFill/>
          <a:ln/>
        </p:spPr>
        <p:txBody>
          <a:bodyPr wrap="square" lIns="0" tIns="0" rIns="0" bIns="0" rtlCol="0" anchor="ctr"/>
          <a:lstStyle/>
          <a:p>
            <a:pPr indent="0" marL="0">
              <a:buNone/>
            </a:pPr>
            <a:r>
              <a:rPr lang="en-US" sz="900" b="1" spc="200" kern="0" dirty="0">
                <a:solidFill>
                  <a:schemeClr val="accent1"/>
                </a:solidFill>
                <a:latin typeface="Arial" pitchFamily="34" charset="0"/>
                <a:ea typeface="Arial" pitchFamily="34" charset="-122"/>
                <a:cs typeface="Arial" pitchFamily="34" charset="-120"/>
              </a:rPr>
              <a:t>UBIQUITOUS LANGUAGE</a:t>
            </a:r>
            <a:endParaRPr lang="en-US" sz="900" dirty="0"/>
          </a:p>
        </p:txBody>
      </p:sp>
      <p:sp>
        <p:nvSpPr>
          <p:cNvPr id="37" name="Text 35"/>
          <p:cNvSpPr txBox="1"/>
          <p:nvPr/>
        </p:nvSpPr>
        <p:spPr>
          <a:xfrm>
            <a:off x="731520" y="5468112"/>
            <a:ext cx="6812280" cy="731520"/>
          </a:xfrm>
          <a:prstGeom prst="rect">
            <a:avLst/>
          </a:prstGeom>
          <a:noFill/>
          <a:ln/>
        </p:spPr>
        <p:txBody>
          <a:bodyPr wrap="square" lIns="0" tIns="0" rIns="0" bIns="0" rtlCol="0" anchor="t">
            <a:normAutofit/>
          </a:bodyPr>
          <a:lstStyle/>
          <a:p>
            <a:pPr indent="0" marL="0">
              <a:buNone/>
            </a:pPr>
            <a:r>
              <a:rPr lang="en-US" sz="1150" b="1" dirty="0">
                <a:solidFill>
                  <a:schemeClr val="tx1"/>
                </a:solidFill>
                <a:latin typeface="Calibri" pitchFamily="34" charset="0"/>
                <a:ea typeface="Calibri" pitchFamily="34" charset="-122"/>
                <a:cs typeface="Calibri" pitchFamily="34" charset="-120"/>
              </a:rPr>
              <a:t>Output / path similarity  </a:t>
            </a:r>
            <a:pPr indent="0" marL="0">
              <a:spcAft>
                <a:spcPts val="300"/>
              </a:spcAft>
              <a:buNone/>
            </a:pPr>
            <a:r>
              <a:rPr lang="en-US" sz="1150" dirty="0">
                <a:solidFill>
                  <a:schemeClr val="tx1"/>
                </a:solidFill>
                <a:latin typeface="Calibri" pitchFamily="34" charset="0"/>
                <a:ea typeface="Calibri" pitchFamily="34" charset="-122"/>
                <a:cs typeface="Calibri" pitchFamily="34" charset="-120"/>
              </a:rPr>
              <a:t>How alike an agent’s replies and its tool-call sequences are across runs. Simple statistics on logs, no extra AI.</a:t>
            </a:r>
            <a:endParaRPr lang="en-US" sz="1150" dirty="0"/>
          </a:p>
          <a:p>
            <a:pPr indent="0" marL="0">
              <a:buNone/>
            </a:pPr>
            <a:r>
              <a:rPr lang="en-US" sz="1150" b="1" dirty="0">
                <a:solidFill>
                  <a:schemeClr val="tx1"/>
                </a:solidFill>
                <a:latin typeface="Calibri" pitchFamily="34" charset="0"/>
                <a:ea typeface="Calibri" pitchFamily="34" charset="-122"/>
                <a:cs typeface="Calibri" pitchFamily="34" charset="-120"/>
              </a:rPr>
              <a:t>Uniform agent  </a:t>
            </a:r>
            <a:pPr indent="0" marL="0">
              <a:spcAft>
                <a:spcPts val="300"/>
              </a:spcAft>
              <a:buNone/>
            </a:pPr>
            <a:r>
              <a:rPr lang="en-US" sz="1150" dirty="0">
                <a:solidFill>
                  <a:schemeClr val="tx1"/>
                </a:solidFill>
                <a:latin typeface="Calibri" pitchFamily="34" charset="0"/>
                <a:ea typeface="Calibri" pitchFamily="34" charset="-122"/>
                <a:cs typeface="Calibri" pitchFamily="34" charset="-120"/>
              </a:rPr>
              <a:t>An agent whose runs have become near-identical: it behaves like a workflow but costs like an agent.</a:t>
            </a:r>
            <a:endParaRPr lang="en-US" sz="1150" dirty="0"/>
          </a:p>
        </p:txBody>
      </p:sp>
      <p:sp>
        <p:nvSpPr>
          <p:cNvPr id="38" name="handover"/>
          <p:cNvSpPr/>
          <p:nvPr/>
        </p:nvSpPr>
        <p:spPr>
          <a:xfrm>
            <a:off x="7955280" y="5120640"/>
            <a:ext cx="3685032" cy="1143000"/>
          </a:xfrm>
          <a:prstGeom prst="rect">
            <a:avLst/>
          </a:prstGeom>
          <a:solidFill>
            <a:schemeClr val="bg1"/>
          </a:solidFill>
          <a:ln w="12700">
            <a:solidFill>
              <a:srgbClr val="C9D6D0"/>
            </a:solidFill>
            <a:prstDash val="solid"/>
          </a:ln>
        </p:spPr>
      </p:sp>
      <p:sp>
        <p:nvSpPr>
          <p:cNvPr id="39" name="Text 37"/>
          <p:cNvSpPr txBox="1"/>
          <p:nvPr/>
        </p:nvSpPr>
        <p:spPr>
          <a:xfrm>
            <a:off x="8138160" y="5212080"/>
            <a:ext cx="3383280" cy="978408"/>
          </a:xfrm>
          <a:prstGeom prst="rect">
            <a:avLst/>
          </a:prstGeom>
          <a:noFill/>
          <a:ln/>
        </p:spPr>
        <p:txBody>
          <a:bodyPr wrap="square" lIns="0" tIns="0" rIns="0" bIns="0" rtlCol="0" anchor="t">
            <a:normAutofit/>
          </a:bodyPr>
          <a:lstStyle/>
          <a:p>
            <a:pPr indent="0" marL="0">
              <a:buNone/>
            </a:pPr>
            <a:r>
              <a:rPr lang="en-US" sz="900" b="1" spc="200" kern="0" dirty="0">
                <a:solidFill>
                  <a:schemeClr val="accent1"/>
                </a:solidFill>
                <a:latin typeface="Calibri" pitchFamily="34" charset="0"/>
                <a:ea typeface="Calibri" pitchFamily="34" charset="-122"/>
                <a:cs typeface="Calibri" pitchFamily="34" charset="-120"/>
              </a:rPr>
              <a:t>RECEIVES</a:t>
            </a:r>
            <a:endParaRPr lang="en-US" sz="900" dirty="0"/>
          </a:p>
          <a:p>
            <a:pPr indent="0" marL="0">
              <a:spcAft>
                <a:spcPts val="400"/>
              </a:spcAft>
              <a:buNone/>
            </a:pPr>
            <a:r>
              <a:rPr lang="en-US" sz="1050" dirty="0">
                <a:solidFill>
                  <a:schemeClr val="tx1"/>
                </a:solidFill>
                <a:latin typeface="Calibri" pitchFamily="34" charset="0"/>
                <a:ea typeface="Calibri" pitchFamily="34" charset="-122"/>
                <a:cs typeface="Calibri" pitchFamily="34" charset="-120"/>
              </a:rPr>
              <a:t>Run logged (Automation Run)  ·  Agent registered (Build &amp; Deploy)</a:t>
            </a:r>
            <a:endParaRPr lang="en-US" sz="900" dirty="0"/>
          </a:p>
          <a:p>
            <a:pPr indent="0" marL="0">
              <a:buNone/>
            </a:pPr>
            <a:r>
              <a:rPr lang="en-US" sz="900" b="1" spc="200" kern="0" dirty="0">
                <a:solidFill>
                  <a:schemeClr val="accent1"/>
                </a:solidFill>
                <a:latin typeface="Calibri" pitchFamily="34" charset="0"/>
                <a:ea typeface="Calibri" pitchFamily="34" charset="-122"/>
                <a:cs typeface="Calibri" pitchFamily="34" charset="-120"/>
              </a:rPr>
              <a:t>HANDS OVER</a:t>
            </a:r>
            <a:endParaRPr lang="en-US" sz="900" dirty="0"/>
          </a:p>
          <a:p>
            <a:pPr indent="0" marL="0">
              <a:buNone/>
            </a:pPr>
            <a:r>
              <a:rPr lang="en-US" sz="1050" dirty="0">
                <a:solidFill>
                  <a:schemeClr val="tx1"/>
                </a:solidFill>
                <a:latin typeface="Calibri" pitchFamily="34" charset="0"/>
                <a:ea typeface="Calibri" pitchFamily="34" charset="-122"/>
                <a:cs typeface="Calibri" pitchFamily="34" charset="-120"/>
              </a:rPr>
              <a:t>★ Agent flagged as uniform / unused → Agent Conversion</a:t>
            </a:r>
            <a:endParaRPr lang="en-US" sz="900" dirty="0"/>
          </a:p>
        </p:txBody>
      </p:sp>
      <p:sp>
        <p:nvSpPr>
          <p:cNvPr id="25" name="Slide Number Placeholder 0"/>
          <p:cNvSpPr>
            <a:spLocks noGrp="1"/>
          </p:cNvSpPr>
          <p:nvPr>
            <p:ph type="sldNum" sz="quarter" idx="4294967295"/>
          </p:nvPr>
        </p:nvSpPr>
        <p:spPr>
          <a:xfrm>
            <a:off x="11274552" y="644652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E6E6A"/>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274320"/>
          </a:xfrm>
          <a:prstGeom prst="rect">
            <a:avLst/>
          </a:prstGeom>
          <a:noFill/>
          <a:ln/>
        </p:spPr>
        <p:txBody>
          <a:bodyPr wrap="square" lIns="0" tIns="0" rIns="0" bIns="0" rtlCol="0"/>
          <a:lstStyle/>
          <a:p>
            <a:pPr indent="0" marL="0">
              <a:buNone/>
            </a:pPr>
            <a:r>
              <a:rPr lang="en-US" sz="1100" b="1" spc="200" kern="0" dirty="0">
                <a:solidFill>
                  <a:schemeClr val="accent1"/>
                </a:solidFill>
                <a:latin typeface="Arial" pitchFamily="34" charset="0"/>
                <a:ea typeface="Arial" pitchFamily="34" charset="-122"/>
                <a:cs typeface="Arial" pitchFamily="34" charset="-120"/>
              </a:rPr>
              <a:t>PROCESS 6 OF 6  ·  AGENT CONVERSION  ·  REPLACE</a:t>
            </a:r>
            <a:endParaRPr lang="en-US" sz="1100" dirty="0"/>
          </a:p>
        </p:txBody>
      </p:sp>
      <p:sp>
        <p:nvSpPr>
          <p:cNvPr id="3" name="Text 0"/>
          <p:cNvSpPr/>
          <p:nvPr>
            <p:ph idx="101" type="title" hasCustomPrompt="1"/>
          </p:nvPr>
        </p:nvSpPr>
        <p:spPr>
          <a:xfrm>
            <a:off x="548640" y="640080"/>
            <a:ext cx="11064240" cy="868680"/>
          </a:xfrm>
          <a:prstGeom prst="rect">
            <a:avLst/>
          </a:prstGeom>
          <a:noFill/>
          <a:ln/>
        </p:spPr>
        <p:txBody>
          <a:bodyPr wrap="square" lIns="0" tIns="0" rIns="0" bIns="0" rtlCol="0" anchor="t"/>
          <a:lstStyle/>
          <a:p>
            <a:pPr algn="l" indent="0" marL="0">
              <a:buNone/>
            </a:pPr>
            <a:r>
              <a:rPr lang="en-US" sz="2600" b="1" dirty="0">
                <a:solidFill>
                  <a:schemeClr val="tx1"/>
                </a:solidFill>
                <a:latin typeface="Arial" pitchFamily="34" charset="0"/>
                <a:ea typeface="Arial" pitchFamily="34" charset="-122"/>
                <a:cs typeface="Arial" pitchFamily="34" charset="-120"/>
              </a:rPr>
              <a:t>Agent Conversion: uniform agents become workflows and keep only the exceptions</a:t>
            </a:r>
            <a:endParaRPr lang="en-US" sz="2600" dirty="0"/>
          </a:p>
        </p:txBody>
      </p:sp>
      <p:sp>
        <p:nvSpPr>
          <p:cNvPr id="4" name="lane ACTOR"/>
          <p:cNvSpPr/>
          <p:nvPr/>
        </p:nvSpPr>
        <p:spPr>
          <a:xfrm>
            <a:off x="548640" y="1874520"/>
            <a:ext cx="11091672" cy="502920"/>
          </a:xfrm>
          <a:prstGeom prst="rect">
            <a:avLst/>
          </a:prstGeom>
          <a:solidFill>
            <a:srgbClr val="F4F7F5"/>
          </a:solidFill>
          <a:ln w="12700">
            <a:solidFill>
              <a:srgbClr val="F4F7F5"/>
            </a:solidFill>
            <a:prstDash val="solid"/>
          </a:ln>
        </p:spPr>
      </p:sp>
      <p:sp>
        <p:nvSpPr>
          <p:cNvPr id="5" name="Text 3"/>
          <p:cNvSpPr txBox="1"/>
          <p:nvPr/>
        </p:nvSpPr>
        <p:spPr>
          <a:xfrm>
            <a:off x="685800" y="1874520"/>
            <a:ext cx="1051560" cy="502920"/>
          </a:xfrm>
          <a:prstGeom prst="rect">
            <a:avLst/>
          </a:prstGeom>
          <a:noFill/>
          <a:ln/>
        </p:spPr>
        <p:txBody>
          <a:bodyPr wrap="square" lIns="0" tIns="0" rIns="0" bIns="0" rtlCol="0" anchor="ctr"/>
          <a:lstStyle/>
          <a:p>
            <a:pPr indent="0" marL="0">
              <a:buNone/>
            </a:pPr>
            <a:r>
              <a:rPr lang="en-US" sz="900" b="1" spc="200" kern="0" dirty="0">
                <a:solidFill>
                  <a:srgbClr val="5E6E6A"/>
                </a:solidFill>
                <a:latin typeface="Arial" pitchFamily="34" charset="0"/>
                <a:ea typeface="Arial" pitchFamily="34" charset="-122"/>
                <a:cs typeface="Arial" pitchFamily="34" charset="-120"/>
              </a:rPr>
              <a:t>ACTOR</a:t>
            </a:r>
            <a:endParaRPr lang="en-US" sz="900" dirty="0"/>
          </a:p>
        </p:txBody>
      </p:sp>
      <p:sp>
        <p:nvSpPr>
          <p:cNvPr id="6" name="lane EVENT"/>
          <p:cNvSpPr/>
          <p:nvPr/>
        </p:nvSpPr>
        <p:spPr>
          <a:xfrm>
            <a:off x="548640" y="2514600"/>
            <a:ext cx="11091672" cy="1691640"/>
          </a:xfrm>
          <a:prstGeom prst="rect">
            <a:avLst/>
          </a:prstGeom>
          <a:solidFill>
            <a:srgbClr val="F4F7F5"/>
          </a:solidFill>
          <a:ln w="12700">
            <a:solidFill>
              <a:srgbClr val="F4F7F5"/>
            </a:solidFill>
            <a:prstDash val="solid"/>
          </a:ln>
        </p:spPr>
      </p:sp>
      <p:sp>
        <p:nvSpPr>
          <p:cNvPr id="7" name="Text 5"/>
          <p:cNvSpPr txBox="1"/>
          <p:nvPr/>
        </p:nvSpPr>
        <p:spPr>
          <a:xfrm>
            <a:off x="685800" y="2514600"/>
            <a:ext cx="1051560" cy="1691640"/>
          </a:xfrm>
          <a:prstGeom prst="rect">
            <a:avLst/>
          </a:prstGeom>
          <a:noFill/>
          <a:ln/>
        </p:spPr>
        <p:txBody>
          <a:bodyPr wrap="square" lIns="0" tIns="0" rIns="0" bIns="0" rtlCol="0" anchor="ctr"/>
          <a:lstStyle/>
          <a:p>
            <a:pPr indent="0" marL="0">
              <a:buNone/>
            </a:pPr>
            <a:r>
              <a:rPr lang="en-US" sz="900" b="1" spc="200" kern="0" dirty="0">
                <a:solidFill>
                  <a:srgbClr val="5E6E6A"/>
                </a:solidFill>
                <a:latin typeface="Arial" pitchFamily="34" charset="0"/>
                <a:ea typeface="Arial" pitchFamily="34" charset="-122"/>
                <a:cs typeface="Arial" pitchFamily="34" charset="-120"/>
              </a:rPr>
              <a:t>EVENT</a:t>
            </a:r>
            <a:endParaRPr lang="en-US" sz="900" dirty="0"/>
          </a:p>
        </p:txBody>
      </p:sp>
      <p:sp>
        <p:nvSpPr>
          <p:cNvPr id="8" name="lane EXTERNAL"/>
          <p:cNvSpPr/>
          <p:nvPr/>
        </p:nvSpPr>
        <p:spPr>
          <a:xfrm>
            <a:off x="548640" y="4370832"/>
            <a:ext cx="11091672" cy="548640"/>
          </a:xfrm>
          <a:prstGeom prst="rect">
            <a:avLst/>
          </a:prstGeom>
          <a:solidFill>
            <a:srgbClr val="F4F7F5"/>
          </a:solidFill>
          <a:ln w="12700">
            <a:solidFill>
              <a:srgbClr val="F4F7F5"/>
            </a:solidFill>
            <a:prstDash val="solid"/>
          </a:ln>
        </p:spPr>
      </p:sp>
      <p:sp>
        <p:nvSpPr>
          <p:cNvPr id="9" name="Text 7"/>
          <p:cNvSpPr txBox="1"/>
          <p:nvPr/>
        </p:nvSpPr>
        <p:spPr>
          <a:xfrm>
            <a:off x="685800" y="4370832"/>
            <a:ext cx="1051560" cy="548640"/>
          </a:xfrm>
          <a:prstGeom prst="rect">
            <a:avLst/>
          </a:prstGeom>
          <a:noFill/>
          <a:ln/>
        </p:spPr>
        <p:txBody>
          <a:bodyPr wrap="square" lIns="0" tIns="0" rIns="0" bIns="0" rtlCol="0" anchor="ctr"/>
          <a:lstStyle/>
          <a:p>
            <a:pPr indent="0" marL="0">
              <a:buNone/>
            </a:pPr>
            <a:r>
              <a:rPr lang="en-US" sz="900" b="1" spc="200" kern="0" dirty="0">
                <a:solidFill>
                  <a:srgbClr val="5E6E6A"/>
                </a:solidFill>
                <a:latin typeface="Arial" pitchFamily="34" charset="0"/>
                <a:ea typeface="Arial" pitchFamily="34" charset="-122"/>
                <a:cs typeface="Arial" pitchFamily="34" charset="-120"/>
              </a:rPr>
              <a:t>EXTERNAL</a:t>
            </a:r>
            <a:endParaRPr lang="en-US" sz="900" dirty="0"/>
          </a:p>
        </p:txBody>
      </p:sp>
      <p:sp>
        <p:nvSpPr>
          <p:cNvPr id="10" name="Text 8"/>
          <p:cNvSpPr txBox="1"/>
          <p:nvPr/>
        </p:nvSpPr>
        <p:spPr>
          <a:xfrm>
            <a:off x="1828800" y="1572768"/>
            <a:ext cx="548640" cy="201168"/>
          </a:xfrm>
          <a:prstGeom prst="rect">
            <a:avLst/>
          </a:prstGeom>
          <a:noFill/>
          <a:ln/>
        </p:spPr>
        <p:txBody>
          <a:bodyPr wrap="square" lIns="0" tIns="0" rIns="0" bIns="0" rtlCol="0" anchor="ctr"/>
          <a:lstStyle/>
          <a:p>
            <a:pPr indent="0" marL="0">
              <a:buNone/>
            </a:pPr>
            <a:r>
              <a:rPr lang="en-US" sz="800" b="1" spc="200" kern="0" dirty="0">
                <a:solidFill>
                  <a:srgbClr val="9FB8AF"/>
                </a:solidFill>
                <a:latin typeface="Arial" pitchFamily="34" charset="0"/>
                <a:ea typeface="Arial" pitchFamily="34" charset="-122"/>
                <a:cs typeface="Arial" pitchFamily="34" charset="-120"/>
              </a:rPr>
              <a:t>TIME</a:t>
            </a:r>
            <a:endParaRPr lang="en-US" sz="800" dirty="0"/>
          </a:p>
        </p:txBody>
      </p:sp>
      <p:sp>
        <p:nvSpPr>
          <p:cNvPr id="11" name="Shape 9"/>
          <p:cNvSpPr/>
          <p:nvPr/>
        </p:nvSpPr>
        <p:spPr>
          <a:xfrm>
            <a:off x="2331720" y="1673352"/>
            <a:ext cx="9308592" cy="0"/>
          </a:xfrm>
          <a:prstGeom prst="line">
            <a:avLst/>
          </a:prstGeom>
          <a:noFill/>
          <a:ln w="12700">
            <a:solidFill>
              <a:srgbClr val="9FB8AF"/>
            </a:solidFill>
            <a:prstDash val="solid"/>
            <a:tailEnd type="triangle"/>
          </a:ln>
        </p:spPr>
      </p:sp>
      <p:sp>
        <p:nvSpPr>
          <p:cNvPr id="12" name="actor note: Process owner"/>
          <p:cNvSpPr/>
          <p:nvPr/>
        </p:nvSpPr>
        <p:spPr>
          <a:xfrm>
            <a:off x="1828800" y="1920240"/>
            <a:ext cx="1315212" cy="411480"/>
          </a:xfrm>
          <a:prstGeom prst="rect">
            <a:avLst/>
          </a:prstGeom>
          <a:solidFill>
            <a:schemeClr val="accent5"/>
          </a:solidFill>
          <a:ln w="6350">
            <a:solidFill>
              <a:schemeClr val="accent5"/>
            </a:solidFill>
            <a:prstDash val="solid"/>
          </a:ln>
          <a:effectLst>
            <a:outerShdw sx="100000" sy="100000" kx="0" ky="0" algn="bl" rotWithShape="0" blurRad="50800" dist="25400" dir="5400000">
              <a:srgbClr val="000000">
                <a:alpha val="18000"/>
              </a:srgbClr>
            </a:outerShdw>
          </a:effectLst>
        </p:spPr>
      </p:sp>
      <p:sp>
        <p:nvSpPr>
          <p:cNvPr id="13" name="Text 11"/>
          <p:cNvSpPr txBox="1"/>
          <p:nvPr/>
        </p:nvSpPr>
        <p:spPr>
          <a:xfrm>
            <a:off x="1901952" y="1975104"/>
            <a:ext cx="1168908" cy="301752"/>
          </a:xfrm>
          <a:prstGeom prst="rect">
            <a:avLst/>
          </a:prstGeom>
          <a:noFill/>
          <a:ln/>
        </p:spPr>
        <p:txBody>
          <a:bodyPr wrap="square" lIns="0" tIns="0" rIns="0" bIns="0" rtlCol="0" anchor="t">
            <a:normAutofit/>
          </a:bodyPr>
          <a:lstStyle/>
          <a:p>
            <a:pPr indent="0" marL="0">
              <a:buNone/>
            </a:pPr>
            <a:r>
              <a:rPr lang="en-US" sz="1100" dirty="0">
                <a:solidFill>
                  <a:schemeClr val="tx1"/>
                </a:solidFill>
                <a:latin typeface="Calibri" pitchFamily="34" charset="0"/>
                <a:ea typeface="Calibri" pitchFamily="34" charset="-122"/>
                <a:cs typeface="Calibri" pitchFamily="34" charset="-120"/>
              </a:rPr>
              <a:t>Process owner</a:t>
            </a:r>
            <a:endParaRPr lang="en-US" sz="1100" dirty="0"/>
          </a:p>
        </p:txBody>
      </p:sp>
      <p:sp>
        <p:nvSpPr>
          <p:cNvPr id="14" name="event note: Conversion approved"/>
          <p:cNvSpPr/>
          <p:nvPr/>
        </p:nvSpPr>
        <p:spPr>
          <a:xfrm>
            <a:off x="1828800" y="2560320"/>
            <a:ext cx="1315212" cy="749808"/>
          </a:xfrm>
          <a:prstGeom prst="rect">
            <a:avLst/>
          </a:prstGeom>
          <a:solidFill>
            <a:schemeClr val="accent3"/>
          </a:solidFill>
          <a:ln w="6350">
            <a:solidFill>
              <a:schemeClr val="accent3"/>
            </a:solidFill>
            <a:prstDash val="solid"/>
          </a:ln>
          <a:effectLst>
            <a:outerShdw sx="100000" sy="100000" kx="0" ky="0" algn="bl" rotWithShape="0" blurRad="50800" dist="25400" dir="5400000">
              <a:srgbClr val="000000">
                <a:alpha val="18000"/>
              </a:srgbClr>
            </a:outerShdw>
          </a:effectLst>
        </p:spPr>
      </p:sp>
      <p:sp>
        <p:nvSpPr>
          <p:cNvPr id="15" name="Text 13"/>
          <p:cNvSpPr txBox="1"/>
          <p:nvPr/>
        </p:nvSpPr>
        <p:spPr>
          <a:xfrm>
            <a:off x="1901952" y="2615184"/>
            <a:ext cx="1168908" cy="640080"/>
          </a:xfrm>
          <a:prstGeom prst="rect">
            <a:avLst/>
          </a:prstGeom>
          <a:noFill/>
          <a:ln/>
        </p:spPr>
        <p:txBody>
          <a:bodyPr wrap="square" lIns="0" tIns="0" rIns="0" bIns="0" rtlCol="0" anchor="t">
            <a:normAutofit/>
          </a:bodyPr>
          <a:lstStyle/>
          <a:p>
            <a:pPr indent="0" marL="0">
              <a:buNone/>
            </a:pPr>
            <a:r>
              <a:rPr lang="en-US" sz="1200" b="1" dirty="0">
                <a:solidFill>
                  <a:schemeClr val="tx1"/>
                </a:solidFill>
                <a:latin typeface="Calibri" pitchFamily="34" charset="0"/>
                <a:ea typeface="Calibri" pitchFamily="34" charset="-122"/>
                <a:cs typeface="Calibri" pitchFamily="34" charset="-120"/>
              </a:rPr>
              <a:t>Conversion approved</a:t>
            </a:r>
            <a:endParaRPr lang="en-US" sz="1200" dirty="0"/>
          </a:p>
        </p:txBody>
      </p:sp>
      <p:sp>
        <p:nvSpPr>
          <p:cNvPr id="16" name="event note: Conversion rejected with reason"/>
          <p:cNvSpPr/>
          <p:nvPr/>
        </p:nvSpPr>
        <p:spPr>
          <a:xfrm>
            <a:off x="1828800" y="3419856"/>
            <a:ext cx="1315212" cy="749808"/>
          </a:xfrm>
          <a:prstGeom prst="rect">
            <a:avLst/>
          </a:prstGeom>
          <a:solidFill>
            <a:schemeClr val="accent3"/>
          </a:solidFill>
          <a:ln w="6350">
            <a:solidFill>
              <a:schemeClr val="accent3"/>
            </a:solidFill>
            <a:prstDash val="solid"/>
          </a:ln>
          <a:effectLst>
            <a:outerShdw sx="100000" sy="100000" kx="0" ky="0" algn="bl" rotWithShape="0" blurRad="50800" dist="25400" dir="5400000">
              <a:srgbClr val="000000">
                <a:alpha val="18000"/>
              </a:srgbClr>
            </a:outerShdw>
          </a:effectLst>
        </p:spPr>
      </p:sp>
      <p:sp>
        <p:nvSpPr>
          <p:cNvPr id="17" name="Text 15"/>
          <p:cNvSpPr txBox="1"/>
          <p:nvPr/>
        </p:nvSpPr>
        <p:spPr>
          <a:xfrm>
            <a:off x="1901952" y="3474720"/>
            <a:ext cx="1168908" cy="640080"/>
          </a:xfrm>
          <a:prstGeom prst="rect">
            <a:avLst/>
          </a:prstGeom>
          <a:noFill/>
          <a:ln/>
        </p:spPr>
        <p:txBody>
          <a:bodyPr wrap="square" lIns="0" tIns="0" rIns="0" bIns="0" rtlCol="0" anchor="t">
            <a:normAutofit/>
          </a:bodyPr>
          <a:lstStyle/>
          <a:p>
            <a:pPr indent="0" marL="0">
              <a:buNone/>
            </a:pPr>
            <a:r>
              <a:rPr lang="en-US" sz="1200" b="1" dirty="0">
                <a:solidFill>
                  <a:schemeClr val="tx1"/>
                </a:solidFill>
                <a:latin typeface="Calibri" pitchFamily="34" charset="0"/>
                <a:ea typeface="Calibri" pitchFamily="34" charset="-122"/>
                <a:cs typeface="Calibri" pitchFamily="34" charset="-120"/>
              </a:rPr>
              <a:t>Conversion rejected with reason</a:t>
            </a:r>
            <a:endParaRPr lang="en-US" sz="1200" dirty="0"/>
          </a:p>
        </p:txBody>
      </p:sp>
      <p:sp>
        <p:nvSpPr>
          <p:cNvPr id="18" name="Shape 16"/>
          <p:cNvSpPr/>
          <p:nvPr/>
        </p:nvSpPr>
        <p:spPr>
          <a:xfrm>
            <a:off x="3198876" y="3383280"/>
            <a:ext cx="274320" cy="0"/>
          </a:xfrm>
          <a:prstGeom prst="line">
            <a:avLst/>
          </a:prstGeom>
          <a:noFill/>
          <a:ln w="19050">
            <a:solidFill>
              <a:srgbClr val="9FB8AF"/>
            </a:solidFill>
            <a:prstDash val="solid"/>
            <a:tailEnd type="triangle"/>
          </a:ln>
        </p:spPr>
      </p:sp>
      <p:sp>
        <p:nvSpPr>
          <p:cNvPr id="19" name="actor note: AI engineer"/>
          <p:cNvSpPr/>
          <p:nvPr/>
        </p:nvSpPr>
        <p:spPr>
          <a:xfrm>
            <a:off x="3528060" y="1920240"/>
            <a:ext cx="1315212" cy="411480"/>
          </a:xfrm>
          <a:prstGeom prst="rect">
            <a:avLst/>
          </a:prstGeom>
          <a:solidFill>
            <a:schemeClr val="accent5"/>
          </a:solidFill>
          <a:ln w="6350">
            <a:solidFill>
              <a:schemeClr val="accent5"/>
            </a:solidFill>
            <a:prstDash val="solid"/>
          </a:ln>
          <a:effectLst>
            <a:outerShdw sx="100000" sy="100000" kx="0" ky="0" algn="bl" rotWithShape="0" blurRad="50800" dist="25400" dir="5400000">
              <a:srgbClr val="000000">
                <a:alpha val="18000"/>
              </a:srgbClr>
            </a:outerShdw>
          </a:effectLst>
        </p:spPr>
      </p:sp>
      <p:sp>
        <p:nvSpPr>
          <p:cNvPr id="20" name="Text 18"/>
          <p:cNvSpPr txBox="1"/>
          <p:nvPr/>
        </p:nvSpPr>
        <p:spPr>
          <a:xfrm>
            <a:off x="3601212" y="1975104"/>
            <a:ext cx="1168908" cy="301752"/>
          </a:xfrm>
          <a:prstGeom prst="rect">
            <a:avLst/>
          </a:prstGeom>
          <a:noFill/>
          <a:ln/>
        </p:spPr>
        <p:txBody>
          <a:bodyPr wrap="square" lIns="0" tIns="0" rIns="0" bIns="0" rtlCol="0" anchor="t">
            <a:normAutofit/>
          </a:bodyPr>
          <a:lstStyle/>
          <a:p>
            <a:pPr indent="0" marL="0">
              <a:buNone/>
            </a:pPr>
            <a:r>
              <a:rPr lang="en-US" sz="1100" dirty="0">
                <a:solidFill>
                  <a:schemeClr val="tx1"/>
                </a:solidFill>
                <a:latin typeface="Calibri" pitchFamily="34" charset="0"/>
                <a:ea typeface="Calibri" pitchFamily="34" charset="-122"/>
                <a:cs typeface="Calibri" pitchFamily="34" charset="-120"/>
              </a:rPr>
              <a:t>AI engineer</a:t>
            </a:r>
            <a:endParaRPr lang="en-US" sz="1100" dirty="0"/>
          </a:p>
        </p:txBody>
      </p:sp>
      <p:sp>
        <p:nvSpPr>
          <p:cNvPr id="21" name="event note: Workflow derived"/>
          <p:cNvSpPr/>
          <p:nvPr/>
        </p:nvSpPr>
        <p:spPr>
          <a:xfrm>
            <a:off x="3528060" y="2761488"/>
            <a:ext cx="1315212" cy="1188720"/>
          </a:xfrm>
          <a:prstGeom prst="rect">
            <a:avLst/>
          </a:prstGeom>
          <a:solidFill>
            <a:schemeClr val="accent3"/>
          </a:solidFill>
          <a:ln w="6350">
            <a:solidFill>
              <a:schemeClr val="accent3"/>
            </a:solidFill>
            <a:prstDash val="solid"/>
          </a:ln>
          <a:effectLst>
            <a:outerShdw sx="100000" sy="100000" kx="0" ky="0" algn="bl" rotWithShape="0" blurRad="50800" dist="25400" dir="5400000">
              <a:srgbClr val="000000">
                <a:alpha val="18000"/>
              </a:srgbClr>
            </a:outerShdw>
          </a:effectLst>
        </p:spPr>
      </p:sp>
      <p:sp>
        <p:nvSpPr>
          <p:cNvPr id="22" name="Text 20"/>
          <p:cNvSpPr txBox="1"/>
          <p:nvPr/>
        </p:nvSpPr>
        <p:spPr>
          <a:xfrm>
            <a:off x="3601212" y="2816352"/>
            <a:ext cx="1168908" cy="1078992"/>
          </a:xfrm>
          <a:prstGeom prst="rect">
            <a:avLst/>
          </a:prstGeom>
          <a:noFill/>
          <a:ln/>
        </p:spPr>
        <p:txBody>
          <a:bodyPr wrap="square" lIns="0" tIns="0" rIns="0" bIns="0" rtlCol="0" anchor="t">
            <a:normAutofit/>
          </a:bodyPr>
          <a:lstStyle/>
          <a:p>
            <a:pPr indent="0" marL="0">
              <a:buNone/>
            </a:pPr>
            <a:r>
              <a:rPr lang="en-US" sz="1200" b="1" dirty="0">
                <a:solidFill>
                  <a:schemeClr val="tx1"/>
                </a:solidFill>
                <a:latin typeface="Calibri" pitchFamily="34" charset="0"/>
                <a:ea typeface="Calibri" pitchFamily="34" charset="-122"/>
                <a:cs typeface="Calibri" pitchFamily="34" charset="-120"/>
              </a:rPr>
              <a:t>Workflow derived</a:t>
            </a:r>
            <a:endParaRPr lang="en-US" sz="1200" dirty="0"/>
          </a:p>
        </p:txBody>
      </p:sp>
      <p:sp>
        <p:nvSpPr>
          <p:cNvPr id="23" name="Shape 21"/>
          <p:cNvSpPr/>
          <p:nvPr/>
        </p:nvSpPr>
        <p:spPr>
          <a:xfrm>
            <a:off x="4898136" y="3383280"/>
            <a:ext cx="274320" cy="0"/>
          </a:xfrm>
          <a:prstGeom prst="line">
            <a:avLst/>
          </a:prstGeom>
          <a:noFill/>
          <a:ln w="19050">
            <a:solidFill>
              <a:srgbClr val="9FB8AF"/>
            </a:solidFill>
            <a:prstDash val="solid"/>
            <a:tailEnd type="triangle"/>
          </a:ln>
        </p:spPr>
      </p:sp>
      <p:sp>
        <p:nvSpPr>
          <p:cNvPr id="24" name="event note: Agent scope reduced to exceptions"/>
          <p:cNvSpPr/>
          <p:nvPr/>
        </p:nvSpPr>
        <p:spPr>
          <a:xfrm>
            <a:off x="5227320" y="2761488"/>
            <a:ext cx="1315212" cy="1188720"/>
          </a:xfrm>
          <a:prstGeom prst="rect">
            <a:avLst/>
          </a:prstGeom>
          <a:solidFill>
            <a:schemeClr val="accent3"/>
          </a:solidFill>
          <a:ln w="28575">
            <a:solidFill>
              <a:schemeClr val="tx1"/>
            </a:solidFill>
            <a:prstDash val="solid"/>
          </a:ln>
          <a:effectLst>
            <a:outerShdw sx="100000" sy="100000" kx="0" ky="0" algn="bl" rotWithShape="0" blurRad="50800" dist="25400" dir="5400000">
              <a:srgbClr val="000000">
                <a:alpha val="18000"/>
              </a:srgbClr>
            </a:outerShdw>
          </a:effectLst>
        </p:spPr>
      </p:sp>
      <p:sp>
        <p:nvSpPr>
          <p:cNvPr id="25" name="Text 23"/>
          <p:cNvSpPr txBox="1"/>
          <p:nvPr/>
        </p:nvSpPr>
        <p:spPr>
          <a:xfrm>
            <a:off x="5300472" y="2816352"/>
            <a:ext cx="1168908" cy="1078992"/>
          </a:xfrm>
          <a:prstGeom prst="rect">
            <a:avLst/>
          </a:prstGeom>
          <a:noFill/>
          <a:ln/>
        </p:spPr>
        <p:txBody>
          <a:bodyPr wrap="square" lIns="0" tIns="0" rIns="0" bIns="0" rtlCol="0" anchor="t">
            <a:normAutofit/>
          </a:bodyPr>
          <a:lstStyle/>
          <a:p>
            <a:pPr indent="0" marL="0">
              <a:buNone/>
            </a:pPr>
            <a:r>
              <a:rPr lang="en-US" sz="1200" dirty="0">
                <a:solidFill>
                  <a:schemeClr val="tx1"/>
                </a:solidFill>
                <a:latin typeface="Calibri" pitchFamily="34" charset="0"/>
                <a:ea typeface="Calibri" pitchFamily="34" charset="-122"/>
                <a:cs typeface="Calibri" pitchFamily="34" charset="-120"/>
              </a:rPr>
              <a:t>★ </a:t>
            </a:r>
            <a:pPr indent="0" marL="0">
              <a:buNone/>
            </a:pPr>
            <a:r>
              <a:rPr lang="en-US" sz="1200" b="1" dirty="0">
                <a:solidFill>
                  <a:schemeClr val="tx1"/>
                </a:solidFill>
                <a:latin typeface="Calibri" pitchFamily="34" charset="0"/>
                <a:ea typeface="Calibri" pitchFamily="34" charset="-122"/>
                <a:cs typeface="Calibri" pitchFamily="34" charset="-120"/>
              </a:rPr>
              <a:t>Agent scope reduced to exceptions</a:t>
            </a:r>
            <a:endParaRPr lang="en-US" sz="1200" dirty="0"/>
          </a:p>
        </p:txBody>
      </p:sp>
      <p:sp>
        <p:nvSpPr>
          <p:cNvPr id="26" name="Shape 24"/>
          <p:cNvSpPr/>
          <p:nvPr/>
        </p:nvSpPr>
        <p:spPr>
          <a:xfrm>
            <a:off x="6597396" y="3383280"/>
            <a:ext cx="274320" cy="0"/>
          </a:xfrm>
          <a:prstGeom prst="line">
            <a:avLst/>
          </a:prstGeom>
          <a:noFill/>
          <a:ln w="19050">
            <a:solidFill>
              <a:srgbClr val="9FB8AF"/>
            </a:solidFill>
            <a:prstDash val="solid"/>
            <a:tailEnd type="triangle"/>
          </a:ln>
        </p:spPr>
      </p:sp>
      <p:sp>
        <p:nvSpPr>
          <p:cNvPr id="27" name="event note: Agent retired"/>
          <p:cNvSpPr/>
          <p:nvPr/>
        </p:nvSpPr>
        <p:spPr>
          <a:xfrm>
            <a:off x="6926580" y="2761488"/>
            <a:ext cx="1315212" cy="1188720"/>
          </a:xfrm>
          <a:prstGeom prst="rect">
            <a:avLst/>
          </a:prstGeom>
          <a:solidFill>
            <a:schemeClr val="accent3"/>
          </a:solidFill>
          <a:ln w="6350">
            <a:solidFill>
              <a:schemeClr val="accent3"/>
            </a:solidFill>
            <a:prstDash val="solid"/>
          </a:ln>
          <a:effectLst>
            <a:outerShdw sx="100000" sy="100000" kx="0" ky="0" algn="bl" rotWithShape="0" blurRad="50800" dist="25400" dir="5400000">
              <a:srgbClr val="000000">
                <a:alpha val="18000"/>
              </a:srgbClr>
            </a:outerShdw>
          </a:effectLst>
        </p:spPr>
      </p:sp>
      <p:sp>
        <p:nvSpPr>
          <p:cNvPr id="28" name="Text 26"/>
          <p:cNvSpPr txBox="1"/>
          <p:nvPr/>
        </p:nvSpPr>
        <p:spPr>
          <a:xfrm>
            <a:off x="6999732" y="2816352"/>
            <a:ext cx="1168908" cy="1078992"/>
          </a:xfrm>
          <a:prstGeom prst="rect">
            <a:avLst/>
          </a:prstGeom>
          <a:noFill/>
          <a:ln/>
        </p:spPr>
        <p:txBody>
          <a:bodyPr wrap="square" lIns="0" tIns="0" rIns="0" bIns="0" rtlCol="0" anchor="t">
            <a:normAutofit/>
          </a:bodyPr>
          <a:lstStyle/>
          <a:p>
            <a:pPr indent="0" marL="0">
              <a:buNone/>
            </a:pPr>
            <a:r>
              <a:rPr lang="en-US" sz="1200" b="1" dirty="0">
                <a:solidFill>
                  <a:schemeClr val="tx1"/>
                </a:solidFill>
                <a:latin typeface="Calibri" pitchFamily="34" charset="0"/>
                <a:ea typeface="Calibri" pitchFamily="34" charset="-122"/>
                <a:cs typeface="Calibri" pitchFamily="34" charset="-120"/>
              </a:rPr>
              <a:t>Agent retired</a:t>
            </a:r>
            <a:endParaRPr lang="en-US" sz="1200" dirty="0"/>
          </a:p>
        </p:txBody>
      </p:sp>
      <p:sp>
        <p:nvSpPr>
          <p:cNvPr id="29" name="Shape 27"/>
          <p:cNvSpPr/>
          <p:nvPr/>
        </p:nvSpPr>
        <p:spPr>
          <a:xfrm>
            <a:off x="8296656" y="3383280"/>
            <a:ext cx="274320" cy="0"/>
          </a:xfrm>
          <a:prstGeom prst="line">
            <a:avLst/>
          </a:prstGeom>
          <a:noFill/>
          <a:ln w="19050">
            <a:solidFill>
              <a:srgbClr val="9FB8AF"/>
            </a:solidFill>
            <a:prstDash val="solid"/>
            <a:tailEnd type="triangle"/>
          </a:ln>
        </p:spPr>
      </p:sp>
      <p:sp>
        <p:nvSpPr>
          <p:cNvPr id="30" name="event note: Conversion case added to training"/>
          <p:cNvSpPr/>
          <p:nvPr/>
        </p:nvSpPr>
        <p:spPr>
          <a:xfrm>
            <a:off x="8625840" y="2761488"/>
            <a:ext cx="1315212" cy="1188720"/>
          </a:xfrm>
          <a:prstGeom prst="rect">
            <a:avLst/>
          </a:prstGeom>
          <a:solidFill>
            <a:schemeClr val="accent3"/>
          </a:solidFill>
          <a:ln w="6350">
            <a:solidFill>
              <a:schemeClr val="accent3"/>
            </a:solidFill>
            <a:prstDash val="solid"/>
          </a:ln>
          <a:effectLst>
            <a:outerShdw sx="100000" sy="100000" kx="0" ky="0" algn="bl" rotWithShape="0" blurRad="50800" dist="25400" dir="5400000">
              <a:srgbClr val="000000">
                <a:alpha val="18000"/>
              </a:srgbClr>
            </a:outerShdw>
          </a:effectLst>
        </p:spPr>
      </p:sp>
      <p:sp>
        <p:nvSpPr>
          <p:cNvPr id="31" name="Text 29"/>
          <p:cNvSpPr txBox="1"/>
          <p:nvPr/>
        </p:nvSpPr>
        <p:spPr>
          <a:xfrm>
            <a:off x="8698992" y="2816352"/>
            <a:ext cx="1168908" cy="1078992"/>
          </a:xfrm>
          <a:prstGeom prst="rect">
            <a:avLst/>
          </a:prstGeom>
          <a:noFill/>
          <a:ln/>
        </p:spPr>
        <p:txBody>
          <a:bodyPr wrap="square" lIns="0" tIns="0" rIns="0" bIns="0" rtlCol="0" anchor="t">
            <a:normAutofit/>
          </a:bodyPr>
          <a:lstStyle/>
          <a:p>
            <a:pPr indent="0" marL="0">
              <a:buNone/>
            </a:pPr>
            <a:r>
              <a:rPr lang="en-US" sz="1200" b="1" dirty="0">
                <a:solidFill>
                  <a:schemeClr val="tx1"/>
                </a:solidFill>
                <a:latin typeface="Calibri" pitchFamily="34" charset="0"/>
                <a:ea typeface="Calibri" pitchFamily="34" charset="-122"/>
                <a:cs typeface="Calibri" pitchFamily="34" charset="-120"/>
              </a:rPr>
              <a:t>Conversion case added to training</a:t>
            </a:r>
            <a:endParaRPr lang="en-US" sz="1200" dirty="0"/>
          </a:p>
        </p:txBody>
      </p:sp>
      <p:sp>
        <p:nvSpPr>
          <p:cNvPr id="32" name="Shape 30"/>
          <p:cNvSpPr/>
          <p:nvPr/>
        </p:nvSpPr>
        <p:spPr>
          <a:xfrm>
            <a:off x="9995916" y="3383280"/>
            <a:ext cx="274320" cy="0"/>
          </a:xfrm>
          <a:prstGeom prst="line">
            <a:avLst/>
          </a:prstGeom>
          <a:noFill/>
          <a:ln w="19050">
            <a:solidFill>
              <a:srgbClr val="9FB8AF"/>
            </a:solidFill>
            <a:prstDash val="solid"/>
            <a:tailEnd type="triangle"/>
          </a:ln>
        </p:spPr>
      </p:sp>
      <p:sp>
        <p:nvSpPr>
          <p:cNvPr id="33" name="hot note: Who pays for the conversion: the business unit or the central CIO budget?"/>
          <p:cNvSpPr/>
          <p:nvPr/>
        </p:nvSpPr>
        <p:spPr>
          <a:xfrm rot="-120000">
            <a:off x="10361676" y="2761488"/>
            <a:ext cx="1242060" cy="1188720"/>
          </a:xfrm>
          <a:prstGeom prst="rect">
            <a:avLst/>
          </a:prstGeom>
          <a:solidFill>
            <a:schemeClr val="accent6"/>
          </a:solidFill>
          <a:ln w="6350">
            <a:solidFill>
              <a:schemeClr val="accent6"/>
            </a:solidFill>
            <a:prstDash val="solid"/>
          </a:ln>
          <a:effectLst>
            <a:outerShdw sx="100000" sy="100000" kx="0" ky="0" algn="bl" rotWithShape="0" blurRad="50800" dist="25400" dir="5400000">
              <a:srgbClr val="000000">
                <a:alpha val="18000"/>
              </a:srgbClr>
            </a:outerShdw>
          </a:effectLst>
        </p:spPr>
      </p:sp>
      <p:sp>
        <p:nvSpPr>
          <p:cNvPr id="34" name="Text 32"/>
          <p:cNvSpPr txBox="1"/>
          <p:nvPr/>
        </p:nvSpPr>
        <p:spPr>
          <a:xfrm rot="-120000">
            <a:off x="10434828" y="2816352"/>
            <a:ext cx="1095756" cy="1078992"/>
          </a:xfrm>
          <a:prstGeom prst="rect">
            <a:avLst/>
          </a:prstGeom>
          <a:noFill/>
          <a:ln/>
        </p:spPr>
        <p:txBody>
          <a:bodyPr wrap="square" lIns="0" tIns="0" rIns="0" bIns="0" rtlCol="0" anchor="t">
            <a:normAutofit/>
          </a:bodyPr>
          <a:lstStyle/>
          <a:p>
            <a:pPr indent="0" marL="0">
              <a:buNone/>
            </a:pPr>
            <a:r>
              <a:rPr lang="en-US" sz="950" b="1" dirty="0">
                <a:solidFill>
                  <a:schemeClr val="bg1"/>
                </a:solidFill>
                <a:latin typeface="Calibri" pitchFamily="34" charset="0"/>
                <a:ea typeface="Calibri" pitchFamily="34" charset="-122"/>
                <a:cs typeface="Calibri" pitchFamily="34" charset="-120"/>
              </a:rPr>
              <a:t>H7  </a:t>
            </a:r>
            <a:pPr indent="0" marL="0">
              <a:buNone/>
            </a:pPr>
            <a:r>
              <a:rPr lang="en-US" sz="1050" b="1" dirty="0">
                <a:solidFill>
                  <a:schemeClr val="bg1"/>
                </a:solidFill>
                <a:latin typeface="Calibri" pitchFamily="34" charset="0"/>
                <a:ea typeface="Calibri" pitchFamily="34" charset="-122"/>
                <a:cs typeface="Calibri" pitchFamily="34" charset="-120"/>
              </a:rPr>
              <a:t>Who pays for the conversion: the business unit or the central CIO budget?</a:t>
            </a:r>
            <a:endParaRPr lang="en-US" sz="950" dirty="0"/>
          </a:p>
        </p:txBody>
      </p:sp>
      <p:sp>
        <p:nvSpPr>
          <p:cNvPr id="35" name="ubiquitous language"/>
          <p:cNvSpPr/>
          <p:nvPr/>
        </p:nvSpPr>
        <p:spPr>
          <a:xfrm>
            <a:off x="548640" y="5120640"/>
            <a:ext cx="7178040" cy="1143000"/>
          </a:xfrm>
          <a:prstGeom prst="rect">
            <a:avLst/>
          </a:prstGeom>
          <a:solidFill>
            <a:schemeClr val="bg2"/>
          </a:solidFill>
          <a:ln w="12700">
            <a:solidFill>
              <a:schemeClr val="bg2"/>
            </a:solidFill>
            <a:prstDash val="solid"/>
          </a:ln>
        </p:spPr>
      </p:sp>
      <p:sp>
        <p:nvSpPr>
          <p:cNvPr id="36" name="Text 34"/>
          <p:cNvSpPr txBox="1"/>
          <p:nvPr/>
        </p:nvSpPr>
        <p:spPr>
          <a:xfrm>
            <a:off x="731520" y="5212080"/>
            <a:ext cx="4572000" cy="228600"/>
          </a:xfrm>
          <a:prstGeom prst="rect">
            <a:avLst/>
          </a:prstGeom>
          <a:noFill/>
          <a:ln/>
        </p:spPr>
        <p:txBody>
          <a:bodyPr wrap="square" lIns="0" tIns="0" rIns="0" bIns="0" rtlCol="0" anchor="ctr"/>
          <a:lstStyle/>
          <a:p>
            <a:pPr indent="0" marL="0">
              <a:buNone/>
            </a:pPr>
            <a:r>
              <a:rPr lang="en-US" sz="900" b="1" spc="200" kern="0" dirty="0">
                <a:solidFill>
                  <a:schemeClr val="accent1"/>
                </a:solidFill>
                <a:latin typeface="Arial" pitchFamily="34" charset="0"/>
                <a:ea typeface="Arial" pitchFamily="34" charset="-122"/>
                <a:cs typeface="Arial" pitchFamily="34" charset="-120"/>
              </a:rPr>
              <a:t>UBIQUITOUS LANGUAGE</a:t>
            </a:r>
            <a:endParaRPr lang="en-US" sz="900" dirty="0"/>
          </a:p>
        </p:txBody>
      </p:sp>
      <p:sp>
        <p:nvSpPr>
          <p:cNvPr id="37" name="Text 35"/>
          <p:cNvSpPr txBox="1"/>
          <p:nvPr/>
        </p:nvSpPr>
        <p:spPr>
          <a:xfrm>
            <a:off x="731520" y="5468112"/>
            <a:ext cx="6812280" cy="731520"/>
          </a:xfrm>
          <a:prstGeom prst="rect">
            <a:avLst/>
          </a:prstGeom>
          <a:noFill/>
          <a:ln/>
        </p:spPr>
        <p:txBody>
          <a:bodyPr wrap="square" lIns="0" tIns="0" rIns="0" bIns="0" rtlCol="0" anchor="t">
            <a:normAutofit/>
          </a:bodyPr>
          <a:lstStyle/>
          <a:p>
            <a:pPr indent="0" marL="0">
              <a:buNone/>
            </a:pPr>
            <a:r>
              <a:rPr lang="en-US" sz="1050" b="1" dirty="0">
                <a:solidFill>
                  <a:schemeClr val="tx1"/>
                </a:solidFill>
                <a:latin typeface="Calibri" pitchFamily="34" charset="0"/>
                <a:ea typeface="Calibri" pitchFamily="34" charset="-122"/>
                <a:cs typeface="Calibri" pitchFamily="34" charset="-120"/>
              </a:rPr>
              <a:t>Conversion  </a:t>
            </a:r>
            <a:pPr indent="0" marL="0">
              <a:spcAft>
                <a:spcPts val="300"/>
              </a:spcAft>
              <a:buNone/>
            </a:pPr>
            <a:r>
              <a:rPr lang="en-US" sz="1050" dirty="0">
                <a:solidFill>
                  <a:schemeClr val="tx1"/>
                </a:solidFill>
                <a:latin typeface="Calibri" pitchFamily="34" charset="0"/>
                <a:ea typeface="Calibri" pitchFamily="34" charset="-122"/>
                <a:cs typeface="Calibri" pitchFamily="34" charset="-120"/>
              </a:rPr>
              <a:t>Turning the frequent paths of a uniform agent into a workflow.</a:t>
            </a:r>
            <a:endParaRPr lang="en-US" sz="1050" dirty="0"/>
          </a:p>
          <a:p>
            <a:pPr indent="0" marL="0">
              <a:buNone/>
            </a:pPr>
            <a:r>
              <a:rPr lang="en-US" sz="1050" b="1" dirty="0">
                <a:solidFill>
                  <a:schemeClr val="tx1"/>
                </a:solidFill>
                <a:latin typeface="Calibri" pitchFamily="34" charset="0"/>
                <a:ea typeface="Calibri" pitchFamily="34" charset="-122"/>
                <a:cs typeface="Calibri" pitchFamily="34" charset="-120"/>
              </a:rPr>
              <a:t>Exception scope  </a:t>
            </a:r>
            <a:pPr indent="0" marL="0">
              <a:spcAft>
                <a:spcPts val="300"/>
              </a:spcAft>
              <a:buNone/>
            </a:pPr>
            <a:r>
              <a:rPr lang="en-US" sz="1050" dirty="0">
                <a:solidFill>
                  <a:schemeClr val="tx1"/>
                </a:solidFill>
                <a:latin typeface="Calibri" pitchFamily="34" charset="0"/>
                <a:ea typeface="Calibri" pitchFamily="34" charset="-122"/>
                <a:cs typeface="Calibri" pitchFamily="34" charset="-120"/>
              </a:rPr>
              <a:t>The cases an agent still handles after conversion.</a:t>
            </a:r>
            <a:endParaRPr lang="en-US" sz="1050" dirty="0"/>
          </a:p>
          <a:p>
            <a:pPr indent="0" marL="0">
              <a:buNone/>
            </a:pPr>
            <a:r>
              <a:rPr lang="en-US" sz="1050" b="1" dirty="0">
                <a:solidFill>
                  <a:schemeClr val="tx1"/>
                </a:solidFill>
                <a:latin typeface="Calibri" pitchFamily="34" charset="0"/>
                <a:ea typeface="Calibri" pitchFamily="34" charset="-122"/>
                <a:cs typeface="Calibri" pitchFamily="34" charset="-120"/>
              </a:rPr>
              <a:t>Uniform agent  </a:t>
            </a:r>
            <a:pPr indent="0" marL="0">
              <a:spcAft>
                <a:spcPts val="300"/>
              </a:spcAft>
              <a:buNone/>
            </a:pPr>
            <a:r>
              <a:rPr lang="en-US" sz="1050" dirty="0">
                <a:solidFill>
                  <a:schemeClr val="tx1"/>
                </a:solidFill>
                <a:latin typeface="Calibri" pitchFamily="34" charset="0"/>
                <a:ea typeface="Calibri" pitchFamily="34" charset="-122"/>
                <a:cs typeface="Calibri" pitchFamily="34" charset="-120"/>
              </a:rPr>
              <a:t>An agent whose runs have become near-identical: it behaves like a workflow but costs like an agent.</a:t>
            </a:r>
            <a:endParaRPr lang="en-US" sz="1050" dirty="0"/>
          </a:p>
        </p:txBody>
      </p:sp>
      <p:sp>
        <p:nvSpPr>
          <p:cNvPr id="38" name="handover"/>
          <p:cNvSpPr/>
          <p:nvPr/>
        </p:nvSpPr>
        <p:spPr>
          <a:xfrm>
            <a:off x="7955280" y="5120640"/>
            <a:ext cx="3685032" cy="1143000"/>
          </a:xfrm>
          <a:prstGeom prst="rect">
            <a:avLst/>
          </a:prstGeom>
          <a:solidFill>
            <a:schemeClr val="bg1"/>
          </a:solidFill>
          <a:ln w="12700">
            <a:solidFill>
              <a:srgbClr val="C9D6D0"/>
            </a:solidFill>
            <a:prstDash val="solid"/>
          </a:ln>
        </p:spPr>
      </p:sp>
      <p:sp>
        <p:nvSpPr>
          <p:cNvPr id="39" name="Text 37"/>
          <p:cNvSpPr txBox="1"/>
          <p:nvPr/>
        </p:nvSpPr>
        <p:spPr>
          <a:xfrm>
            <a:off x="8138160" y="5212080"/>
            <a:ext cx="3383280" cy="978408"/>
          </a:xfrm>
          <a:prstGeom prst="rect">
            <a:avLst/>
          </a:prstGeom>
          <a:noFill/>
          <a:ln/>
        </p:spPr>
        <p:txBody>
          <a:bodyPr wrap="square" lIns="0" tIns="0" rIns="0" bIns="0" rtlCol="0" anchor="t">
            <a:normAutofit/>
          </a:bodyPr>
          <a:lstStyle/>
          <a:p>
            <a:pPr indent="0" marL="0">
              <a:buNone/>
            </a:pPr>
            <a:r>
              <a:rPr lang="en-US" sz="900" b="1" spc="200" kern="0" dirty="0">
                <a:solidFill>
                  <a:schemeClr val="accent1"/>
                </a:solidFill>
                <a:latin typeface="Calibri" pitchFamily="34" charset="0"/>
                <a:ea typeface="Calibri" pitchFamily="34" charset="-122"/>
                <a:cs typeface="Calibri" pitchFamily="34" charset="-120"/>
              </a:rPr>
              <a:t>RECEIVES</a:t>
            </a:r>
            <a:endParaRPr lang="en-US" sz="900" dirty="0"/>
          </a:p>
          <a:p>
            <a:pPr indent="0" marL="0">
              <a:spcAft>
                <a:spcPts val="400"/>
              </a:spcAft>
              <a:buNone/>
            </a:pPr>
            <a:r>
              <a:rPr lang="en-US" sz="1050" dirty="0">
                <a:solidFill>
                  <a:schemeClr val="tx1"/>
                </a:solidFill>
                <a:latin typeface="Calibri" pitchFamily="34" charset="0"/>
                <a:ea typeface="Calibri" pitchFamily="34" charset="-122"/>
                <a:cs typeface="Calibri" pitchFamily="34" charset="-120"/>
              </a:rPr>
              <a:t>★ Agent flagged as uniform / unused (Agent Monitoring)</a:t>
            </a:r>
            <a:endParaRPr lang="en-US" sz="900" dirty="0"/>
          </a:p>
          <a:p>
            <a:pPr indent="0" marL="0">
              <a:buNone/>
            </a:pPr>
            <a:r>
              <a:rPr lang="en-US" sz="900" b="1" spc="200" kern="0" dirty="0">
                <a:solidFill>
                  <a:schemeClr val="accent1"/>
                </a:solidFill>
                <a:latin typeface="Calibri" pitchFamily="34" charset="0"/>
                <a:ea typeface="Calibri" pitchFamily="34" charset="-122"/>
                <a:cs typeface="Calibri" pitchFamily="34" charset="-120"/>
              </a:rPr>
              <a:t>HANDS OVER</a:t>
            </a:r>
            <a:endParaRPr lang="en-US" sz="900" dirty="0"/>
          </a:p>
          <a:p>
            <a:pPr indent="0" marL="0">
              <a:buNone/>
            </a:pPr>
            <a:r>
              <a:rPr lang="en-US" sz="1050" dirty="0">
                <a:solidFill>
                  <a:schemeClr val="tx1"/>
                </a:solidFill>
                <a:latin typeface="Calibri" pitchFamily="34" charset="0"/>
                <a:ea typeface="Calibri" pitchFamily="34" charset="-122"/>
                <a:cs typeface="Calibri" pitchFamily="34" charset="-120"/>
              </a:rPr>
              <a:t>Conversion case added to training → Enablement (closes the loop)</a:t>
            </a:r>
            <a:endParaRPr lang="en-US" sz="900" dirty="0"/>
          </a:p>
        </p:txBody>
      </p:sp>
      <p:sp>
        <p:nvSpPr>
          <p:cNvPr id="25" name="Slide Number Placeholder 0"/>
          <p:cNvSpPr>
            <a:spLocks noGrp="1"/>
          </p:cNvSpPr>
          <p:nvPr>
            <p:ph type="sldNum" sz="quarter" idx="4294967295"/>
          </p:nvPr>
        </p:nvSpPr>
        <p:spPr>
          <a:xfrm>
            <a:off x="11274552" y="644652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E6E6A"/>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274320"/>
          </a:xfrm>
          <a:prstGeom prst="rect">
            <a:avLst/>
          </a:prstGeom>
          <a:noFill/>
          <a:ln/>
        </p:spPr>
        <p:txBody>
          <a:bodyPr wrap="square" lIns="0" tIns="0" rIns="0" bIns="0" rtlCol="0"/>
          <a:lstStyle/>
          <a:p>
            <a:pPr indent="0" marL="0">
              <a:buNone/>
            </a:pPr>
            <a:r>
              <a:rPr lang="en-US" sz="1100" b="1" spc="200" kern="0" dirty="0">
                <a:solidFill>
                  <a:schemeClr val="accent1"/>
                </a:solidFill>
                <a:latin typeface="Arial" pitchFamily="34" charset="0"/>
                <a:ea typeface="Arial" pitchFamily="34" charset="-122"/>
                <a:cs typeface="Arial" pitchFamily="34" charset="-120"/>
              </a:rPr>
              <a:t>SUMMARY</a:t>
            </a:r>
            <a:endParaRPr lang="en-US" sz="1100" dirty="0"/>
          </a:p>
        </p:txBody>
      </p:sp>
      <p:sp>
        <p:nvSpPr>
          <p:cNvPr id="3" name="Text 0"/>
          <p:cNvSpPr/>
          <p:nvPr>
            <p:ph idx="101" type="title" hasCustomPrompt="1"/>
          </p:nvPr>
        </p:nvSpPr>
        <p:spPr>
          <a:xfrm>
            <a:off x="548640" y="640080"/>
            <a:ext cx="11064240" cy="868680"/>
          </a:xfrm>
          <a:prstGeom prst="rect">
            <a:avLst/>
          </a:prstGeom>
          <a:noFill/>
          <a:ln/>
        </p:spPr>
        <p:txBody>
          <a:bodyPr wrap="square" lIns="0" tIns="0" rIns="0" bIns="0" rtlCol="0" anchor="t"/>
          <a:lstStyle/>
          <a:p>
            <a:pPr algn="l" indent="0" marL="0">
              <a:buNone/>
            </a:pPr>
            <a:r>
              <a:rPr lang="en-US" sz="2600" b="1" dirty="0">
                <a:solidFill>
                  <a:schemeClr val="tx1"/>
                </a:solidFill>
                <a:latin typeface="Arial" pitchFamily="34" charset="0"/>
                <a:ea typeface="Arial" pitchFamily="34" charset="-122"/>
                <a:cs typeface="Arial" pitchFamily="34" charset="-120"/>
              </a:rPr>
              <a:t>What the board tells us</a:t>
            </a:r>
            <a:endParaRPr lang="en-US" sz="2600" dirty="0"/>
          </a:p>
        </p:txBody>
      </p:sp>
      <p:sp>
        <p:nvSpPr>
          <p:cNvPr id="4" name="Shape 2"/>
          <p:cNvSpPr/>
          <p:nvPr/>
        </p:nvSpPr>
        <p:spPr>
          <a:xfrm>
            <a:off x="548640" y="1783080"/>
            <a:ext cx="566928" cy="566928"/>
          </a:xfrm>
          <a:prstGeom prst="ellipse">
            <a:avLst/>
          </a:prstGeom>
          <a:solidFill>
            <a:schemeClr val="bg2"/>
          </a:solidFill>
          <a:ln w="12700">
            <a:solidFill>
              <a:schemeClr val="bg2"/>
            </a:solidFill>
            <a:prstDash val="solid"/>
          </a:ln>
        </p:spPr>
      </p:sp>
      <p:pic>
        <p:nvPicPr>
          <p:cNvPr id="5" name="Image 0" descr="preencoded.png">    </p:cNvPr>
          <p:cNvPicPr>
            <a:picLocks noChangeAspect="1"/>
          </p:cNvPicPr>
          <p:nvPr/>
        </p:nvPicPr>
        <p:blipFill>
          <a:blip r:embed="rId1"/>
          <a:stretch>
            <a:fillRect/>
          </a:stretch>
        </p:blipFill>
        <p:spPr>
          <a:xfrm>
            <a:off x="694944" y="1929384"/>
            <a:ext cx="274320" cy="274320"/>
          </a:xfrm>
          <a:prstGeom prst="rect">
            <a:avLst/>
          </a:prstGeom>
        </p:spPr>
      </p:pic>
      <p:sp>
        <p:nvSpPr>
          <p:cNvPr id="6" name="Text 3"/>
          <p:cNvSpPr txBox="1"/>
          <p:nvPr/>
        </p:nvSpPr>
        <p:spPr>
          <a:xfrm>
            <a:off x="1280160" y="1764792"/>
            <a:ext cx="4480560" cy="320040"/>
          </a:xfrm>
          <a:prstGeom prst="rect">
            <a:avLst/>
          </a:prstGeom>
          <a:noFill/>
          <a:ln/>
        </p:spPr>
        <p:txBody>
          <a:bodyPr wrap="square" lIns="0" tIns="0" rIns="0" bIns="0" rtlCol="0" anchor="ctr"/>
          <a:lstStyle/>
          <a:p>
            <a:pPr indent="0" marL="0">
              <a:buNone/>
            </a:pPr>
            <a:r>
              <a:rPr lang="en-US" sz="1400" b="1" dirty="0">
                <a:solidFill>
                  <a:schemeClr val="tx1"/>
                </a:solidFill>
                <a:latin typeface="Arial" pitchFamily="34" charset="0"/>
                <a:ea typeface="Arial" pitchFamily="34" charset="-122"/>
                <a:cs typeface="Arial" pitchFamily="34" charset="-120"/>
              </a:rPr>
              <a:t>The lifecycle is a loop, not a line</a:t>
            </a:r>
            <a:endParaRPr lang="en-US" sz="1400" dirty="0"/>
          </a:p>
        </p:txBody>
      </p:sp>
      <p:sp>
        <p:nvSpPr>
          <p:cNvPr id="7" name="Text 4"/>
          <p:cNvSpPr txBox="1"/>
          <p:nvPr/>
        </p:nvSpPr>
        <p:spPr>
          <a:xfrm>
            <a:off x="1280160" y="2093976"/>
            <a:ext cx="4480560" cy="594360"/>
          </a:xfrm>
          <a:prstGeom prst="rect">
            <a:avLst/>
          </a:prstGeom>
          <a:noFill/>
          <a:ln/>
        </p:spPr>
        <p:txBody>
          <a:bodyPr wrap="square" lIns="0" tIns="0" rIns="0" bIns="0" rtlCol="0" anchor="t"/>
          <a:lstStyle/>
          <a:p>
            <a:pPr indent="0" marL="0">
              <a:buNone/>
            </a:pPr>
            <a:r>
              <a:rPr lang="en-US" sz="1200" dirty="0">
                <a:solidFill>
                  <a:srgbClr val="5E6E6A"/>
                </a:solidFill>
                <a:latin typeface="Calibri" pitchFamily="34" charset="0"/>
                <a:ea typeface="Calibri" pitchFamily="34" charset="-122"/>
                <a:cs typeface="Calibri" pitchFamily="34" charset="-120"/>
              </a:rPr>
              <a:t>Every finished conversion goes back into training as a real case.</a:t>
            </a:r>
            <a:endParaRPr lang="en-US" sz="1200" dirty="0"/>
          </a:p>
        </p:txBody>
      </p:sp>
      <p:sp>
        <p:nvSpPr>
          <p:cNvPr id="8" name="Shape 5"/>
          <p:cNvSpPr/>
          <p:nvPr/>
        </p:nvSpPr>
        <p:spPr>
          <a:xfrm>
            <a:off x="548640" y="2862072"/>
            <a:ext cx="566928" cy="566928"/>
          </a:xfrm>
          <a:prstGeom prst="ellipse">
            <a:avLst/>
          </a:prstGeom>
          <a:solidFill>
            <a:schemeClr val="bg2"/>
          </a:solidFill>
          <a:ln w="12700">
            <a:solidFill>
              <a:schemeClr val="bg2"/>
            </a:solidFill>
            <a:prstDash val="solid"/>
          </a:ln>
        </p:spPr>
      </p:sp>
      <p:pic>
        <p:nvPicPr>
          <p:cNvPr id="9" name="Image 1" descr="preencoded.png">    </p:cNvPr>
          <p:cNvPicPr>
            <a:picLocks noChangeAspect="1"/>
          </p:cNvPicPr>
          <p:nvPr/>
        </p:nvPicPr>
        <p:blipFill>
          <a:blip r:embed="rId2"/>
          <a:stretch>
            <a:fillRect/>
          </a:stretch>
        </p:blipFill>
        <p:spPr>
          <a:xfrm>
            <a:off x="694944" y="3008376"/>
            <a:ext cx="274320" cy="274320"/>
          </a:xfrm>
          <a:prstGeom prst="rect">
            <a:avLst/>
          </a:prstGeom>
        </p:spPr>
      </p:pic>
      <p:sp>
        <p:nvSpPr>
          <p:cNvPr id="10" name="Text 6"/>
          <p:cNvSpPr txBox="1"/>
          <p:nvPr/>
        </p:nvSpPr>
        <p:spPr>
          <a:xfrm>
            <a:off x="1280160" y="2843784"/>
            <a:ext cx="4480560" cy="320040"/>
          </a:xfrm>
          <a:prstGeom prst="rect">
            <a:avLst/>
          </a:prstGeom>
          <a:noFill/>
          <a:ln/>
        </p:spPr>
        <p:txBody>
          <a:bodyPr wrap="square" lIns="0" tIns="0" rIns="0" bIns="0" rtlCol="0" anchor="ctr"/>
          <a:lstStyle/>
          <a:p>
            <a:pPr indent="0" marL="0">
              <a:buNone/>
            </a:pPr>
            <a:r>
              <a:rPr lang="en-US" sz="1400" b="1" dirty="0">
                <a:solidFill>
                  <a:schemeClr val="tx1"/>
                </a:solidFill>
                <a:latin typeface="Arial" pitchFamily="34" charset="0"/>
                <a:ea typeface="Arial" pitchFamily="34" charset="-122"/>
                <a:cs typeface="Arial" pitchFamily="34" charset="-120"/>
              </a:rPr>
              <a:t>Two levers: prevent and correct</a:t>
            </a:r>
            <a:endParaRPr lang="en-US" sz="1400" dirty="0"/>
          </a:p>
        </p:txBody>
      </p:sp>
      <p:sp>
        <p:nvSpPr>
          <p:cNvPr id="11" name="Text 7"/>
          <p:cNvSpPr txBox="1"/>
          <p:nvPr/>
        </p:nvSpPr>
        <p:spPr>
          <a:xfrm>
            <a:off x="1280160" y="3172968"/>
            <a:ext cx="4480560" cy="594360"/>
          </a:xfrm>
          <a:prstGeom prst="rect">
            <a:avLst/>
          </a:prstGeom>
          <a:noFill/>
          <a:ln/>
        </p:spPr>
        <p:txBody>
          <a:bodyPr wrap="square" lIns="0" tIns="0" rIns="0" bIns="0" rtlCol="0" anchor="t"/>
          <a:lstStyle/>
          <a:p>
            <a:pPr indent="0" marL="0">
              <a:buNone/>
            </a:pPr>
            <a:r>
              <a:rPr lang="en-US" sz="1200" dirty="0">
                <a:solidFill>
                  <a:srgbClr val="5E6E6A"/>
                </a:solidFill>
                <a:latin typeface="Calibri" pitchFamily="34" charset="0"/>
                <a:ea typeface="Calibri" pitchFamily="34" charset="-122"/>
                <a:cs typeface="Calibri" pitchFamily="34" charset="-120"/>
              </a:rPr>
              <a:t>Training and triage stop new over-engineering; monitoring and conversion fix what already runs.</a:t>
            </a:r>
            <a:endParaRPr lang="en-US" sz="1200" dirty="0"/>
          </a:p>
        </p:txBody>
      </p:sp>
      <p:sp>
        <p:nvSpPr>
          <p:cNvPr id="12" name="Shape 8"/>
          <p:cNvSpPr/>
          <p:nvPr/>
        </p:nvSpPr>
        <p:spPr>
          <a:xfrm>
            <a:off x="548640" y="3941064"/>
            <a:ext cx="566928" cy="566928"/>
          </a:xfrm>
          <a:prstGeom prst="ellipse">
            <a:avLst/>
          </a:prstGeom>
          <a:solidFill>
            <a:schemeClr val="bg2"/>
          </a:solidFill>
          <a:ln w="12700">
            <a:solidFill>
              <a:schemeClr val="bg2"/>
            </a:solidFill>
            <a:prstDash val="solid"/>
          </a:ln>
        </p:spPr>
      </p:sp>
      <p:pic>
        <p:nvPicPr>
          <p:cNvPr id="13" name="Image 2" descr="preencoded.png">    </p:cNvPr>
          <p:cNvPicPr>
            <a:picLocks noChangeAspect="1"/>
          </p:cNvPicPr>
          <p:nvPr/>
        </p:nvPicPr>
        <p:blipFill>
          <a:blip r:embed="rId3"/>
          <a:stretch>
            <a:fillRect/>
          </a:stretch>
        </p:blipFill>
        <p:spPr>
          <a:xfrm>
            <a:off x="694944" y="4087368"/>
            <a:ext cx="274320" cy="274320"/>
          </a:xfrm>
          <a:prstGeom prst="rect">
            <a:avLst/>
          </a:prstGeom>
        </p:spPr>
      </p:pic>
      <p:sp>
        <p:nvSpPr>
          <p:cNvPr id="14" name="Text 9"/>
          <p:cNvSpPr txBox="1"/>
          <p:nvPr/>
        </p:nvSpPr>
        <p:spPr>
          <a:xfrm>
            <a:off x="1280160" y="3922776"/>
            <a:ext cx="4480560" cy="320040"/>
          </a:xfrm>
          <a:prstGeom prst="rect">
            <a:avLst/>
          </a:prstGeom>
          <a:noFill/>
          <a:ln/>
        </p:spPr>
        <p:txBody>
          <a:bodyPr wrap="square" lIns="0" tIns="0" rIns="0" bIns="0" rtlCol="0" anchor="ctr"/>
          <a:lstStyle/>
          <a:p>
            <a:pPr indent="0" marL="0">
              <a:buNone/>
            </a:pPr>
            <a:r>
              <a:rPr lang="en-US" sz="1400" b="1" dirty="0">
                <a:solidFill>
                  <a:schemeClr val="tx1"/>
                </a:solidFill>
                <a:latin typeface="Arial" pitchFamily="34" charset="0"/>
                <a:ea typeface="Arial" pitchFamily="34" charset="-122"/>
                <a:cs typeface="Arial" pitchFamily="34" charset="-120"/>
              </a:rPr>
              <a:t>The dashboard runs on existing logs</a:t>
            </a:r>
            <a:endParaRPr lang="en-US" sz="1400" dirty="0"/>
          </a:p>
        </p:txBody>
      </p:sp>
      <p:sp>
        <p:nvSpPr>
          <p:cNvPr id="15" name="Text 10"/>
          <p:cNvSpPr txBox="1"/>
          <p:nvPr/>
        </p:nvSpPr>
        <p:spPr>
          <a:xfrm>
            <a:off x="1280160" y="4251960"/>
            <a:ext cx="4480560" cy="594360"/>
          </a:xfrm>
          <a:prstGeom prst="rect">
            <a:avLst/>
          </a:prstGeom>
          <a:noFill/>
          <a:ln/>
        </p:spPr>
        <p:txBody>
          <a:bodyPr wrap="square" lIns="0" tIns="0" rIns="0" bIns="0" rtlCol="0" anchor="t"/>
          <a:lstStyle/>
          <a:p>
            <a:pPr indent="0" marL="0">
              <a:buNone/>
            </a:pPr>
            <a:r>
              <a:rPr lang="en-US" sz="1200" dirty="0">
                <a:solidFill>
                  <a:srgbClr val="5E6E6A"/>
                </a:solidFill>
                <a:latin typeface="Calibri" pitchFamily="34" charset="0"/>
                <a:ea typeface="Calibri" pitchFamily="34" charset="-122"/>
                <a:cs typeface="Calibri" pitchFamily="34" charset="-120"/>
              </a:rPr>
              <a:t>Token usage and similarity are simple statistics. No extra AI checks the AI.</a:t>
            </a:r>
            <a:endParaRPr lang="en-US" sz="1200" dirty="0"/>
          </a:p>
        </p:txBody>
      </p:sp>
      <p:sp>
        <p:nvSpPr>
          <p:cNvPr id="16" name="Shape 11"/>
          <p:cNvSpPr/>
          <p:nvPr/>
        </p:nvSpPr>
        <p:spPr>
          <a:xfrm>
            <a:off x="548640" y="5020056"/>
            <a:ext cx="566928" cy="566928"/>
          </a:xfrm>
          <a:prstGeom prst="ellipse">
            <a:avLst/>
          </a:prstGeom>
          <a:solidFill>
            <a:schemeClr val="bg2"/>
          </a:solidFill>
          <a:ln w="12700">
            <a:solidFill>
              <a:schemeClr val="bg2"/>
            </a:solidFill>
            <a:prstDash val="solid"/>
          </a:ln>
        </p:spPr>
      </p:sp>
      <p:pic>
        <p:nvPicPr>
          <p:cNvPr id="17" name="Image 3" descr="preencoded.png">    </p:cNvPr>
          <p:cNvPicPr>
            <a:picLocks noChangeAspect="1"/>
          </p:cNvPicPr>
          <p:nvPr/>
        </p:nvPicPr>
        <p:blipFill>
          <a:blip r:embed="rId4"/>
          <a:stretch>
            <a:fillRect/>
          </a:stretch>
        </p:blipFill>
        <p:spPr>
          <a:xfrm>
            <a:off x="694944" y="5166360"/>
            <a:ext cx="274320" cy="274320"/>
          </a:xfrm>
          <a:prstGeom prst="rect">
            <a:avLst/>
          </a:prstGeom>
        </p:spPr>
      </p:pic>
      <p:sp>
        <p:nvSpPr>
          <p:cNvPr id="18" name="Text 12"/>
          <p:cNvSpPr txBox="1"/>
          <p:nvPr/>
        </p:nvSpPr>
        <p:spPr>
          <a:xfrm>
            <a:off x="1280160" y="5001768"/>
            <a:ext cx="4480560" cy="320040"/>
          </a:xfrm>
          <a:prstGeom prst="rect">
            <a:avLst/>
          </a:prstGeom>
          <a:noFill/>
          <a:ln/>
        </p:spPr>
        <p:txBody>
          <a:bodyPr wrap="square" lIns="0" tIns="0" rIns="0" bIns="0" rtlCol="0" anchor="ctr"/>
          <a:lstStyle/>
          <a:p>
            <a:pPr indent="0" marL="0">
              <a:buNone/>
            </a:pPr>
            <a:r>
              <a:rPr lang="en-US" sz="1400" b="1" dirty="0">
                <a:solidFill>
                  <a:schemeClr val="tx1"/>
                </a:solidFill>
                <a:latin typeface="Arial" pitchFamily="34" charset="0"/>
                <a:ea typeface="Arial" pitchFamily="34" charset="-122"/>
                <a:cs typeface="Arial" pitchFamily="34" charset="-120"/>
              </a:rPr>
              <a:t>Humans keep the decisions</a:t>
            </a:r>
            <a:endParaRPr lang="en-US" sz="1400" dirty="0"/>
          </a:p>
        </p:txBody>
      </p:sp>
      <p:sp>
        <p:nvSpPr>
          <p:cNvPr id="19" name="Text 13"/>
          <p:cNvSpPr txBox="1"/>
          <p:nvPr/>
        </p:nvSpPr>
        <p:spPr>
          <a:xfrm>
            <a:off x="1280160" y="5330952"/>
            <a:ext cx="4480560" cy="594360"/>
          </a:xfrm>
          <a:prstGeom prst="rect">
            <a:avLst/>
          </a:prstGeom>
          <a:noFill/>
          <a:ln/>
        </p:spPr>
        <p:txBody>
          <a:bodyPr wrap="square" lIns="0" tIns="0" rIns="0" bIns="0" rtlCol="0" anchor="t"/>
          <a:lstStyle/>
          <a:p>
            <a:pPr indent="0" marL="0">
              <a:buNone/>
            </a:pPr>
            <a:r>
              <a:rPr lang="en-US" sz="1200" dirty="0">
                <a:solidFill>
                  <a:srgbClr val="5E6E6A"/>
                </a:solidFill>
                <a:latin typeface="Calibri" pitchFamily="34" charset="0"/>
                <a:ea typeface="Calibri" pitchFamily="34" charset="-122"/>
                <a:cs typeface="Calibri" pitchFamily="34" charset="-120"/>
              </a:rPr>
              <a:t>Go-live, conversion approval and escalations stay with people.</a:t>
            </a:r>
            <a:endParaRPr lang="en-US" sz="1200" dirty="0"/>
          </a:p>
        </p:txBody>
      </p:sp>
      <p:sp>
        <p:nvSpPr>
          <p:cNvPr id="20" name="Text 14"/>
          <p:cNvSpPr txBox="1"/>
          <p:nvPr/>
        </p:nvSpPr>
        <p:spPr>
          <a:xfrm>
            <a:off x="6172200" y="1783080"/>
            <a:ext cx="5486400" cy="274320"/>
          </a:xfrm>
          <a:prstGeom prst="rect">
            <a:avLst/>
          </a:prstGeom>
          <a:noFill/>
          <a:ln/>
        </p:spPr>
        <p:txBody>
          <a:bodyPr wrap="square" lIns="0" tIns="0" rIns="0" bIns="0" rtlCol="0" anchor="ctr"/>
          <a:lstStyle/>
          <a:p>
            <a:pPr indent="0" marL="0">
              <a:buNone/>
            </a:pPr>
            <a:r>
              <a:rPr lang="en-US" sz="1100" b="1" spc="200" kern="0" dirty="0">
                <a:solidFill>
                  <a:schemeClr val="accent1"/>
                </a:solidFill>
                <a:latin typeface="Arial" pitchFamily="34" charset="0"/>
                <a:ea typeface="Arial" pitchFamily="34" charset="-122"/>
                <a:cs typeface="Arial" pitchFamily="34" charset="-120"/>
              </a:rPr>
              <a:t>FROM CONTEXTS TO SERVICES</a:t>
            </a:r>
            <a:endParaRPr lang="en-US" sz="11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172200" y="2103120"/>
          <a:ext cx="5468112" cy="914400"/>
        </p:xfrm>
        <a:graphic>
          <a:graphicData uri="http://schemas.openxmlformats.org/drawingml/2006/table">
            <a:tbl>
              <a:tblPr/>
              <a:tblGrid>
                <a:gridCol w="1600200"/>
                <a:gridCol w="2176272"/>
                <a:gridCol w="1691640"/>
              </a:tblGrid>
              <a:tr h="384048">
                <a:tc>
                  <a:txBody>
                    <a:bodyPr/>
                    <a:lstStyle/>
                    <a:p>
                      <a:pPr indent="0" marL="0">
                        <a:buNone/>
                      </a:pPr>
                      <a:r>
                        <a:rPr lang="en-US" sz="1000" b="1" dirty="0">
                          <a:solidFill>
                            <a:schemeClr val="bg1"/>
                          </a:solidFill>
                          <a:latin typeface="Arial" pitchFamily="34" charset="0"/>
                          <a:ea typeface="Arial" pitchFamily="34" charset="-122"/>
                          <a:cs typeface="Arial" pitchFamily="34" charset="-120"/>
                        </a:rPr>
                        <a:t>Bounded context</a:t>
                      </a:r>
                      <a:endParaRPr lang="en-US" sz="1000" dirty="0">
                        <a:latin typeface="Arial" charset="0"/>
                        <a:ea typeface="Arial" charset="0"/>
                        <a:cs typeface="Arial" charset="0"/>
                      </a:endParaRPr>
                    </a:p>
                  </a:txBody>
                  <a:tcPr marL="73152" marR="73152" marT="36576" marB="36576" anchor="ctr">
                    <a:lnL w="6350" cap="flat" cmpd="sng" algn="ctr">
                      <a:solidFill>
                        <a:srgbClr val="C9D6D0"/>
                      </a:solidFill>
                      <a:prstDash val="solid"/>
                      <a:round/>
                      <a:headEnd type="none" w="med" len="med"/>
                      <a:tailEnd type="none" w="med" len="med"/>
                    </a:lnL>
                    <a:lnR w="6350" cap="flat" cmpd="sng" algn="ctr">
                      <a:solidFill>
                        <a:srgbClr val="C9D6D0"/>
                      </a:solidFill>
                      <a:prstDash val="solid"/>
                      <a:round/>
                      <a:headEnd type="none" w="med" len="med"/>
                      <a:tailEnd type="none" w="med" len="med"/>
                    </a:lnR>
                    <a:lnT w="6350" cap="flat" cmpd="sng" algn="ctr">
                      <a:solidFill>
                        <a:srgbClr val="C9D6D0"/>
                      </a:solidFill>
                      <a:prstDash val="solid"/>
                      <a:round/>
                      <a:headEnd type="none" w="med" len="med"/>
                      <a:tailEnd type="none" w="med" len="med"/>
                    </a:lnT>
                    <a:lnB w="6350" cap="flat" cmpd="sng" algn="ctr">
                      <a:solidFill>
                        <a:srgbClr val="C9D6D0"/>
                      </a:solidFill>
                      <a:prstDash val="solid"/>
                      <a:round/>
                      <a:headEnd type="none" w="med" len="med"/>
                      <a:tailEnd type="none" w="med" len="med"/>
                    </a:lnB>
                    <a:solidFill>
                      <a:schemeClr val="accent1"/>
                    </a:solidFill>
                  </a:tcPr>
                </a:tc>
                <a:tc>
                  <a:txBody>
                    <a:bodyPr/>
                    <a:lstStyle/>
                    <a:p>
                      <a:pPr indent="0" marL="0">
                        <a:buNone/>
                      </a:pPr>
                      <a:r>
                        <a:rPr lang="en-US" sz="1000" b="1" dirty="0">
                          <a:solidFill>
                            <a:schemeClr val="bg1"/>
                          </a:solidFill>
                          <a:latin typeface="Arial" pitchFamily="34" charset="0"/>
                          <a:ea typeface="Arial" pitchFamily="34" charset="-122"/>
                          <a:cs typeface="Arial" pitchFamily="34" charset="-120"/>
                        </a:rPr>
                        <a:t>Hands over</a:t>
                      </a:r>
                      <a:endParaRPr lang="en-US" sz="1000" dirty="0">
                        <a:latin typeface="Arial" charset="0"/>
                        <a:ea typeface="Arial" charset="0"/>
                        <a:cs typeface="Arial" charset="0"/>
                      </a:endParaRPr>
                    </a:p>
                  </a:txBody>
                  <a:tcPr marL="73152" marR="73152" marT="36576" marB="36576" anchor="ctr">
                    <a:lnL w="6350" cap="flat" cmpd="sng" algn="ctr">
                      <a:solidFill>
                        <a:srgbClr val="C9D6D0"/>
                      </a:solidFill>
                      <a:prstDash val="solid"/>
                      <a:round/>
                      <a:headEnd type="none" w="med" len="med"/>
                      <a:tailEnd type="none" w="med" len="med"/>
                    </a:lnL>
                    <a:lnR w="6350" cap="flat" cmpd="sng" algn="ctr">
                      <a:solidFill>
                        <a:srgbClr val="C9D6D0"/>
                      </a:solidFill>
                      <a:prstDash val="solid"/>
                      <a:round/>
                      <a:headEnd type="none" w="med" len="med"/>
                      <a:tailEnd type="none" w="med" len="med"/>
                    </a:lnR>
                    <a:lnT w="6350" cap="flat" cmpd="sng" algn="ctr">
                      <a:solidFill>
                        <a:srgbClr val="C9D6D0"/>
                      </a:solidFill>
                      <a:prstDash val="solid"/>
                      <a:round/>
                      <a:headEnd type="none" w="med" len="med"/>
                      <a:tailEnd type="none" w="med" len="med"/>
                    </a:lnT>
                    <a:lnB w="6350" cap="flat" cmpd="sng" algn="ctr">
                      <a:solidFill>
                        <a:srgbClr val="C9D6D0"/>
                      </a:solidFill>
                      <a:prstDash val="solid"/>
                      <a:round/>
                      <a:headEnd type="none" w="med" len="med"/>
                      <a:tailEnd type="none" w="med" len="med"/>
                    </a:lnB>
                    <a:solidFill>
                      <a:schemeClr val="accent1"/>
                    </a:solidFill>
                  </a:tcPr>
                </a:tc>
                <a:tc>
                  <a:txBody>
                    <a:bodyPr/>
                    <a:lstStyle/>
                    <a:p>
                      <a:pPr indent="0" marL="0">
                        <a:buNone/>
                      </a:pPr>
                      <a:r>
                        <a:rPr lang="en-US" sz="1000" b="1" dirty="0">
                          <a:solidFill>
                            <a:schemeClr val="bg1"/>
                          </a:solidFill>
                          <a:latin typeface="Arial" pitchFamily="34" charset="0"/>
                          <a:ea typeface="Arial" pitchFamily="34" charset="-122"/>
                          <a:cs typeface="Arial" pitchFamily="34" charset="-120"/>
                        </a:rPr>
                        <a:t>Likely owner</a:t>
                      </a:r>
                      <a:endParaRPr lang="en-US" sz="1000" dirty="0">
                        <a:latin typeface="Arial" charset="0"/>
                        <a:ea typeface="Arial" charset="0"/>
                        <a:cs typeface="Arial" charset="0"/>
                      </a:endParaRPr>
                    </a:p>
                  </a:txBody>
                  <a:tcPr marL="73152" marR="73152" marT="36576" marB="36576" anchor="ctr">
                    <a:lnL w="6350" cap="flat" cmpd="sng" algn="ctr">
                      <a:solidFill>
                        <a:srgbClr val="C9D6D0"/>
                      </a:solidFill>
                      <a:prstDash val="solid"/>
                      <a:round/>
                      <a:headEnd type="none" w="med" len="med"/>
                      <a:tailEnd type="none" w="med" len="med"/>
                    </a:lnL>
                    <a:lnR w="6350" cap="flat" cmpd="sng" algn="ctr">
                      <a:solidFill>
                        <a:srgbClr val="C9D6D0"/>
                      </a:solidFill>
                      <a:prstDash val="solid"/>
                      <a:round/>
                      <a:headEnd type="none" w="med" len="med"/>
                      <a:tailEnd type="none" w="med" len="med"/>
                    </a:lnR>
                    <a:lnT w="6350" cap="flat" cmpd="sng" algn="ctr">
                      <a:solidFill>
                        <a:srgbClr val="C9D6D0"/>
                      </a:solidFill>
                      <a:prstDash val="solid"/>
                      <a:round/>
                      <a:headEnd type="none" w="med" len="med"/>
                      <a:tailEnd type="none" w="med" len="med"/>
                    </a:lnT>
                    <a:lnB w="6350" cap="flat" cmpd="sng" algn="ctr">
                      <a:solidFill>
                        <a:srgbClr val="C9D6D0"/>
                      </a:solidFill>
                      <a:prstDash val="solid"/>
                      <a:round/>
                      <a:headEnd type="none" w="med" len="med"/>
                      <a:tailEnd type="none" w="med" len="med"/>
                    </a:lnB>
                    <a:solidFill>
                      <a:schemeClr val="accent1"/>
                    </a:solidFill>
                  </a:tcPr>
                </a:tc>
              </a:tr>
              <a:tr h="384048">
                <a:tc>
                  <a:txBody>
                    <a:bodyPr/>
                    <a:lstStyle/>
                    <a:p>
                      <a:pPr indent="0" marL="0">
                        <a:buNone/>
                      </a:pPr>
                      <a:r>
                        <a:rPr lang="en-US" sz="1100" b="1" dirty="0">
                          <a:solidFill>
                            <a:schemeClr val="tx1"/>
                          </a:solidFill>
                          <a:latin typeface="Calibri" pitchFamily="34" charset="0"/>
                          <a:ea typeface="Calibri" pitchFamily="34" charset="-122"/>
                          <a:cs typeface="Calibri" pitchFamily="34" charset="-120"/>
                        </a:rPr>
                        <a:t>Enablement</a:t>
                      </a:r>
                      <a:endParaRPr lang="en-US" sz="1100" dirty="0">
                        <a:latin typeface="Calibri" charset="0"/>
                        <a:ea typeface="Calibri" charset="0"/>
                        <a:cs typeface="Calibri" charset="0"/>
                      </a:endParaRPr>
                    </a:p>
                  </a:txBody>
                  <a:tcPr marL="73152" marR="73152" marT="36576" marB="36576" anchor="ctr">
                    <a:lnL w="6350" cap="flat" cmpd="sng" algn="ctr">
                      <a:solidFill>
                        <a:srgbClr val="C9D6D0"/>
                      </a:solidFill>
                      <a:prstDash val="solid"/>
                      <a:round/>
                      <a:headEnd type="none" w="med" len="med"/>
                      <a:tailEnd type="none" w="med" len="med"/>
                    </a:lnL>
                    <a:lnR w="6350" cap="flat" cmpd="sng" algn="ctr">
                      <a:solidFill>
                        <a:srgbClr val="C9D6D0"/>
                      </a:solidFill>
                      <a:prstDash val="solid"/>
                      <a:round/>
                      <a:headEnd type="none" w="med" len="med"/>
                      <a:tailEnd type="none" w="med" len="med"/>
                    </a:lnR>
                    <a:lnT w="6350" cap="flat" cmpd="sng" algn="ctr">
                      <a:solidFill>
                        <a:srgbClr val="C9D6D0"/>
                      </a:solidFill>
                      <a:prstDash val="solid"/>
                      <a:round/>
                      <a:headEnd type="none" w="med" len="med"/>
                      <a:tailEnd type="none" w="med" len="med"/>
                    </a:lnT>
                    <a:lnB w="6350" cap="flat" cmpd="sng" algn="ctr">
                      <a:solidFill>
                        <a:srgbClr val="C9D6D0"/>
                      </a:solidFill>
                      <a:prstDash val="solid"/>
                      <a:round/>
                      <a:headEnd type="none" w="med" len="med"/>
                      <a:tailEnd type="none" w="med" len="med"/>
                    </a:lnB>
                    <a:solidFill>
                      <a:srgbClr val="FFFFFF"/>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Ladder training completed</a:t>
                      </a:r>
                      <a:endParaRPr lang="en-US" sz="1100" dirty="0">
                        <a:latin typeface="Calibri" charset="0"/>
                        <a:ea typeface="Calibri" charset="0"/>
                        <a:cs typeface="Calibri" charset="0"/>
                      </a:endParaRPr>
                    </a:p>
                  </a:txBody>
                  <a:tcPr marL="73152" marR="73152" marT="36576" marB="36576" anchor="ctr">
                    <a:lnL w="6350" cap="flat" cmpd="sng" algn="ctr">
                      <a:solidFill>
                        <a:srgbClr val="C9D6D0"/>
                      </a:solidFill>
                      <a:prstDash val="solid"/>
                      <a:round/>
                      <a:headEnd type="none" w="med" len="med"/>
                      <a:tailEnd type="none" w="med" len="med"/>
                    </a:lnL>
                    <a:lnR w="6350" cap="flat" cmpd="sng" algn="ctr">
                      <a:solidFill>
                        <a:srgbClr val="C9D6D0"/>
                      </a:solidFill>
                      <a:prstDash val="solid"/>
                      <a:round/>
                      <a:headEnd type="none" w="med" len="med"/>
                      <a:tailEnd type="none" w="med" len="med"/>
                    </a:lnR>
                    <a:lnT w="6350" cap="flat" cmpd="sng" algn="ctr">
                      <a:solidFill>
                        <a:srgbClr val="C9D6D0"/>
                      </a:solidFill>
                      <a:prstDash val="solid"/>
                      <a:round/>
                      <a:headEnd type="none" w="med" len="med"/>
                      <a:tailEnd type="none" w="med" len="med"/>
                    </a:lnT>
                    <a:lnB w="6350" cap="flat" cmpd="sng" algn="ctr">
                      <a:solidFill>
                        <a:srgbClr val="C9D6D0"/>
                      </a:solidFill>
                      <a:prstDash val="solid"/>
                      <a:round/>
                      <a:headEnd type="none" w="med" len="med"/>
                      <a:tailEnd type="none" w="med" len="med"/>
                    </a:lnB>
                    <a:solidFill>
                      <a:srgbClr val="FFFFFF"/>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L&amp;D with CIO office</a:t>
                      </a:r>
                      <a:endParaRPr lang="en-US" sz="1100" dirty="0">
                        <a:latin typeface="Calibri" charset="0"/>
                        <a:ea typeface="Calibri" charset="0"/>
                        <a:cs typeface="Calibri" charset="0"/>
                      </a:endParaRPr>
                    </a:p>
                  </a:txBody>
                  <a:tcPr marL="73152" marR="73152" marT="36576" marB="36576" anchor="ctr">
                    <a:lnL w="6350" cap="flat" cmpd="sng" algn="ctr">
                      <a:solidFill>
                        <a:srgbClr val="C9D6D0"/>
                      </a:solidFill>
                      <a:prstDash val="solid"/>
                      <a:round/>
                      <a:headEnd type="none" w="med" len="med"/>
                      <a:tailEnd type="none" w="med" len="med"/>
                    </a:lnL>
                    <a:lnR w="6350" cap="flat" cmpd="sng" algn="ctr">
                      <a:solidFill>
                        <a:srgbClr val="C9D6D0"/>
                      </a:solidFill>
                      <a:prstDash val="solid"/>
                      <a:round/>
                      <a:headEnd type="none" w="med" len="med"/>
                      <a:tailEnd type="none" w="med" len="med"/>
                    </a:lnR>
                    <a:lnT w="6350" cap="flat" cmpd="sng" algn="ctr">
                      <a:solidFill>
                        <a:srgbClr val="C9D6D0"/>
                      </a:solidFill>
                      <a:prstDash val="solid"/>
                      <a:round/>
                      <a:headEnd type="none" w="med" len="med"/>
                      <a:tailEnd type="none" w="med" len="med"/>
                    </a:lnT>
                    <a:lnB w="6350" cap="flat" cmpd="sng" algn="ctr">
                      <a:solidFill>
                        <a:srgbClr val="C9D6D0"/>
                      </a:solidFill>
                      <a:prstDash val="solid"/>
                      <a:round/>
                      <a:headEnd type="none" w="med" len="med"/>
                      <a:tailEnd type="none" w="med" len="med"/>
                    </a:lnB>
                    <a:solidFill>
                      <a:srgbClr val="FFFFFF"/>
                    </a:solidFill>
                  </a:tcPr>
                </a:tc>
              </a:tr>
              <a:tr h="384048">
                <a:tc>
                  <a:txBody>
                    <a:bodyPr/>
                    <a:lstStyle/>
                    <a:p>
                      <a:pPr indent="0" marL="0">
                        <a:buNone/>
                      </a:pPr>
                      <a:r>
                        <a:rPr lang="en-US" sz="1100" b="1" dirty="0">
                          <a:solidFill>
                            <a:schemeClr val="tx1"/>
                          </a:solidFill>
                          <a:latin typeface="Calibri" pitchFamily="34" charset="0"/>
                          <a:ea typeface="Calibri" pitchFamily="34" charset="-122"/>
                          <a:cs typeface="Calibri" pitchFamily="34" charset="-120"/>
                        </a:rPr>
                        <a:t>Automation Triage</a:t>
                      </a:r>
                      <a:endParaRPr lang="en-US" sz="1100" dirty="0">
                        <a:latin typeface="Calibri" charset="0"/>
                        <a:ea typeface="Calibri" charset="0"/>
                        <a:cs typeface="Calibri" charset="0"/>
                      </a:endParaRPr>
                    </a:p>
                  </a:txBody>
                  <a:tcPr marL="73152" marR="73152" marT="36576" marB="36576" anchor="ctr">
                    <a:lnL w="6350" cap="flat" cmpd="sng" algn="ctr">
                      <a:solidFill>
                        <a:srgbClr val="C9D6D0"/>
                      </a:solidFill>
                      <a:prstDash val="solid"/>
                      <a:round/>
                      <a:headEnd type="none" w="med" len="med"/>
                      <a:tailEnd type="none" w="med" len="med"/>
                    </a:lnL>
                    <a:lnR w="6350" cap="flat" cmpd="sng" algn="ctr">
                      <a:solidFill>
                        <a:srgbClr val="C9D6D0"/>
                      </a:solidFill>
                      <a:prstDash val="solid"/>
                      <a:round/>
                      <a:headEnd type="none" w="med" len="med"/>
                      <a:tailEnd type="none" w="med" len="med"/>
                    </a:lnR>
                    <a:lnT w="6350" cap="flat" cmpd="sng" algn="ctr">
                      <a:solidFill>
                        <a:srgbClr val="C9D6D0"/>
                      </a:solidFill>
                      <a:prstDash val="solid"/>
                      <a:round/>
                      <a:headEnd type="none" w="med" len="med"/>
                      <a:tailEnd type="none" w="med" len="med"/>
                    </a:lnT>
                    <a:lnB w="6350" cap="flat" cmpd="sng" algn="ctr">
                      <a:solidFill>
                        <a:srgbClr val="C9D6D0"/>
                      </a:solidFill>
                      <a:prstDash val="solid"/>
                      <a:round/>
                      <a:headEnd type="none" w="med" len="med"/>
                      <a:tailEnd type="none" w="med" len="med"/>
                    </a:lnB>
                    <a:solidFill>
                      <a:srgbClr val="F4F7F5"/>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 Automation approach decided</a:t>
                      </a:r>
                      <a:endParaRPr lang="en-US" sz="1100" dirty="0">
                        <a:latin typeface="Calibri" charset="0"/>
                        <a:ea typeface="Calibri" charset="0"/>
                        <a:cs typeface="Calibri" charset="0"/>
                      </a:endParaRPr>
                    </a:p>
                  </a:txBody>
                  <a:tcPr marL="73152" marR="73152" marT="36576" marB="36576" anchor="ctr">
                    <a:lnL w="6350" cap="flat" cmpd="sng" algn="ctr">
                      <a:solidFill>
                        <a:srgbClr val="C9D6D0"/>
                      </a:solidFill>
                      <a:prstDash val="solid"/>
                      <a:round/>
                      <a:headEnd type="none" w="med" len="med"/>
                      <a:tailEnd type="none" w="med" len="med"/>
                    </a:lnL>
                    <a:lnR w="6350" cap="flat" cmpd="sng" algn="ctr">
                      <a:solidFill>
                        <a:srgbClr val="C9D6D0"/>
                      </a:solidFill>
                      <a:prstDash val="solid"/>
                      <a:round/>
                      <a:headEnd type="none" w="med" len="med"/>
                      <a:tailEnd type="none" w="med" len="med"/>
                    </a:lnR>
                    <a:lnT w="6350" cap="flat" cmpd="sng" algn="ctr">
                      <a:solidFill>
                        <a:srgbClr val="C9D6D0"/>
                      </a:solidFill>
                      <a:prstDash val="solid"/>
                      <a:round/>
                      <a:headEnd type="none" w="med" len="med"/>
                      <a:tailEnd type="none" w="med" len="med"/>
                    </a:lnT>
                    <a:lnB w="6350" cap="flat" cmpd="sng" algn="ctr">
                      <a:solidFill>
                        <a:srgbClr val="C9D6D0"/>
                      </a:solidFill>
                      <a:prstDash val="solid"/>
                      <a:round/>
                      <a:headEnd type="none" w="med" len="med"/>
                      <a:tailEnd type="none" w="med" len="med"/>
                    </a:lnB>
                    <a:solidFill>
                      <a:srgbClr val="F4F7F5"/>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CIO office</a:t>
                      </a:r>
                      <a:endParaRPr lang="en-US" sz="1100" dirty="0">
                        <a:latin typeface="Calibri" charset="0"/>
                        <a:ea typeface="Calibri" charset="0"/>
                        <a:cs typeface="Calibri" charset="0"/>
                      </a:endParaRPr>
                    </a:p>
                  </a:txBody>
                  <a:tcPr marL="73152" marR="73152" marT="36576" marB="36576" anchor="ctr">
                    <a:lnL w="6350" cap="flat" cmpd="sng" algn="ctr">
                      <a:solidFill>
                        <a:srgbClr val="C9D6D0"/>
                      </a:solidFill>
                      <a:prstDash val="solid"/>
                      <a:round/>
                      <a:headEnd type="none" w="med" len="med"/>
                      <a:tailEnd type="none" w="med" len="med"/>
                    </a:lnL>
                    <a:lnR w="6350" cap="flat" cmpd="sng" algn="ctr">
                      <a:solidFill>
                        <a:srgbClr val="C9D6D0"/>
                      </a:solidFill>
                      <a:prstDash val="solid"/>
                      <a:round/>
                      <a:headEnd type="none" w="med" len="med"/>
                      <a:tailEnd type="none" w="med" len="med"/>
                    </a:lnR>
                    <a:lnT w="6350" cap="flat" cmpd="sng" algn="ctr">
                      <a:solidFill>
                        <a:srgbClr val="C9D6D0"/>
                      </a:solidFill>
                      <a:prstDash val="solid"/>
                      <a:round/>
                      <a:headEnd type="none" w="med" len="med"/>
                      <a:tailEnd type="none" w="med" len="med"/>
                    </a:lnT>
                    <a:lnB w="6350" cap="flat" cmpd="sng" algn="ctr">
                      <a:solidFill>
                        <a:srgbClr val="C9D6D0"/>
                      </a:solidFill>
                      <a:prstDash val="solid"/>
                      <a:round/>
                      <a:headEnd type="none" w="med" len="med"/>
                      <a:tailEnd type="none" w="med" len="med"/>
                    </a:lnB>
                    <a:solidFill>
                      <a:srgbClr val="F4F7F5"/>
                    </a:solidFill>
                  </a:tcPr>
                </a:tc>
              </a:tr>
              <a:tr h="384048">
                <a:tc>
                  <a:txBody>
                    <a:bodyPr/>
                    <a:lstStyle/>
                    <a:p>
                      <a:pPr indent="0" marL="0">
                        <a:buNone/>
                      </a:pPr>
                      <a:r>
                        <a:rPr lang="en-US" sz="1100" b="1" dirty="0">
                          <a:solidFill>
                            <a:schemeClr val="tx1"/>
                          </a:solidFill>
                          <a:latin typeface="Calibri" pitchFamily="34" charset="0"/>
                          <a:ea typeface="Calibri" pitchFamily="34" charset="-122"/>
                          <a:cs typeface="Calibri" pitchFamily="34" charset="-120"/>
                        </a:rPr>
                        <a:t>Build &amp; Deploy</a:t>
                      </a:r>
                      <a:endParaRPr lang="en-US" sz="1100" dirty="0">
                        <a:latin typeface="Calibri" charset="0"/>
                        <a:ea typeface="Calibri" charset="0"/>
                        <a:cs typeface="Calibri" charset="0"/>
                      </a:endParaRPr>
                    </a:p>
                  </a:txBody>
                  <a:tcPr marL="73152" marR="73152" marT="36576" marB="36576" anchor="ctr">
                    <a:lnL w="6350" cap="flat" cmpd="sng" algn="ctr">
                      <a:solidFill>
                        <a:srgbClr val="C9D6D0"/>
                      </a:solidFill>
                      <a:prstDash val="solid"/>
                      <a:round/>
                      <a:headEnd type="none" w="med" len="med"/>
                      <a:tailEnd type="none" w="med" len="med"/>
                    </a:lnL>
                    <a:lnR w="6350" cap="flat" cmpd="sng" algn="ctr">
                      <a:solidFill>
                        <a:srgbClr val="C9D6D0"/>
                      </a:solidFill>
                      <a:prstDash val="solid"/>
                      <a:round/>
                      <a:headEnd type="none" w="med" len="med"/>
                      <a:tailEnd type="none" w="med" len="med"/>
                    </a:lnR>
                    <a:lnT w="6350" cap="flat" cmpd="sng" algn="ctr">
                      <a:solidFill>
                        <a:srgbClr val="C9D6D0"/>
                      </a:solidFill>
                      <a:prstDash val="solid"/>
                      <a:round/>
                      <a:headEnd type="none" w="med" len="med"/>
                      <a:tailEnd type="none" w="med" len="med"/>
                    </a:lnT>
                    <a:lnB w="6350" cap="flat" cmpd="sng" algn="ctr">
                      <a:solidFill>
                        <a:srgbClr val="C9D6D0"/>
                      </a:solidFill>
                      <a:prstDash val="solid"/>
                      <a:round/>
                      <a:headEnd type="none" w="med" len="med"/>
                      <a:tailEnd type="none" w="med" len="med"/>
                    </a:lnB>
                    <a:solidFill>
                      <a:srgbClr val="FFFFFF"/>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 Automation deployed</a:t>
                      </a:r>
                      <a:endParaRPr lang="en-US" sz="1100" dirty="0">
                        <a:latin typeface="Calibri" charset="0"/>
                        <a:ea typeface="Calibri" charset="0"/>
                        <a:cs typeface="Calibri" charset="0"/>
                      </a:endParaRPr>
                    </a:p>
                  </a:txBody>
                  <a:tcPr marL="73152" marR="73152" marT="36576" marB="36576" anchor="ctr">
                    <a:lnL w="6350" cap="flat" cmpd="sng" algn="ctr">
                      <a:solidFill>
                        <a:srgbClr val="C9D6D0"/>
                      </a:solidFill>
                      <a:prstDash val="solid"/>
                      <a:round/>
                      <a:headEnd type="none" w="med" len="med"/>
                      <a:tailEnd type="none" w="med" len="med"/>
                    </a:lnL>
                    <a:lnR w="6350" cap="flat" cmpd="sng" algn="ctr">
                      <a:solidFill>
                        <a:srgbClr val="C9D6D0"/>
                      </a:solidFill>
                      <a:prstDash val="solid"/>
                      <a:round/>
                      <a:headEnd type="none" w="med" len="med"/>
                      <a:tailEnd type="none" w="med" len="med"/>
                    </a:lnR>
                    <a:lnT w="6350" cap="flat" cmpd="sng" algn="ctr">
                      <a:solidFill>
                        <a:srgbClr val="C9D6D0"/>
                      </a:solidFill>
                      <a:prstDash val="solid"/>
                      <a:round/>
                      <a:headEnd type="none" w="med" len="med"/>
                      <a:tailEnd type="none" w="med" len="med"/>
                    </a:lnT>
                    <a:lnB w="6350" cap="flat" cmpd="sng" algn="ctr">
                      <a:solidFill>
                        <a:srgbClr val="C9D6D0"/>
                      </a:solidFill>
                      <a:prstDash val="solid"/>
                      <a:round/>
                      <a:headEnd type="none" w="med" len="med"/>
                      <a:tailEnd type="none" w="med" len="med"/>
                    </a:lnB>
                    <a:solidFill>
                      <a:srgbClr val="FFFFFF"/>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AI platform team</a:t>
                      </a:r>
                      <a:endParaRPr lang="en-US" sz="1100" dirty="0">
                        <a:latin typeface="Calibri" charset="0"/>
                        <a:ea typeface="Calibri" charset="0"/>
                        <a:cs typeface="Calibri" charset="0"/>
                      </a:endParaRPr>
                    </a:p>
                  </a:txBody>
                  <a:tcPr marL="73152" marR="73152" marT="36576" marB="36576" anchor="ctr">
                    <a:lnL w="6350" cap="flat" cmpd="sng" algn="ctr">
                      <a:solidFill>
                        <a:srgbClr val="C9D6D0"/>
                      </a:solidFill>
                      <a:prstDash val="solid"/>
                      <a:round/>
                      <a:headEnd type="none" w="med" len="med"/>
                      <a:tailEnd type="none" w="med" len="med"/>
                    </a:lnL>
                    <a:lnR w="6350" cap="flat" cmpd="sng" algn="ctr">
                      <a:solidFill>
                        <a:srgbClr val="C9D6D0"/>
                      </a:solidFill>
                      <a:prstDash val="solid"/>
                      <a:round/>
                      <a:headEnd type="none" w="med" len="med"/>
                      <a:tailEnd type="none" w="med" len="med"/>
                    </a:lnR>
                    <a:lnT w="6350" cap="flat" cmpd="sng" algn="ctr">
                      <a:solidFill>
                        <a:srgbClr val="C9D6D0"/>
                      </a:solidFill>
                      <a:prstDash val="solid"/>
                      <a:round/>
                      <a:headEnd type="none" w="med" len="med"/>
                      <a:tailEnd type="none" w="med" len="med"/>
                    </a:lnT>
                    <a:lnB w="6350" cap="flat" cmpd="sng" algn="ctr">
                      <a:solidFill>
                        <a:srgbClr val="C9D6D0"/>
                      </a:solidFill>
                      <a:prstDash val="solid"/>
                      <a:round/>
                      <a:headEnd type="none" w="med" len="med"/>
                      <a:tailEnd type="none" w="med" len="med"/>
                    </a:lnB>
                    <a:solidFill>
                      <a:srgbClr val="FFFFFF"/>
                    </a:solidFill>
                  </a:tcPr>
                </a:tc>
              </a:tr>
              <a:tr h="384048">
                <a:tc>
                  <a:txBody>
                    <a:bodyPr/>
                    <a:lstStyle/>
                    <a:p>
                      <a:pPr indent="0" marL="0">
                        <a:buNone/>
                      </a:pPr>
                      <a:r>
                        <a:rPr lang="en-US" sz="1100" b="1" dirty="0">
                          <a:solidFill>
                            <a:schemeClr val="tx1"/>
                          </a:solidFill>
                          <a:latin typeface="Calibri" pitchFamily="34" charset="0"/>
                          <a:ea typeface="Calibri" pitchFamily="34" charset="-122"/>
                          <a:cs typeface="Calibri" pitchFamily="34" charset="-120"/>
                        </a:rPr>
                        <a:t>Automation Run</a:t>
                      </a:r>
                      <a:endParaRPr lang="en-US" sz="1100" dirty="0">
                        <a:latin typeface="Calibri" charset="0"/>
                        <a:ea typeface="Calibri" charset="0"/>
                        <a:cs typeface="Calibri" charset="0"/>
                      </a:endParaRPr>
                    </a:p>
                  </a:txBody>
                  <a:tcPr marL="73152" marR="73152" marT="36576" marB="36576" anchor="ctr">
                    <a:lnL w="6350" cap="flat" cmpd="sng" algn="ctr">
                      <a:solidFill>
                        <a:srgbClr val="C9D6D0"/>
                      </a:solidFill>
                      <a:prstDash val="solid"/>
                      <a:round/>
                      <a:headEnd type="none" w="med" len="med"/>
                      <a:tailEnd type="none" w="med" len="med"/>
                    </a:lnL>
                    <a:lnR w="6350" cap="flat" cmpd="sng" algn="ctr">
                      <a:solidFill>
                        <a:srgbClr val="C9D6D0"/>
                      </a:solidFill>
                      <a:prstDash val="solid"/>
                      <a:round/>
                      <a:headEnd type="none" w="med" len="med"/>
                      <a:tailEnd type="none" w="med" len="med"/>
                    </a:lnR>
                    <a:lnT w="6350" cap="flat" cmpd="sng" algn="ctr">
                      <a:solidFill>
                        <a:srgbClr val="C9D6D0"/>
                      </a:solidFill>
                      <a:prstDash val="solid"/>
                      <a:round/>
                      <a:headEnd type="none" w="med" len="med"/>
                      <a:tailEnd type="none" w="med" len="med"/>
                    </a:lnT>
                    <a:lnB w="6350" cap="flat" cmpd="sng" algn="ctr">
                      <a:solidFill>
                        <a:srgbClr val="C9D6D0"/>
                      </a:solidFill>
                      <a:prstDash val="solid"/>
                      <a:round/>
                      <a:headEnd type="none" w="med" len="med"/>
                      <a:tailEnd type="none" w="med" len="med"/>
                    </a:lnB>
                    <a:solidFill>
                      <a:srgbClr val="F4F7F5"/>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Run logged</a:t>
                      </a:r>
                      <a:endParaRPr lang="en-US" sz="1100" dirty="0">
                        <a:latin typeface="Calibri" charset="0"/>
                        <a:ea typeface="Calibri" charset="0"/>
                        <a:cs typeface="Calibri" charset="0"/>
                      </a:endParaRPr>
                    </a:p>
                  </a:txBody>
                  <a:tcPr marL="73152" marR="73152" marT="36576" marB="36576" anchor="ctr">
                    <a:lnL w="6350" cap="flat" cmpd="sng" algn="ctr">
                      <a:solidFill>
                        <a:srgbClr val="C9D6D0"/>
                      </a:solidFill>
                      <a:prstDash val="solid"/>
                      <a:round/>
                      <a:headEnd type="none" w="med" len="med"/>
                      <a:tailEnd type="none" w="med" len="med"/>
                    </a:lnL>
                    <a:lnR w="6350" cap="flat" cmpd="sng" algn="ctr">
                      <a:solidFill>
                        <a:srgbClr val="C9D6D0"/>
                      </a:solidFill>
                      <a:prstDash val="solid"/>
                      <a:round/>
                      <a:headEnd type="none" w="med" len="med"/>
                      <a:tailEnd type="none" w="med" len="med"/>
                    </a:lnR>
                    <a:lnT w="6350" cap="flat" cmpd="sng" algn="ctr">
                      <a:solidFill>
                        <a:srgbClr val="C9D6D0"/>
                      </a:solidFill>
                      <a:prstDash val="solid"/>
                      <a:round/>
                      <a:headEnd type="none" w="med" len="med"/>
                      <a:tailEnd type="none" w="med" len="med"/>
                    </a:lnT>
                    <a:lnB w="6350" cap="flat" cmpd="sng" algn="ctr">
                      <a:solidFill>
                        <a:srgbClr val="C9D6D0"/>
                      </a:solidFill>
                      <a:prstDash val="solid"/>
                      <a:round/>
                      <a:headEnd type="none" w="med" len="med"/>
                      <a:tailEnd type="none" w="med" len="med"/>
                    </a:lnB>
                    <a:solidFill>
                      <a:srgbClr val="F4F7F5"/>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Business unit + platform</a:t>
                      </a:r>
                      <a:endParaRPr lang="en-US" sz="1100" dirty="0">
                        <a:latin typeface="Calibri" charset="0"/>
                        <a:ea typeface="Calibri" charset="0"/>
                        <a:cs typeface="Calibri" charset="0"/>
                      </a:endParaRPr>
                    </a:p>
                  </a:txBody>
                  <a:tcPr marL="73152" marR="73152" marT="36576" marB="36576" anchor="ctr">
                    <a:lnL w="6350" cap="flat" cmpd="sng" algn="ctr">
                      <a:solidFill>
                        <a:srgbClr val="C9D6D0"/>
                      </a:solidFill>
                      <a:prstDash val="solid"/>
                      <a:round/>
                      <a:headEnd type="none" w="med" len="med"/>
                      <a:tailEnd type="none" w="med" len="med"/>
                    </a:lnL>
                    <a:lnR w="6350" cap="flat" cmpd="sng" algn="ctr">
                      <a:solidFill>
                        <a:srgbClr val="C9D6D0"/>
                      </a:solidFill>
                      <a:prstDash val="solid"/>
                      <a:round/>
                      <a:headEnd type="none" w="med" len="med"/>
                      <a:tailEnd type="none" w="med" len="med"/>
                    </a:lnR>
                    <a:lnT w="6350" cap="flat" cmpd="sng" algn="ctr">
                      <a:solidFill>
                        <a:srgbClr val="C9D6D0"/>
                      </a:solidFill>
                      <a:prstDash val="solid"/>
                      <a:round/>
                      <a:headEnd type="none" w="med" len="med"/>
                      <a:tailEnd type="none" w="med" len="med"/>
                    </a:lnT>
                    <a:lnB w="6350" cap="flat" cmpd="sng" algn="ctr">
                      <a:solidFill>
                        <a:srgbClr val="C9D6D0"/>
                      </a:solidFill>
                      <a:prstDash val="solid"/>
                      <a:round/>
                      <a:headEnd type="none" w="med" len="med"/>
                      <a:tailEnd type="none" w="med" len="med"/>
                    </a:lnB>
                    <a:solidFill>
                      <a:srgbClr val="F4F7F5"/>
                    </a:solidFill>
                  </a:tcPr>
                </a:tc>
              </a:tr>
              <a:tr h="384048">
                <a:tc>
                  <a:txBody>
                    <a:bodyPr/>
                    <a:lstStyle/>
                    <a:p>
                      <a:pPr indent="0" marL="0">
                        <a:buNone/>
                      </a:pPr>
                      <a:r>
                        <a:rPr lang="en-US" sz="1100" b="1" dirty="0">
                          <a:solidFill>
                            <a:schemeClr val="tx1"/>
                          </a:solidFill>
                          <a:latin typeface="Calibri" pitchFamily="34" charset="0"/>
                          <a:ea typeface="Calibri" pitchFamily="34" charset="-122"/>
                          <a:cs typeface="Calibri" pitchFamily="34" charset="-120"/>
                        </a:rPr>
                        <a:t>Agent Monitoring</a:t>
                      </a:r>
                      <a:endParaRPr lang="en-US" sz="1100" dirty="0">
                        <a:latin typeface="Calibri" charset="0"/>
                        <a:ea typeface="Calibri" charset="0"/>
                        <a:cs typeface="Calibri" charset="0"/>
                      </a:endParaRPr>
                    </a:p>
                  </a:txBody>
                  <a:tcPr marL="73152" marR="73152" marT="36576" marB="36576" anchor="ctr">
                    <a:lnL w="6350" cap="flat" cmpd="sng" algn="ctr">
                      <a:solidFill>
                        <a:srgbClr val="C9D6D0"/>
                      </a:solidFill>
                      <a:prstDash val="solid"/>
                      <a:round/>
                      <a:headEnd type="none" w="med" len="med"/>
                      <a:tailEnd type="none" w="med" len="med"/>
                    </a:lnL>
                    <a:lnR w="6350" cap="flat" cmpd="sng" algn="ctr">
                      <a:solidFill>
                        <a:srgbClr val="C9D6D0"/>
                      </a:solidFill>
                      <a:prstDash val="solid"/>
                      <a:round/>
                      <a:headEnd type="none" w="med" len="med"/>
                      <a:tailEnd type="none" w="med" len="med"/>
                    </a:lnR>
                    <a:lnT w="6350" cap="flat" cmpd="sng" algn="ctr">
                      <a:solidFill>
                        <a:srgbClr val="C9D6D0"/>
                      </a:solidFill>
                      <a:prstDash val="solid"/>
                      <a:round/>
                      <a:headEnd type="none" w="med" len="med"/>
                      <a:tailEnd type="none" w="med" len="med"/>
                    </a:lnT>
                    <a:lnB w="6350" cap="flat" cmpd="sng" algn="ctr">
                      <a:solidFill>
                        <a:srgbClr val="C9D6D0"/>
                      </a:solidFill>
                      <a:prstDash val="solid"/>
                      <a:round/>
                      <a:headEnd type="none" w="med" len="med"/>
                      <a:tailEnd type="none" w="med" len="med"/>
                    </a:lnB>
                    <a:solidFill>
                      <a:srgbClr val="FFFFFF"/>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 Agent flagged as uniform</a:t>
                      </a:r>
                      <a:endParaRPr lang="en-US" sz="1100" dirty="0">
                        <a:latin typeface="Calibri" charset="0"/>
                        <a:ea typeface="Calibri" charset="0"/>
                        <a:cs typeface="Calibri" charset="0"/>
                      </a:endParaRPr>
                    </a:p>
                  </a:txBody>
                  <a:tcPr marL="73152" marR="73152" marT="36576" marB="36576" anchor="ctr">
                    <a:lnL w="6350" cap="flat" cmpd="sng" algn="ctr">
                      <a:solidFill>
                        <a:srgbClr val="C9D6D0"/>
                      </a:solidFill>
                      <a:prstDash val="solid"/>
                      <a:round/>
                      <a:headEnd type="none" w="med" len="med"/>
                      <a:tailEnd type="none" w="med" len="med"/>
                    </a:lnL>
                    <a:lnR w="6350" cap="flat" cmpd="sng" algn="ctr">
                      <a:solidFill>
                        <a:srgbClr val="C9D6D0"/>
                      </a:solidFill>
                      <a:prstDash val="solid"/>
                      <a:round/>
                      <a:headEnd type="none" w="med" len="med"/>
                      <a:tailEnd type="none" w="med" len="med"/>
                    </a:lnR>
                    <a:lnT w="6350" cap="flat" cmpd="sng" algn="ctr">
                      <a:solidFill>
                        <a:srgbClr val="C9D6D0"/>
                      </a:solidFill>
                      <a:prstDash val="solid"/>
                      <a:round/>
                      <a:headEnd type="none" w="med" len="med"/>
                      <a:tailEnd type="none" w="med" len="med"/>
                    </a:lnT>
                    <a:lnB w="6350" cap="flat" cmpd="sng" algn="ctr">
                      <a:solidFill>
                        <a:srgbClr val="C9D6D0"/>
                      </a:solidFill>
                      <a:prstDash val="solid"/>
                      <a:round/>
                      <a:headEnd type="none" w="med" len="med"/>
                      <a:tailEnd type="none" w="med" len="med"/>
                    </a:lnB>
                    <a:solidFill>
                      <a:srgbClr val="FFFFFF"/>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CIO office (dashboard)</a:t>
                      </a:r>
                      <a:endParaRPr lang="en-US" sz="1100" dirty="0">
                        <a:latin typeface="Calibri" charset="0"/>
                        <a:ea typeface="Calibri" charset="0"/>
                        <a:cs typeface="Calibri" charset="0"/>
                      </a:endParaRPr>
                    </a:p>
                  </a:txBody>
                  <a:tcPr marL="73152" marR="73152" marT="36576" marB="36576" anchor="ctr">
                    <a:lnL w="6350" cap="flat" cmpd="sng" algn="ctr">
                      <a:solidFill>
                        <a:srgbClr val="C9D6D0"/>
                      </a:solidFill>
                      <a:prstDash val="solid"/>
                      <a:round/>
                      <a:headEnd type="none" w="med" len="med"/>
                      <a:tailEnd type="none" w="med" len="med"/>
                    </a:lnL>
                    <a:lnR w="6350" cap="flat" cmpd="sng" algn="ctr">
                      <a:solidFill>
                        <a:srgbClr val="C9D6D0"/>
                      </a:solidFill>
                      <a:prstDash val="solid"/>
                      <a:round/>
                      <a:headEnd type="none" w="med" len="med"/>
                      <a:tailEnd type="none" w="med" len="med"/>
                    </a:lnR>
                    <a:lnT w="6350" cap="flat" cmpd="sng" algn="ctr">
                      <a:solidFill>
                        <a:srgbClr val="C9D6D0"/>
                      </a:solidFill>
                      <a:prstDash val="solid"/>
                      <a:round/>
                      <a:headEnd type="none" w="med" len="med"/>
                      <a:tailEnd type="none" w="med" len="med"/>
                    </a:lnT>
                    <a:lnB w="6350" cap="flat" cmpd="sng" algn="ctr">
                      <a:solidFill>
                        <a:srgbClr val="C9D6D0"/>
                      </a:solidFill>
                      <a:prstDash val="solid"/>
                      <a:round/>
                      <a:headEnd type="none" w="med" len="med"/>
                      <a:tailEnd type="none" w="med" len="med"/>
                    </a:lnB>
                    <a:solidFill>
                      <a:srgbClr val="FFFFFF"/>
                    </a:solidFill>
                  </a:tcPr>
                </a:tc>
              </a:tr>
              <a:tr h="384048">
                <a:tc>
                  <a:txBody>
                    <a:bodyPr/>
                    <a:lstStyle/>
                    <a:p>
                      <a:pPr indent="0" marL="0">
                        <a:buNone/>
                      </a:pPr>
                      <a:r>
                        <a:rPr lang="en-US" sz="1100" b="1" dirty="0">
                          <a:solidFill>
                            <a:schemeClr val="tx1"/>
                          </a:solidFill>
                          <a:latin typeface="Calibri" pitchFamily="34" charset="0"/>
                          <a:ea typeface="Calibri" pitchFamily="34" charset="-122"/>
                          <a:cs typeface="Calibri" pitchFamily="34" charset="-120"/>
                        </a:rPr>
                        <a:t>Agent Conversion</a:t>
                      </a:r>
                      <a:endParaRPr lang="en-US" sz="1100" dirty="0">
                        <a:latin typeface="Calibri" charset="0"/>
                        <a:ea typeface="Calibri" charset="0"/>
                        <a:cs typeface="Calibri" charset="0"/>
                      </a:endParaRPr>
                    </a:p>
                  </a:txBody>
                  <a:tcPr marL="73152" marR="73152" marT="36576" marB="36576" anchor="ctr">
                    <a:lnL w="6350" cap="flat" cmpd="sng" algn="ctr">
                      <a:solidFill>
                        <a:srgbClr val="C9D6D0"/>
                      </a:solidFill>
                      <a:prstDash val="solid"/>
                      <a:round/>
                      <a:headEnd type="none" w="med" len="med"/>
                      <a:tailEnd type="none" w="med" len="med"/>
                    </a:lnL>
                    <a:lnR w="6350" cap="flat" cmpd="sng" algn="ctr">
                      <a:solidFill>
                        <a:srgbClr val="C9D6D0"/>
                      </a:solidFill>
                      <a:prstDash val="solid"/>
                      <a:round/>
                      <a:headEnd type="none" w="med" len="med"/>
                      <a:tailEnd type="none" w="med" len="med"/>
                    </a:lnR>
                    <a:lnT w="6350" cap="flat" cmpd="sng" algn="ctr">
                      <a:solidFill>
                        <a:srgbClr val="C9D6D0"/>
                      </a:solidFill>
                      <a:prstDash val="solid"/>
                      <a:round/>
                      <a:headEnd type="none" w="med" len="med"/>
                      <a:tailEnd type="none" w="med" len="med"/>
                    </a:lnT>
                    <a:lnB w="6350" cap="flat" cmpd="sng" algn="ctr">
                      <a:solidFill>
                        <a:srgbClr val="C9D6D0"/>
                      </a:solidFill>
                      <a:prstDash val="solid"/>
                      <a:round/>
                      <a:headEnd type="none" w="med" len="med"/>
                      <a:tailEnd type="none" w="med" len="med"/>
                    </a:lnB>
                    <a:solidFill>
                      <a:srgbClr val="F4F7F5"/>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Conversion case added to training</a:t>
                      </a:r>
                      <a:endParaRPr lang="en-US" sz="1100" dirty="0">
                        <a:latin typeface="Calibri" charset="0"/>
                        <a:ea typeface="Calibri" charset="0"/>
                        <a:cs typeface="Calibri" charset="0"/>
                      </a:endParaRPr>
                    </a:p>
                  </a:txBody>
                  <a:tcPr marL="73152" marR="73152" marT="36576" marB="36576" anchor="ctr">
                    <a:lnL w="6350" cap="flat" cmpd="sng" algn="ctr">
                      <a:solidFill>
                        <a:srgbClr val="C9D6D0"/>
                      </a:solidFill>
                      <a:prstDash val="solid"/>
                      <a:round/>
                      <a:headEnd type="none" w="med" len="med"/>
                      <a:tailEnd type="none" w="med" len="med"/>
                    </a:lnL>
                    <a:lnR w="6350" cap="flat" cmpd="sng" algn="ctr">
                      <a:solidFill>
                        <a:srgbClr val="C9D6D0"/>
                      </a:solidFill>
                      <a:prstDash val="solid"/>
                      <a:round/>
                      <a:headEnd type="none" w="med" len="med"/>
                      <a:tailEnd type="none" w="med" len="med"/>
                    </a:lnR>
                    <a:lnT w="6350" cap="flat" cmpd="sng" algn="ctr">
                      <a:solidFill>
                        <a:srgbClr val="C9D6D0"/>
                      </a:solidFill>
                      <a:prstDash val="solid"/>
                      <a:round/>
                      <a:headEnd type="none" w="med" len="med"/>
                      <a:tailEnd type="none" w="med" len="med"/>
                    </a:lnT>
                    <a:lnB w="6350" cap="flat" cmpd="sng" algn="ctr">
                      <a:solidFill>
                        <a:srgbClr val="C9D6D0"/>
                      </a:solidFill>
                      <a:prstDash val="solid"/>
                      <a:round/>
                      <a:headEnd type="none" w="med" len="med"/>
                      <a:tailEnd type="none" w="med" len="med"/>
                    </a:lnB>
                    <a:solidFill>
                      <a:srgbClr val="F4F7F5"/>
                    </a:solidFill>
                  </a:tcPr>
                </a:tc>
                <a:tc>
                  <a:txBody>
                    <a:bodyPr/>
                    <a:lstStyle/>
                    <a:p>
                      <a:pPr indent="0" marL="0">
                        <a:buNone/>
                      </a:pPr>
                      <a:r>
                        <a:rPr lang="en-US" sz="1100" dirty="0">
                          <a:solidFill>
                            <a:schemeClr val="tx1"/>
                          </a:solidFill>
                          <a:latin typeface="Calibri" pitchFamily="34" charset="0"/>
                          <a:ea typeface="Calibri" pitchFamily="34" charset="-122"/>
                          <a:cs typeface="Calibri" pitchFamily="34" charset="-120"/>
                        </a:rPr>
                        <a:t>AI platform team</a:t>
                      </a:r>
                      <a:endParaRPr lang="en-US" sz="1100" dirty="0">
                        <a:latin typeface="Calibri" charset="0"/>
                        <a:ea typeface="Calibri" charset="0"/>
                        <a:cs typeface="Calibri" charset="0"/>
                      </a:endParaRPr>
                    </a:p>
                  </a:txBody>
                  <a:tcPr marL="73152" marR="73152" marT="36576" marB="36576" anchor="ctr">
                    <a:lnL w="6350" cap="flat" cmpd="sng" algn="ctr">
                      <a:solidFill>
                        <a:srgbClr val="C9D6D0"/>
                      </a:solidFill>
                      <a:prstDash val="solid"/>
                      <a:round/>
                      <a:headEnd type="none" w="med" len="med"/>
                      <a:tailEnd type="none" w="med" len="med"/>
                    </a:lnL>
                    <a:lnR w="6350" cap="flat" cmpd="sng" algn="ctr">
                      <a:solidFill>
                        <a:srgbClr val="C9D6D0"/>
                      </a:solidFill>
                      <a:prstDash val="solid"/>
                      <a:round/>
                      <a:headEnd type="none" w="med" len="med"/>
                      <a:tailEnd type="none" w="med" len="med"/>
                    </a:lnR>
                    <a:lnT w="6350" cap="flat" cmpd="sng" algn="ctr">
                      <a:solidFill>
                        <a:srgbClr val="C9D6D0"/>
                      </a:solidFill>
                      <a:prstDash val="solid"/>
                      <a:round/>
                      <a:headEnd type="none" w="med" len="med"/>
                      <a:tailEnd type="none" w="med" len="med"/>
                    </a:lnT>
                    <a:lnB w="6350" cap="flat" cmpd="sng" algn="ctr">
                      <a:solidFill>
                        <a:srgbClr val="C9D6D0"/>
                      </a:solidFill>
                      <a:prstDash val="solid"/>
                      <a:round/>
                      <a:headEnd type="none" w="med" len="med"/>
                      <a:tailEnd type="none" w="med" len="med"/>
                    </a:lnB>
                    <a:solidFill>
                      <a:srgbClr val="F4F7F5"/>
                    </a:solidFill>
                  </a:tcPr>
                </a:tc>
              </a:tr>
            </a:tbl>
          </a:graphicData>
        </a:graphic>
      </p:graphicFrame>
      <p:sp>
        <p:nvSpPr>
          <p:cNvPr id="22" name="Text 15"/>
          <p:cNvSpPr txBox="1"/>
          <p:nvPr/>
        </p:nvSpPr>
        <p:spPr>
          <a:xfrm>
            <a:off x="6172200" y="4937760"/>
            <a:ext cx="5468112" cy="502920"/>
          </a:xfrm>
          <a:prstGeom prst="rect">
            <a:avLst/>
          </a:prstGeom>
          <a:noFill/>
          <a:ln/>
        </p:spPr>
        <p:txBody>
          <a:bodyPr wrap="square" lIns="0" tIns="0" rIns="0" bIns="0" rtlCol="0" anchor="t"/>
          <a:lstStyle/>
          <a:p>
            <a:pPr indent="0" marL="0">
              <a:buNone/>
            </a:pPr>
            <a:r>
              <a:rPr lang="en-US" sz="1100" i="1" dirty="0">
                <a:solidFill>
                  <a:srgbClr val="5E6E6A"/>
                </a:solidFill>
                <a:latin typeface="Calibri" pitchFamily="34" charset="0"/>
                <a:ea typeface="Calibri" pitchFamily="34" charset="-122"/>
                <a:cs typeface="Calibri" pitchFamily="34" charset="-120"/>
              </a:rPr>
              <a:t>Heuristic from the lecture: one bounded context = one service, and a team owns at most two. First cut, expected to change.</a:t>
            </a:r>
            <a:endParaRPr lang="en-US" sz="1100" dirty="0"/>
          </a:p>
        </p:txBody>
      </p:sp>
      <p:sp>
        <p:nvSpPr>
          <p:cNvPr id="25" name="Slide Number Placeholder 0"/>
          <p:cNvSpPr>
            <a:spLocks noGrp="1"/>
          </p:cNvSpPr>
          <p:nvPr>
            <p:ph type="sldNum" sz="quarter" idx="4294967295"/>
          </p:nvPr>
        </p:nvSpPr>
        <p:spPr>
          <a:xfrm>
            <a:off x="11274552" y="644652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E6E6A"/>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274320"/>
          </a:xfrm>
          <a:prstGeom prst="rect">
            <a:avLst/>
          </a:prstGeom>
          <a:noFill/>
          <a:ln/>
        </p:spPr>
        <p:txBody>
          <a:bodyPr wrap="square" lIns="0" tIns="0" rIns="0" bIns="0" rtlCol="0"/>
          <a:lstStyle/>
          <a:p>
            <a:pPr indent="0" marL="0">
              <a:buNone/>
            </a:pPr>
            <a:r>
              <a:rPr lang="en-US" sz="1100" b="1" spc="200" kern="0" dirty="0">
                <a:solidFill>
                  <a:schemeClr val="accent1"/>
                </a:solidFill>
                <a:latin typeface="Arial" pitchFamily="34" charset="0"/>
                <a:ea typeface="Arial" pitchFamily="34" charset="-122"/>
                <a:cs typeface="Arial" pitchFamily="34" charset="-120"/>
              </a:rPr>
              <a:t>HOTSPOTS</a:t>
            </a:r>
            <a:endParaRPr lang="en-US" sz="1100" dirty="0"/>
          </a:p>
        </p:txBody>
      </p:sp>
      <p:sp>
        <p:nvSpPr>
          <p:cNvPr id="3" name="Text 0"/>
          <p:cNvSpPr/>
          <p:nvPr>
            <p:ph idx="101" type="title" hasCustomPrompt="1"/>
          </p:nvPr>
        </p:nvSpPr>
        <p:spPr>
          <a:xfrm>
            <a:off x="548640" y="640080"/>
            <a:ext cx="11064240" cy="868680"/>
          </a:xfrm>
          <a:prstGeom prst="rect">
            <a:avLst/>
          </a:prstGeom>
          <a:noFill/>
          <a:ln/>
        </p:spPr>
        <p:txBody>
          <a:bodyPr wrap="square" lIns="0" tIns="0" rIns="0" bIns="0" rtlCol="0" anchor="t"/>
          <a:lstStyle/>
          <a:p>
            <a:pPr algn="l" indent="0" marL="0">
              <a:buNone/>
            </a:pPr>
            <a:r>
              <a:rPr lang="en-US" sz="2600" b="1" dirty="0">
                <a:solidFill>
                  <a:schemeClr val="tx1"/>
                </a:solidFill>
                <a:latin typeface="Arial" pitchFamily="34" charset="0"/>
                <a:ea typeface="Arial" pitchFamily="34" charset="-122"/>
                <a:cs typeface="Arial" pitchFamily="34" charset="-120"/>
              </a:rPr>
              <a:t>Seven open questions to resolve before a pilot</a:t>
            </a:r>
            <a:endParaRPr lang="en-US" sz="2600" dirty="0"/>
          </a:p>
        </p:txBody>
      </p:sp>
      <p:sp>
        <p:nvSpPr>
          <p:cNvPr id="4" name="hotspot group Governance"/>
          <p:cNvSpPr/>
          <p:nvPr/>
        </p:nvSpPr>
        <p:spPr>
          <a:xfrm>
            <a:off x="548640" y="1463040"/>
            <a:ext cx="5408676" cy="2926080"/>
          </a:xfrm>
          <a:prstGeom prst="rect">
            <a:avLst/>
          </a:prstGeom>
          <a:solidFill>
            <a:schemeClr val="bg1"/>
          </a:solidFill>
          <a:ln w="12700">
            <a:solidFill>
              <a:srgbClr val="C9D6D0"/>
            </a:solidFill>
            <a:prstDash val="solid"/>
          </a:ln>
        </p:spPr>
      </p:sp>
      <p:sp>
        <p:nvSpPr>
          <p:cNvPr id="5" name="Shape 3"/>
          <p:cNvSpPr/>
          <p:nvPr/>
        </p:nvSpPr>
        <p:spPr>
          <a:xfrm>
            <a:off x="731520" y="1600200"/>
            <a:ext cx="384048" cy="384048"/>
          </a:xfrm>
          <a:prstGeom prst="ellipse">
            <a:avLst/>
          </a:prstGeom>
          <a:solidFill>
            <a:schemeClr val="accent6"/>
          </a:solidFill>
          <a:ln w="12700">
            <a:solidFill>
              <a:schemeClr val="accent6"/>
            </a:solidFill>
            <a:prstDash val="solid"/>
          </a:ln>
        </p:spPr>
      </p:sp>
      <p:pic>
        <p:nvPicPr>
          <p:cNvPr id="6" name="Image 0" descr="preencoded.png">    </p:cNvPr>
          <p:cNvPicPr>
            <a:picLocks noChangeAspect="1"/>
          </p:cNvPicPr>
          <p:nvPr/>
        </p:nvPicPr>
        <p:blipFill>
          <a:blip r:embed="rId1"/>
          <a:stretch>
            <a:fillRect/>
          </a:stretch>
        </p:blipFill>
        <p:spPr>
          <a:xfrm>
            <a:off x="822960" y="1691640"/>
            <a:ext cx="201168" cy="201168"/>
          </a:xfrm>
          <a:prstGeom prst="rect">
            <a:avLst/>
          </a:prstGeom>
        </p:spPr>
      </p:pic>
      <p:sp>
        <p:nvSpPr>
          <p:cNvPr id="7" name="Text 4"/>
          <p:cNvSpPr txBox="1"/>
          <p:nvPr/>
        </p:nvSpPr>
        <p:spPr>
          <a:xfrm>
            <a:off x="1234440" y="1600200"/>
            <a:ext cx="4494276" cy="384048"/>
          </a:xfrm>
          <a:prstGeom prst="rect">
            <a:avLst/>
          </a:prstGeom>
          <a:noFill/>
          <a:ln/>
        </p:spPr>
        <p:txBody>
          <a:bodyPr wrap="square" lIns="0" tIns="0" rIns="0" bIns="0" rtlCol="0" anchor="ctr"/>
          <a:lstStyle/>
          <a:p>
            <a:pPr indent="0" marL="0">
              <a:buNone/>
            </a:pPr>
            <a:r>
              <a:rPr lang="en-US" sz="1400" b="1" dirty="0">
                <a:solidFill>
                  <a:schemeClr val="tx1"/>
                </a:solidFill>
                <a:latin typeface="Arial" pitchFamily="34" charset="0"/>
                <a:ea typeface="Arial" pitchFamily="34" charset="-122"/>
                <a:cs typeface="Arial" pitchFamily="34" charset="-120"/>
              </a:rPr>
              <a:t>Governance</a:t>
            </a:r>
            <a:endParaRPr lang="en-US" sz="1400" dirty="0"/>
          </a:p>
        </p:txBody>
      </p:sp>
      <p:sp>
        <p:nvSpPr>
          <p:cNvPr id="8" name="Shape 5"/>
          <p:cNvSpPr/>
          <p:nvPr/>
        </p:nvSpPr>
        <p:spPr>
          <a:xfrm>
            <a:off x="731520" y="2148840"/>
            <a:ext cx="384048" cy="237744"/>
          </a:xfrm>
          <a:prstGeom prst="rect">
            <a:avLst/>
          </a:prstGeom>
          <a:solidFill>
            <a:schemeClr val="accent6"/>
          </a:solidFill>
          <a:ln w="12700">
            <a:solidFill>
              <a:schemeClr val="accent6"/>
            </a:solidFill>
            <a:prstDash val="solid"/>
          </a:ln>
        </p:spPr>
      </p:sp>
      <p:sp>
        <p:nvSpPr>
          <p:cNvPr id="9" name="Text 6"/>
          <p:cNvSpPr txBox="1"/>
          <p:nvPr/>
        </p:nvSpPr>
        <p:spPr>
          <a:xfrm>
            <a:off x="731520" y="2148840"/>
            <a:ext cx="384048" cy="237744"/>
          </a:xfrm>
          <a:prstGeom prst="rect">
            <a:avLst/>
          </a:prstGeom>
          <a:noFill/>
          <a:ln/>
        </p:spPr>
        <p:txBody>
          <a:bodyPr wrap="square" lIns="0" tIns="0" rIns="0" bIns="0" rtlCol="0" anchor="ctr"/>
          <a:lstStyle/>
          <a:p>
            <a:pPr algn="ctr" indent="0" marL="0">
              <a:buNone/>
            </a:pPr>
            <a:r>
              <a:rPr lang="en-US" sz="1000" b="1" dirty="0">
                <a:solidFill>
                  <a:schemeClr val="bg1"/>
                </a:solidFill>
                <a:latin typeface="Calibri" pitchFamily="34" charset="0"/>
                <a:ea typeface="Calibri" pitchFamily="34" charset="-122"/>
                <a:cs typeface="Calibri" pitchFamily="34" charset="-120"/>
              </a:rPr>
              <a:t>H1</a:t>
            </a:r>
            <a:endParaRPr lang="en-US" sz="1000" dirty="0"/>
          </a:p>
        </p:txBody>
      </p:sp>
      <p:sp>
        <p:nvSpPr>
          <p:cNvPr id="10" name="Text 7"/>
          <p:cNvSpPr txBox="1"/>
          <p:nvPr/>
        </p:nvSpPr>
        <p:spPr>
          <a:xfrm>
            <a:off x="1234440" y="2121408"/>
            <a:ext cx="4539996" cy="694944"/>
          </a:xfrm>
          <a:prstGeom prst="rect">
            <a:avLst/>
          </a:prstGeom>
          <a:noFill/>
          <a:ln/>
        </p:spPr>
        <p:txBody>
          <a:bodyPr wrap="square" lIns="0" tIns="0" rIns="0" bIns="0" rtlCol="0" anchor="t"/>
          <a:lstStyle/>
          <a:p>
            <a:pPr indent="0" marL="0">
              <a:buNone/>
            </a:pPr>
            <a:r>
              <a:rPr lang="en-US" sz="1200" b="1" dirty="0">
                <a:solidFill>
                  <a:schemeClr val="tx1"/>
                </a:solidFill>
                <a:latin typeface="Calibri" pitchFamily="34" charset="0"/>
                <a:ea typeface="Calibri" pitchFamily="34" charset="-122"/>
                <a:cs typeface="Calibri" pitchFamily="34" charset="-120"/>
              </a:rPr>
              <a:t>Mandatory for everyone who requests automations, or only for agent builders?</a:t>
            </a:r>
            <a:endParaRPr lang="en-US" sz="1200" dirty="0"/>
          </a:p>
          <a:p>
            <a:pPr indent="0" marL="0">
              <a:buNone/>
            </a:pPr>
            <a:r>
              <a:rPr lang="en-US" sz="1100" b="1" dirty="0">
                <a:solidFill>
                  <a:schemeClr val="accent1"/>
                </a:solidFill>
                <a:latin typeface="Calibri" pitchFamily="34" charset="0"/>
                <a:ea typeface="Calibri" pitchFamily="34" charset="-122"/>
                <a:cs typeface="Calibri" pitchFamily="34" charset="-120"/>
              </a:rPr>
              <a:t>Enablement  ·  Next: </a:t>
            </a:r>
            <a:pPr indent="0" marL="0">
              <a:buNone/>
            </a:pPr>
            <a:r>
              <a:rPr lang="en-US" sz="1100" dirty="0">
                <a:solidFill>
                  <a:srgbClr val="5E6E6A"/>
                </a:solidFill>
                <a:latin typeface="Calibri" pitchFamily="34" charset="0"/>
                <a:ea typeface="Calibri" pitchFamily="34" charset="-122"/>
                <a:cs typeface="Calibri" pitchFamily="34" charset="-120"/>
              </a:rPr>
              <a:t>Decide with L&amp;D: full training for agent requests, a short module for all others.</a:t>
            </a:r>
            <a:endParaRPr lang="en-US" sz="1200" dirty="0"/>
          </a:p>
        </p:txBody>
      </p:sp>
      <p:sp>
        <p:nvSpPr>
          <p:cNvPr id="11" name="Shape 8"/>
          <p:cNvSpPr/>
          <p:nvPr/>
        </p:nvSpPr>
        <p:spPr>
          <a:xfrm>
            <a:off x="731520" y="2880360"/>
            <a:ext cx="384048" cy="237744"/>
          </a:xfrm>
          <a:prstGeom prst="rect">
            <a:avLst/>
          </a:prstGeom>
          <a:solidFill>
            <a:schemeClr val="accent6"/>
          </a:solidFill>
          <a:ln w="12700">
            <a:solidFill>
              <a:schemeClr val="accent6"/>
            </a:solidFill>
            <a:prstDash val="solid"/>
          </a:ln>
        </p:spPr>
      </p:sp>
      <p:sp>
        <p:nvSpPr>
          <p:cNvPr id="12" name="Text 9"/>
          <p:cNvSpPr txBox="1"/>
          <p:nvPr/>
        </p:nvSpPr>
        <p:spPr>
          <a:xfrm>
            <a:off x="731520" y="2880360"/>
            <a:ext cx="384048" cy="237744"/>
          </a:xfrm>
          <a:prstGeom prst="rect">
            <a:avLst/>
          </a:prstGeom>
          <a:noFill/>
          <a:ln/>
        </p:spPr>
        <p:txBody>
          <a:bodyPr wrap="square" lIns="0" tIns="0" rIns="0" bIns="0" rtlCol="0" anchor="ctr"/>
          <a:lstStyle/>
          <a:p>
            <a:pPr algn="ctr" indent="0" marL="0">
              <a:buNone/>
            </a:pPr>
            <a:r>
              <a:rPr lang="en-US" sz="1000" b="1" dirty="0">
                <a:solidFill>
                  <a:schemeClr val="bg1"/>
                </a:solidFill>
                <a:latin typeface="Calibri" pitchFamily="34" charset="0"/>
                <a:ea typeface="Calibri" pitchFamily="34" charset="-122"/>
                <a:cs typeface="Calibri" pitchFamily="34" charset="-120"/>
              </a:rPr>
              <a:t>H2</a:t>
            </a:r>
            <a:endParaRPr lang="en-US" sz="1000" dirty="0"/>
          </a:p>
        </p:txBody>
      </p:sp>
      <p:sp>
        <p:nvSpPr>
          <p:cNvPr id="13" name="Text 10"/>
          <p:cNvSpPr txBox="1"/>
          <p:nvPr/>
        </p:nvSpPr>
        <p:spPr>
          <a:xfrm>
            <a:off x="1234440" y="2852928"/>
            <a:ext cx="4539996" cy="694944"/>
          </a:xfrm>
          <a:prstGeom prst="rect">
            <a:avLst/>
          </a:prstGeom>
          <a:noFill/>
          <a:ln/>
        </p:spPr>
        <p:txBody>
          <a:bodyPr wrap="square" lIns="0" tIns="0" rIns="0" bIns="0" rtlCol="0" anchor="t"/>
          <a:lstStyle/>
          <a:p>
            <a:pPr indent="0" marL="0">
              <a:buNone/>
            </a:pPr>
            <a:r>
              <a:rPr lang="en-US" sz="1200" b="1" dirty="0">
                <a:solidFill>
                  <a:schemeClr val="tx1"/>
                </a:solidFill>
                <a:latin typeface="Calibri" pitchFamily="34" charset="0"/>
                <a:ea typeface="Calibri" pitchFamily="34" charset="-122"/>
                <a:cs typeface="Calibri" pitchFamily="34" charset="-120"/>
              </a:rPr>
              <a:t>Who can overrule the recommendation? Does an agent need a written reason?</a:t>
            </a:r>
            <a:endParaRPr lang="en-US" sz="1200" dirty="0"/>
          </a:p>
          <a:p>
            <a:pPr indent="0" marL="0">
              <a:buNone/>
            </a:pPr>
            <a:r>
              <a:rPr lang="en-US" sz="1100" b="1" dirty="0">
                <a:solidFill>
                  <a:schemeClr val="accent1"/>
                </a:solidFill>
                <a:latin typeface="Calibri" pitchFamily="34" charset="0"/>
                <a:ea typeface="Calibri" pitchFamily="34" charset="-122"/>
                <a:cs typeface="Calibri" pitchFamily="34" charset="-120"/>
              </a:rPr>
              <a:t>Automation Triage  ·  Next: </a:t>
            </a:r>
            <a:pPr indent="0" marL="0">
              <a:buNone/>
            </a:pPr>
            <a:r>
              <a:rPr lang="en-US" sz="1100" dirty="0">
                <a:solidFill>
                  <a:srgbClr val="5E6E6A"/>
                </a:solidFill>
                <a:latin typeface="Calibri" pitchFamily="34" charset="0"/>
                <a:ea typeface="Calibri" pitchFamily="34" charset="-122"/>
                <a:cs typeface="Calibri" pitchFamily="34" charset="-120"/>
              </a:rPr>
              <a:t>CIO office sets an override rule; an agent choice needs a one-line reason.</a:t>
            </a:r>
            <a:endParaRPr lang="en-US" sz="1200" dirty="0"/>
          </a:p>
        </p:txBody>
      </p:sp>
      <p:sp>
        <p:nvSpPr>
          <p:cNvPr id="14" name="Shape 11"/>
          <p:cNvSpPr/>
          <p:nvPr/>
        </p:nvSpPr>
        <p:spPr>
          <a:xfrm>
            <a:off x="731520" y="3611880"/>
            <a:ext cx="384048" cy="237744"/>
          </a:xfrm>
          <a:prstGeom prst="rect">
            <a:avLst/>
          </a:prstGeom>
          <a:solidFill>
            <a:schemeClr val="accent6"/>
          </a:solidFill>
          <a:ln w="12700">
            <a:solidFill>
              <a:schemeClr val="accent6"/>
            </a:solidFill>
            <a:prstDash val="solid"/>
          </a:ln>
        </p:spPr>
      </p:sp>
      <p:sp>
        <p:nvSpPr>
          <p:cNvPr id="15" name="Text 12"/>
          <p:cNvSpPr txBox="1"/>
          <p:nvPr/>
        </p:nvSpPr>
        <p:spPr>
          <a:xfrm>
            <a:off x="731520" y="3611880"/>
            <a:ext cx="384048" cy="237744"/>
          </a:xfrm>
          <a:prstGeom prst="rect">
            <a:avLst/>
          </a:prstGeom>
          <a:noFill/>
          <a:ln/>
        </p:spPr>
        <p:txBody>
          <a:bodyPr wrap="square" lIns="0" tIns="0" rIns="0" bIns="0" rtlCol="0" anchor="ctr"/>
          <a:lstStyle/>
          <a:p>
            <a:pPr algn="ctr" indent="0" marL="0">
              <a:buNone/>
            </a:pPr>
            <a:r>
              <a:rPr lang="en-US" sz="1000" b="1" dirty="0">
                <a:solidFill>
                  <a:schemeClr val="bg1"/>
                </a:solidFill>
                <a:latin typeface="Calibri" pitchFamily="34" charset="0"/>
                <a:ea typeface="Calibri" pitchFamily="34" charset="-122"/>
                <a:cs typeface="Calibri" pitchFamily="34" charset="-120"/>
              </a:rPr>
              <a:t>H3</a:t>
            </a:r>
            <a:endParaRPr lang="en-US" sz="1000" dirty="0"/>
          </a:p>
        </p:txBody>
      </p:sp>
      <p:sp>
        <p:nvSpPr>
          <p:cNvPr id="16" name="Text 13"/>
          <p:cNvSpPr txBox="1"/>
          <p:nvPr/>
        </p:nvSpPr>
        <p:spPr>
          <a:xfrm>
            <a:off x="1234440" y="3584448"/>
            <a:ext cx="4539996" cy="694944"/>
          </a:xfrm>
          <a:prstGeom prst="rect">
            <a:avLst/>
          </a:prstGeom>
          <a:noFill/>
          <a:ln/>
        </p:spPr>
        <p:txBody>
          <a:bodyPr wrap="square" lIns="0" tIns="0" rIns="0" bIns="0" rtlCol="0" anchor="t"/>
          <a:lstStyle/>
          <a:p>
            <a:pPr indent="0" marL="0">
              <a:buNone/>
            </a:pPr>
            <a:r>
              <a:rPr lang="en-US" sz="1200" b="1" dirty="0">
                <a:solidFill>
                  <a:schemeClr val="tx1"/>
                </a:solidFill>
                <a:latin typeface="Calibri" pitchFamily="34" charset="0"/>
                <a:ea typeface="Calibri" pitchFamily="34" charset="-122"/>
                <a:cs typeface="Calibri" pitchFamily="34" charset="-120"/>
              </a:rPr>
              <a:t>Agents built before the programme: how do they get into the inventory?</a:t>
            </a:r>
            <a:endParaRPr lang="en-US" sz="1200" dirty="0"/>
          </a:p>
          <a:p>
            <a:pPr indent="0" marL="0">
              <a:buNone/>
            </a:pPr>
            <a:r>
              <a:rPr lang="en-US" sz="1100" b="1" dirty="0">
                <a:solidFill>
                  <a:schemeClr val="accent1"/>
                </a:solidFill>
                <a:latin typeface="Calibri" pitchFamily="34" charset="0"/>
                <a:ea typeface="Calibri" pitchFamily="34" charset="-122"/>
                <a:cs typeface="Calibri" pitchFamily="34" charset="-120"/>
              </a:rPr>
              <a:t>Build &amp; Deploy  ·  Next: </a:t>
            </a:r>
            <a:pPr indent="0" marL="0">
              <a:buNone/>
            </a:pPr>
            <a:r>
              <a:rPr lang="en-US" sz="1100" dirty="0">
                <a:solidFill>
                  <a:srgbClr val="5E6E6A"/>
                </a:solidFill>
                <a:latin typeface="Calibri" pitchFamily="34" charset="0"/>
                <a:ea typeface="Calibri" pitchFamily="34" charset="-122"/>
                <a:cs typeface="Calibri" pitchFamily="34" charset="-120"/>
              </a:rPr>
              <a:t>Run a one-time inventory scan of the agent platform before the pilot.</a:t>
            </a:r>
            <a:endParaRPr lang="en-US" sz="1200" dirty="0"/>
          </a:p>
        </p:txBody>
      </p:sp>
      <p:sp>
        <p:nvSpPr>
          <p:cNvPr id="17" name="hotspot group Measurement"/>
          <p:cNvSpPr/>
          <p:nvPr/>
        </p:nvSpPr>
        <p:spPr>
          <a:xfrm>
            <a:off x="6231636" y="1463040"/>
            <a:ext cx="5408676" cy="2926080"/>
          </a:xfrm>
          <a:prstGeom prst="rect">
            <a:avLst/>
          </a:prstGeom>
          <a:solidFill>
            <a:schemeClr val="bg1"/>
          </a:solidFill>
          <a:ln w="12700">
            <a:solidFill>
              <a:srgbClr val="C9D6D0"/>
            </a:solidFill>
            <a:prstDash val="solid"/>
          </a:ln>
        </p:spPr>
      </p:sp>
      <p:sp>
        <p:nvSpPr>
          <p:cNvPr id="18" name="Shape 15"/>
          <p:cNvSpPr/>
          <p:nvPr/>
        </p:nvSpPr>
        <p:spPr>
          <a:xfrm>
            <a:off x="6414516" y="1600200"/>
            <a:ext cx="384048" cy="384048"/>
          </a:xfrm>
          <a:prstGeom prst="ellipse">
            <a:avLst/>
          </a:prstGeom>
          <a:solidFill>
            <a:schemeClr val="accent6"/>
          </a:solidFill>
          <a:ln w="12700">
            <a:solidFill>
              <a:schemeClr val="accent6"/>
            </a:solidFill>
            <a:prstDash val="solid"/>
          </a:ln>
        </p:spPr>
      </p:sp>
      <p:pic>
        <p:nvPicPr>
          <p:cNvPr id="19" name="Image 1" descr="preencoded.png">    </p:cNvPr>
          <p:cNvPicPr>
            <a:picLocks noChangeAspect="1"/>
          </p:cNvPicPr>
          <p:nvPr/>
        </p:nvPicPr>
        <p:blipFill>
          <a:blip r:embed="rId2"/>
          <a:stretch>
            <a:fillRect/>
          </a:stretch>
        </p:blipFill>
        <p:spPr>
          <a:xfrm>
            <a:off x="6505956" y="1691640"/>
            <a:ext cx="201168" cy="201168"/>
          </a:xfrm>
          <a:prstGeom prst="rect">
            <a:avLst/>
          </a:prstGeom>
        </p:spPr>
      </p:pic>
      <p:sp>
        <p:nvSpPr>
          <p:cNvPr id="20" name="Text 16"/>
          <p:cNvSpPr txBox="1"/>
          <p:nvPr/>
        </p:nvSpPr>
        <p:spPr>
          <a:xfrm>
            <a:off x="6917436" y="1600200"/>
            <a:ext cx="4494276" cy="384048"/>
          </a:xfrm>
          <a:prstGeom prst="rect">
            <a:avLst/>
          </a:prstGeom>
          <a:noFill/>
          <a:ln/>
        </p:spPr>
        <p:txBody>
          <a:bodyPr wrap="square" lIns="0" tIns="0" rIns="0" bIns="0" rtlCol="0" anchor="ctr"/>
          <a:lstStyle/>
          <a:p>
            <a:pPr indent="0" marL="0">
              <a:buNone/>
            </a:pPr>
            <a:r>
              <a:rPr lang="en-US" sz="1400" b="1" dirty="0">
                <a:solidFill>
                  <a:schemeClr val="tx1"/>
                </a:solidFill>
                <a:latin typeface="Arial" pitchFamily="34" charset="0"/>
                <a:ea typeface="Arial" pitchFamily="34" charset="-122"/>
                <a:cs typeface="Arial" pitchFamily="34" charset="-120"/>
              </a:rPr>
              <a:t>Measurement</a:t>
            </a:r>
            <a:endParaRPr lang="en-US" sz="1400" dirty="0"/>
          </a:p>
        </p:txBody>
      </p:sp>
      <p:sp>
        <p:nvSpPr>
          <p:cNvPr id="21" name="Shape 17"/>
          <p:cNvSpPr/>
          <p:nvPr/>
        </p:nvSpPr>
        <p:spPr>
          <a:xfrm>
            <a:off x="6414516" y="2148840"/>
            <a:ext cx="384048" cy="237744"/>
          </a:xfrm>
          <a:prstGeom prst="rect">
            <a:avLst/>
          </a:prstGeom>
          <a:solidFill>
            <a:schemeClr val="accent6"/>
          </a:solidFill>
          <a:ln w="12700">
            <a:solidFill>
              <a:schemeClr val="accent6"/>
            </a:solidFill>
            <a:prstDash val="solid"/>
          </a:ln>
        </p:spPr>
      </p:sp>
      <p:sp>
        <p:nvSpPr>
          <p:cNvPr id="22" name="Text 18"/>
          <p:cNvSpPr txBox="1"/>
          <p:nvPr/>
        </p:nvSpPr>
        <p:spPr>
          <a:xfrm>
            <a:off x="6414516" y="2148840"/>
            <a:ext cx="384048" cy="237744"/>
          </a:xfrm>
          <a:prstGeom prst="rect">
            <a:avLst/>
          </a:prstGeom>
          <a:noFill/>
          <a:ln/>
        </p:spPr>
        <p:txBody>
          <a:bodyPr wrap="square" lIns="0" tIns="0" rIns="0" bIns="0" rtlCol="0" anchor="ctr"/>
          <a:lstStyle/>
          <a:p>
            <a:pPr algn="ctr" indent="0" marL="0">
              <a:buNone/>
            </a:pPr>
            <a:r>
              <a:rPr lang="en-US" sz="1000" b="1" dirty="0">
                <a:solidFill>
                  <a:schemeClr val="bg1"/>
                </a:solidFill>
                <a:latin typeface="Calibri" pitchFamily="34" charset="0"/>
                <a:ea typeface="Calibri" pitchFamily="34" charset="-122"/>
                <a:cs typeface="Calibri" pitchFamily="34" charset="-120"/>
              </a:rPr>
              <a:t>H4</a:t>
            </a:r>
            <a:endParaRPr lang="en-US" sz="1000" dirty="0"/>
          </a:p>
        </p:txBody>
      </p:sp>
      <p:sp>
        <p:nvSpPr>
          <p:cNvPr id="23" name="Text 19"/>
          <p:cNvSpPr txBox="1"/>
          <p:nvPr/>
        </p:nvSpPr>
        <p:spPr>
          <a:xfrm>
            <a:off x="6917436" y="2121408"/>
            <a:ext cx="4539996" cy="694944"/>
          </a:xfrm>
          <a:prstGeom prst="rect">
            <a:avLst/>
          </a:prstGeom>
          <a:noFill/>
          <a:ln/>
        </p:spPr>
        <p:txBody>
          <a:bodyPr wrap="square" lIns="0" tIns="0" rIns="0" bIns="0" rtlCol="0" anchor="t"/>
          <a:lstStyle/>
          <a:p>
            <a:pPr indent="0" marL="0">
              <a:buNone/>
            </a:pPr>
            <a:r>
              <a:rPr lang="en-US" sz="1200" b="1" dirty="0">
                <a:solidFill>
                  <a:schemeClr val="tx1"/>
                </a:solidFill>
                <a:latin typeface="Calibri" pitchFamily="34" charset="0"/>
                <a:ea typeface="Calibri" pitchFamily="34" charset="-122"/>
                <a:cs typeface="Calibri" pitchFamily="34" charset="-120"/>
              </a:rPr>
              <a:t>Similar text is not the same as similar steps. Which similarity counts?</a:t>
            </a:r>
            <a:endParaRPr lang="en-US" sz="1200" dirty="0"/>
          </a:p>
          <a:p>
            <a:pPr indent="0" marL="0">
              <a:buNone/>
            </a:pPr>
            <a:r>
              <a:rPr lang="en-US" sz="1100" b="1" dirty="0">
                <a:solidFill>
                  <a:schemeClr val="accent1"/>
                </a:solidFill>
                <a:latin typeface="Calibri" pitchFamily="34" charset="0"/>
                <a:ea typeface="Calibri" pitchFamily="34" charset="-122"/>
                <a:cs typeface="Calibri" pitchFamily="34" charset="-120"/>
              </a:rPr>
              <a:t>Agent Monitoring  ·  Next: </a:t>
            </a:r>
            <a:pPr indent="0" marL="0">
              <a:buNone/>
            </a:pPr>
            <a:r>
              <a:rPr lang="en-US" sz="1100" dirty="0">
                <a:solidFill>
                  <a:srgbClr val="5E6E6A"/>
                </a:solidFill>
                <a:latin typeface="Calibri" pitchFamily="34" charset="0"/>
                <a:ea typeface="Calibri" pitchFamily="34" charset="-122"/>
                <a:cs typeface="Calibri" pitchFamily="34" charset="-120"/>
              </a:rPr>
              <a:t>Test both measures on pilot logs; use path similarity as the primary signal.</a:t>
            </a:r>
            <a:endParaRPr lang="en-US" sz="1200" dirty="0"/>
          </a:p>
        </p:txBody>
      </p:sp>
      <p:sp>
        <p:nvSpPr>
          <p:cNvPr id="24" name="Shape 20"/>
          <p:cNvSpPr/>
          <p:nvPr/>
        </p:nvSpPr>
        <p:spPr>
          <a:xfrm>
            <a:off x="6414516" y="2880360"/>
            <a:ext cx="384048" cy="237744"/>
          </a:xfrm>
          <a:prstGeom prst="rect">
            <a:avLst/>
          </a:prstGeom>
          <a:solidFill>
            <a:schemeClr val="accent6"/>
          </a:solidFill>
          <a:ln w="12700">
            <a:solidFill>
              <a:schemeClr val="accent6"/>
            </a:solidFill>
            <a:prstDash val="solid"/>
          </a:ln>
        </p:spPr>
      </p:sp>
      <p:sp>
        <p:nvSpPr>
          <p:cNvPr id="25" name="Text 21"/>
          <p:cNvSpPr txBox="1"/>
          <p:nvPr/>
        </p:nvSpPr>
        <p:spPr>
          <a:xfrm>
            <a:off x="6414516" y="2880360"/>
            <a:ext cx="384048" cy="237744"/>
          </a:xfrm>
          <a:prstGeom prst="rect">
            <a:avLst/>
          </a:prstGeom>
          <a:noFill/>
          <a:ln/>
        </p:spPr>
        <p:txBody>
          <a:bodyPr wrap="square" lIns="0" tIns="0" rIns="0" bIns="0" rtlCol="0" anchor="ctr"/>
          <a:lstStyle/>
          <a:p>
            <a:pPr algn="ctr" indent="0" marL="0">
              <a:buNone/>
            </a:pPr>
            <a:r>
              <a:rPr lang="en-US" sz="1000" b="1" dirty="0">
                <a:solidFill>
                  <a:schemeClr val="bg1"/>
                </a:solidFill>
                <a:latin typeface="Calibri" pitchFamily="34" charset="0"/>
                <a:ea typeface="Calibri" pitchFamily="34" charset="-122"/>
                <a:cs typeface="Calibri" pitchFamily="34" charset="-120"/>
              </a:rPr>
              <a:t>H5</a:t>
            </a:r>
            <a:endParaRPr lang="en-US" sz="1000" dirty="0"/>
          </a:p>
        </p:txBody>
      </p:sp>
      <p:sp>
        <p:nvSpPr>
          <p:cNvPr id="26" name="Text 22"/>
          <p:cNvSpPr txBox="1"/>
          <p:nvPr/>
        </p:nvSpPr>
        <p:spPr>
          <a:xfrm>
            <a:off x="6917436" y="2852928"/>
            <a:ext cx="4539996" cy="694944"/>
          </a:xfrm>
          <a:prstGeom prst="rect">
            <a:avLst/>
          </a:prstGeom>
          <a:noFill/>
          <a:ln/>
        </p:spPr>
        <p:txBody>
          <a:bodyPr wrap="square" lIns="0" tIns="0" rIns="0" bIns="0" rtlCol="0" anchor="t"/>
          <a:lstStyle/>
          <a:p>
            <a:pPr indent="0" marL="0">
              <a:buNone/>
            </a:pPr>
            <a:r>
              <a:rPr lang="en-US" sz="1200" b="1" dirty="0">
                <a:solidFill>
                  <a:schemeClr val="tx1"/>
                </a:solidFill>
                <a:latin typeface="Calibri" pitchFamily="34" charset="0"/>
                <a:ea typeface="Calibri" pitchFamily="34" charset="-122"/>
                <a:cs typeface="Calibri" pitchFamily="34" charset="-120"/>
              </a:rPr>
              <a:t>Tokens are not energy: no reliable emissions per token from providers.</a:t>
            </a:r>
            <a:endParaRPr lang="en-US" sz="1200" dirty="0"/>
          </a:p>
          <a:p>
            <a:pPr indent="0" marL="0">
              <a:buNone/>
            </a:pPr>
            <a:r>
              <a:rPr lang="en-US" sz="1100" b="1" dirty="0">
                <a:solidFill>
                  <a:schemeClr val="accent1"/>
                </a:solidFill>
                <a:latin typeface="Calibri" pitchFamily="34" charset="0"/>
                <a:ea typeface="Calibri" pitchFamily="34" charset="-122"/>
                <a:cs typeface="Calibri" pitchFamily="34" charset="-120"/>
              </a:rPr>
              <a:t>Agent Monitoring  ·  Next: </a:t>
            </a:r>
            <a:pPr indent="0" marL="0">
              <a:buNone/>
            </a:pPr>
            <a:r>
              <a:rPr lang="en-US" sz="1100" dirty="0">
                <a:solidFill>
                  <a:srgbClr val="5E6E6A"/>
                </a:solidFill>
                <a:latin typeface="Calibri" pitchFamily="34" charset="0"/>
                <a:ea typeface="Calibri" pitchFamily="34" charset="-122"/>
                <a:cs typeface="Calibri" pitchFamily="34" charset="-120"/>
              </a:rPr>
              <a:t>Use tokens as a proxy for now; request energy data from hyperscalers.</a:t>
            </a:r>
            <a:endParaRPr lang="en-US" sz="1200" dirty="0"/>
          </a:p>
        </p:txBody>
      </p:sp>
      <p:sp>
        <p:nvSpPr>
          <p:cNvPr id="27" name="hotspot group Data protection &amp; co-determination"/>
          <p:cNvSpPr/>
          <p:nvPr/>
        </p:nvSpPr>
        <p:spPr>
          <a:xfrm>
            <a:off x="548640" y="4590288"/>
            <a:ext cx="5408676" cy="1463040"/>
          </a:xfrm>
          <a:prstGeom prst="rect">
            <a:avLst/>
          </a:prstGeom>
          <a:solidFill>
            <a:schemeClr val="bg1"/>
          </a:solidFill>
          <a:ln w="12700">
            <a:solidFill>
              <a:srgbClr val="C9D6D0"/>
            </a:solidFill>
            <a:prstDash val="solid"/>
          </a:ln>
        </p:spPr>
      </p:sp>
      <p:sp>
        <p:nvSpPr>
          <p:cNvPr id="28" name="Shape 24"/>
          <p:cNvSpPr/>
          <p:nvPr/>
        </p:nvSpPr>
        <p:spPr>
          <a:xfrm>
            <a:off x="731520" y="4727448"/>
            <a:ext cx="384048" cy="384048"/>
          </a:xfrm>
          <a:prstGeom prst="ellipse">
            <a:avLst/>
          </a:prstGeom>
          <a:solidFill>
            <a:schemeClr val="accent6"/>
          </a:solidFill>
          <a:ln w="12700">
            <a:solidFill>
              <a:schemeClr val="accent6"/>
            </a:solidFill>
            <a:prstDash val="solid"/>
          </a:ln>
        </p:spPr>
      </p:sp>
      <p:pic>
        <p:nvPicPr>
          <p:cNvPr id="29" name="Image 2" descr="preencoded.png">    </p:cNvPr>
          <p:cNvPicPr>
            <a:picLocks noChangeAspect="1"/>
          </p:cNvPicPr>
          <p:nvPr/>
        </p:nvPicPr>
        <p:blipFill>
          <a:blip r:embed="rId3"/>
          <a:stretch>
            <a:fillRect/>
          </a:stretch>
        </p:blipFill>
        <p:spPr>
          <a:xfrm>
            <a:off x="822960" y="4818888"/>
            <a:ext cx="201168" cy="201168"/>
          </a:xfrm>
          <a:prstGeom prst="rect">
            <a:avLst/>
          </a:prstGeom>
        </p:spPr>
      </p:pic>
      <p:sp>
        <p:nvSpPr>
          <p:cNvPr id="30" name="Text 25"/>
          <p:cNvSpPr txBox="1"/>
          <p:nvPr/>
        </p:nvSpPr>
        <p:spPr>
          <a:xfrm>
            <a:off x="1234440" y="4727448"/>
            <a:ext cx="4494276" cy="384048"/>
          </a:xfrm>
          <a:prstGeom prst="rect">
            <a:avLst/>
          </a:prstGeom>
          <a:noFill/>
          <a:ln/>
        </p:spPr>
        <p:txBody>
          <a:bodyPr wrap="square" lIns="0" tIns="0" rIns="0" bIns="0" rtlCol="0" anchor="ctr"/>
          <a:lstStyle/>
          <a:p>
            <a:pPr indent="0" marL="0">
              <a:buNone/>
            </a:pPr>
            <a:r>
              <a:rPr lang="en-US" sz="1400" b="1" dirty="0">
                <a:solidFill>
                  <a:schemeClr val="tx1"/>
                </a:solidFill>
                <a:latin typeface="Arial" pitchFamily="34" charset="0"/>
                <a:ea typeface="Arial" pitchFamily="34" charset="-122"/>
                <a:cs typeface="Arial" pitchFamily="34" charset="-120"/>
              </a:rPr>
              <a:t>Data protection &amp; co-determination</a:t>
            </a:r>
            <a:endParaRPr lang="en-US" sz="1400" dirty="0"/>
          </a:p>
        </p:txBody>
      </p:sp>
      <p:sp>
        <p:nvSpPr>
          <p:cNvPr id="31" name="Shape 26"/>
          <p:cNvSpPr/>
          <p:nvPr/>
        </p:nvSpPr>
        <p:spPr>
          <a:xfrm>
            <a:off x="731520" y="5276088"/>
            <a:ext cx="384048" cy="237744"/>
          </a:xfrm>
          <a:prstGeom prst="rect">
            <a:avLst/>
          </a:prstGeom>
          <a:solidFill>
            <a:schemeClr val="accent6"/>
          </a:solidFill>
          <a:ln w="12700">
            <a:solidFill>
              <a:schemeClr val="accent6"/>
            </a:solidFill>
            <a:prstDash val="solid"/>
          </a:ln>
        </p:spPr>
      </p:sp>
      <p:sp>
        <p:nvSpPr>
          <p:cNvPr id="32" name="Text 27"/>
          <p:cNvSpPr txBox="1"/>
          <p:nvPr/>
        </p:nvSpPr>
        <p:spPr>
          <a:xfrm>
            <a:off x="731520" y="5276088"/>
            <a:ext cx="384048" cy="237744"/>
          </a:xfrm>
          <a:prstGeom prst="rect">
            <a:avLst/>
          </a:prstGeom>
          <a:noFill/>
          <a:ln/>
        </p:spPr>
        <p:txBody>
          <a:bodyPr wrap="square" lIns="0" tIns="0" rIns="0" bIns="0" rtlCol="0" anchor="ctr"/>
          <a:lstStyle/>
          <a:p>
            <a:pPr algn="ctr" indent="0" marL="0">
              <a:buNone/>
            </a:pPr>
            <a:r>
              <a:rPr lang="en-US" sz="1000" b="1" dirty="0">
                <a:solidFill>
                  <a:schemeClr val="bg1"/>
                </a:solidFill>
                <a:latin typeface="Calibri" pitchFamily="34" charset="0"/>
                <a:ea typeface="Calibri" pitchFamily="34" charset="-122"/>
                <a:cs typeface="Calibri" pitchFamily="34" charset="-120"/>
              </a:rPr>
              <a:t>H6</a:t>
            </a:r>
            <a:endParaRPr lang="en-US" sz="1000" dirty="0"/>
          </a:p>
        </p:txBody>
      </p:sp>
      <p:sp>
        <p:nvSpPr>
          <p:cNvPr id="33" name="Text 28"/>
          <p:cNvSpPr txBox="1"/>
          <p:nvPr/>
        </p:nvSpPr>
        <p:spPr>
          <a:xfrm>
            <a:off x="1234440" y="5248656"/>
            <a:ext cx="4539996" cy="694944"/>
          </a:xfrm>
          <a:prstGeom prst="rect">
            <a:avLst/>
          </a:prstGeom>
          <a:noFill/>
          <a:ln/>
        </p:spPr>
        <p:txBody>
          <a:bodyPr wrap="square" lIns="0" tIns="0" rIns="0" bIns="0" rtlCol="0" anchor="t"/>
          <a:lstStyle/>
          <a:p>
            <a:pPr indent="0" marL="0">
              <a:buNone/>
            </a:pPr>
            <a:r>
              <a:rPr lang="en-US" sz="1200" b="1" dirty="0">
                <a:solidFill>
                  <a:schemeClr val="tx1"/>
                </a:solidFill>
                <a:latin typeface="Calibri" pitchFamily="34" charset="0"/>
                <a:ea typeface="Calibri" pitchFamily="34" charset="-122"/>
                <a:cs typeface="Calibri" pitchFamily="34" charset="-120"/>
              </a:rPr>
              <a:t>Logs may hold personal data (GDPR) and allow conclusions about employees (works council, § 87 BetrVG).</a:t>
            </a:r>
            <a:endParaRPr lang="en-US" sz="1200" dirty="0"/>
          </a:p>
          <a:p>
            <a:pPr indent="0" marL="0">
              <a:buNone/>
            </a:pPr>
            <a:r>
              <a:rPr lang="en-US" sz="1100" b="1" dirty="0">
                <a:solidFill>
                  <a:schemeClr val="accent1"/>
                </a:solidFill>
                <a:latin typeface="Calibri" pitchFamily="34" charset="0"/>
                <a:ea typeface="Calibri" pitchFamily="34" charset="-122"/>
                <a:cs typeface="Calibri" pitchFamily="34" charset="-120"/>
              </a:rPr>
              <a:t>Agent Monitoring  ·  Next: </a:t>
            </a:r>
            <a:pPr indent="0" marL="0">
              <a:buNone/>
            </a:pPr>
            <a:r>
              <a:rPr lang="en-US" sz="1100" dirty="0">
                <a:solidFill>
                  <a:srgbClr val="5E6E6A"/>
                </a:solidFill>
                <a:latin typeface="Calibri" pitchFamily="34" charset="0"/>
                <a:ea typeface="Calibri" pitchFamily="34" charset="-122"/>
                <a:cs typeface="Calibri" pitchFamily="34" charset="-120"/>
              </a:rPr>
              <a:t>Involve data protection and the works council before the pilot; pseudonymise logs.</a:t>
            </a:r>
            <a:endParaRPr lang="en-US" sz="1200" dirty="0"/>
          </a:p>
        </p:txBody>
      </p:sp>
      <p:sp>
        <p:nvSpPr>
          <p:cNvPr id="34" name="hotspot group Funding"/>
          <p:cNvSpPr/>
          <p:nvPr/>
        </p:nvSpPr>
        <p:spPr>
          <a:xfrm>
            <a:off x="6231636" y="4590288"/>
            <a:ext cx="5408676" cy="1463040"/>
          </a:xfrm>
          <a:prstGeom prst="rect">
            <a:avLst/>
          </a:prstGeom>
          <a:solidFill>
            <a:schemeClr val="bg1"/>
          </a:solidFill>
          <a:ln w="12700">
            <a:solidFill>
              <a:srgbClr val="C9D6D0"/>
            </a:solidFill>
            <a:prstDash val="solid"/>
          </a:ln>
        </p:spPr>
      </p:sp>
      <p:sp>
        <p:nvSpPr>
          <p:cNvPr id="35" name="Shape 30"/>
          <p:cNvSpPr/>
          <p:nvPr/>
        </p:nvSpPr>
        <p:spPr>
          <a:xfrm>
            <a:off x="6414516" y="4727448"/>
            <a:ext cx="384048" cy="384048"/>
          </a:xfrm>
          <a:prstGeom prst="ellipse">
            <a:avLst/>
          </a:prstGeom>
          <a:solidFill>
            <a:schemeClr val="accent6"/>
          </a:solidFill>
          <a:ln w="12700">
            <a:solidFill>
              <a:schemeClr val="accent6"/>
            </a:solidFill>
            <a:prstDash val="solid"/>
          </a:ln>
        </p:spPr>
      </p:sp>
      <p:pic>
        <p:nvPicPr>
          <p:cNvPr id="36" name="Image 3" descr="preencoded.png">    </p:cNvPr>
          <p:cNvPicPr>
            <a:picLocks noChangeAspect="1"/>
          </p:cNvPicPr>
          <p:nvPr/>
        </p:nvPicPr>
        <p:blipFill>
          <a:blip r:embed="rId4"/>
          <a:stretch>
            <a:fillRect/>
          </a:stretch>
        </p:blipFill>
        <p:spPr>
          <a:xfrm>
            <a:off x="6505956" y="4818888"/>
            <a:ext cx="201168" cy="201168"/>
          </a:xfrm>
          <a:prstGeom prst="rect">
            <a:avLst/>
          </a:prstGeom>
        </p:spPr>
      </p:pic>
      <p:sp>
        <p:nvSpPr>
          <p:cNvPr id="37" name="Text 31"/>
          <p:cNvSpPr txBox="1"/>
          <p:nvPr/>
        </p:nvSpPr>
        <p:spPr>
          <a:xfrm>
            <a:off x="6917436" y="4727448"/>
            <a:ext cx="4494276" cy="384048"/>
          </a:xfrm>
          <a:prstGeom prst="rect">
            <a:avLst/>
          </a:prstGeom>
          <a:noFill/>
          <a:ln/>
        </p:spPr>
        <p:txBody>
          <a:bodyPr wrap="square" lIns="0" tIns="0" rIns="0" bIns="0" rtlCol="0" anchor="ctr"/>
          <a:lstStyle/>
          <a:p>
            <a:pPr indent="0" marL="0">
              <a:buNone/>
            </a:pPr>
            <a:r>
              <a:rPr lang="en-US" sz="1400" b="1" dirty="0">
                <a:solidFill>
                  <a:schemeClr val="tx1"/>
                </a:solidFill>
                <a:latin typeface="Arial" pitchFamily="34" charset="0"/>
                <a:ea typeface="Arial" pitchFamily="34" charset="-122"/>
                <a:cs typeface="Arial" pitchFamily="34" charset="-120"/>
              </a:rPr>
              <a:t>Funding</a:t>
            </a:r>
            <a:endParaRPr lang="en-US" sz="1400" dirty="0"/>
          </a:p>
        </p:txBody>
      </p:sp>
      <p:sp>
        <p:nvSpPr>
          <p:cNvPr id="38" name="Shape 32"/>
          <p:cNvSpPr/>
          <p:nvPr/>
        </p:nvSpPr>
        <p:spPr>
          <a:xfrm>
            <a:off x="6414516" y="5276088"/>
            <a:ext cx="384048" cy="237744"/>
          </a:xfrm>
          <a:prstGeom prst="rect">
            <a:avLst/>
          </a:prstGeom>
          <a:solidFill>
            <a:schemeClr val="accent6"/>
          </a:solidFill>
          <a:ln w="12700">
            <a:solidFill>
              <a:schemeClr val="accent6"/>
            </a:solidFill>
            <a:prstDash val="solid"/>
          </a:ln>
        </p:spPr>
      </p:sp>
      <p:sp>
        <p:nvSpPr>
          <p:cNvPr id="39" name="Text 33"/>
          <p:cNvSpPr txBox="1"/>
          <p:nvPr/>
        </p:nvSpPr>
        <p:spPr>
          <a:xfrm>
            <a:off x="6414516" y="5276088"/>
            <a:ext cx="384048" cy="237744"/>
          </a:xfrm>
          <a:prstGeom prst="rect">
            <a:avLst/>
          </a:prstGeom>
          <a:noFill/>
          <a:ln/>
        </p:spPr>
        <p:txBody>
          <a:bodyPr wrap="square" lIns="0" tIns="0" rIns="0" bIns="0" rtlCol="0" anchor="ctr"/>
          <a:lstStyle/>
          <a:p>
            <a:pPr algn="ctr" indent="0" marL="0">
              <a:buNone/>
            </a:pPr>
            <a:r>
              <a:rPr lang="en-US" sz="1000" b="1" dirty="0">
                <a:solidFill>
                  <a:schemeClr val="bg1"/>
                </a:solidFill>
                <a:latin typeface="Calibri" pitchFamily="34" charset="0"/>
                <a:ea typeface="Calibri" pitchFamily="34" charset="-122"/>
                <a:cs typeface="Calibri" pitchFamily="34" charset="-120"/>
              </a:rPr>
              <a:t>H7</a:t>
            </a:r>
            <a:endParaRPr lang="en-US" sz="1000" dirty="0"/>
          </a:p>
        </p:txBody>
      </p:sp>
      <p:sp>
        <p:nvSpPr>
          <p:cNvPr id="40" name="Text 34"/>
          <p:cNvSpPr txBox="1"/>
          <p:nvPr/>
        </p:nvSpPr>
        <p:spPr>
          <a:xfrm>
            <a:off x="6917436" y="5248656"/>
            <a:ext cx="4539996" cy="694944"/>
          </a:xfrm>
          <a:prstGeom prst="rect">
            <a:avLst/>
          </a:prstGeom>
          <a:noFill/>
          <a:ln/>
        </p:spPr>
        <p:txBody>
          <a:bodyPr wrap="square" lIns="0" tIns="0" rIns="0" bIns="0" rtlCol="0" anchor="t"/>
          <a:lstStyle/>
          <a:p>
            <a:pPr indent="0" marL="0">
              <a:buNone/>
            </a:pPr>
            <a:r>
              <a:rPr lang="en-US" sz="1200" b="1" dirty="0">
                <a:solidFill>
                  <a:schemeClr val="tx1"/>
                </a:solidFill>
                <a:latin typeface="Calibri" pitchFamily="34" charset="0"/>
                <a:ea typeface="Calibri" pitchFamily="34" charset="-122"/>
                <a:cs typeface="Calibri" pitchFamily="34" charset="-120"/>
              </a:rPr>
              <a:t>Who pays for the conversion: the business unit or the central CIO budget?</a:t>
            </a:r>
            <a:endParaRPr lang="en-US" sz="1200" dirty="0"/>
          </a:p>
          <a:p>
            <a:pPr indent="0" marL="0">
              <a:buNone/>
            </a:pPr>
            <a:r>
              <a:rPr lang="en-US" sz="1100" b="1" dirty="0">
                <a:solidFill>
                  <a:schemeClr val="accent1"/>
                </a:solidFill>
                <a:latin typeface="Calibri" pitchFamily="34" charset="0"/>
                <a:ea typeface="Calibri" pitchFamily="34" charset="-122"/>
                <a:cs typeface="Calibri" pitchFamily="34" charset="-120"/>
              </a:rPr>
              <a:t>Agent Conversion  ·  Next: </a:t>
            </a:r>
            <a:pPr indent="0" marL="0">
              <a:buNone/>
            </a:pPr>
            <a:r>
              <a:rPr lang="en-US" sz="1100" dirty="0">
                <a:solidFill>
                  <a:srgbClr val="5E6E6A"/>
                </a:solidFill>
                <a:latin typeface="Calibri" pitchFamily="34" charset="0"/>
                <a:ea typeface="Calibri" pitchFamily="34" charset="-122"/>
                <a:cs typeface="Calibri" pitchFamily="34" charset="-120"/>
              </a:rPr>
              <a:t>CIO office proposes a funding model, e.g. central budget for the pilot.</a:t>
            </a:r>
            <a:endParaRPr lang="en-US" sz="1200" dirty="0"/>
          </a:p>
        </p:txBody>
      </p:sp>
      <p:sp>
        <p:nvSpPr>
          <p:cNvPr id="25" name="Slide Number Placeholder 0"/>
          <p:cNvSpPr>
            <a:spLocks noGrp="1"/>
          </p:cNvSpPr>
          <p:nvPr>
            <p:ph type="sldNum" sz="quarter" idx="4294967295"/>
          </p:nvPr>
        </p:nvSpPr>
        <p:spPr>
          <a:xfrm>
            <a:off x="11274552" y="644652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E6E6A"/>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731520" y="731520"/>
            <a:ext cx="5486400" cy="274320"/>
          </a:xfrm>
          <a:prstGeom prst="rect">
            <a:avLst/>
          </a:prstGeom>
          <a:noFill/>
          <a:ln/>
        </p:spPr>
        <p:txBody>
          <a:bodyPr wrap="square" lIns="0" tIns="0" rIns="0" bIns="0" rtlCol="0" anchor="ctr"/>
          <a:lstStyle/>
          <a:p>
            <a:pPr indent="0" marL="0">
              <a:buNone/>
            </a:pPr>
            <a:r>
              <a:rPr lang="en-US" sz="1200" b="1" spc="300" kern="0" dirty="0">
                <a:solidFill>
                  <a:schemeClr val="accent2"/>
                </a:solidFill>
                <a:latin typeface="Arial" pitchFamily="34" charset="0"/>
                <a:ea typeface="Arial" pitchFamily="34" charset="-122"/>
                <a:cs typeface="Arial" pitchFamily="34" charset="-120"/>
              </a:rPr>
              <a:t>NEXT STEPS</a:t>
            </a:r>
            <a:endParaRPr lang="en-US" sz="1200" dirty="0"/>
          </a:p>
        </p:txBody>
      </p:sp>
      <p:sp>
        <p:nvSpPr>
          <p:cNvPr id="3" name="Text 1"/>
          <p:cNvSpPr txBox="1"/>
          <p:nvPr/>
        </p:nvSpPr>
        <p:spPr>
          <a:xfrm>
            <a:off x="731520" y="1143000"/>
            <a:ext cx="10058400" cy="731520"/>
          </a:xfrm>
          <a:prstGeom prst="rect">
            <a:avLst/>
          </a:prstGeom>
          <a:noFill/>
          <a:ln/>
        </p:spPr>
        <p:txBody>
          <a:bodyPr wrap="square" lIns="0" tIns="0" rIns="0" bIns="0" rtlCol="0" anchor="ctr"/>
          <a:lstStyle/>
          <a:p>
            <a:pPr indent="0" marL="0">
              <a:buNone/>
            </a:pPr>
            <a:r>
              <a:rPr lang="en-US" sz="3400" b="1" dirty="0">
                <a:solidFill>
                  <a:schemeClr val="bg1"/>
                </a:solidFill>
                <a:latin typeface="Arial" pitchFamily="34" charset="0"/>
                <a:ea typeface="Arial" pitchFamily="34" charset="-122"/>
                <a:cs typeface="Arial" pitchFamily="34" charset="-120"/>
              </a:rPr>
              <a:t>From the big picture to a pilot</a:t>
            </a:r>
            <a:endParaRPr lang="en-US" sz="3400" dirty="0"/>
          </a:p>
        </p:txBody>
      </p:sp>
      <p:sp>
        <p:nvSpPr>
          <p:cNvPr id="4" name="next step 1"/>
          <p:cNvSpPr/>
          <p:nvPr/>
        </p:nvSpPr>
        <p:spPr>
          <a:xfrm>
            <a:off x="731520" y="2377440"/>
            <a:ext cx="3361944" cy="2286000"/>
          </a:xfrm>
          <a:prstGeom prst="rect">
            <a:avLst/>
          </a:prstGeom>
          <a:solidFill>
            <a:srgbClr val="153A33"/>
          </a:solidFill>
          <a:ln w="12700">
            <a:solidFill>
              <a:srgbClr val="1F4A42"/>
            </a:solidFill>
            <a:prstDash val="solid"/>
          </a:ln>
        </p:spPr>
      </p:sp>
      <p:sp>
        <p:nvSpPr>
          <p:cNvPr id="5" name="Text 3"/>
          <p:cNvSpPr txBox="1"/>
          <p:nvPr/>
        </p:nvSpPr>
        <p:spPr>
          <a:xfrm>
            <a:off x="1005840" y="2560320"/>
            <a:ext cx="914400" cy="640080"/>
          </a:xfrm>
          <a:prstGeom prst="rect">
            <a:avLst/>
          </a:prstGeom>
          <a:noFill/>
          <a:ln/>
        </p:spPr>
        <p:txBody>
          <a:bodyPr wrap="square" lIns="0" tIns="0" rIns="0" bIns="0" rtlCol="0" anchor="ctr"/>
          <a:lstStyle/>
          <a:p>
            <a:pPr indent="0" marL="0">
              <a:buNone/>
            </a:pPr>
            <a:r>
              <a:rPr lang="en-US" sz="3600" b="1" dirty="0">
                <a:solidFill>
                  <a:schemeClr val="accent2"/>
                </a:solidFill>
                <a:latin typeface="Arial" pitchFamily="34" charset="0"/>
                <a:ea typeface="Arial" pitchFamily="34" charset="-122"/>
                <a:cs typeface="Arial" pitchFamily="34" charset="-120"/>
              </a:rPr>
              <a:t>1</a:t>
            </a:r>
            <a:endParaRPr lang="en-US" sz="3600" dirty="0"/>
          </a:p>
        </p:txBody>
      </p:sp>
      <p:sp>
        <p:nvSpPr>
          <p:cNvPr id="6" name="Text 4"/>
          <p:cNvSpPr txBox="1"/>
          <p:nvPr/>
        </p:nvSpPr>
        <p:spPr>
          <a:xfrm>
            <a:off x="1005840" y="3246120"/>
            <a:ext cx="2813304" cy="411480"/>
          </a:xfrm>
          <a:prstGeom prst="rect">
            <a:avLst/>
          </a:prstGeom>
          <a:noFill/>
          <a:ln/>
        </p:spPr>
        <p:txBody>
          <a:bodyPr wrap="square" lIns="0" tIns="0" rIns="0" bIns="0" rtlCol="0" anchor="ctr"/>
          <a:lstStyle/>
          <a:p>
            <a:pPr indent="0" marL="0">
              <a:buNone/>
            </a:pPr>
            <a:r>
              <a:rPr lang="en-US" sz="1600" b="1" dirty="0">
                <a:solidFill>
                  <a:schemeClr val="bg1"/>
                </a:solidFill>
                <a:latin typeface="Arial" pitchFamily="34" charset="0"/>
                <a:ea typeface="Arial" pitchFamily="34" charset="-122"/>
                <a:cs typeface="Arial" pitchFamily="34" charset="-120"/>
              </a:rPr>
              <a:t>Clear the blockers</a:t>
            </a:r>
            <a:endParaRPr lang="en-US" sz="1600" dirty="0"/>
          </a:p>
        </p:txBody>
      </p:sp>
      <p:sp>
        <p:nvSpPr>
          <p:cNvPr id="7" name="Text 5"/>
          <p:cNvSpPr txBox="1"/>
          <p:nvPr/>
        </p:nvSpPr>
        <p:spPr>
          <a:xfrm>
            <a:off x="1005840" y="3657600"/>
            <a:ext cx="2813304" cy="914400"/>
          </a:xfrm>
          <a:prstGeom prst="rect">
            <a:avLst/>
          </a:prstGeom>
          <a:noFill/>
          <a:ln/>
        </p:spPr>
        <p:txBody>
          <a:bodyPr wrap="square" lIns="0" tIns="0" rIns="0" bIns="0" rtlCol="0" anchor="t"/>
          <a:lstStyle/>
          <a:p>
            <a:pPr indent="0" marL="0">
              <a:buNone/>
            </a:pPr>
            <a:r>
              <a:rPr lang="en-US" sz="1300" dirty="0">
                <a:solidFill>
                  <a:schemeClr val="bg2"/>
                </a:solidFill>
                <a:latin typeface="Calibri" pitchFamily="34" charset="0"/>
                <a:ea typeface="Calibri" pitchFamily="34" charset="-122"/>
                <a:cs typeface="Calibri" pitchFamily="34" charset="-120"/>
              </a:rPr>
              <a:t>Resolve H6 (data protection, works council) and H7 (funding) with the CIO office.</a:t>
            </a:r>
            <a:endParaRPr lang="en-US" sz="1300" dirty="0"/>
          </a:p>
        </p:txBody>
      </p:sp>
      <p:sp>
        <p:nvSpPr>
          <p:cNvPr id="8" name="next step 2"/>
          <p:cNvSpPr/>
          <p:nvPr/>
        </p:nvSpPr>
        <p:spPr>
          <a:xfrm>
            <a:off x="4413504" y="2377440"/>
            <a:ext cx="3361944" cy="2286000"/>
          </a:xfrm>
          <a:prstGeom prst="rect">
            <a:avLst/>
          </a:prstGeom>
          <a:solidFill>
            <a:srgbClr val="153A33"/>
          </a:solidFill>
          <a:ln w="12700">
            <a:solidFill>
              <a:srgbClr val="1F4A42"/>
            </a:solidFill>
            <a:prstDash val="solid"/>
          </a:ln>
        </p:spPr>
      </p:sp>
      <p:sp>
        <p:nvSpPr>
          <p:cNvPr id="9" name="Text 7"/>
          <p:cNvSpPr txBox="1"/>
          <p:nvPr/>
        </p:nvSpPr>
        <p:spPr>
          <a:xfrm>
            <a:off x="4687824" y="2560320"/>
            <a:ext cx="914400" cy="640080"/>
          </a:xfrm>
          <a:prstGeom prst="rect">
            <a:avLst/>
          </a:prstGeom>
          <a:noFill/>
          <a:ln/>
        </p:spPr>
        <p:txBody>
          <a:bodyPr wrap="square" lIns="0" tIns="0" rIns="0" bIns="0" rtlCol="0" anchor="ctr"/>
          <a:lstStyle/>
          <a:p>
            <a:pPr indent="0" marL="0">
              <a:buNone/>
            </a:pPr>
            <a:r>
              <a:rPr lang="en-US" sz="3600" b="1" dirty="0">
                <a:solidFill>
                  <a:schemeClr val="accent2"/>
                </a:solidFill>
                <a:latin typeface="Arial" pitchFamily="34" charset="0"/>
                <a:ea typeface="Arial" pitchFamily="34" charset="-122"/>
                <a:cs typeface="Arial" pitchFamily="34" charset="-120"/>
              </a:rPr>
              <a:t>2</a:t>
            </a:r>
            <a:endParaRPr lang="en-US" sz="3600" dirty="0"/>
          </a:p>
        </p:txBody>
      </p:sp>
      <p:sp>
        <p:nvSpPr>
          <p:cNvPr id="10" name="Text 8"/>
          <p:cNvSpPr txBox="1"/>
          <p:nvPr/>
        </p:nvSpPr>
        <p:spPr>
          <a:xfrm>
            <a:off x="4687824" y="3246120"/>
            <a:ext cx="2813304" cy="411480"/>
          </a:xfrm>
          <a:prstGeom prst="rect">
            <a:avLst/>
          </a:prstGeom>
          <a:noFill/>
          <a:ln/>
        </p:spPr>
        <p:txBody>
          <a:bodyPr wrap="square" lIns="0" tIns="0" rIns="0" bIns="0" rtlCol="0" anchor="ctr"/>
          <a:lstStyle/>
          <a:p>
            <a:pPr indent="0" marL="0">
              <a:buNone/>
            </a:pPr>
            <a:r>
              <a:rPr lang="en-US" sz="1600" b="1" dirty="0">
                <a:solidFill>
                  <a:schemeClr val="bg1"/>
                </a:solidFill>
                <a:latin typeface="Arial" pitchFamily="34" charset="0"/>
                <a:ea typeface="Arial" pitchFamily="34" charset="-122"/>
                <a:cs typeface="Arial" pitchFamily="34" charset="-120"/>
              </a:rPr>
              <a:t>Model one use case in detail</a:t>
            </a:r>
            <a:endParaRPr lang="en-US" sz="1600" dirty="0"/>
          </a:p>
        </p:txBody>
      </p:sp>
      <p:sp>
        <p:nvSpPr>
          <p:cNvPr id="11" name="Text 9"/>
          <p:cNvSpPr txBox="1"/>
          <p:nvPr/>
        </p:nvSpPr>
        <p:spPr>
          <a:xfrm>
            <a:off x="4687824" y="3657600"/>
            <a:ext cx="2813304" cy="914400"/>
          </a:xfrm>
          <a:prstGeom prst="rect">
            <a:avLst/>
          </a:prstGeom>
          <a:noFill/>
          <a:ln/>
        </p:spPr>
        <p:txBody>
          <a:bodyPr wrap="square" lIns="0" tIns="0" rIns="0" bIns="0" rtlCol="0" anchor="t"/>
          <a:lstStyle/>
          <a:p>
            <a:pPr indent="0" marL="0">
              <a:buNone/>
            </a:pPr>
            <a:r>
              <a:rPr lang="en-US" sz="1300" dirty="0">
                <a:solidFill>
                  <a:schemeClr val="bg2"/>
                </a:solidFill>
                <a:latin typeface="Calibri" pitchFamily="34" charset="0"/>
                <a:ea typeface="Calibri" pitchFamily="34" charset="-122"/>
                <a:cs typeface="Calibri" pitchFamily="34" charset="-120"/>
              </a:rPr>
              <a:t>Process-level EventStorming for one area, e.g. recruiting, adding commands and policies.</a:t>
            </a:r>
            <a:endParaRPr lang="en-US" sz="1300" dirty="0"/>
          </a:p>
        </p:txBody>
      </p:sp>
      <p:sp>
        <p:nvSpPr>
          <p:cNvPr id="12" name="next step 3"/>
          <p:cNvSpPr/>
          <p:nvPr/>
        </p:nvSpPr>
        <p:spPr>
          <a:xfrm>
            <a:off x="8095488" y="2377440"/>
            <a:ext cx="3361944" cy="2286000"/>
          </a:xfrm>
          <a:prstGeom prst="rect">
            <a:avLst/>
          </a:prstGeom>
          <a:solidFill>
            <a:srgbClr val="153A33"/>
          </a:solidFill>
          <a:ln w="12700">
            <a:solidFill>
              <a:srgbClr val="1F4A42"/>
            </a:solidFill>
            <a:prstDash val="solid"/>
          </a:ln>
        </p:spPr>
      </p:sp>
      <p:sp>
        <p:nvSpPr>
          <p:cNvPr id="13" name="Text 11"/>
          <p:cNvSpPr txBox="1"/>
          <p:nvPr/>
        </p:nvSpPr>
        <p:spPr>
          <a:xfrm>
            <a:off x="8369808" y="2560320"/>
            <a:ext cx="914400" cy="640080"/>
          </a:xfrm>
          <a:prstGeom prst="rect">
            <a:avLst/>
          </a:prstGeom>
          <a:noFill/>
          <a:ln/>
        </p:spPr>
        <p:txBody>
          <a:bodyPr wrap="square" lIns="0" tIns="0" rIns="0" bIns="0" rtlCol="0" anchor="ctr"/>
          <a:lstStyle/>
          <a:p>
            <a:pPr indent="0" marL="0">
              <a:buNone/>
            </a:pPr>
            <a:r>
              <a:rPr lang="en-US" sz="3600" b="1" dirty="0">
                <a:solidFill>
                  <a:schemeClr val="accent2"/>
                </a:solidFill>
                <a:latin typeface="Arial" pitchFamily="34" charset="0"/>
                <a:ea typeface="Arial" pitchFamily="34" charset="-122"/>
                <a:cs typeface="Arial" pitchFamily="34" charset="-120"/>
              </a:rPr>
              <a:t>3</a:t>
            </a:r>
            <a:endParaRPr lang="en-US" sz="3600" dirty="0"/>
          </a:p>
        </p:txBody>
      </p:sp>
      <p:sp>
        <p:nvSpPr>
          <p:cNvPr id="14" name="Text 12"/>
          <p:cNvSpPr txBox="1"/>
          <p:nvPr/>
        </p:nvSpPr>
        <p:spPr>
          <a:xfrm>
            <a:off x="8369808" y="3246120"/>
            <a:ext cx="2813304" cy="411480"/>
          </a:xfrm>
          <a:prstGeom prst="rect">
            <a:avLst/>
          </a:prstGeom>
          <a:noFill/>
          <a:ln/>
        </p:spPr>
        <p:txBody>
          <a:bodyPr wrap="square" lIns="0" tIns="0" rIns="0" bIns="0" rtlCol="0" anchor="ctr"/>
          <a:lstStyle/>
          <a:p>
            <a:pPr indent="0" marL="0">
              <a:buNone/>
            </a:pPr>
            <a:r>
              <a:rPr lang="en-US" sz="1600" b="1" dirty="0">
                <a:solidFill>
                  <a:schemeClr val="bg1"/>
                </a:solidFill>
                <a:latin typeface="Arial" pitchFamily="34" charset="0"/>
                <a:ea typeface="Arial" pitchFamily="34" charset="-122"/>
                <a:cs typeface="Arial" pitchFamily="34" charset="-120"/>
              </a:rPr>
              <a:t>Design the services</a:t>
            </a:r>
            <a:endParaRPr lang="en-US" sz="1600" dirty="0"/>
          </a:p>
        </p:txBody>
      </p:sp>
      <p:sp>
        <p:nvSpPr>
          <p:cNvPr id="15" name="Text 13"/>
          <p:cNvSpPr txBox="1"/>
          <p:nvPr/>
        </p:nvSpPr>
        <p:spPr>
          <a:xfrm>
            <a:off x="8369808" y="3657600"/>
            <a:ext cx="2813304" cy="914400"/>
          </a:xfrm>
          <a:prstGeom prst="rect">
            <a:avLst/>
          </a:prstGeom>
          <a:noFill/>
          <a:ln/>
        </p:spPr>
        <p:txBody>
          <a:bodyPr wrap="square" lIns="0" tIns="0" rIns="0" bIns="0" rtlCol="0" anchor="t"/>
          <a:lstStyle/>
          <a:p>
            <a:pPr indent="0" marL="0">
              <a:buNone/>
            </a:pPr>
            <a:r>
              <a:rPr lang="en-US" sz="1300" dirty="0">
                <a:solidFill>
                  <a:schemeClr val="bg2"/>
                </a:solidFill>
                <a:latin typeface="Calibri" pitchFamily="34" charset="0"/>
                <a:ea typeface="Calibri" pitchFamily="34" charset="-122"/>
                <a:cs typeface="Calibri" pitchFamily="34" charset="-120"/>
              </a:rPr>
              <a:t>Turn the six bounded contexts into service boundaries and build the dashboard first.</a:t>
            </a:r>
            <a:endParaRPr lang="en-US" sz="1300" dirty="0"/>
          </a:p>
        </p:txBody>
      </p:sp>
      <p:sp>
        <p:nvSpPr>
          <p:cNvPr id="16" name="Text 14"/>
          <p:cNvSpPr txBox="1"/>
          <p:nvPr/>
        </p:nvSpPr>
        <p:spPr>
          <a:xfrm>
            <a:off x="731520" y="5257800"/>
            <a:ext cx="10058400" cy="457200"/>
          </a:xfrm>
          <a:prstGeom prst="rect">
            <a:avLst/>
          </a:prstGeom>
          <a:noFill/>
          <a:ln/>
        </p:spPr>
        <p:txBody>
          <a:bodyPr wrap="square" lIns="0" tIns="0" rIns="0" bIns="0" rtlCol="0" anchor="ctr"/>
          <a:lstStyle/>
          <a:p>
            <a:pPr indent="0" marL="0">
              <a:buNone/>
            </a:pPr>
            <a:r>
              <a:rPr lang="en-US" sz="2000" b="1" i="1" dirty="0">
                <a:solidFill>
                  <a:schemeClr val="accent2"/>
                </a:solidFill>
                <a:latin typeface="Arial" pitchFamily="34" charset="0"/>
                <a:ea typeface="Arial" pitchFamily="34" charset="-122"/>
                <a:cs typeface="Arial" pitchFamily="34" charset="-120"/>
              </a:rPr>
              <a:t>Agents explore. Workflows execute.</a:t>
            </a:r>
            <a:endParaRPr lang="en-US" sz="2000" dirty="0"/>
          </a:p>
        </p:txBody>
      </p:sp>
      <p:sp>
        <p:nvSpPr>
          <p:cNvPr id="17" name="Text 15"/>
          <p:cNvSpPr txBox="1"/>
          <p:nvPr/>
        </p:nvSpPr>
        <p:spPr>
          <a:xfrm>
            <a:off x="731520" y="5943600"/>
            <a:ext cx="5486400" cy="274320"/>
          </a:xfrm>
          <a:prstGeom prst="rect">
            <a:avLst/>
          </a:prstGeom>
          <a:noFill/>
          <a:ln/>
        </p:spPr>
        <p:txBody>
          <a:bodyPr wrap="square" lIns="0" tIns="0" rIns="0" bIns="0" rtlCol="0" anchor="ctr"/>
          <a:lstStyle/>
          <a:p>
            <a:pPr indent="0" marL="0">
              <a:buNone/>
            </a:pPr>
            <a:r>
              <a:rPr lang="en-US" sz="1200" dirty="0">
                <a:solidFill>
                  <a:srgbClr val="9FB8AF"/>
                </a:solidFill>
                <a:latin typeface="Calibri" pitchFamily="34" charset="0"/>
                <a:ea typeface="Calibri" pitchFamily="34" charset="-122"/>
                <a:cs typeface="Calibri" pitchFamily="34" charset="-120"/>
              </a:rPr>
              <a:t>Scrumsterz</a:t>
            </a:r>
            <a:endParaRPr lang="en-US" sz="1200" dirty="0"/>
          </a:p>
        </p:txBody>
      </p:sp>
    </p:spTree>
  </p:cSld>
  <p:clrMapOvr>
    <a:masterClrMapping/>
  </p:clrMapOvr>
</p:sld>
</file>

<file path=ppt/theme/theme1.xml><?xml version="1.0" encoding="utf-8"?>
<a:theme xmlns:a="http://schemas.openxmlformats.org/drawingml/2006/main" name="Scrumsterz Right AI">
  <a:themeElements>
    <a:clrScheme name="Scrumsterz Right AI">
      <a:dk1>
        <a:srgbClr val="1C2B28"/>
      </a:dk1>
      <a:lt1>
        <a:srgbClr val="FFFFFF"/>
      </a:lt1>
      <a:dk2>
        <a:srgbClr val="0B2B26"/>
      </a:dk2>
      <a:lt2>
        <a:srgbClr val="EAF4EF"/>
      </a:lt2>
      <a:accent1>
        <a:srgbClr val="11604F"/>
      </a:accent1>
      <a:accent2>
        <a:srgbClr val="B8E04A"/>
      </a:accent2>
      <a:accent3>
        <a:srgbClr val="F7A54E"/>
      </a:accent3>
      <a:accent4>
        <a:srgbClr val="8FD18A"/>
      </a:accent4>
      <a:accent5>
        <a:srgbClr val="FCE27A"/>
      </a:accent5>
      <a:accent6>
        <a:srgbClr val="E5484D"/>
      </a:accent6>
      <a:hlink>
        <a:srgbClr val="11604F"/>
      </a:hlink>
      <a:folHlink>
        <a:srgbClr val="5E6E6A"/>
      </a:folHlink>
    </a:clrScheme>
    <a:fontScheme name="Scrumsterz Right AI">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Right AI lifecycle – EventStorming results</dc:title>
  <dc:subject>PptxGenJS Presentation</dc:subject>
  <dc:creator>Scrumsterz</dc:creator>
  <cp:lastModifiedBy>Scrumsterz</cp:lastModifiedBy>
  <cp:revision>1</cp:revision>
  <dcterms:created xsi:type="dcterms:W3CDTF">2026-10-02T10:16:24Z</dcterms:created>
  <dcterms:modified xsi:type="dcterms:W3CDTF">2026-10-02T10:16:24Z</dcterms:modified>
</cp:coreProperties>
</file>