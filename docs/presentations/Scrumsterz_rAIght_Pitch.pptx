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90E5A553-6675-4461-C3CC-EE9C114E31F6}">
          <p14:sldIdLst>
            <p14:sldId id="256"/>
            <p14:sldId id="257"/>
            <p14:sldId id="258"/>
            <p14:sldId id="259"/>
            <p14:sldId id="260"/>
            <p14:sldId id="261"/>
            <p14:sldId id="262"/>
          </p14:sldIdLst>
        </p14:section>
        <p14:section name="Appendix" id="{2E9DFD76-E55C-2F81-474D-CAE28CB94A8D}">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88356"/>
  </p:normalViewPr>
  <p:slideViewPr>
    <p:cSldViewPr snapToGrid="0" snapToObjects="1">
      <p:cViewPr>
        <p:scale>
          <a:sx n="103" d="100"/>
          <a:sy n="103" d="100"/>
        </p:scale>
        <p:origin x="1088"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3224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Our challenge: how can SAP become an Autonomous Enterprise and still stay on its net zero path? The tension is simple: every agent plans, calls tools and retries, so it needs far more compute than a workflow, while SAP has committed to cut value-chain emissions by at least 90% by 2030. Our answer is rAIght – right plus AI. Not more AI, but the right AI: the lowest step on this ladder that does the job.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[0:30–1:15] Meet Lena, Recruiting Operations Lead at SAP HR – our working persona. She runs high-volume recruiting admin and builds her own automations on SAP’s low-code platform, including agents. She was trained on the tool, but never on when to use which step. And nobody else reviews what she builds. So she reaches for an agent by default, and she never sees what it consumes. Our point of view: Lena needs a simple way to choose and keep the leanest automation herself – because no one else will. That gives us three how-might-we questions, and each one becomes a part of rAIght.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[1:15–2:05] rAIght follows Lena through four steps. Learn: in training she learns the automation ladder and a three-question triage. Build: she applies that triage herself whenever she builds – are the steps always the same? Then a rule or workflow. Only if the task must plan across tools or handle unknown cases does she build an agent, and she writes down one line why. Monitor: her dashboard shows what each agent uses and how often it takes the same path. Convert: if three of her four recruiting agents take the same path nine times out of ten, rAIght suggests converting them, and she does it herself with a draft built from the logs. Everything here runs on logs that already exist – no AI checking AI.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[2:05–3:00] Our customer is the SAP CIO office, which owns the Autonomous Enterprise. Its pains: agent sprawl that nobody reviews, and compute and emissions that grow with every new agent. rAIght relieves that: every agent becomes visible, uniform ones are converted, unused ones are retired. The key gain: process owners like Lena choose lean themselves, so it scales without a central team. Since nothing is sold, revenue is value captured inside SAP – lower compute cost and emissions, less maintenance, and AI budget freed for the cases that really need an agent. A carbon budget per business unit keeps the savings absolute. The main cost is training, the dashboard, and the process owners’ time.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[3:00–3:40] Here is rAIght as a product vision box. On the front, what Lena gets: pick the right step in minutes, see what her automations use, spot agents that act like workflows, and convert them in a few clicks. On the back: it is for process owners who build their own automations, it lives inside the low-code platform they already use, and it comes in three releases. Why rAIght and not a monitoring tool? Monitoring tools show usage; rAIght also tells Lena what to change and helps her do it. And the ingredients are what make it feasible: the logs already exist, no extra AI is needed – but we do need data protection and works council sign-off, because logs can contain personal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[3:40–4:30] This is Lena’s user story map. The backbone is her journey: get started, plan an automation, build it, run it, review it, improve it. Below are the stories, sliced into releases. Release 1 is our walking skeleton – it covers the whole journey once: a ladder module and triage cheat sheet, a one-line reason when she picks an agent, automatic logging, a dashboard with token usage and same-path share, and retiring unused agents. That is feasible right away because it needs no new data. Release 2 adds the help to act: triage inside the build tool, templates, nudges, and the guided conversion. Release 3 adds steering: usage against the unit’s carbon budget, and sharing conversions as training cases.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[4:30–5:00] So rAIght sits in the sweet spot. Desirable, because Lena keeps control and gets guidance instead of rules from above. Viable, because the CIO office gets autonomy without footprint growth. Feasible, because it is built on logs and low-code tools SAP already has. We would love your feedback on two questions: is self-applied triage enough, and which incentive would really make process owners convert their agents? Agents explore. Workflows execute. Thank you.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questions about the backlog: the stories behind each card on the user story map, by release.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the feedback round: the assumptions behind rAIght and how we handle each risk.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10058400" cy="274320"/>
          </a:xfrm>
          <a:prstGeom prst="rect">
            <a:avLst/>
          </a:prstGeom>
          <a:noFill/>
          <a:ln/>
        </p:spPr>
        <p:txBody>
          <a:bodyPr wrap="square" rtlCol="0"/>
          <a:lstStyle>
            <a:lvl1pPr marL="0" indent="0">
              <a:buNone/>
              <a:defRPr lang="en-US" sz="1100" b="1" kern="0" spc="200" dirty="0">
                <a:solidFill>
                  <a:schemeClr val="accent1"/>
                </a:solidFill>
                <a:latin typeface="Arial" pitchFamily="34" charset="0"/>
                <a:ea typeface="Arial" pitchFamily="34" charset="-122"/>
                <a:cs typeface="Arial" pitchFamily="34" charset="-120"/>
              </a:defRPr>
            </a:lvl1pPr>
          </a:lstStyle>
          <a:p>
            <a:pPr marL="0" indent="0">
              <a:buNone/>
            </a:pPr>
            <a:endParaRPr lang="en-US" sz="1100" dirty="0"/>
          </a:p>
        </p:txBody>
      </p:sp>
      <p:sp>
        <p:nvSpPr>
          <p:cNvPr id="3" name="Text 0"/>
          <p:cNvSpPr>
            <a:spLocks noGrp="1"/>
          </p:cNvSpPr>
          <p:nvPr>
            <p:ph type="title" idx="101" hasCustomPrompt="1"/>
          </p:nvPr>
        </p:nvSpPr>
        <p:spPr>
          <a:xfrm>
            <a:off x="548640" y="640080"/>
            <a:ext cx="11064240" cy="685800"/>
          </a:xfrm>
          <a:prstGeom prst="rect">
            <a:avLst/>
          </a:prstGeom>
          <a:noFill/>
          <a:ln/>
        </p:spPr>
        <p:txBody>
          <a:bodyPr wrap="square" rtlCol="0"/>
          <a:lstStyle>
            <a:lvl1pPr marL="0" indent="0" algn="l">
              <a:buNone/>
              <a:defRPr lang="en-US" sz="2600" b="1" dirty="0">
                <a:solidFill>
                  <a:schemeClr val="tx1"/>
                </a:solidFill>
                <a:latin typeface="Arial" pitchFamily="34" charset="0"/>
                <a:ea typeface="Arial" pitchFamily="34" charset="-122"/>
                <a:cs typeface="Arial" pitchFamily="34" charset="-120"/>
              </a:defRPr>
            </a:lvl1pPr>
          </a:lstStyle>
          <a:p>
            <a:pPr marL="0" indent="0" algn="l">
              <a:buNone/>
            </a:pPr>
            <a:endParaRPr lang="en-US" sz="2600" dirty="0"/>
          </a:p>
        </p:txBody>
      </p:sp>
      <p:sp>
        <p:nvSpPr>
          <p:cNvPr id="4" name="Text 0"/>
          <p:cNvSpPr/>
          <p:nvPr/>
        </p:nvSpPr>
        <p:spPr>
          <a:xfrm>
            <a:off x="548640" y="6446520"/>
            <a:ext cx="5486400" cy="228600"/>
          </a:xfrm>
          <a:prstGeom prst="rect">
            <a:avLst/>
          </a:prstGeom>
          <a:noFill/>
          <a:ln/>
        </p:spPr>
        <p:txBody>
          <a:bodyPr wrap="square" lIns="0" tIns="0" rIns="0" bIns="0" rtlCol="0" anchor="ctr"/>
          <a:lstStyle/>
          <a:p>
            <a:pPr marL="0" indent="0">
              <a:buNone/>
            </a:pPr>
            <a:r>
              <a:rPr lang="en-US" sz="900" dirty="0">
                <a:solidFill>
                  <a:srgbClr val="5E6E6A"/>
                </a:solidFill>
                <a:latin typeface="Calibri" pitchFamily="34" charset="0"/>
                <a:ea typeface="Calibri" pitchFamily="34" charset="-122"/>
                <a:cs typeface="Calibri" pitchFamily="34" charset="-120"/>
              </a:rPr>
              <a:t>Scrumsterz  ·  rAIght</a:t>
            </a:r>
            <a:endParaRPr lang="en-US" sz="900" dirty="0"/>
          </a:p>
        </p:txBody>
      </p:sp>
      <p:sp>
        <p:nvSpPr>
          <p:cNvPr id="25"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E6A"/>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oleObject" Target="../embeddings/oleObject1.bin"/><Relationship Id="rId5" Type="http://schemas.openxmlformats.org/officeDocument/2006/relationships/tags" Target="../tags/tag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073F075-A23D-7449-C7F6-2A7C3F313625}"/>
              </a:ext>
            </a:extLst>
          </p:cNvPr>
          <p:cNvGraphicFramePr>
            <a:graphicFrameLocks/>
          </p:cNvGraphicFramePr>
          <p:nvPr userDrawn="1">
            <p:custDataLst>
              <p:tags r:id="rId5"/>
            </p:custDataLst>
            <p:extLst>
              <p:ext uri="{D42A27DB-BD31-4B8C-83A1-F6EECF244321}">
                <p14:modId xmlns:p14="http://schemas.microsoft.com/office/powerpoint/2010/main" val="15261377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6" imgW="7772400" imgH="10058400" progId="TCLayout.ActiveDocument.1">
                  <p:embed/>
                </p:oleObj>
              </mc:Choice>
              <mc:Fallback>
                <p:oleObj name="thinkcell Slide" r:id="rId6" imgW="7772400" imgH="10058400" progId="TCLayout.ActiveDocument.1">
                  <p:embed/>
                  <p:pic>
                    <p:nvPicPr>
                      <p:cNvPr id="0" name=""/>
                      <p:cNvPicPr/>
                      <p:nvPr/>
                    </p:nvPicPr>
                    <p:blipFill>
                      <a:blip r:embed="rId7"/>
                      <a:stretch>
                        <a:fillRect/>
                      </a:stretch>
                    </p:blipFill>
                    <p:spPr>
                      <a:xfrm>
                        <a:off x="1588" y="1588"/>
                        <a:ext cx="1227" cy="1588"/>
                      </a:xfrm>
                      <a:prstGeom prst="rect">
                        <a:avLst/>
                      </a:prstGeom>
                    </p:spPr>
                  </p:pic>
                </p:oleObj>
              </mc:Fallback>
            </mc:AlternateContent>
          </a:graphicData>
        </a:graphic>
      </p:graphicFrame>
      <p:sp>
        <p:nvSpPr>
          <p:cNvPr id="25"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E6A"/>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2.xml"/><Relationship Id="rId6" Type="http://schemas.openxmlformats.org/officeDocument/2006/relationships/image" Target="../media/image2.png"/><Relationship Id="rId5" Type="http://schemas.openxmlformats.org/officeDocument/2006/relationships/image" Target="../media/image3.e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notesSlide" Target="../notesSlides/notesSlide3.xml"/><Relationship Id="rId7" Type="http://schemas.openxmlformats.org/officeDocument/2006/relationships/image" Target="../media/image6.png"/><Relationship Id="rId2" Type="http://schemas.openxmlformats.org/officeDocument/2006/relationships/slideLayout" Target="../slideLayouts/slideLayout3.xml"/><Relationship Id="rId1" Type="http://schemas.openxmlformats.org/officeDocument/2006/relationships/tags" Target="../tags/tag3.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3.bin"/><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731520"/>
            <a:ext cx="9144000" cy="274320"/>
          </a:xfrm>
          <a:prstGeom prst="rect">
            <a:avLst/>
          </a:prstGeom>
          <a:noFill/>
          <a:ln/>
        </p:spPr>
        <p:txBody>
          <a:bodyPr wrap="square" lIns="0" tIns="0" rIns="0" bIns="0" rtlCol="0" anchor="ctr"/>
          <a:lstStyle/>
          <a:p>
            <a:pPr marL="0" indent="0">
              <a:buNone/>
            </a:pPr>
            <a:r>
              <a:rPr lang="en-US" sz="1200" b="1" kern="0" spc="300" dirty="0">
                <a:solidFill>
                  <a:schemeClr val="accent2"/>
                </a:solidFill>
                <a:latin typeface="Arial" pitchFamily="34" charset="0"/>
                <a:ea typeface="Arial" pitchFamily="34" charset="-122"/>
                <a:cs typeface="Arial" pitchFamily="34" charset="-120"/>
              </a:rPr>
              <a:t>SAP CHALLENGE  ·  FINAL PITCH</a:t>
            </a:r>
            <a:endParaRPr lang="en-US" sz="1200" dirty="0"/>
          </a:p>
        </p:txBody>
      </p:sp>
      <p:sp>
        <p:nvSpPr>
          <p:cNvPr id="3" name="Text 1"/>
          <p:cNvSpPr txBox="1"/>
          <p:nvPr/>
        </p:nvSpPr>
        <p:spPr>
          <a:xfrm>
            <a:off x="731520" y="1325880"/>
            <a:ext cx="7315200" cy="1371600"/>
          </a:xfrm>
          <a:prstGeom prst="rect">
            <a:avLst/>
          </a:prstGeom>
          <a:noFill/>
          <a:ln/>
        </p:spPr>
        <p:txBody>
          <a:bodyPr wrap="square" lIns="0" tIns="0" rIns="0" bIns="0" rtlCol="0" anchor="ctr"/>
          <a:lstStyle/>
          <a:p>
            <a:pPr marL="0" indent="0">
              <a:buNone/>
            </a:pPr>
            <a:r>
              <a:rPr lang="en-US" sz="8800" b="1" dirty="0">
                <a:solidFill>
                  <a:schemeClr val="bg1"/>
                </a:solidFill>
                <a:latin typeface="Arial" pitchFamily="34" charset="0"/>
                <a:ea typeface="Arial" pitchFamily="34" charset="-122"/>
                <a:cs typeface="Arial" pitchFamily="34" charset="-120"/>
              </a:rPr>
              <a:t>r</a:t>
            </a:r>
            <a:r>
              <a:rPr lang="en-US" sz="8800" b="1" dirty="0">
                <a:solidFill>
                  <a:schemeClr val="accent2"/>
                </a:solidFill>
                <a:latin typeface="Arial" pitchFamily="34" charset="0"/>
                <a:ea typeface="Arial" pitchFamily="34" charset="-122"/>
                <a:cs typeface="Arial" pitchFamily="34" charset="-120"/>
              </a:rPr>
              <a:t>AI</a:t>
            </a:r>
            <a:r>
              <a:rPr lang="en-US" sz="8800" b="1" dirty="0">
                <a:solidFill>
                  <a:schemeClr val="bg1"/>
                </a:solidFill>
                <a:latin typeface="Arial" pitchFamily="34" charset="0"/>
                <a:ea typeface="Arial" pitchFamily="34" charset="-122"/>
                <a:cs typeface="Arial" pitchFamily="34" charset="-120"/>
              </a:rPr>
              <a:t>ght</a:t>
            </a:r>
            <a:endParaRPr lang="en-US" sz="8800" dirty="0"/>
          </a:p>
        </p:txBody>
      </p:sp>
      <p:sp>
        <p:nvSpPr>
          <p:cNvPr id="4" name="Text 2"/>
          <p:cNvSpPr txBox="1"/>
          <p:nvPr/>
        </p:nvSpPr>
        <p:spPr>
          <a:xfrm>
            <a:off x="731520" y="2788920"/>
            <a:ext cx="9144000" cy="548640"/>
          </a:xfrm>
          <a:prstGeom prst="rect">
            <a:avLst/>
          </a:prstGeom>
          <a:noFill/>
          <a:ln/>
        </p:spPr>
        <p:txBody>
          <a:bodyPr wrap="square" lIns="0" tIns="0" rIns="0" bIns="0" rtlCol="0" anchor="ctr"/>
          <a:lstStyle/>
          <a:p>
            <a:pPr marL="0" indent="0">
              <a:buNone/>
            </a:pPr>
            <a:r>
              <a:rPr lang="en-US" sz="2800" dirty="0">
                <a:solidFill>
                  <a:schemeClr val="bg1"/>
                </a:solidFill>
                <a:latin typeface="Arial" pitchFamily="34" charset="0"/>
                <a:ea typeface="Arial" pitchFamily="34" charset="-122"/>
                <a:cs typeface="Arial" pitchFamily="34" charset="-120"/>
              </a:rPr>
              <a:t>Not more AI, but </a:t>
            </a:r>
            <a:r>
              <a:rPr lang="en-US" sz="2800" b="1" dirty="0">
                <a:solidFill>
                  <a:schemeClr val="accent2"/>
                </a:solidFill>
                <a:latin typeface="Arial" pitchFamily="34" charset="0"/>
                <a:ea typeface="Arial" pitchFamily="34" charset="-122"/>
                <a:cs typeface="Arial" pitchFamily="34" charset="-120"/>
              </a:rPr>
              <a:t>rAIght</a:t>
            </a:r>
            <a:r>
              <a:rPr lang="en-US" sz="2800" dirty="0">
                <a:solidFill>
                  <a:schemeClr val="bg1"/>
                </a:solidFill>
                <a:latin typeface="Arial" pitchFamily="34" charset="0"/>
                <a:ea typeface="Arial" pitchFamily="34" charset="-122"/>
                <a:cs typeface="Arial" pitchFamily="34" charset="-120"/>
              </a:rPr>
              <a:t>.</a:t>
            </a:r>
            <a:endParaRPr lang="en-US" sz="2800" dirty="0"/>
          </a:p>
        </p:txBody>
      </p:sp>
      <p:sp>
        <p:nvSpPr>
          <p:cNvPr id="5" name="Text 3"/>
          <p:cNvSpPr txBox="1"/>
          <p:nvPr/>
        </p:nvSpPr>
        <p:spPr>
          <a:xfrm>
            <a:off x="731520" y="3611880"/>
            <a:ext cx="7772400" cy="365760"/>
          </a:xfrm>
          <a:prstGeom prst="rect">
            <a:avLst/>
          </a:prstGeom>
          <a:noFill/>
          <a:ln/>
        </p:spPr>
        <p:txBody>
          <a:bodyPr wrap="square" lIns="0" tIns="0" rIns="0" bIns="0" rtlCol="0" anchor="ctr"/>
          <a:lstStyle/>
          <a:p>
            <a:pPr marL="0" indent="0">
              <a:buNone/>
            </a:pPr>
            <a:r>
              <a:rPr lang="en-US" sz="1800" dirty="0">
                <a:solidFill>
                  <a:schemeClr val="bg2"/>
                </a:solidFill>
                <a:latin typeface="Calibri" pitchFamily="34" charset="0"/>
                <a:ea typeface="Calibri" pitchFamily="34" charset="-122"/>
                <a:cs typeface="Calibri" pitchFamily="34" charset="-120"/>
              </a:rPr>
              <a:t>How can SAP become an Autonomous Enterprise while remaining net zero compatible?</a:t>
            </a:r>
            <a:endParaRPr lang="en-US" sz="1800" dirty="0"/>
          </a:p>
        </p:txBody>
      </p:sp>
      <p:sp>
        <p:nvSpPr>
          <p:cNvPr id="6" name="Text 4"/>
          <p:cNvSpPr txBox="1"/>
          <p:nvPr/>
        </p:nvSpPr>
        <p:spPr>
          <a:xfrm>
            <a:off x="731520" y="4293108"/>
            <a:ext cx="7589520" cy="685800"/>
          </a:xfrm>
          <a:prstGeom prst="rect">
            <a:avLst/>
          </a:prstGeom>
          <a:noFill/>
          <a:ln/>
        </p:spPr>
        <p:txBody>
          <a:bodyPr wrap="square" lIns="0" tIns="0" rIns="0" bIns="0" rtlCol="0" anchor="t"/>
          <a:lstStyle/>
          <a:p>
            <a:pPr marL="0" indent="0">
              <a:buNone/>
            </a:pPr>
            <a:r>
              <a:rPr lang="en-US" sz="1400" dirty="0">
                <a:solidFill>
                  <a:srgbClr val="9FB8AF"/>
                </a:solidFill>
                <a:latin typeface="Calibri" pitchFamily="34" charset="0"/>
                <a:ea typeface="Calibri" pitchFamily="34" charset="-122"/>
                <a:cs typeface="Calibri" pitchFamily="34" charset="-120"/>
              </a:rPr>
              <a:t>Every agent plans, calls tools and retries – far more compute than a workflow. At the same time, SAP has committed to cutting value-chain emissions by at least 90% by 2030.</a:t>
            </a:r>
            <a:endParaRPr lang="en-US" sz="1400" dirty="0"/>
          </a:p>
        </p:txBody>
      </p:sp>
      <p:sp>
        <p:nvSpPr>
          <p:cNvPr id="7" name="Text 5"/>
          <p:cNvSpPr txBox="1"/>
          <p:nvPr/>
        </p:nvSpPr>
        <p:spPr>
          <a:xfrm>
            <a:off x="731520" y="5486400"/>
            <a:ext cx="5486400" cy="411480"/>
          </a:xfrm>
          <a:prstGeom prst="rect">
            <a:avLst/>
          </a:prstGeom>
          <a:noFill/>
          <a:ln/>
        </p:spPr>
        <p:txBody>
          <a:bodyPr wrap="square" lIns="0" tIns="0" rIns="0" bIns="0" rtlCol="0" anchor="ctr"/>
          <a:lstStyle/>
          <a:p>
            <a:pPr marL="0" indent="0">
              <a:buNone/>
            </a:pPr>
            <a:r>
              <a:rPr lang="en-US" sz="2000" b="1" dirty="0">
                <a:solidFill>
                  <a:schemeClr val="accent2"/>
                </a:solidFill>
                <a:latin typeface="Arial" pitchFamily="34" charset="0"/>
                <a:ea typeface="Arial" pitchFamily="34" charset="-122"/>
                <a:cs typeface="Arial" pitchFamily="34" charset="-120"/>
              </a:rPr>
              <a:t>Scrumsterz</a:t>
            </a:r>
            <a:endParaRPr lang="en-US" sz="2000" dirty="0"/>
          </a:p>
        </p:txBody>
      </p:sp>
      <p:sp>
        <p:nvSpPr>
          <p:cNvPr id="8" name="Text 6"/>
          <p:cNvSpPr txBox="1"/>
          <p:nvPr/>
        </p:nvSpPr>
        <p:spPr>
          <a:xfrm>
            <a:off x="731520" y="5943600"/>
            <a:ext cx="9144000" cy="274320"/>
          </a:xfrm>
          <a:prstGeom prst="rect">
            <a:avLst/>
          </a:prstGeom>
          <a:noFill/>
          <a:ln/>
        </p:spPr>
        <p:txBody>
          <a:bodyPr wrap="square" lIns="0" tIns="0" rIns="0" bIns="0" rtlCol="0" anchor="ctr"/>
          <a:lstStyle/>
          <a:p>
            <a:pPr marL="0" indent="0">
              <a:buNone/>
            </a:pPr>
            <a:r>
              <a:rPr lang="en-US" sz="1200" dirty="0">
                <a:solidFill>
                  <a:srgbClr val="9FB8AF"/>
                </a:solidFill>
                <a:latin typeface="Calibri" pitchFamily="34" charset="0"/>
                <a:ea typeface="Calibri" pitchFamily="34" charset="-122"/>
                <a:cs typeface="Calibri" pitchFamily="34" charset="-120"/>
              </a:rPr>
              <a:t>IS 615 Enterprise Cloud Design &amp; Development  ·  University of Mannheim  ·  October 2026</a:t>
            </a:r>
            <a:endParaRPr lang="en-US" sz="1200" dirty="0"/>
          </a:p>
        </p:txBody>
      </p:sp>
      <p:sp>
        <p:nvSpPr>
          <p:cNvPr id="9" name="ladder Rule"/>
          <p:cNvSpPr/>
          <p:nvPr/>
        </p:nvSpPr>
        <p:spPr>
          <a:xfrm>
            <a:off x="9052560" y="4983480"/>
            <a:ext cx="2103120" cy="438912"/>
          </a:xfrm>
          <a:prstGeom prst="rect">
            <a:avLst/>
          </a:prstGeom>
          <a:solidFill>
            <a:schemeClr val="accent2"/>
          </a:solidFill>
          <a:ln w="12700">
            <a:solidFill>
              <a:schemeClr val="accent2"/>
            </a:solidFill>
            <a:prstDash val="solid"/>
          </a:ln>
        </p:spPr>
        <p:txBody>
          <a:bodyPr/>
          <a:lstStyle/>
          <a:p>
            <a:endParaRPr lang="en-DE"/>
          </a:p>
        </p:txBody>
      </p:sp>
      <p:sp>
        <p:nvSpPr>
          <p:cNvPr id="10" name="Text 8"/>
          <p:cNvSpPr txBox="1"/>
          <p:nvPr/>
        </p:nvSpPr>
        <p:spPr>
          <a:xfrm>
            <a:off x="9189720" y="4983480"/>
            <a:ext cx="1828800" cy="438912"/>
          </a:xfrm>
          <a:prstGeom prst="rect">
            <a:avLst/>
          </a:prstGeom>
          <a:noFill/>
          <a:ln/>
        </p:spPr>
        <p:txBody>
          <a:bodyPr wrap="square" lIns="0" tIns="0" rIns="0" bIns="0" rtlCol="0" anchor="ctr"/>
          <a:lstStyle/>
          <a:p>
            <a:pPr marL="0" indent="0">
              <a:buNone/>
            </a:pPr>
            <a:r>
              <a:rPr lang="en-US" sz="1300" b="1" dirty="0">
                <a:solidFill>
                  <a:schemeClr val="tx2"/>
                </a:solidFill>
                <a:latin typeface="Calibri" pitchFamily="34" charset="0"/>
                <a:ea typeface="Calibri" pitchFamily="34" charset="-122"/>
                <a:cs typeface="Calibri" pitchFamily="34" charset="-120"/>
              </a:rPr>
              <a:t>1  Rule</a:t>
            </a:r>
            <a:endParaRPr lang="en-US" sz="1300" dirty="0"/>
          </a:p>
        </p:txBody>
      </p:sp>
      <p:sp>
        <p:nvSpPr>
          <p:cNvPr id="11" name="ladder Workflow"/>
          <p:cNvSpPr/>
          <p:nvPr/>
        </p:nvSpPr>
        <p:spPr>
          <a:xfrm>
            <a:off x="9217152" y="4416552"/>
            <a:ext cx="2103120" cy="438912"/>
          </a:xfrm>
          <a:prstGeom prst="rect">
            <a:avLst/>
          </a:prstGeom>
          <a:solidFill>
            <a:schemeClr val="accent2"/>
          </a:solidFill>
          <a:ln w="12700">
            <a:solidFill>
              <a:schemeClr val="accent2"/>
            </a:solidFill>
            <a:prstDash val="solid"/>
          </a:ln>
        </p:spPr>
        <p:txBody>
          <a:bodyPr/>
          <a:lstStyle/>
          <a:p>
            <a:endParaRPr lang="en-DE"/>
          </a:p>
        </p:txBody>
      </p:sp>
      <p:sp>
        <p:nvSpPr>
          <p:cNvPr id="12" name="Text 10"/>
          <p:cNvSpPr txBox="1"/>
          <p:nvPr/>
        </p:nvSpPr>
        <p:spPr>
          <a:xfrm>
            <a:off x="9354312" y="4416552"/>
            <a:ext cx="1828800" cy="438912"/>
          </a:xfrm>
          <a:prstGeom prst="rect">
            <a:avLst/>
          </a:prstGeom>
          <a:noFill/>
          <a:ln/>
        </p:spPr>
        <p:txBody>
          <a:bodyPr wrap="square" lIns="0" tIns="0" rIns="0" bIns="0" rtlCol="0" anchor="ctr"/>
          <a:lstStyle/>
          <a:p>
            <a:pPr marL="0" indent="0">
              <a:buNone/>
            </a:pPr>
            <a:r>
              <a:rPr lang="en-US" sz="1300" b="1" dirty="0">
                <a:solidFill>
                  <a:schemeClr val="tx2"/>
                </a:solidFill>
                <a:latin typeface="Calibri" pitchFamily="34" charset="0"/>
                <a:ea typeface="Calibri" pitchFamily="34" charset="-122"/>
                <a:cs typeface="Calibri" pitchFamily="34" charset="-120"/>
              </a:rPr>
              <a:t>2  Workflow</a:t>
            </a:r>
            <a:endParaRPr lang="en-US" sz="1300" dirty="0"/>
          </a:p>
        </p:txBody>
      </p:sp>
      <p:sp>
        <p:nvSpPr>
          <p:cNvPr id="13" name="ladder Classic ML"/>
          <p:cNvSpPr/>
          <p:nvPr/>
        </p:nvSpPr>
        <p:spPr>
          <a:xfrm>
            <a:off x="9381744" y="3849624"/>
            <a:ext cx="2103120" cy="438912"/>
          </a:xfrm>
          <a:prstGeom prst="rect">
            <a:avLst/>
          </a:prstGeom>
          <a:solidFill>
            <a:srgbClr val="153A33"/>
          </a:solidFill>
          <a:ln w="12700">
            <a:solidFill>
              <a:srgbClr val="24524A"/>
            </a:solidFill>
            <a:prstDash val="solid"/>
          </a:ln>
        </p:spPr>
        <p:txBody>
          <a:bodyPr/>
          <a:lstStyle/>
          <a:p>
            <a:endParaRPr lang="en-DE"/>
          </a:p>
        </p:txBody>
      </p:sp>
      <p:sp>
        <p:nvSpPr>
          <p:cNvPr id="14" name="Text 12"/>
          <p:cNvSpPr txBox="1"/>
          <p:nvPr/>
        </p:nvSpPr>
        <p:spPr>
          <a:xfrm>
            <a:off x="9518904" y="3849624"/>
            <a:ext cx="1828800" cy="438912"/>
          </a:xfrm>
          <a:prstGeom prst="rect">
            <a:avLst/>
          </a:prstGeom>
          <a:noFill/>
          <a:ln/>
        </p:spPr>
        <p:txBody>
          <a:bodyPr wrap="square" lIns="0" tIns="0" rIns="0" bIns="0" rtlCol="0" anchor="ctr"/>
          <a:lstStyle/>
          <a:p>
            <a:pPr marL="0" indent="0">
              <a:buNone/>
            </a:pPr>
            <a:r>
              <a:rPr lang="en-US" sz="1300" dirty="0">
                <a:solidFill>
                  <a:schemeClr val="bg2"/>
                </a:solidFill>
                <a:latin typeface="Calibri" pitchFamily="34" charset="0"/>
                <a:ea typeface="Calibri" pitchFamily="34" charset="-122"/>
                <a:cs typeface="Calibri" pitchFamily="34" charset="-120"/>
              </a:rPr>
              <a:t>3  Classic ML</a:t>
            </a:r>
            <a:endParaRPr lang="en-US" sz="1300" dirty="0"/>
          </a:p>
        </p:txBody>
      </p:sp>
      <p:sp>
        <p:nvSpPr>
          <p:cNvPr id="15" name="ladder GenAI call"/>
          <p:cNvSpPr/>
          <p:nvPr/>
        </p:nvSpPr>
        <p:spPr>
          <a:xfrm>
            <a:off x="9546336" y="3282696"/>
            <a:ext cx="2103120" cy="438912"/>
          </a:xfrm>
          <a:prstGeom prst="rect">
            <a:avLst/>
          </a:prstGeom>
          <a:solidFill>
            <a:srgbClr val="153A33"/>
          </a:solidFill>
          <a:ln w="12700">
            <a:solidFill>
              <a:srgbClr val="24524A"/>
            </a:solidFill>
            <a:prstDash val="solid"/>
          </a:ln>
        </p:spPr>
        <p:txBody>
          <a:bodyPr/>
          <a:lstStyle/>
          <a:p>
            <a:endParaRPr lang="en-DE"/>
          </a:p>
        </p:txBody>
      </p:sp>
      <p:sp>
        <p:nvSpPr>
          <p:cNvPr id="16" name="Text 14"/>
          <p:cNvSpPr txBox="1"/>
          <p:nvPr/>
        </p:nvSpPr>
        <p:spPr>
          <a:xfrm>
            <a:off x="9683496" y="3282696"/>
            <a:ext cx="1828800" cy="438912"/>
          </a:xfrm>
          <a:prstGeom prst="rect">
            <a:avLst/>
          </a:prstGeom>
          <a:noFill/>
          <a:ln/>
        </p:spPr>
        <p:txBody>
          <a:bodyPr wrap="square" lIns="0" tIns="0" rIns="0" bIns="0" rtlCol="0" anchor="ctr"/>
          <a:lstStyle/>
          <a:p>
            <a:pPr marL="0" indent="0">
              <a:buNone/>
            </a:pPr>
            <a:r>
              <a:rPr lang="en-US" sz="1300" dirty="0">
                <a:solidFill>
                  <a:schemeClr val="bg2"/>
                </a:solidFill>
                <a:latin typeface="Calibri" pitchFamily="34" charset="0"/>
                <a:ea typeface="Calibri" pitchFamily="34" charset="-122"/>
                <a:cs typeface="Calibri" pitchFamily="34" charset="-120"/>
              </a:rPr>
              <a:t>4  GenAI call</a:t>
            </a:r>
            <a:endParaRPr lang="en-US" sz="1300" dirty="0"/>
          </a:p>
        </p:txBody>
      </p:sp>
      <p:sp>
        <p:nvSpPr>
          <p:cNvPr id="17" name="ladder Agent"/>
          <p:cNvSpPr/>
          <p:nvPr/>
        </p:nvSpPr>
        <p:spPr>
          <a:xfrm>
            <a:off x="9710928" y="2715768"/>
            <a:ext cx="2103120" cy="438912"/>
          </a:xfrm>
          <a:prstGeom prst="rect">
            <a:avLst/>
          </a:prstGeom>
          <a:solidFill>
            <a:srgbClr val="153A33"/>
          </a:solidFill>
          <a:ln w="12700">
            <a:solidFill>
              <a:srgbClr val="24524A"/>
            </a:solidFill>
            <a:prstDash val="solid"/>
          </a:ln>
        </p:spPr>
        <p:txBody>
          <a:bodyPr/>
          <a:lstStyle/>
          <a:p>
            <a:endParaRPr lang="en-DE"/>
          </a:p>
        </p:txBody>
      </p:sp>
      <p:sp>
        <p:nvSpPr>
          <p:cNvPr id="18" name="Text 16"/>
          <p:cNvSpPr txBox="1"/>
          <p:nvPr/>
        </p:nvSpPr>
        <p:spPr>
          <a:xfrm>
            <a:off x="9848088" y="2715768"/>
            <a:ext cx="1828800" cy="438912"/>
          </a:xfrm>
          <a:prstGeom prst="rect">
            <a:avLst/>
          </a:prstGeom>
          <a:noFill/>
          <a:ln/>
        </p:spPr>
        <p:txBody>
          <a:bodyPr wrap="square" lIns="0" tIns="0" rIns="0" bIns="0" rtlCol="0" anchor="ctr"/>
          <a:lstStyle/>
          <a:p>
            <a:pPr marL="0" indent="0">
              <a:buNone/>
            </a:pPr>
            <a:r>
              <a:rPr lang="en-US" sz="1300" dirty="0">
                <a:solidFill>
                  <a:schemeClr val="bg2"/>
                </a:solidFill>
                <a:latin typeface="Calibri" pitchFamily="34" charset="0"/>
                <a:ea typeface="Calibri" pitchFamily="34" charset="-122"/>
                <a:cs typeface="Calibri" pitchFamily="34" charset="-120"/>
              </a:rPr>
              <a:t>5  Agent</a:t>
            </a:r>
            <a:endParaRPr lang="en-US" sz="1300" dirty="0"/>
          </a:p>
        </p:txBody>
      </p:sp>
      <p:sp>
        <p:nvSpPr>
          <p:cNvPr id="19" name="ladder Multi-agent"/>
          <p:cNvSpPr/>
          <p:nvPr/>
        </p:nvSpPr>
        <p:spPr>
          <a:xfrm>
            <a:off x="9875520" y="2148840"/>
            <a:ext cx="2103120" cy="438912"/>
          </a:xfrm>
          <a:prstGeom prst="rect">
            <a:avLst/>
          </a:prstGeom>
          <a:solidFill>
            <a:srgbClr val="153A33"/>
          </a:solidFill>
          <a:ln w="12700">
            <a:solidFill>
              <a:srgbClr val="24524A"/>
            </a:solidFill>
            <a:prstDash val="solid"/>
          </a:ln>
        </p:spPr>
        <p:txBody>
          <a:bodyPr/>
          <a:lstStyle/>
          <a:p>
            <a:endParaRPr lang="en-DE"/>
          </a:p>
        </p:txBody>
      </p:sp>
      <p:sp>
        <p:nvSpPr>
          <p:cNvPr id="20" name="Text 18"/>
          <p:cNvSpPr txBox="1"/>
          <p:nvPr/>
        </p:nvSpPr>
        <p:spPr>
          <a:xfrm>
            <a:off x="10012680" y="2148840"/>
            <a:ext cx="1828800" cy="438912"/>
          </a:xfrm>
          <a:prstGeom prst="rect">
            <a:avLst/>
          </a:prstGeom>
          <a:noFill/>
          <a:ln/>
        </p:spPr>
        <p:txBody>
          <a:bodyPr wrap="square" lIns="0" tIns="0" rIns="0" bIns="0" rtlCol="0" anchor="ctr"/>
          <a:lstStyle/>
          <a:p>
            <a:pPr marL="0" indent="0">
              <a:buNone/>
            </a:pPr>
            <a:r>
              <a:rPr lang="en-US" sz="1300" dirty="0">
                <a:solidFill>
                  <a:schemeClr val="bg2"/>
                </a:solidFill>
                <a:latin typeface="Calibri" pitchFamily="34" charset="0"/>
                <a:ea typeface="Calibri" pitchFamily="34" charset="-122"/>
                <a:cs typeface="Calibri" pitchFamily="34" charset="-120"/>
              </a:rPr>
              <a:t>6  Multi-agent</a:t>
            </a:r>
            <a:endParaRPr lang="en-US" sz="1300" dirty="0"/>
          </a:p>
        </p:txBody>
      </p:sp>
      <p:sp>
        <p:nvSpPr>
          <p:cNvPr id="21" name="Text 19"/>
          <p:cNvSpPr txBox="1"/>
          <p:nvPr/>
        </p:nvSpPr>
        <p:spPr>
          <a:xfrm>
            <a:off x="9052560" y="5468112"/>
            <a:ext cx="2926080" cy="274320"/>
          </a:xfrm>
          <a:prstGeom prst="rect">
            <a:avLst/>
          </a:prstGeom>
          <a:noFill/>
          <a:ln/>
        </p:spPr>
        <p:txBody>
          <a:bodyPr wrap="square" lIns="0" tIns="0" rIns="0" bIns="0" rtlCol="0" anchor="ctr"/>
          <a:lstStyle/>
          <a:p>
            <a:pPr marL="0" indent="0">
              <a:buNone/>
            </a:pPr>
            <a:r>
              <a:rPr lang="en-US" sz="1100" i="1" dirty="0">
                <a:solidFill>
                  <a:srgbClr val="9FB8AF"/>
                </a:solidFill>
                <a:latin typeface="Calibri" pitchFamily="34" charset="0"/>
                <a:ea typeface="Calibri" pitchFamily="34" charset="-122"/>
                <a:cs typeface="Calibri" pitchFamily="34" charset="-120"/>
              </a:rPr>
              <a:t>Use the lowest step that does the job</a:t>
            </a:r>
            <a:endParaRPr lang="en-US" sz="1100" dirty="0"/>
          </a:p>
        </p:txBody>
      </p:sp>
      <p:sp>
        <p:nvSpPr>
          <p:cNvPr id="22" name="persona Goals">
            <a:extLst>
              <a:ext uri="{FF2B5EF4-FFF2-40B4-BE49-F238E27FC236}">
                <a16:creationId xmlns:a16="http://schemas.microsoft.com/office/drawing/2014/main" id="{6B02BE84-D9FB-465C-29EE-60ECEDE3A122}"/>
              </a:ext>
            </a:extLst>
          </p:cNvPr>
          <p:cNvSpPr/>
          <p:nvPr/>
        </p:nvSpPr>
        <p:spPr>
          <a:xfrm>
            <a:off x="4709160" y="-2528316"/>
            <a:ext cx="3383280" cy="914400"/>
          </a:xfrm>
          <a:prstGeom prst="rect">
            <a:avLst/>
          </a:prstGeom>
          <a:solidFill>
            <a:srgbClr val="F4F7F5"/>
          </a:solidFill>
          <a:ln w="12700">
            <a:solidFill>
              <a:srgbClr val="F4F7F5"/>
            </a:solidFill>
            <a:prstDash val="solid"/>
          </a:ln>
        </p:spPr>
        <p:txBody>
          <a:bodyPr/>
          <a:lstStyle/>
          <a:p>
            <a:endParaRPr lang="en-DE"/>
          </a:p>
        </p:txBody>
      </p:sp>
      <p:sp>
        <p:nvSpPr>
          <p:cNvPr id="23" name="Text 10">
            <a:extLst>
              <a:ext uri="{FF2B5EF4-FFF2-40B4-BE49-F238E27FC236}">
                <a16:creationId xmlns:a16="http://schemas.microsoft.com/office/drawing/2014/main" id="{6183A656-3879-7C8E-D4BC-A43CDBB22CF8}"/>
              </a:ext>
            </a:extLst>
          </p:cNvPr>
          <p:cNvSpPr txBox="1"/>
          <p:nvPr/>
        </p:nvSpPr>
        <p:spPr>
          <a:xfrm>
            <a:off x="4873752" y="-2418588"/>
            <a:ext cx="3017520" cy="228600"/>
          </a:xfrm>
          <a:prstGeom prst="rect">
            <a:avLst/>
          </a:prstGeom>
          <a:noFill/>
          <a:ln/>
        </p:spPr>
        <p:txBody>
          <a:bodyPr wrap="square" lIns="0" tIns="0" rIns="0" bIns="0" rtlCol="0" anchor="ctr"/>
          <a:lstStyle/>
          <a:p>
            <a:pPr marL="0" indent="0">
              <a:buNone/>
            </a:pPr>
            <a:r>
              <a:rPr lang="en-US" sz="900" b="1" kern="0" spc="200" dirty="0">
                <a:solidFill>
                  <a:schemeClr val="accent1"/>
                </a:solidFill>
                <a:latin typeface="Arial" pitchFamily="34" charset="0"/>
                <a:ea typeface="Arial" pitchFamily="34" charset="-122"/>
                <a:cs typeface="Arial" pitchFamily="34" charset="-120"/>
              </a:rPr>
              <a:t>GOALS</a:t>
            </a:r>
            <a:endParaRPr lang="en-US" sz="900" dirty="0"/>
          </a:p>
        </p:txBody>
      </p:sp>
      <p:sp>
        <p:nvSpPr>
          <p:cNvPr id="24" name="Text 11">
            <a:extLst>
              <a:ext uri="{FF2B5EF4-FFF2-40B4-BE49-F238E27FC236}">
                <a16:creationId xmlns:a16="http://schemas.microsoft.com/office/drawing/2014/main" id="{E95FB600-2915-1A18-2F68-933E805EF5D9}"/>
              </a:ext>
            </a:extLst>
          </p:cNvPr>
          <p:cNvSpPr txBox="1"/>
          <p:nvPr/>
        </p:nvSpPr>
        <p:spPr>
          <a:xfrm>
            <a:off x="4873752" y="-2180844"/>
            <a:ext cx="3063240" cy="530352"/>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Less manual admin for her team, faster hiring, show that recruiting innovates</a:t>
            </a:r>
            <a:endParaRPr lang="en-US" sz="1200" dirty="0"/>
          </a:p>
        </p:txBody>
      </p:sp>
      <p:sp>
        <p:nvSpPr>
          <p:cNvPr id="25" name="persona Pains">
            <a:extLst>
              <a:ext uri="{FF2B5EF4-FFF2-40B4-BE49-F238E27FC236}">
                <a16:creationId xmlns:a16="http://schemas.microsoft.com/office/drawing/2014/main" id="{7784DF78-0760-28FC-FDE3-9ACFB46BBEA2}"/>
              </a:ext>
            </a:extLst>
          </p:cNvPr>
          <p:cNvSpPr/>
          <p:nvPr/>
        </p:nvSpPr>
        <p:spPr>
          <a:xfrm>
            <a:off x="8229600" y="-2528316"/>
            <a:ext cx="3383280" cy="914400"/>
          </a:xfrm>
          <a:prstGeom prst="rect">
            <a:avLst/>
          </a:prstGeom>
          <a:solidFill>
            <a:srgbClr val="F4F7F5"/>
          </a:solidFill>
          <a:ln w="12700">
            <a:solidFill>
              <a:srgbClr val="F4F7F5"/>
            </a:solidFill>
            <a:prstDash val="solid"/>
          </a:ln>
        </p:spPr>
        <p:txBody>
          <a:bodyPr/>
          <a:lstStyle/>
          <a:p>
            <a:endParaRPr lang="en-DE"/>
          </a:p>
        </p:txBody>
      </p:sp>
      <p:sp>
        <p:nvSpPr>
          <p:cNvPr id="26" name="Text 13">
            <a:extLst>
              <a:ext uri="{FF2B5EF4-FFF2-40B4-BE49-F238E27FC236}">
                <a16:creationId xmlns:a16="http://schemas.microsoft.com/office/drawing/2014/main" id="{7DD8F112-D10D-AED4-84C3-E0DFDB0C102D}"/>
              </a:ext>
            </a:extLst>
          </p:cNvPr>
          <p:cNvSpPr txBox="1"/>
          <p:nvPr/>
        </p:nvSpPr>
        <p:spPr>
          <a:xfrm>
            <a:off x="8394192" y="-2418588"/>
            <a:ext cx="3017520" cy="228600"/>
          </a:xfrm>
          <a:prstGeom prst="rect">
            <a:avLst/>
          </a:prstGeom>
          <a:noFill/>
          <a:ln/>
        </p:spPr>
        <p:txBody>
          <a:bodyPr wrap="square" lIns="0" tIns="0" rIns="0" bIns="0" rtlCol="0" anchor="ctr"/>
          <a:lstStyle/>
          <a:p>
            <a:pPr marL="0" indent="0">
              <a:buNone/>
            </a:pPr>
            <a:r>
              <a:rPr lang="en-US" sz="900" b="1" kern="0" spc="200" dirty="0">
                <a:solidFill>
                  <a:schemeClr val="accent1"/>
                </a:solidFill>
                <a:latin typeface="Arial" pitchFamily="34" charset="0"/>
                <a:ea typeface="Arial" pitchFamily="34" charset="-122"/>
                <a:cs typeface="Arial" pitchFamily="34" charset="-120"/>
              </a:rPr>
              <a:t>PAINS</a:t>
            </a:r>
            <a:endParaRPr lang="en-US" sz="900" dirty="0"/>
          </a:p>
        </p:txBody>
      </p:sp>
      <p:sp>
        <p:nvSpPr>
          <p:cNvPr id="27" name="Text 14">
            <a:extLst>
              <a:ext uri="{FF2B5EF4-FFF2-40B4-BE49-F238E27FC236}">
                <a16:creationId xmlns:a16="http://schemas.microsoft.com/office/drawing/2014/main" id="{64ED7752-7E44-9CF9-6BD6-1ED5F9492FD9}"/>
              </a:ext>
            </a:extLst>
          </p:cNvPr>
          <p:cNvSpPr txBox="1"/>
          <p:nvPr/>
        </p:nvSpPr>
        <p:spPr>
          <a:xfrm>
            <a:off x="8394192" y="-2180844"/>
            <a:ext cx="3063240" cy="530352"/>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No guidance on which step fits; no time to rebuild what already runs</a:t>
            </a:r>
            <a:endParaRPr lang="en-US" sz="1200" dirty="0"/>
          </a:p>
        </p:txBody>
      </p:sp>
      <p:sp>
        <p:nvSpPr>
          <p:cNvPr id="28" name="persona Behaviour">
            <a:extLst>
              <a:ext uri="{FF2B5EF4-FFF2-40B4-BE49-F238E27FC236}">
                <a16:creationId xmlns:a16="http://schemas.microsoft.com/office/drawing/2014/main" id="{61DF5AD2-8617-C8CB-BDA6-4A932783EBDD}"/>
              </a:ext>
            </a:extLst>
          </p:cNvPr>
          <p:cNvSpPr/>
          <p:nvPr/>
        </p:nvSpPr>
        <p:spPr>
          <a:xfrm>
            <a:off x="4709160" y="-1504188"/>
            <a:ext cx="3383280" cy="914400"/>
          </a:xfrm>
          <a:prstGeom prst="rect">
            <a:avLst/>
          </a:prstGeom>
          <a:solidFill>
            <a:srgbClr val="F4F7F5"/>
          </a:solidFill>
          <a:ln w="12700">
            <a:solidFill>
              <a:srgbClr val="F4F7F5"/>
            </a:solidFill>
            <a:prstDash val="solid"/>
          </a:ln>
        </p:spPr>
        <p:txBody>
          <a:bodyPr/>
          <a:lstStyle/>
          <a:p>
            <a:endParaRPr lang="en-DE"/>
          </a:p>
        </p:txBody>
      </p:sp>
      <p:sp>
        <p:nvSpPr>
          <p:cNvPr id="29" name="Text 16">
            <a:extLst>
              <a:ext uri="{FF2B5EF4-FFF2-40B4-BE49-F238E27FC236}">
                <a16:creationId xmlns:a16="http://schemas.microsoft.com/office/drawing/2014/main" id="{F6DEBB22-FCCF-2C72-EEFA-9674255B96C5}"/>
              </a:ext>
            </a:extLst>
          </p:cNvPr>
          <p:cNvSpPr txBox="1"/>
          <p:nvPr/>
        </p:nvSpPr>
        <p:spPr>
          <a:xfrm>
            <a:off x="4873752" y="-1394460"/>
            <a:ext cx="3017520" cy="228600"/>
          </a:xfrm>
          <a:prstGeom prst="rect">
            <a:avLst/>
          </a:prstGeom>
          <a:noFill/>
          <a:ln/>
        </p:spPr>
        <p:txBody>
          <a:bodyPr wrap="square" lIns="0" tIns="0" rIns="0" bIns="0" rtlCol="0" anchor="ctr"/>
          <a:lstStyle/>
          <a:p>
            <a:pPr marL="0" indent="0">
              <a:buNone/>
            </a:pPr>
            <a:r>
              <a:rPr lang="en-US" sz="900" b="1" kern="0" spc="200" dirty="0">
                <a:solidFill>
                  <a:schemeClr val="accent1"/>
                </a:solidFill>
                <a:latin typeface="Arial" pitchFamily="34" charset="0"/>
                <a:ea typeface="Arial" pitchFamily="34" charset="-122"/>
                <a:cs typeface="Arial" pitchFamily="34" charset="-120"/>
              </a:rPr>
              <a:t>BEHAVIOUR</a:t>
            </a:r>
            <a:endParaRPr lang="en-US" sz="900" dirty="0"/>
          </a:p>
        </p:txBody>
      </p:sp>
      <p:sp>
        <p:nvSpPr>
          <p:cNvPr id="30" name="Text 17">
            <a:extLst>
              <a:ext uri="{FF2B5EF4-FFF2-40B4-BE49-F238E27FC236}">
                <a16:creationId xmlns:a16="http://schemas.microsoft.com/office/drawing/2014/main" id="{9399298A-792A-A7CC-F17F-DA6AD0221576}"/>
              </a:ext>
            </a:extLst>
          </p:cNvPr>
          <p:cNvSpPr txBox="1"/>
          <p:nvPr/>
        </p:nvSpPr>
        <p:spPr>
          <a:xfrm>
            <a:off x="4873752" y="-1156716"/>
            <a:ext cx="3063240" cy="530352"/>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Reaches for an agent by default – “everyone is building agents”</a:t>
            </a:r>
            <a:endParaRPr lang="en-US" sz="1200" dirty="0"/>
          </a:p>
        </p:txBody>
      </p:sp>
      <p:sp>
        <p:nvSpPr>
          <p:cNvPr id="31" name="persona Blind spot">
            <a:extLst>
              <a:ext uri="{FF2B5EF4-FFF2-40B4-BE49-F238E27FC236}">
                <a16:creationId xmlns:a16="http://schemas.microsoft.com/office/drawing/2014/main" id="{B5148853-3320-D359-6AF9-B30FE4EFD43A}"/>
              </a:ext>
            </a:extLst>
          </p:cNvPr>
          <p:cNvSpPr/>
          <p:nvPr/>
        </p:nvSpPr>
        <p:spPr>
          <a:xfrm>
            <a:off x="8229600" y="-1504188"/>
            <a:ext cx="3383280" cy="914400"/>
          </a:xfrm>
          <a:prstGeom prst="rect">
            <a:avLst/>
          </a:prstGeom>
          <a:solidFill>
            <a:srgbClr val="FDECEC"/>
          </a:solidFill>
          <a:ln w="12700">
            <a:solidFill>
              <a:srgbClr val="FDECEC"/>
            </a:solidFill>
            <a:prstDash val="solid"/>
          </a:ln>
        </p:spPr>
        <p:txBody>
          <a:bodyPr/>
          <a:lstStyle/>
          <a:p>
            <a:endParaRPr lang="en-DE"/>
          </a:p>
        </p:txBody>
      </p:sp>
      <p:sp>
        <p:nvSpPr>
          <p:cNvPr id="32" name="Text 19">
            <a:extLst>
              <a:ext uri="{FF2B5EF4-FFF2-40B4-BE49-F238E27FC236}">
                <a16:creationId xmlns:a16="http://schemas.microsoft.com/office/drawing/2014/main" id="{BC1231E7-1F6C-DD16-5660-E1F695A4B791}"/>
              </a:ext>
            </a:extLst>
          </p:cNvPr>
          <p:cNvSpPr txBox="1"/>
          <p:nvPr/>
        </p:nvSpPr>
        <p:spPr>
          <a:xfrm>
            <a:off x="8394192" y="-1394460"/>
            <a:ext cx="3017520" cy="228600"/>
          </a:xfrm>
          <a:prstGeom prst="rect">
            <a:avLst/>
          </a:prstGeom>
          <a:noFill/>
          <a:ln/>
        </p:spPr>
        <p:txBody>
          <a:bodyPr wrap="square" lIns="0" tIns="0" rIns="0" bIns="0" rtlCol="0" anchor="ctr"/>
          <a:lstStyle/>
          <a:p>
            <a:pPr marL="0" indent="0">
              <a:buNone/>
            </a:pPr>
            <a:r>
              <a:rPr lang="en-US" sz="900" b="1" kern="0" spc="200" dirty="0">
                <a:solidFill>
                  <a:schemeClr val="accent6"/>
                </a:solidFill>
                <a:latin typeface="Arial" pitchFamily="34" charset="0"/>
                <a:ea typeface="Arial" pitchFamily="34" charset="-122"/>
                <a:cs typeface="Arial" pitchFamily="34" charset="-120"/>
              </a:rPr>
              <a:t>BLIND SPOT</a:t>
            </a:r>
            <a:endParaRPr lang="en-US" sz="900" dirty="0"/>
          </a:p>
        </p:txBody>
      </p:sp>
      <p:sp>
        <p:nvSpPr>
          <p:cNvPr id="33" name="Text 20">
            <a:extLst>
              <a:ext uri="{FF2B5EF4-FFF2-40B4-BE49-F238E27FC236}">
                <a16:creationId xmlns:a16="http://schemas.microsoft.com/office/drawing/2014/main" id="{B26DA788-5099-07BC-019B-F24F8EF19DD8}"/>
              </a:ext>
            </a:extLst>
          </p:cNvPr>
          <p:cNvSpPr txBox="1"/>
          <p:nvPr/>
        </p:nvSpPr>
        <p:spPr>
          <a:xfrm>
            <a:off x="8394192" y="-1156716"/>
            <a:ext cx="3063240" cy="530352"/>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Never sees what her agents consume, and has no reason to choose lean</a:t>
            </a:r>
            <a:endParaRPr lang="en-US" sz="1200" dirty="0"/>
          </a:p>
        </p:txBody>
      </p:sp>
      <p:sp>
        <p:nvSpPr>
          <p:cNvPr id="34" name="persona card">
            <a:extLst>
              <a:ext uri="{FF2B5EF4-FFF2-40B4-BE49-F238E27FC236}">
                <a16:creationId xmlns:a16="http://schemas.microsoft.com/office/drawing/2014/main" id="{20016E6C-93AF-582C-4758-453A73CFEAF2}"/>
              </a:ext>
            </a:extLst>
          </p:cNvPr>
          <p:cNvSpPr/>
          <p:nvPr/>
        </p:nvSpPr>
        <p:spPr>
          <a:xfrm>
            <a:off x="-5234940" y="1508760"/>
            <a:ext cx="3931920" cy="4709160"/>
          </a:xfrm>
          <a:prstGeom prst="rect">
            <a:avLst/>
          </a:prstGeom>
          <a:solidFill>
            <a:schemeClr val="tx2"/>
          </a:solidFill>
          <a:ln w="12700">
            <a:solidFill>
              <a:schemeClr val="tx2"/>
            </a:solidFill>
            <a:prstDash val="solid"/>
          </a:ln>
        </p:spPr>
        <p:txBody>
          <a:bodyPr/>
          <a:lstStyle/>
          <a:p>
            <a:endParaRPr lang="en-DE"/>
          </a:p>
        </p:txBody>
      </p:sp>
      <p:sp>
        <p:nvSpPr>
          <p:cNvPr id="35" name="Shape 3">
            <a:extLst>
              <a:ext uri="{FF2B5EF4-FFF2-40B4-BE49-F238E27FC236}">
                <a16:creationId xmlns:a16="http://schemas.microsoft.com/office/drawing/2014/main" id="{116C9A3E-3012-7FDF-10F7-2D66D438FC4F}"/>
              </a:ext>
            </a:extLst>
          </p:cNvPr>
          <p:cNvSpPr/>
          <p:nvPr/>
        </p:nvSpPr>
        <p:spPr>
          <a:xfrm>
            <a:off x="-5006340" y="1737360"/>
            <a:ext cx="868680" cy="868680"/>
          </a:xfrm>
          <a:prstGeom prst="ellipse">
            <a:avLst/>
          </a:prstGeom>
          <a:solidFill>
            <a:schemeClr val="accent1"/>
          </a:solidFill>
          <a:ln w="25400">
            <a:solidFill>
              <a:schemeClr val="accent2"/>
            </a:solidFill>
            <a:prstDash val="solid"/>
          </a:ln>
        </p:spPr>
        <p:txBody>
          <a:bodyPr/>
          <a:lstStyle/>
          <a:p>
            <a:endParaRPr lang="en-DE"/>
          </a:p>
        </p:txBody>
      </p:sp>
      <p:sp>
        <p:nvSpPr>
          <p:cNvPr id="36" name="Text 4">
            <a:extLst>
              <a:ext uri="{FF2B5EF4-FFF2-40B4-BE49-F238E27FC236}">
                <a16:creationId xmlns:a16="http://schemas.microsoft.com/office/drawing/2014/main" id="{DF5A56AF-8788-27BB-AB27-73D8FCA2F317}"/>
              </a:ext>
            </a:extLst>
          </p:cNvPr>
          <p:cNvSpPr txBox="1"/>
          <p:nvPr/>
        </p:nvSpPr>
        <p:spPr>
          <a:xfrm>
            <a:off x="-3954780" y="1783080"/>
            <a:ext cx="2560320" cy="365760"/>
          </a:xfrm>
          <a:prstGeom prst="rect">
            <a:avLst/>
          </a:prstGeom>
          <a:noFill/>
          <a:ln/>
        </p:spPr>
        <p:txBody>
          <a:bodyPr wrap="square" lIns="0" tIns="0" rIns="0" bIns="0" rtlCol="0" anchor="ctr"/>
          <a:lstStyle/>
          <a:p>
            <a:pPr marL="0" indent="0">
              <a:buNone/>
            </a:pPr>
            <a:r>
              <a:rPr lang="en-US" sz="2000" b="1" dirty="0">
                <a:solidFill>
                  <a:schemeClr val="bg1"/>
                </a:solidFill>
                <a:latin typeface="Arial" pitchFamily="34" charset="0"/>
                <a:ea typeface="Arial" pitchFamily="34" charset="-122"/>
                <a:cs typeface="Arial" pitchFamily="34" charset="-120"/>
              </a:rPr>
              <a:t>Lena, 38</a:t>
            </a:r>
            <a:endParaRPr lang="en-US" sz="2000" dirty="0"/>
          </a:p>
        </p:txBody>
      </p:sp>
      <p:sp>
        <p:nvSpPr>
          <p:cNvPr id="37" name="Text 5">
            <a:extLst>
              <a:ext uri="{FF2B5EF4-FFF2-40B4-BE49-F238E27FC236}">
                <a16:creationId xmlns:a16="http://schemas.microsoft.com/office/drawing/2014/main" id="{B0C33B85-E22E-81E2-5FD1-1FD498394984}"/>
              </a:ext>
            </a:extLst>
          </p:cNvPr>
          <p:cNvSpPr txBox="1"/>
          <p:nvPr/>
        </p:nvSpPr>
        <p:spPr>
          <a:xfrm>
            <a:off x="-3954780" y="2148840"/>
            <a:ext cx="2560320" cy="457200"/>
          </a:xfrm>
          <a:prstGeom prst="rect">
            <a:avLst/>
          </a:prstGeom>
          <a:noFill/>
          <a:ln/>
        </p:spPr>
        <p:txBody>
          <a:bodyPr wrap="square" lIns="0" tIns="0" rIns="0" bIns="0" rtlCol="0" anchor="t"/>
          <a:lstStyle/>
          <a:p>
            <a:pPr marL="0" indent="0">
              <a:buNone/>
            </a:pPr>
            <a:r>
              <a:rPr lang="en-US" sz="1200" dirty="0">
                <a:solidFill>
                  <a:schemeClr val="bg2"/>
                </a:solidFill>
                <a:latin typeface="Calibri" pitchFamily="34" charset="0"/>
                <a:ea typeface="Calibri" pitchFamily="34" charset="-122"/>
                <a:cs typeface="Calibri" pitchFamily="34" charset="-120"/>
              </a:rPr>
              <a:t>Recruiting Operations Lead, SAP HR</a:t>
            </a:r>
            <a:endParaRPr lang="en-US" sz="1200" dirty="0"/>
          </a:p>
        </p:txBody>
      </p:sp>
      <p:sp>
        <p:nvSpPr>
          <p:cNvPr id="38" name="Text 6">
            <a:extLst>
              <a:ext uri="{FF2B5EF4-FFF2-40B4-BE49-F238E27FC236}">
                <a16:creationId xmlns:a16="http://schemas.microsoft.com/office/drawing/2014/main" id="{CDEB36BA-D99C-CB56-E397-F8605AEF4920}"/>
              </a:ext>
            </a:extLst>
          </p:cNvPr>
          <p:cNvSpPr txBox="1"/>
          <p:nvPr/>
        </p:nvSpPr>
        <p:spPr>
          <a:xfrm>
            <a:off x="-5006340" y="2788920"/>
            <a:ext cx="3520440" cy="777240"/>
          </a:xfrm>
          <a:prstGeom prst="rect">
            <a:avLst/>
          </a:prstGeom>
          <a:noFill/>
          <a:ln/>
        </p:spPr>
        <p:txBody>
          <a:bodyPr wrap="square" lIns="0" tIns="0" rIns="0" bIns="0" rtlCol="0" anchor="t"/>
          <a:lstStyle/>
          <a:p>
            <a:pPr marL="0" indent="0">
              <a:buNone/>
            </a:pPr>
            <a:r>
              <a:rPr lang="en-US" sz="1400" i="1" dirty="0">
                <a:solidFill>
                  <a:schemeClr val="accent2"/>
                </a:solidFill>
                <a:latin typeface="Calibri" pitchFamily="34" charset="0"/>
                <a:ea typeface="Calibri" pitchFamily="34" charset="-122"/>
                <a:cs typeface="Calibri" pitchFamily="34" charset="-120"/>
              </a:rPr>
              <a:t>“I built agents for everything. Nobody tells me whether they still need to be agents.”</a:t>
            </a:r>
            <a:endParaRPr lang="en-US" sz="1400" dirty="0"/>
          </a:p>
        </p:txBody>
      </p:sp>
      <p:sp>
        <p:nvSpPr>
          <p:cNvPr id="39" name="Text 7">
            <a:extLst>
              <a:ext uri="{FF2B5EF4-FFF2-40B4-BE49-F238E27FC236}">
                <a16:creationId xmlns:a16="http://schemas.microsoft.com/office/drawing/2014/main" id="{A5875C71-B61C-BE75-F259-CD39CF3102FF}"/>
              </a:ext>
            </a:extLst>
          </p:cNvPr>
          <p:cNvSpPr txBox="1"/>
          <p:nvPr/>
        </p:nvSpPr>
        <p:spPr>
          <a:xfrm>
            <a:off x="-5006340" y="3657600"/>
            <a:ext cx="3520440" cy="21031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bg1"/>
                </a:solidFill>
                <a:latin typeface="Calibri" pitchFamily="34" charset="0"/>
                <a:ea typeface="Calibri" pitchFamily="34" charset="-122"/>
                <a:cs typeface="Calibri" pitchFamily="34" charset="-120"/>
              </a:rPr>
              <a:t>Runs high-volume recruiting admin: status updates, document checks, interview scheduling, offer letters</a:t>
            </a:r>
            <a:endParaRPr lang="en-US" sz="1200" dirty="0"/>
          </a:p>
          <a:p>
            <a:pPr marL="342900" indent="-342900">
              <a:spcAft>
                <a:spcPts val="500"/>
              </a:spcAft>
              <a:buSzPct val="100000"/>
              <a:buChar char="•"/>
            </a:pPr>
            <a:r>
              <a:rPr lang="en-US" sz="1200" dirty="0">
                <a:solidFill>
                  <a:schemeClr val="bg1"/>
                </a:solidFill>
                <a:latin typeface="Calibri" pitchFamily="34" charset="0"/>
                <a:ea typeface="Calibri" pitchFamily="34" charset="-122"/>
                <a:cs typeface="Calibri" pitchFamily="34" charset="-120"/>
              </a:rPr>
              <a:t>Builds her own automations on SAP’s low-code platform – agents included</a:t>
            </a:r>
            <a:endParaRPr lang="en-US" sz="1200" dirty="0"/>
          </a:p>
          <a:p>
            <a:pPr marL="342900" indent="-342900">
              <a:spcAft>
                <a:spcPts val="500"/>
              </a:spcAft>
              <a:buSzPct val="100000"/>
              <a:buChar char="•"/>
            </a:pPr>
            <a:r>
              <a:rPr lang="en-US" sz="1200" dirty="0">
                <a:solidFill>
                  <a:schemeClr val="bg1"/>
                </a:solidFill>
                <a:latin typeface="Calibri" pitchFamily="34" charset="0"/>
                <a:ea typeface="Calibri" pitchFamily="34" charset="-122"/>
                <a:cs typeface="Calibri" pitchFamily="34" charset="-120"/>
              </a:rPr>
              <a:t>Was trained on the tool, never on when to use which step</a:t>
            </a:r>
            <a:endParaRPr lang="en-US" sz="1200" dirty="0"/>
          </a:p>
          <a:p>
            <a:pPr marL="342900" indent="-342900">
              <a:buSzPct val="100000"/>
              <a:buChar char="•"/>
            </a:pPr>
            <a:r>
              <a:rPr lang="en-US" sz="1200" dirty="0">
                <a:solidFill>
                  <a:schemeClr val="bg1"/>
                </a:solidFill>
                <a:latin typeface="Calibri" pitchFamily="34" charset="0"/>
                <a:ea typeface="Calibri" pitchFamily="34" charset="-122"/>
                <a:cs typeface="Calibri" pitchFamily="34" charset="-120"/>
              </a:rPr>
              <a:t>Owns her automations end to end – nobody else reviews them</a:t>
            </a:r>
            <a:endParaRPr lang="en-US" sz="1200" dirty="0"/>
          </a:p>
        </p:txBody>
      </p:sp>
      <p:sp>
        <p:nvSpPr>
          <p:cNvPr id="40" name="Text 8">
            <a:extLst>
              <a:ext uri="{FF2B5EF4-FFF2-40B4-BE49-F238E27FC236}">
                <a16:creationId xmlns:a16="http://schemas.microsoft.com/office/drawing/2014/main" id="{5C739CC9-3998-88E7-2F1A-9119F00F0FDA}"/>
              </a:ext>
            </a:extLst>
          </p:cNvPr>
          <p:cNvSpPr txBox="1"/>
          <p:nvPr/>
        </p:nvSpPr>
        <p:spPr>
          <a:xfrm>
            <a:off x="-5006340" y="5870448"/>
            <a:ext cx="3520440" cy="228600"/>
          </a:xfrm>
          <a:prstGeom prst="rect">
            <a:avLst/>
          </a:prstGeom>
          <a:noFill/>
          <a:ln/>
        </p:spPr>
        <p:txBody>
          <a:bodyPr wrap="square" lIns="0" tIns="0" rIns="0" bIns="0" rtlCol="0" anchor="ctr"/>
          <a:lstStyle/>
          <a:p>
            <a:pPr marL="0" indent="0">
              <a:buNone/>
            </a:pPr>
            <a:r>
              <a:rPr lang="en-US" sz="900" i="1" dirty="0">
                <a:solidFill>
                  <a:srgbClr val="9FB8AF"/>
                </a:solidFill>
                <a:latin typeface="Calibri" pitchFamily="34" charset="0"/>
                <a:ea typeface="Calibri" pitchFamily="34" charset="-122"/>
                <a:cs typeface="Calibri" pitchFamily="34" charset="-120"/>
              </a:rPr>
              <a:t>Working persona – hypothesis to validate</a:t>
            </a:r>
            <a:endParaRPr lang="en-US" sz="900" dirty="0"/>
          </a:p>
        </p:txBody>
      </p:sp>
      <p:pic>
        <p:nvPicPr>
          <p:cNvPr id="41" name="Picture 40" descr="Daisy Duck – Duckipedia">
            <a:extLst>
              <a:ext uri="{FF2B5EF4-FFF2-40B4-BE49-F238E27FC236}">
                <a16:creationId xmlns:a16="http://schemas.microsoft.com/office/drawing/2014/main" id="{1497D6B1-6B7A-496D-E8FB-90292F3442FA}"/>
              </a:ext>
            </a:extLst>
          </p:cNvPr>
          <p:cNvPicPr>
            <a:picLocks noChangeAspect="1"/>
          </p:cNvPicPr>
          <p:nvPr/>
        </p:nvPicPr>
        <p:blipFill>
          <a:blip r:embed="rId3"/>
          <a:srcRect l="21758" b="60156"/>
          <a:stretch>
            <a:fillRect/>
          </a:stretch>
        </p:blipFill>
        <p:spPr>
          <a:xfrm>
            <a:off x="-5171066" y="1554480"/>
            <a:ext cx="1198131" cy="1039255"/>
          </a:xfrm>
          <a:custGeom>
            <a:avLst/>
            <a:gdLst>
              <a:gd name="csX0" fmla="*/ 195564 w 1198131"/>
              <a:gd name="csY0" fmla="*/ 0 h 1039255"/>
              <a:gd name="csX1" fmla="*/ 1002568 w 1198131"/>
              <a:gd name="csY1" fmla="*/ 0 h 1039255"/>
              <a:gd name="csX2" fmla="*/ 1022670 w 1198131"/>
              <a:gd name="csY2" fmla="*/ 16585 h 1039255"/>
              <a:gd name="csX3" fmla="*/ 1185961 w 1198131"/>
              <a:gd name="csY3" fmla="*/ 319456 h 1039255"/>
              <a:gd name="csX4" fmla="*/ 1198131 w 1198131"/>
              <a:gd name="csY4" fmla="*/ 440179 h 1039255"/>
              <a:gd name="csX5" fmla="*/ 1198131 w 1198131"/>
              <a:gd name="csY5" fmla="*/ 440199 h 1039255"/>
              <a:gd name="csX6" fmla="*/ 1185961 w 1198131"/>
              <a:gd name="csY6" fmla="*/ 560922 h 1039255"/>
              <a:gd name="csX7" fmla="*/ 599066 w 1198131"/>
              <a:gd name="csY7" fmla="*/ 1039255 h 1039255"/>
              <a:gd name="csX8" fmla="*/ 0 w 1198131"/>
              <a:gd name="csY8" fmla="*/ 440189 h 1039255"/>
              <a:gd name="csX9" fmla="*/ 175462 w 1198131"/>
              <a:gd name="csY9" fmla="*/ 16585 h 10392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98131" h="1039255">
                <a:moveTo>
                  <a:pt x="195564" y="0"/>
                </a:moveTo>
                <a:lnTo>
                  <a:pt x="1002568" y="0"/>
                </a:lnTo>
                <a:lnTo>
                  <a:pt x="1022670" y="16585"/>
                </a:lnTo>
                <a:cubicBezTo>
                  <a:pt x="1103977" y="97893"/>
                  <a:pt x="1162021" y="202463"/>
                  <a:pt x="1185961" y="319456"/>
                </a:cubicBezTo>
                <a:lnTo>
                  <a:pt x="1198131" y="440179"/>
                </a:lnTo>
                <a:lnTo>
                  <a:pt x="1198131" y="440199"/>
                </a:lnTo>
                <a:lnTo>
                  <a:pt x="1185961" y="560922"/>
                </a:lnTo>
                <a:cubicBezTo>
                  <a:pt x="1130100" y="833906"/>
                  <a:pt x="888564" y="1039255"/>
                  <a:pt x="599066" y="1039255"/>
                </a:cubicBezTo>
                <a:cubicBezTo>
                  <a:pt x="268211" y="1039255"/>
                  <a:pt x="0" y="771044"/>
                  <a:pt x="0" y="440189"/>
                </a:cubicBezTo>
                <a:cubicBezTo>
                  <a:pt x="0" y="274762"/>
                  <a:pt x="67053" y="124995"/>
                  <a:pt x="175462" y="16585"/>
                </a:cubicBezTo>
                <a:close/>
              </a:path>
            </a:pathLst>
          </a:custGeom>
        </p:spPr>
      </p:pic>
      <p:sp>
        <p:nvSpPr>
          <p:cNvPr id="42" name="Text 23">
            <a:extLst>
              <a:ext uri="{FF2B5EF4-FFF2-40B4-BE49-F238E27FC236}">
                <a16:creationId xmlns:a16="http://schemas.microsoft.com/office/drawing/2014/main" id="{89B9D277-C4DB-DF48-7490-AB8CC640DDE9}"/>
              </a:ext>
            </a:extLst>
          </p:cNvPr>
          <p:cNvSpPr txBox="1"/>
          <p:nvPr/>
        </p:nvSpPr>
        <p:spPr>
          <a:xfrm>
            <a:off x="4709160" y="7159752"/>
            <a:ext cx="5486400" cy="228600"/>
          </a:xfrm>
          <a:prstGeom prst="rect">
            <a:avLst/>
          </a:prstGeom>
          <a:noFill/>
          <a:ln/>
        </p:spPr>
        <p:txBody>
          <a:bodyPr wrap="square" lIns="0" tIns="0" rIns="0" bIns="0" rtlCol="0" anchor="ctr"/>
          <a:lstStyle/>
          <a:p>
            <a:pPr marL="0" indent="0">
              <a:buNone/>
            </a:pPr>
            <a:r>
              <a:rPr lang="en-US" sz="900" b="1" kern="0" spc="200" dirty="0">
                <a:solidFill>
                  <a:schemeClr val="accent1"/>
                </a:solidFill>
                <a:latin typeface="Arial" pitchFamily="34" charset="0"/>
                <a:ea typeface="Arial" pitchFamily="34" charset="-122"/>
                <a:cs typeface="Arial" pitchFamily="34" charset="-120"/>
              </a:rPr>
              <a:t>HOW MIGHT WE …</a:t>
            </a:r>
            <a:endParaRPr lang="en-US" sz="900" dirty="0"/>
          </a:p>
        </p:txBody>
      </p:sp>
      <p:sp>
        <p:nvSpPr>
          <p:cNvPr id="43" name="hmw 1">
            <a:extLst>
              <a:ext uri="{FF2B5EF4-FFF2-40B4-BE49-F238E27FC236}">
                <a16:creationId xmlns:a16="http://schemas.microsoft.com/office/drawing/2014/main" id="{0A10D795-67E2-380D-79AA-50E68B4426B0}"/>
              </a:ext>
            </a:extLst>
          </p:cNvPr>
          <p:cNvSpPr/>
          <p:nvPr/>
        </p:nvSpPr>
        <p:spPr>
          <a:xfrm>
            <a:off x="4709160" y="7434072"/>
            <a:ext cx="2194560" cy="1005840"/>
          </a:xfrm>
          <a:prstGeom prst="rect">
            <a:avLst/>
          </a:prstGeom>
          <a:solidFill>
            <a:schemeClr val="bg1"/>
          </a:solidFill>
          <a:ln w="12700">
            <a:solidFill>
              <a:srgbClr val="C9D6D0"/>
            </a:solidFill>
            <a:prstDash val="solid"/>
          </a:ln>
        </p:spPr>
        <p:txBody>
          <a:bodyPr/>
          <a:lstStyle/>
          <a:p>
            <a:endParaRPr lang="en-DE"/>
          </a:p>
        </p:txBody>
      </p:sp>
      <p:sp>
        <p:nvSpPr>
          <p:cNvPr id="44" name="Text 25">
            <a:extLst>
              <a:ext uri="{FF2B5EF4-FFF2-40B4-BE49-F238E27FC236}">
                <a16:creationId xmlns:a16="http://schemas.microsoft.com/office/drawing/2014/main" id="{3FEFD01B-4A9A-DA9B-8FCD-A5457A31639E}"/>
              </a:ext>
            </a:extLst>
          </p:cNvPr>
          <p:cNvSpPr txBox="1"/>
          <p:nvPr/>
        </p:nvSpPr>
        <p:spPr>
          <a:xfrm>
            <a:off x="4837176" y="7507224"/>
            <a:ext cx="1965960" cy="548640"/>
          </a:xfrm>
          <a:prstGeom prst="rect">
            <a:avLst/>
          </a:prstGeom>
          <a:noFill/>
          <a:ln/>
        </p:spPr>
        <p:txBody>
          <a:bodyPr wrap="square" lIns="0" tIns="0" rIns="0" bIns="0" rtlCol="0" anchor="t"/>
          <a:lstStyle/>
          <a:p>
            <a:pPr marL="0" indent="0">
              <a:buNone/>
            </a:pPr>
            <a:r>
              <a:rPr lang="en-US" sz="1150" dirty="0">
                <a:solidFill>
                  <a:schemeClr val="tx1"/>
                </a:solidFill>
                <a:latin typeface="Calibri" pitchFamily="34" charset="0"/>
                <a:ea typeface="Calibri" pitchFamily="34" charset="-122"/>
                <a:cs typeface="Calibri" pitchFamily="34" charset="-120"/>
              </a:rPr>
              <a:t>… help Lena pick the right step herself?</a:t>
            </a:r>
            <a:endParaRPr lang="en-US" sz="1150" dirty="0"/>
          </a:p>
        </p:txBody>
      </p:sp>
      <p:sp>
        <p:nvSpPr>
          <p:cNvPr id="45" name="Text 26">
            <a:extLst>
              <a:ext uri="{FF2B5EF4-FFF2-40B4-BE49-F238E27FC236}">
                <a16:creationId xmlns:a16="http://schemas.microsoft.com/office/drawing/2014/main" id="{178D97C9-5B12-C3C9-ECB2-B259EEAB3B8F}"/>
              </a:ext>
            </a:extLst>
          </p:cNvPr>
          <p:cNvSpPr txBox="1"/>
          <p:nvPr/>
        </p:nvSpPr>
        <p:spPr>
          <a:xfrm>
            <a:off x="4837176" y="8092440"/>
            <a:ext cx="1965960" cy="274320"/>
          </a:xfrm>
          <a:prstGeom prst="rect">
            <a:avLst/>
          </a:prstGeom>
          <a:noFill/>
          <a:ln/>
        </p:spPr>
        <p:txBody>
          <a:bodyPr wrap="square" lIns="0" tIns="0" rIns="0" bIns="0" rtlCol="0" anchor="ctr"/>
          <a:lstStyle/>
          <a:p>
            <a:pPr marL="0" indent="0">
              <a:buNone/>
            </a:pPr>
            <a:r>
              <a:rPr lang="en-US" sz="1150" b="1" dirty="0">
                <a:solidFill>
                  <a:schemeClr val="accent1"/>
                </a:solidFill>
                <a:latin typeface="Calibri" pitchFamily="34" charset="0"/>
                <a:ea typeface="Calibri" pitchFamily="34" charset="-122"/>
                <a:cs typeface="Calibri" pitchFamily="34" charset="-120"/>
              </a:rPr>
              <a:t>→ Training + triage</a:t>
            </a:r>
            <a:endParaRPr lang="en-US" sz="1150" dirty="0"/>
          </a:p>
        </p:txBody>
      </p:sp>
      <p:sp>
        <p:nvSpPr>
          <p:cNvPr id="46" name="hmw 2">
            <a:extLst>
              <a:ext uri="{FF2B5EF4-FFF2-40B4-BE49-F238E27FC236}">
                <a16:creationId xmlns:a16="http://schemas.microsoft.com/office/drawing/2014/main" id="{78EF5DAA-C012-BC79-BAC7-916D7EE79F79}"/>
              </a:ext>
            </a:extLst>
          </p:cNvPr>
          <p:cNvSpPr/>
          <p:nvPr/>
        </p:nvSpPr>
        <p:spPr>
          <a:xfrm>
            <a:off x="7040880" y="7434072"/>
            <a:ext cx="2194560" cy="1005840"/>
          </a:xfrm>
          <a:prstGeom prst="rect">
            <a:avLst/>
          </a:prstGeom>
          <a:solidFill>
            <a:schemeClr val="bg1"/>
          </a:solidFill>
          <a:ln w="12700">
            <a:solidFill>
              <a:srgbClr val="C9D6D0"/>
            </a:solidFill>
            <a:prstDash val="solid"/>
          </a:ln>
        </p:spPr>
        <p:txBody>
          <a:bodyPr/>
          <a:lstStyle/>
          <a:p>
            <a:endParaRPr lang="en-DE"/>
          </a:p>
        </p:txBody>
      </p:sp>
      <p:sp>
        <p:nvSpPr>
          <p:cNvPr id="47" name="Text 28">
            <a:extLst>
              <a:ext uri="{FF2B5EF4-FFF2-40B4-BE49-F238E27FC236}">
                <a16:creationId xmlns:a16="http://schemas.microsoft.com/office/drawing/2014/main" id="{90FDBF4E-7ACA-2732-13FC-5E8DFA70DBDF}"/>
              </a:ext>
            </a:extLst>
          </p:cNvPr>
          <p:cNvSpPr txBox="1"/>
          <p:nvPr/>
        </p:nvSpPr>
        <p:spPr>
          <a:xfrm>
            <a:off x="7168896" y="7507224"/>
            <a:ext cx="1965960" cy="548640"/>
          </a:xfrm>
          <a:prstGeom prst="rect">
            <a:avLst/>
          </a:prstGeom>
          <a:noFill/>
          <a:ln/>
        </p:spPr>
        <p:txBody>
          <a:bodyPr wrap="square" lIns="0" tIns="0" rIns="0" bIns="0" rtlCol="0" anchor="t"/>
          <a:lstStyle/>
          <a:p>
            <a:pPr marL="0" indent="0">
              <a:buNone/>
            </a:pPr>
            <a:r>
              <a:rPr lang="en-US" sz="1150" dirty="0">
                <a:solidFill>
                  <a:schemeClr val="tx1"/>
                </a:solidFill>
                <a:latin typeface="Calibri" pitchFamily="34" charset="0"/>
                <a:ea typeface="Calibri" pitchFamily="34" charset="-122"/>
                <a:cs typeface="Calibri" pitchFamily="34" charset="-120"/>
              </a:rPr>
              <a:t>… show her what her agents really use?</a:t>
            </a:r>
            <a:endParaRPr lang="en-US" sz="1150" dirty="0"/>
          </a:p>
        </p:txBody>
      </p:sp>
      <p:sp>
        <p:nvSpPr>
          <p:cNvPr id="48" name="Text 29">
            <a:extLst>
              <a:ext uri="{FF2B5EF4-FFF2-40B4-BE49-F238E27FC236}">
                <a16:creationId xmlns:a16="http://schemas.microsoft.com/office/drawing/2014/main" id="{B4ABF8CE-BA42-9DE8-81F4-245D5ECF0614}"/>
              </a:ext>
            </a:extLst>
          </p:cNvPr>
          <p:cNvSpPr txBox="1"/>
          <p:nvPr/>
        </p:nvSpPr>
        <p:spPr>
          <a:xfrm>
            <a:off x="7168896" y="8092440"/>
            <a:ext cx="1965960" cy="274320"/>
          </a:xfrm>
          <a:prstGeom prst="rect">
            <a:avLst/>
          </a:prstGeom>
          <a:noFill/>
          <a:ln/>
        </p:spPr>
        <p:txBody>
          <a:bodyPr wrap="square" lIns="0" tIns="0" rIns="0" bIns="0" rtlCol="0" anchor="ctr"/>
          <a:lstStyle/>
          <a:p>
            <a:pPr marL="0" indent="0">
              <a:buNone/>
            </a:pPr>
            <a:r>
              <a:rPr lang="en-US" sz="1150" b="1" dirty="0">
                <a:solidFill>
                  <a:schemeClr val="accent1"/>
                </a:solidFill>
                <a:latin typeface="Calibri" pitchFamily="34" charset="0"/>
                <a:ea typeface="Calibri" pitchFamily="34" charset="-122"/>
                <a:cs typeface="Calibri" pitchFamily="34" charset="-120"/>
              </a:rPr>
              <a:t>→ Dashboard</a:t>
            </a:r>
            <a:endParaRPr lang="en-US" sz="1150" dirty="0"/>
          </a:p>
        </p:txBody>
      </p:sp>
      <p:sp>
        <p:nvSpPr>
          <p:cNvPr id="49" name="hmw 3">
            <a:extLst>
              <a:ext uri="{FF2B5EF4-FFF2-40B4-BE49-F238E27FC236}">
                <a16:creationId xmlns:a16="http://schemas.microsoft.com/office/drawing/2014/main" id="{FB09C831-389F-32DB-EBAF-43045AA19342}"/>
              </a:ext>
            </a:extLst>
          </p:cNvPr>
          <p:cNvSpPr/>
          <p:nvPr/>
        </p:nvSpPr>
        <p:spPr>
          <a:xfrm>
            <a:off x="9372600" y="7434072"/>
            <a:ext cx="2194560" cy="1005840"/>
          </a:xfrm>
          <a:prstGeom prst="rect">
            <a:avLst/>
          </a:prstGeom>
          <a:solidFill>
            <a:schemeClr val="bg1"/>
          </a:solidFill>
          <a:ln w="12700">
            <a:solidFill>
              <a:srgbClr val="C9D6D0"/>
            </a:solidFill>
            <a:prstDash val="solid"/>
          </a:ln>
        </p:spPr>
        <p:txBody>
          <a:bodyPr/>
          <a:lstStyle/>
          <a:p>
            <a:endParaRPr lang="en-DE"/>
          </a:p>
        </p:txBody>
      </p:sp>
      <p:sp>
        <p:nvSpPr>
          <p:cNvPr id="50" name="Text 31">
            <a:extLst>
              <a:ext uri="{FF2B5EF4-FFF2-40B4-BE49-F238E27FC236}">
                <a16:creationId xmlns:a16="http://schemas.microsoft.com/office/drawing/2014/main" id="{CFCE4EED-A236-37AC-8A55-F6EC5FA5ECDA}"/>
              </a:ext>
            </a:extLst>
          </p:cNvPr>
          <p:cNvSpPr txBox="1"/>
          <p:nvPr/>
        </p:nvSpPr>
        <p:spPr>
          <a:xfrm>
            <a:off x="9500616" y="7507224"/>
            <a:ext cx="1965960" cy="548640"/>
          </a:xfrm>
          <a:prstGeom prst="rect">
            <a:avLst/>
          </a:prstGeom>
          <a:noFill/>
          <a:ln/>
        </p:spPr>
        <p:txBody>
          <a:bodyPr wrap="square" lIns="0" tIns="0" rIns="0" bIns="0" rtlCol="0" anchor="t"/>
          <a:lstStyle/>
          <a:p>
            <a:pPr marL="0" indent="0">
              <a:buNone/>
            </a:pPr>
            <a:r>
              <a:rPr lang="en-US" sz="1150" dirty="0">
                <a:solidFill>
                  <a:schemeClr val="tx1"/>
                </a:solidFill>
                <a:latin typeface="Calibri" pitchFamily="34" charset="0"/>
                <a:ea typeface="Calibri" pitchFamily="34" charset="-122"/>
                <a:cs typeface="Calibri" pitchFamily="34" charset="-120"/>
              </a:rPr>
              <a:t>… make switching to a workflow effortless?</a:t>
            </a:r>
            <a:endParaRPr lang="en-US" sz="1150" dirty="0"/>
          </a:p>
        </p:txBody>
      </p:sp>
      <p:sp>
        <p:nvSpPr>
          <p:cNvPr id="51" name="Text 32">
            <a:extLst>
              <a:ext uri="{FF2B5EF4-FFF2-40B4-BE49-F238E27FC236}">
                <a16:creationId xmlns:a16="http://schemas.microsoft.com/office/drawing/2014/main" id="{A92D7242-4C4C-D4F8-FFD0-44D79B048379}"/>
              </a:ext>
            </a:extLst>
          </p:cNvPr>
          <p:cNvSpPr txBox="1"/>
          <p:nvPr/>
        </p:nvSpPr>
        <p:spPr>
          <a:xfrm>
            <a:off x="9500616" y="8092440"/>
            <a:ext cx="1965960" cy="274320"/>
          </a:xfrm>
          <a:prstGeom prst="rect">
            <a:avLst/>
          </a:prstGeom>
          <a:noFill/>
          <a:ln/>
        </p:spPr>
        <p:txBody>
          <a:bodyPr wrap="square" lIns="0" tIns="0" rIns="0" bIns="0" rtlCol="0" anchor="ctr"/>
          <a:lstStyle/>
          <a:p>
            <a:pPr marL="0" indent="0">
              <a:buNone/>
            </a:pPr>
            <a:r>
              <a:rPr lang="en-US" sz="1150" b="1" dirty="0">
                <a:solidFill>
                  <a:schemeClr val="accent1"/>
                </a:solidFill>
                <a:latin typeface="Calibri" pitchFamily="34" charset="0"/>
                <a:ea typeface="Calibri" pitchFamily="34" charset="-122"/>
                <a:cs typeface="Calibri" pitchFamily="34" charset="-120"/>
              </a:rPr>
              <a:t>→ Guided conversion</a:t>
            </a:r>
            <a:endParaRPr lang="en-US" sz="1150" dirty="0"/>
          </a:p>
        </p:txBody>
      </p:sp>
      <p:sp>
        <p:nvSpPr>
          <p:cNvPr id="52" name="Slide Number Placeholder 0">
            <a:extLst>
              <a:ext uri="{FF2B5EF4-FFF2-40B4-BE49-F238E27FC236}">
                <a16:creationId xmlns:a16="http://schemas.microsoft.com/office/drawing/2014/main" id="{44A044A2-8E78-0776-19DA-AD841F20FD76}"/>
              </a:ext>
            </a:extLst>
          </p:cNvPr>
          <p:cNvSpPr txBox="1">
            <a:spLocks/>
          </p:cNvSpPr>
          <p:nvPr/>
        </p:nvSpPr>
        <p:spPr>
          <a:xfrm>
            <a:off x="11274552" y="8668512"/>
            <a:ext cx="365760" cy="22860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5E6E6A"/>
                </a:solidFill>
                <a:latin typeface="Calibri"/>
                <a:ea typeface="Calibri"/>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graphicFrame>
        <p:nvGraphicFramePr>
          <p:cNvPr id="42" name="thinkcell data - do not delete" hidden="1">
            <a:extLst>
              <a:ext uri="{FF2B5EF4-FFF2-40B4-BE49-F238E27FC236}">
                <a16:creationId xmlns:a16="http://schemas.microsoft.com/office/drawing/2014/main" id="{9E911CFA-A5C3-D65F-FDD1-16952D4B0647}"/>
              </a:ext>
            </a:extLst>
          </p:cNvPr>
          <p:cNvGraphicFramePr>
            <a:graphicFrameLocks/>
          </p:cNvGraphicFramePr>
          <p:nvPr>
            <p:custDataLst>
              <p:tags r:id="rId1"/>
            </p:custDataLst>
            <p:extLst>
              <p:ext uri="{D42A27DB-BD31-4B8C-83A1-F6EECF244321}">
                <p14:modId xmlns:p14="http://schemas.microsoft.com/office/powerpoint/2010/main" val="11239291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ext 0"/>
          <p:cNvSpPr>
            <a:spLocks noGrp="1"/>
          </p:cNvSpPr>
          <p:nvPr>
            <p:ph type="body" idx="100" hasCustomPrompt="1"/>
          </p:nvPr>
        </p:nvSpPr>
        <p:spPr>
          <a:xfrm>
            <a:off x="548640" y="347472"/>
            <a:ext cx="10058400" cy="274320"/>
          </a:xfrm>
          <a:prstGeom prst="rect">
            <a:avLst/>
          </a:prstGeom>
          <a:noFill/>
          <a:ln/>
        </p:spPr>
        <p:txBody>
          <a:bodyPr wrap="square" lIns="0" tIns="0" rIns="0" bIns="0" rtlCol="0"/>
          <a:lstStyle/>
          <a:p>
            <a:pPr marL="0" indent="0">
              <a:buNone/>
            </a:pPr>
            <a:r>
              <a:rPr lang="en-US" sz="1100" b="1" kern="0" spc="200" dirty="0">
                <a:solidFill>
                  <a:schemeClr val="accent1"/>
                </a:solidFill>
                <a:latin typeface="Arial" pitchFamily="34" charset="0"/>
                <a:ea typeface="Arial" pitchFamily="34" charset="-122"/>
                <a:cs typeface="Arial" pitchFamily="34" charset="-120"/>
              </a:rPr>
              <a:t>① DESIRABILITY  ·  PERSONA &amp; POINT OF VIEW</a:t>
            </a:r>
            <a:endParaRPr lang="en-US" sz="1100" dirty="0"/>
          </a:p>
        </p:txBody>
      </p:sp>
      <p:sp>
        <p:nvSpPr>
          <p:cNvPr id="3" name="Text 0"/>
          <p:cNvSpPr>
            <a:spLocks noGrp="1"/>
          </p:cNvSpPr>
          <p:nvPr>
            <p:ph type="title" idx="101" hasCustomPrompt="1"/>
          </p:nvPr>
        </p:nvSpPr>
        <p:spPr>
          <a:xfrm>
            <a:off x="548640" y="640080"/>
            <a:ext cx="11064240" cy="685800"/>
          </a:xfrm>
          <a:prstGeom prst="rect">
            <a:avLst/>
          </a:prstGeom>
          <a:noFill/>
          <a:ln/>
        </p:spPr>
        <p:txBody>
          <a:bodyPr vert="horz" wrap="square" lIns="0" tIns="0" rIns="0" bIns="0" rtlCol="0" anchor="t"/>
          <a:lstStyle/>
          <a:p>
            <a:pPr marL="0" indent="0" algn="l">
              <a:buNone/>
            </a:pPr>
            <a:r>
              <a:rPr lang="en-US" sz="2600" b="1" dirty="0">
                <a:solidFill>
                  <a:schemeClr val="tx1"/>
                </a:solidFill>
                <a:latin typeface="Arial" pitchFamily="34" charset="0"/>
                <a:ea typeface="Arial" pitchFamily="34" charset="-122"/>
                <a:cs typeface="Arial" pitchFamily="34" charset="-120"/>
              </a:rPr>
              <a:t>Meet Lena: she builds her own automations</a:t>
            </a:r>
            <a:endParaRPr lang="en-US" sz="2600" dirty="0"/>
          </a:p>
        </p:txBody>
      </p:sp>
      <p:sp>
        <p:nvSpPr>
          <p:cNvPr id="4" name="persona card"/>
          <p:cNvSpPr/>
          <p:nvPr/>
        </p:nvSpPr>
        <p:spPr>
          <a:xfrm>
            <a:off x="548640" y="1508760"/>
            <a:ext cx="3931920" cy="4709160"/>
          </a:xfrm>
          <a:prstGeom prst="rect">
            <a:avLst/>
          </a:prstGeom>
          <a:solidFill>
            <a:schemeClr val="tx2"/>
          </a:solidFill>
          <a:ln w="12700">
            <a:solidFill>
              <a:schemeClr val="tx2"/>
            </a:solidFill>
            <a:prstDash val="solid"/>
          </a:ln>
        </p:spPr>
        <p:txBody>
          <a:bodyPr/>
          <a:lstStyle/>
          <a:p>
            <a:endParaRPr lang="en-DE"/>
          </a:p>
        </p:txBody>
      </p:sp>
      <p:sp>
        <p:nvSpPr>
          <p:cNvPr id="5" name="Shape 3"/>
          <p:cNvSpPr/>
          <p:nvPr/>
        </p:nvSpPr>
        <p:spPr>
          <a:xfrm>
            <a:off x="777240" y="1737360"/>
            <a:ext cx="868680" cy="868680"/>
          </a:xfrm>
          <a:prstGeom prst="ellipse">
            <a:avLst/>
          </a:prstGeom>
          <a:solidFill>
            <a:schemeClr val="accent1"/>
          </a:solidFill>
          <a:ln w="25400">
            <a:solidFill>
              <a:schemeClr val="accent2"/>
            </a:solidFill>
            <a:prstDash val="solid"/>
          </a:ln>
        </p:spPr>
        <p:txBody>
          <a:bodyPr/>
          <a:lstStyle/>
          <a:p>
            <a:endParaRPr lang="en-DE"/>
          </a:p>
        </p:txBody>
      </p:sp>
      <p:sp>
        <p:nvSpPr>
          <p:cNvPr id="7" name="Text 4"/>
          <p:cNvSpPr txBox="1"/>
          <p:nvPr/>
        </p:nvSpPr>
        <p:spPr>
          <a:xfrm>
            <a:off x="1828800" y="1783080"/>
            <a:ext cx="2560320" cy="365760"/>
          </a:xfrm>
          <a:prstGeom prst="rect">
            <a:avLst/>
          </a:prstGeom>
          <a:noFill/>
          <a:ln/>
        </p:spPr>
        <p:txBody>
          <a:bodyPr wrap="square" lIns="0" tIns="0" rIns="0" bIns="0" rtlCol="0" anchor="ctr"/>
          <a:lstStyle/>
          <a:p>
            <a:pPr marL="0" indent="0">
              <a:buNone/>
            </a:pPr>
            <a:r>
              <a:rPr lang="en-US" sz="2000" b="1" dirty="0">
                <a:solidFill>
                  <a:schemeClr val="bg1"/>
                </a:solidFill>
                <a:latin typeface="Arial" pitchFamily="34" charset="0"/>
                <a:ea typeface="Arial" pitchFamily="34" charset="-122"/>
                <a:cs typeface="Arial" pitchFamily="34" charset="-120"/>
              </a:rPr>
              <a:t>Lena, 38</a:t>
            </a:r>
            <a:endParaRPr lang="en-US" sz="2000" dirty="0"/>
          </a:p>
        </p:txBody>
      </p:sp>
      <p:sp>
        <p:nvSpPr>
          <p:cNvPr id="8" name="Text 5"/>
          <p:cNvSpPr txBox="1"/>
          <p:nvPr/>
        </p:nvSpPr>
        <p:spPr>
          <a:xfrm>
            <a:off x="1828800" y="2148840"/>
            <a:ext cx="2560320" cy="457200"/>
          </a:xfrm>
          <a:prstGeom prst="rect">
            <a:avLst/>
          </a:prstGeom>
          <a:noFill/>
          <a:ln/>
        </p:spPr>
        <p:txBody>
          <a:bodyPr wrap="square" lIns="0" tIns="0" rIns="0" bIns="0" rtlCol="0" anchor="t"/>
          <a:lstStyle/>
          <a:p>
            <a:pPr marL="0" indent="0">
              <a:buNone/>
            </a:pPr>
            <a:r>
              <a:rPr lang="en-US" sz="1200" dirty="0">
                <a:solidFill>
                  <a:schemeClr val="bg2"/>
                </a:solidFill>
                <a:latin typeface="Calibri" pitchFamily="34" charset="0"/>
                <a:ea typeface="Calibri" pitchFamily="34" charset="-122"/>
                <a:cs typeface="Calibri" pitchFamily="34" charset="-120"/>
              </a:rPr>
              <a:t>Recruiting Operations Lead, SAP HR</a:t>
            </a:r>
            <a:endParaRPr lang="en-US" sz="1200" dirty="0"/>
          </a:p>
        </p:txBody>
      </p:sp>
      <p:sp>
        <p:nvSpPr>
          <p:cNvPr id="9" name="Text 6"/>
          <p:cNvSpPr txBox="1"/>
          <p:nvPr/>
        </p:nvSpPr>
        <p:spPr>
          <a:xfrm>
            <a:off x="777240" y="2788920"/>
            <a:ext cx="3520440" cy="777240"/>
          </a:xfrm>
          <a:prstGeom prst="rect">
            <a:avLst/>
          </a:prstGeom>
          <a:noFill/>
          <a:ln/>
        </p:spPr>
        <p:txBody>
          <a:bodyPr wrap="square" lIns="0" tIns="0" rIns="0" bIns="0" rtlCol="0" anchor="t"/>
          <a:lstStyle/>
          <a:p>
            <a:pPr marL="0" indent="0">
              <a:buNone/>
            </a:pPr>
            <a:r>
              <a:rPr lang="en-US" sz="1400" i="1" dirty="0">
                <a:solidFill>
                  <a:schemeClr val="accent2"/>
                </a:solidFill>
                <a:latin typeface="Calibri" pitchFamily="34" charset="0"/>
                <a:ea typeface="Calibri" pitchFamily="34" charset="-122"/>
                <a:cs typeface="Calibri" pitchFamily="34" charset="-120"/>
              </a:rPr>
              <a:t>“I built agents for everything. Nobody tells me whether they still need to be agents.”</a:t>
            </a:r>
            <a:endParaRPr lang="en-US" sz="1400" dirty="0"/>
          </a:p>
        </p:txBody>
      </p:sp>
      <p:sp>
        <p:nvSpPr>
          <p:cNvPr id="10" name="Text 7"/>
          <p:cNvSpPr txBox="1"/>
          <p:nvPr/>
        </p:nvSpPr>
        <p:spPr>
          <a:xfrm>
            <a:off x="777240" y="3657600"/>
            <a:ext cx="3520440" cy="21031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bg1"/>
                </a:solidFill>
                <a:latin typeface="Calibri" pitchFamily="34" charset="0"/>
                <a:ea typeface="Calibri" pitchFamily="34" charset="-122"/>
                <a:cs typeface="Calibri" pitchFamily="34" charset="-120"/>
              </a:rPr>
              <a:t>Runs high-volume recruiting admin: status updates, document checks, interview scheduling, offer letters</a:t>
            </a:r>
            <a:endParaRPr lang="en-US" sz="1200" dirty="0"/>
          </a:p>
          <a:p>
            <a:pPr marL="342900" indent="-342900">
              <a:spcAft>
                <a:spcPts val="500"/>
              </a:spcAft>
              <a:buSzPct val="100000"/>
              <a:buChar char="•"/>
            </a:pPr>
            <a:r>
              <a:rPr lang="en-US" sz="1200" dirty="0">
                <a:solidFill>
                  <a:schemeClr val="bg1"/>
                </a:solidFill>
                <a:latin typeface="Calibri" pitchFamily="34" charset="0"/>
                <a:ea typeface="Calibri" pitchFamily="34" charset="-122"/>
                <a:cs typeface="Calibri" pitchFamily="34" charset="-120"/>
              </a:rPr>
              <a:t>Builds her own automations on SAP’s low-code platform – agents included</a:t>
            </a:r>
            <a:endParaRPr lang="en-US" sz="1200" dirty="0"/>
          </a:p>
          <a:p>
            <a:pPr marL="342900" indent="-342900">
              <a:spcAft>
                <a:spcPts val="500"/>
              </a:spcAft>
              <a:buSzPct val="100000"/>
              <a:buChar char="•"/>
            </a:pPr>
            <a:r>
              <a:rPr lang="en-US" sz="1200" dirty="0">
                <a:solidFill>
                  <a:schemeClr val="bg1"/>
                </a:solidFill>
                <a:latin typeface="Calibri" pitchFamily="34" charset="0"/>
                <a:ea typeface="Calibri" pitchFamily="34" charset="-122"/>
                <a:cs typeface="Calibri" pitchFamily="34" charset="-120"/>
              </a:rPr>
              <a:t>Was trained on the tool, never on when to use which step</a:t>
            </a:r>
            <a:endParaRPr lang="en-US" sz="1200" dirty="0"/>
          </a:p>
          <a:p>
            <a:pPr marL="342900" indent="-342900">
              <a:buSzPct val="100000"/>
              <a:buChar char="•"/>
            </a:pPr>
            <a:r>
              <a:rPr lang="en-US" sz="1200" dirty="0">
                <a:solidFill>
                  <a:schemeClr val="bg1"/>
                </a:solidFill>
                <a:latin typeface="Calibri" pitchFamily="34" charset="0"/>
                <a:ea typeface="Calibri" pitchFamily="34" charset="-122"/>
                <a:cs typeface="Calibri" pitchFamily="34" charset="-120"/>
              </a:rPr>
              <a:t>Owns her automations end to end – nobody else reviews them</a:t>
            </a:r>
            <a:endParaRPr lang="en-US" sz="1200" dirty="0"/>
          </a:p>
        </p:txBody>
      </p:sp>
      <p:sp>
        <p:nvSpPr>
          <p:cNvPr id="11" name="Text 8"/>
          <p:cNvSpPr txBox="1"/>
          <p:nvPr/>
        </p:nvSpPr>
        <p:spPr>
          <a:xfrm>
            <a:off x="777240" y="5870448"/>
            <a:ext cx="3520440" cy="228600"/>
          </a:xfrm>
          <a:prstGeom prst="rect">
            <a:avLst/>
          </a:prstGeom>
          <a:noFill/>
          <a:ln/>
        </p:spPr>
        <p:txBody>
          <a:bodyPr wrap="square" lIns="0" tIns="0" rIns="0" bIns="0" rtlCol="0" anchor="ctr"/>
          <a:lstStyle/>
          <a:p>
            <a:pPr marL="0" indent="0">
              <a:buNone/>
            </a:pPr>
            <a:r>
              <a:rPr lang="en-US" sz="900" i="1" dirty="0">
                <a:solidFill>
                  <a:srgbClr val="9FB8AF"/>
                </a:solidFill>
                <a:latin typeface="Calibri" pitchFamily="34" charset="0"/>
                <a:ea typeface="Calibri" pitchFamily="34" charset="-122"/>
                <a:cs typeface="Calibri" pitchFamily="34" charset="-120"/>
              </a:rPr>
              <a:t>Working persona – hypothesis to validate</a:t>
            </a:r>
            <a:endParaRPr lang="en-US" sz="900" dirty="0"/>
          </a:p>
        </p:txBody>
      </p:sp>
      <p:sp>
        <p:nvSpPr>
          <p:cNvPr id="12" name="persona Goals"/>
          <p:cNvSpPr/>
          <p:nvPr/>
        </p:nvSpPr>
        <p:spPr>
          <a:xfrm>
            <a:off x="4709160" y="1508760"/>
            <a:ext cx="3383280" cy="914400"/>
          </a:xfrm>
          <a:prstGeom prst="rect">
            <a:avLst/>
          </a:prstGeom>
          <a:solidFill>
            <a:srgbClr val="F4F7F5"/>
          </a:solidFill>
          <a:ln w="12700">
            <a:solidFill>
              <a:srgbClr val="F4F7F5"/>
            </a:solidFill>
            <a:prstDash val="solid"/>
          </a:ln>
        </p:spPr>
        <p:txBody>
          <a:bodyPr/>
          <a:lstStyle/>
          <a:p>
            <a:endParaRPr lang="en-DE"/>
          </a:p>
        </p:txBody>
      </p:sp>
      <p:sp>
        <p:nvSpPr>
          <p:cNvPr id="13" name="Text 10"/>
          <p:cNvSpPr txBox="1"/>
          <p:nvPr/>
        </p:nvSpPr>
        <p:spPr>
          <a:xfrm>
            <a:off x="4873752" y="1618488"/>
            <a:ext cx="3017520" cy="228600"/>
          </a:xfrm>
          <a:prstGeom prst="rect">
            <a:avLst/>
          </a:prstGeom>
          <a:noFill/>
          <a:ln/>
        </p:spPr>
        <p:txBody>
          <a:bodyPr wrap="square" lIns="0" tIns="0" rIns="0" bIns="0" rtlCol="0" anchor="ctr"/>
          <a:lstStyle/>
          <a:p>
            <a:pPr marL="0" indent="0">
              <a:buNone/>
            </a:pPr>
            <a:r>
              <a:rPr lang="en-US" sz="900" b="1" kern="0" spc="200" dirty="0">
                <a:solidFill>
                  <a:schemeClr val="accent1"/>
                </a:solidFill>
                <a:latin typeface="Arial" pitchFamily="34" charset="0"/>
                <a:ea typeface="Arial" pitchFamily="34" charset="-122"/>
                <a:cs typeface="Arial" pitchFamily="34" charset="-120"/>
              </a:rPr>
              <a:t>GOALS</a:t>
            </a:r>
            <a:endParaRPr lang="en-US" sz="900" dirty="0"/>
          </a:p>
        </p:txBody>
      </p:sp>
      <p:sp>
        <p:nvSpPr>
          <p:cNvPr id="14" name="Text 11"/>
          <p:cNvSpPr txBox="1"/>
          <p:nvPr/>
        </p:nvSpPr>
        <p:spPr>
          <a:xfrm>
            <a:off x="4873752" y="1856232"/>
            <a:ext cx="3063240" cy="530352"/>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Less manual admin for her team, faster hiring, show that recruiting innovates</a:t>
            </a:r>
            <a:endParaRPr lang="en-US" sz="1200" dirty="0"/>
          </a:p>
        </p:txBody>
      </p:sp>
      <p:sp>
        <p:nvSpPr>
          <p:cNvPr id="15" name="persona Pains"/>
          <p:cNvSpPr/>
          <p:nvPr/>
        </p:nvSpPr>
        <p:spPr>
          <a:xfrm>
            <a:off x="8229600" y="1508760"/>
            <a:ext cx="3383280" cy="914400"/>
          </a:xfrm>
          <a:prstGeom prst="rect">
            <a:avLst/>
          </a:prstGeom>
          <a:solidFill>
            <a:srgbClr val="F4F7F5"/>
          </a:solidFill>
          <a:ln w="12700">
            <a:solidFill>
              <a:srgbClr val="F4F7F5"/>
            </a:solidFill>
            <a:prstDash val="solid"/>
          </a:ln>
        </p:spPr>
        <p:txBody>
          <a:bodyPr/>
          <a:lstStyle/>
          <a:p>
            <a:endParaRPr lang="en-DE"/>
          </a:p>
        </p:txBody>
      </p:sp>
      <p:sp>
        <p:nvSpPr>
          <p:cNvPr id="16" name="Text 13"/>
          <p:cNvSpPr txBox="1"/>
          <p:nvPr/>
        </p:nvSpPr>
        <p:spPr>
          <a:xfrm>
            <a:off x="8394192" y="1618488"/>
            <a:ext cx="3017520" cy="228600"/>
          </a:xfrm>
          <a:prstGeom prst="rect">
            <a:avLst/>
          </a:prstGeom>
          <a:noFill/>
          <a:ln/>
        </p:spPr>
        <p:txBody>
          <a:bodyPr wrap="square" lIns="0" tIns="0" rIns="0" bIns="0" rtlCol="0" anchor="ctr"/>
          <a:lstStyle/>
          <a:p>
            <a:pPr marL="0" indent="0">
              <a:buNone/>
            </a:pPr>
            <a:r>
              <a:rPr lang="en-US" sz="900" b="1" kern="0" spc="200" dirty="0">
                <a:solidFill>
                  <a:schemeClr val="accent1"/>
                </a:solidFill>
                <a:latin typeface="Arial" pitchFamily="34" charset="0"/>
                <a:ea typeface="Arial" pitchFamily="34" charset="-122"/>
                <a:cs typeface="Arial" pitchFamily="34" charset="-120"/>
              </a:rPr>
              <a:t>PAINS</a:t>
            </a:r>
            <a:endParaRPr lang="en-US" sz="900" dirty="0"/>
          </a:p>
        </p:txBody>
      </p:sp>
      <p:sp>
        <p:nvSpPr>
          <p:cNvPr id="17" name="Text 14"/>
          <p:cNvSpPr txBox="1"/>
          <p:nvPr/>
        </p:nvSpPr>
        <p:spPr>
          <a:xfrm>
            <a:off x="8394192" y="1856232"/>
            <a:ext cx="3063240" cy="530352"/>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No guidance on which step fits; no time to rebuild what already runs</a:t>
            </a:r>
            <a:endParaRPr lang="en-US" sz="1200" dirty="0"/>
          </a:p>
        </p:txBody>
      </p:sp>
      <p:sp>
        <p:nvSpPr>
          <p:cNvPr id="18" name="persona Behaviour"/>
          <p:cNvSpPr/>
          <p:nvPr/>
        </p:nvSpPr>
        <p:spPr>
          <a:xfrm>
            <a:off x="4709160" y="2532888"/>
            <a:ext cx="3383280" cy="914400"/>
          </a:xfrm>
          <a:prstGeom prst="rect">
            <a:avLst/>
          </a:prstGeom>
          <a:solidFill>
            <a:srgbClr val="F4F7F5"/>
          </a:solidFill>
          <a:ln w="12700">
            <a:solidFill>
              <a:srgbClr val="F4F7F5"/>
            </a:solidFill>
            <a:prstDash val="solid"/>
          </a:ln>
        </p:spPr>
        <p:txBody>
          <a:bodyPr/>
          <a:lstStyle/>
          <a:p>
            <a:endParaRPr lang="en-DE"/>
          </a:p>
        </p:txBody>
      </p:sp>
      <p:sp>
        <p:nvSpPr>
          <p:cNvPr id="19" name="Text 16"/>
          <p:cNvSpPr txBox="1"/>
          <p:nvPr/>
        </p:nvSpPr>
        <p:spPr>
          <a:xfrm>
            <a:off x="4873752" y="2642616"/>
            <a:ext cx="3017520" cy="228600"/>
          </a:xfrm>
          <a:prstGeom prst="rect">
            <a:avLst/>
          </a:prstGeom>
          <a:noFill/>
          <a:ln/>
        </p:spPr>
        <p:txBody>
          <a:bodyPr wrap="square" lIns="0" tIns="0" rIns="0" bIns="0" rtlCol="0" anchor="ctr"/>
          <a:lstStyle/>
          <a:p>
            <a:pPr marL="0" indent="0">
              <a:buNone/>
            </a:pPr>
            <a:r>
              <a:rPr lang="en-US" sz="900" b="1" kern="0" spc="200" dirty="0">
                <a:solidFill>
                  <a:schemeClr val="accent1"/>
                </a:solidFill>
                <a:latin typeface="Arial" pitchFamily="34" charset="0"/>
                <a:ea typeface="Arial" pitchFamily="34" charset="-122"/>
                <a:cs typeface="Arial" pitchFamily="34" charset="-120"/>
              </a:rPr>
              <a:t>BEHAVIOUR</a:t>
            </a:r>
            <a:endParaRPr lang="en-US" sz="900" dirty="0"/>
          </a:p>
        </p:txBody>
      </p:sp>
      <p:sp>
        <p:nvSpPr>
          <p:cNvPr id="20" name="Text 17"/>
          <p:cNvSpPr txBox="1"/>
          <p:nvPr/>
        </p:nvSpPr>
        <p:spPr>
          <a:xfrm>
            <a:off x="4873752" y="2880360"/>
            <a:ext cx="3063240" cy="530352"/>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Reaches for an agent by default – “everyone is building agents”</a:t>
            </a:r>
            <a:endParaRPr lang="en-US" sz="1200" dirty="0"/>
          </a:p>
        </p:txBody>
      </p:sp>
      <p:sp>
        <p:nvSpPr>
          <p:cNvPr id="21" name="persona Blind spot"/>
          <p:cNvSpPr/>
          <p:nvPr/>
        </p:nvSpPr>
        <p:spPr>
          <a:xfrm>
            <a:off x="8229600" y="2532888"/>
            <a:ext cx="3383280" cy="914400"/>
          </a:xfrm>
          <a:prstGeom prst="rect">
            <a:avLst/>
          </a:prstGeom>
          <a:solidFill>
            <a:srgbClr val="FDECEC"/>
          </a:solidFill>
          <a:ln w="12700">
            <a:solidFill>
              <a:srgbClr val="FDECEC"/>
            </a:solidFill>
            <a:prstDash val="solid"/>
          </a:ln>
        </p:spPr>
        <p:txBody>
          <a:bodyPr/>
          <a:lstStyle/>
          <a:p>
            <a:endParaRPr lang="en-DE"/>
          </a:p>
        </p:txBody>
      </p:sp>
      <p:sp>
        <p:nvSpPr>
          <p:cNvPr id="22" name="Text 19"/>
          <p:cNvSpPr txBox="1"/>
          <p:nvPr/>
        </p:nvSpPr>
        <p:spPr>
          <a:xfrm>
            <a:off x="8394192" y="2642616"/>
            <a:ext cx="3017520" cy="228600"/>
          </a:xfrm>
          <a:prstGeom prst="rect">
            <a:avLst/>
          </a:prstGeom>
          <a:noFill/>
          <a:ln/>
        </p:spPr>
        <p:txBody>
          <a:bodyPr wrap="square" lIns="0" tIns="0" rIns="0" bIns="0" rtlCol="0" anchor="ctr"/>
          <a:lstStyle/>
          <a:p>
            <a:pPr marL="0" indent="0">
              <a:buNone/>
            </a:pPr>
            <a:r>
              <a:rPr lang="en-US" sz="900" b="1" kern="0" spc="200" dirty="0">
                <a:solidFill>
                  <a:schemeClr val="accent6"/>
                </a:solidFill>
                <a:latin typeface="Arial" pitchFamily="34" charset="0"/>
                <a:ea typeface="Arial" pitchFamily="34" charset="-122"/>
                <a:cs typeface="Arial" pitchFamily="34" charset="-120"/>
              </a:rPr>
              <a:t>BLIND SPOT</a:t>
            </a:r>
            <a:endParaRPr lang="en-US" sz="900" dirty="0"/>
          </a:p>
        </p:txBody>
      </p:sp>
      <p:sp>
        <p:nvSpPr>
          <p:cNvPr id="23" name="Text 20"/>
          <p:cNvSpPr txBox="1"/>
          <p:nvPr/>
        </p:nvSpPr>
        <p:spPr>
          <a:xfrm>
            <a:off x="8394192" y="2880360"/>
            <a:ext cx="3063240" cy="530352"/>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Never sees what her agents consume, and has no reason to choose lean</a:t>
            </a:r>
            <a:endParaRPr lang="en-US" sz="1200" dirty="0"/>
          </a:p>
        </p:txBody>
      </p:sp>
      <p:sp>
        <p:nvSpPr>
          <p:cNvPr id="24" name="Text 21"/>
          <p:cNvSpPr txBox="1"/>
          <p:nvPr/>
        </p:nvSpPr>
        <p:spPr>
          <a:xfrm>
            <a:off x="4709160" y="3703320"/>
            <a:ext cx="5486400" cy="228600"/>
          </a:xfrm>
          <a:prstGeom prst="rect">
            <a:avLst/>
          </a:prstGeom>
          <a:noFill/>
          <a:ln/>
        </p:spPr>
        <p:txBody>
          <a:bodyPr wrap="square" lIns="0" tIns="0" rIns="0" bIns="0" rtlCol="0" anchor="ctr"/>
          <a:lstStyle/>
          <a:p>
            <a:pPr marL="0" indent="0">
              <a:buNone/>
            </a:pPr>
            <a:r>
              <a:rPr lang="en-US" sz="900" b="1" kern="0" spc="200" dirty="0">
                <a:solidFill>
                  <a:schemeClr val="accent1"/>
                </a:solidFill>
                <a:latin typeface="Arial" pitchFamily="34" charset="0"/>
                <a:ea typeface="Arial" pitchFamily="34" charset="-122"/>
                <a:cs typeface="Arial" pitchFamily="34" charset="-120"/>
              </a:rPr>
              <a:t>POINT OF VIEW</a:t>
            </a:r>
            <a:endParaRPr lang="en-US" sz="900" dirty="0"/>
          </a:p>
        </p:txBody>
      </p:sp>
      <p:sp>
        <p:nvSpPr>
          <p:cNvPr id="25" name="Text 22"/>
          <p:cNvSpPr txBox="1"/>
          <p:nvPr/>
        </p:nvSpPr>
        <p:spPr>
          <a:xfrm>
            <a:off x="4709160" y="3977640"/>
            <a:ext cx="6903720" cy="82296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Lena, </a:t>
            </a:r>
            <a:r>
              <a:rPr lang="en-US" sz="1400" dirty="0">
                <a:solidFill>
                  <a:schemeClr val="tx1"/>
                </a:solidFill>
                <a:latin typeface="Calibri" pitchFamily="34" charset="0"/>
                <a:ea typeface="Calibri" pitchFamily="34" charset="-122"/>
                <a:cs typeface="Calibri" pitchFamily="34" charset="-120"/>
              </a:rPr>
              <a:t>a process owner who builds her own automations, </a:t>
            </a:r>
            <a:r>
              <a:rPr lang="en-US" sz="1400" b="1" dirty="0">
                <a:solidFill>
                  <a:schemeClr val="tx1"/>
                </a:solidFill>
                <a:latin typeface="Calibri" pitchFamily="34" charset="0"/>
                <a:ea typeface="Calibri" pitchFamily="34" charset="-122"/>
                <a:cs typeface="Calibri" pitchFamily="34" charset="-120"/>
              </a:rPr>
              <a:t>needs </a:t>
            </a:r>
            <a:r>
              <a:rPr lang="en-US" sz="1400" dirty="0">
                <a:solidFill>
                  <a:schemeClr val="tx1"/>
                </a:solidFill>
                <a:latin typeface="Calibri" pitchFamily="34" charset="0"/>
                <a:ea typeface="Calibri" pitchFamily="34" charset="-122"/>
                <a:cs typeface="Calibri" pitchFamily="34" charset="-120"/>
              </a:rPr>
              <a:t>a simple way to choose and keep the leanest automation that does the job, </a:t>
            </a:r>
            <a:r>
              <a:rPr lang="en-US" sz="1400" b="1" dirty="0">
                <a:solidFill>
                  <a:schemeClr val="tx1"/>
                </a:solidFill>
                <a:latin typeface="Calibri" pitchFamily="34" charset="0"/>
                <a:ea typeface="Calibri" pitchFamily="34" charset="-122"/>
                <a:cs typeface="Calibri" pitchFamily="34" charset="-120"/>
              </a:rPr>
              <a:t>because </a:t>
            </a:r>
            <a:r>
              <a:rPr lang="en-US" sz="1400" dirty="0">
                <a:solidFill>
                  <a:schemeClr val="tx1"/>
                </a:solidFill>
                <a:latin typeface="Calibri" pitchFamily="34" charset="0"/>
                <a:ea typeface="Calibri" pitchFamily="34" charset="-122"/>
                <a:cs typeface="Calibri" pitchFamily="34" charset="-120"/>
              </a:rPr>
              <a:t>no one else checks it – and without guidance, visibility and a reason, she defaults to agents.</a:t>
            </a:r>
            <a:endParaRPr lang="en-US" sz="1400" dirty="0"/>
          </a:p>
        </p:txBody>
      </p:sp>
      <p:sp>
        <p:nvSpPr>
          <p:cNvPr id="26" name="Text 23"/>
          <p:cNvSpPr txBox="1"/>
          <p:nvPr/>
        </p:nvSpPr>
        <p:spPr>
          <a:xfrm>
            <a:off x="4709160" y="4937760"/>
            <a:ext cx="5486400" cy="228600"/>
          </a:xfrm>
          <a:prstGeom prst="rect">
            <a:avLst/>
          </a:prstGeom>
          <a:noFill/>
          <a:ln/>
        </p:spPr>
        <p:txBody>
          <a:bodyPr wrap="square" lIns="0" tIns="0" rIns="0" bIns="0" rtlCol="0" anchor="ctr"/>
          <a:lstStyle/>
          <a:p>
            <a:pPr marL="0" indent="0">
              <a:buNone/>
            </a:pPr>
            <a:r>
              <a:rPr lang="en-US" sz="900" b="1" kern="0" spc="200" dirty="0">
                <a:solidFill>
                  <a:schemeClr val="accent1"/>
                </a:solidFill>
                <a:latin typeface="Arial" pitchFamily="34" charset="0"/>
                <a:ea typeface="Arial" pitchFamily="34" charset="-122"/>
                <a:cs typeface="Arial" pitchFamily="34" charset="-120"/>
              </a:rPr>
              <a:t>HOW MIGHT WE …</a:t>
            </a:r>
            <a:endParaRPr lang="en-US" sz="900" dirty="0"/>
          </a:p>
        </p:txBody>
      </p:sp>
      <p:sp>
        <p:nvSpPr>
          <p:cNvPr id="27" name="hmw 1"/>
          <p:cNvSpPr/>
          <p:nvPr/>
        </p:nvSpPr>
        <p:spPr>
          <a:xfrm>
            <a:off x="4709160" y="5212080"/>
            <a:ext cx="2194560" cy="1005840"/>
          </a:xfrm>
          <a:prstGeom prst="rect">
            <a:avLst/>
          </a:prstGeom>
          <a:solidFill>
            <a:schemeClr val="bg1"/>
          </a:solidFill>
          <a:ln w="12700">
            <a:solidFill>
              <a:srgbClr val="C9D6D0"/>
            </a:solidFill>
            <a:prstDash val="solid"/>
          </a:ln>
        </p:spPr>
        <p:txBody>
          <a:bodyPr/>
          <a:lstStyle/>
          <a:p>
            <a:endParaRPr lang="en-DE"/>
          </a:p>
        </p:txBody>
      </p:sp>
      <p:sp>
        <p:nvSpPr>
          <p:cNvPr id="28" name="Text 25"/>
          <p:cNvSpPr txBox="1"/>
          <p:nvPr/>
        </p:nvSpPr>
        <p:spPr>
          <a:xfrm>
            <a:off x="4837176" y="5285232"/>
            <a:ext cx="1965960" cy="548640"/>
          </a:xfrm>
          <a:prstGeom prst="rect">
            <a:avLst/>
          </a:prstGeom>
          <a:noFill/>
          <a:ln/>
        </p:spPr>
        <p:txBody>
          <a:bodyPr wrap="square" lIns="0" tIns="0" rIns="0" bIns="0" rtlCol="0" anchor="t"/>
          <a:lstStyle/>
          <a:p>
            <a:pPr marL="0" indent="0">
              <a:buNone/>
            </a:pPr>
            <a:r>
              <a:rPr lang="en-US" sz="1150" dirty="0">
                <a:solidFill>
                  <a:schemeClr val="tx1"/>
                </a:solidFill>
                <a:latin typeface="Calibri" pitchFamily="34" charset="0"/>
                <a:ea typeface="Calibri" pitchFamily="34" charset="-122"/>
                <a:cs typeface="Calibri" pitchFamily="34" charset="-120"/>
              </a:rPr>
              <a:t>… help Lena pick the right step herself?</a:t>
            </a:r>
            <a:endParaRPr lang="en-US" sz="1150" dirty="0"/>
          </a:p>
        </p:txBody>
      </p:sp>
      <p:sp>
        <p:nvSpPr>
          <p:cNvPr id="29" name="Text 26"/>
          <p:cNvSpPr txBox="1"/>
          <p:nvPr/>
        </p:nvSpPr>
        <p:spPr>
          <a:xfrm>
            <a:off x="4837176" y="5870448"/>
            <a:ext cx="1965960" cy="274320"/>
          </a:xfrm>
          <a:prstGeom prst="rect">
            <a:avLst/>
          </a:prstGeom>
          <a:noFill/>
          <a:ln/>
        </p:spPr>
        <p:txBody>
          <a:bodyPr wrap="square" lIns="0" tIns="0" rIns="0" bIns="0" rtlCol="0" anchor="ctr"/>
          <a:lstStyle/>
          <a:p>
            <a:pPr marL="0" indent="0">
              <a:buNone/>
            </a:pPr>
            <a:r>
              <a:rPr lang="en-US" sz="1150" b="1" dirty="0">
                <a:solidFill>
                  <a:schemeClr val="accent1"/>
                </a:solidFill>
                <a:latin typeface="Calibri" pitchFamily="34" charset="0"/>
                <a:ea typeface="Calibri" pitchFamily="34" charset="-122"/>
                <a:cs typeface="Calibri" pitchFamily="34" charset="-120"/>
              </a:rPr>
              <a:t>→ Training + triage</a:t>
            </a:r>
            <a:endParaRPr lang="en-US" sz="1150" dirty="0"/>
          </a:p>
        </p:txBody>
      </p:sp>
      <p:sp>
        <p:nvSpPr>
          <p:cNvPr id="30" name="hmw 2"/>
          <p:cNvSpPr/>
          <p:nvPr/>
        </p:nvSpPr>
        <p:spPr>
          <a:xfrm>
            <a:off x="7040880" y="5212080"/>
            <a:ext cx="2194560" cy="1005840"/>
          </a:xfrm>
          <a:prstGeom prst="rect">
            <a:avLst/>
          </a:prstGeom>
          <a:solidFill>
            <a:schemeClr val="bg1"/>
          </a:solidFill>
          <a:ln w="12700">
            <a:solidFill>
              <a:srgbClr val="C9D6D0"/>
            </a:solidFill>
            <a:prstDash val="solid"/>
          </a:ln>
        </p:spPr>
        <p:txBody>
          <a:bodyPr/>
          <a:lstStyle/>
          <a:p>
            <a:endParaRPr lang="en-DE"/>
          </a:p>
        </p:txBody>
      </p:sp>
      <p:sp>
        <p:nvSpPr>
          <p:cNvPr id="31" name="Text 28"/>
          <p:cNvSpPr txBox="1"/>
          <p:nvPr/>
        </p:nvSpPr>
        <p:spPr>
          <a:xfrm>
            <a:off x="7168896" y="5285232"/>
            <a:ext cx="1965960" cy="548640"/>
          </a:xfrm>
          <a:prstGeom prst="rect">
            <a:avLst/>
          </a:prstGeom>
          <a:noFill/>
          <a:ln/>
        </p:spPr>
        <p:txBody>
          <a:bodyPr wrap="square" lIns="0" tIns="0" rIns="0" bIns="0" rtlCol="0" anchor="t"/>
          <a:lstStyle/>
          <a:p>
            <a:pPr marL="0" indent="0">
              <a:buNone/>
            </a:pPr>
            <a:r>
              <a:rPr lang="en-US" sz="1150" dirty="0">
                <a:solidFill>
                  <a:schemeClr val="tx1"/>
                </a:solidFill>
                <a:latin typeface="Calibri" pitchFamily="34" charset="0"/>
                <a:ea typeface="Calibri" pitchFamily="34" charset="-122"/>
                <a:cs typeface="Calibri" pitchFamily="34" charset="-120"/>
              </a:rPr>
              <a:t>… show her what her agents really use?</a:t>
            </a:r>
            <a:endParaRPr lang="en-US" sz="1150" dirty="0"/>
          </a:p>
        </p:txBody>
      </p:sp>
      <p:sp>
        <p:nvSpPr>
          <p:cNvPr id="32" name="Text 29"/>
          <p:cNvSpPr txBox="1"/>
          <p:nvPr/>
        </p:nvSpPr>
        <p:spPr>
          <a:xfrm>
            <a:off x="7168896" y="5870448"/>
            <a:ext cx="1965960" cy="274320"/>
          </a:xfrm>
          <a:prstGeom prst="rect">
            <a:avLst/>
          </a:prstGeom>
          <a:noFill/>
          <a:ln/>
        </p:spPr>
        <p:txBody>
          <a:bodyPr wrap="square" lIns="0" tIns="0" rIns="0" bIns="0" rtlCol="0" anchor="ctr"/>
          <a:lstStyle/>
          <a:p>
            <a:pPr marL="0" indent="0">
              <a:buNone/>
            </a:pPr>
            <a:r>
              <a:rPr lang="en-US" sz="1150" b="1" dirty="0">
                <a:solidFill>
                  <a:schemeClr val="accent1"/>
                </a:solidFill>
                <a:latin typeface="Calibri" pitchFamily="34" charset="0"/>
                <a:ea typeface="Calibri" pitchFamily="34" charset="-122"/>
                <a:cs typeface="Calibri" pitchFamily="34" charset="-120"/>
              </a:rPr>
              <a:t>→ Dashboard</a:t>
            </a:r>
            <a:endParaRPr lang="en-US" sz="1150" dirty="0"/>
          </a:p>
        </p:txBody>
      </p:sp>
      <p:sp>
        <p:nvSpPr>
          <p:cNvPr id="33" name="hmw 3"/>
          <p:cNvSpPr/>
          <p:nvPr/>
        </p:nvSpPr>
        <p:spPr>
          <a:xfrm>
            <a:off x="9372600" y="5212080"/>
            <a:ext cx="2194560" cy="1005840"/>
          </a:xfrm>
          <a:prstGeom prst="rect">
            <a:avLst/>
          </a:prstGeom>
          <a:solidFill>
            <a:schemeClr val="bg1"/>
          </a:solidFill>
          <a:ln w="12700">
            <a:solidFill>
              <a:srgbClr val="C9D6D0"/>
            </a:solidFill>
            <a:prstDash val="solid"/>
          </a:ln>
        </p:spPr>
        <p:txBody>
          <a:bodyPr/>
          <a:lstStyle/>
          <a:p>
            <a:endParaRPr lang="en-DE"/>
          </a:p>
        </p:txBody>
      </p:sp>
      <p:sp>
        <p:nvSpPr>
          <p:cNvPr id="34" name="Text 31"/>
          <p:cNvSpPr txBox="1"/>
          <p:nvPr/>
        </p:nvSpPr>
        <p:spPr>
          <a:xfrm>
            <a:off x="9500616" y="5285232"/>
            <a:ext cx="1965960" cy="548640"/>
          </a:xfrm>
          <a:prstGeom prst="rect">
            <a:avLst/>
          </a:prstGeom>
          <a:noFill/>
          <a:ln/>
        </p:spPr>
        <p:txBody>
          <a:bodyPr wrap="square" lIns="0" tIns="0" rIns="0" bIns="0" rtlCol="0" anchor="t"/>
          <a:lstStyle/>
          <a:p>
            <a:pPr marL="0" indent="0">
              <a:buNone/>
            </a:pPr>
            <a:r>
              <a:rPr lang="en-US" sz="1150" dirty="0">
                <a:solidFill>
                  <a:schemeClr val="tx1"/>
                </a:solidFill>
                <a:latin typeface="Calibri" pitchFamily="34" charset="0"/>
                <a:ea typeface="Calibri" pitchFamily="34" charset="-122"/>
                <a:cs typeface="Calibri" pitchFamily="34" charset="-120"/>
              </a:rPr>
              <a:t>… make switching to a workflow effortless?</a:t>
            </a:r>
            <a:endParaRPr lang="en-US" sz="1150" dirty="0"/>
          </a:p>
        </p:txBody>
      </p:sp>
      <p:sp>
        <p:nvSpPr>
          <p:cNvPr id="35" name="Text 32"/>
          <p:cNvSpPr txBox="1"/>
          <p:nvPr/>
        </p:nvSpPr>
        <p:spPr>
          <a:xfrm>
            <a:off x="9500616" y="5870448"/>
            <a:ext cx="1965960" cy="274320"/>
          </a:xfrm>
          <a:prstGeom prst="rect">
            <a:avLst/>
          </a:prstGeom>
          <a:noFill/>
          <a:ln/>
        </p:spPr>
        <p:txBody>
          <a:bodyPr wrap="square" lIns="0" tIns="0" rIns="0" bIns="0" rtlCol="0" anchor="ctr"/>
          <a:lstStyle/>
          <a:p>
            <a:pPr marL="0" indent="0">
              <a:buNone/>
            </a:pPr>
            <a:r>
              <a:rPr lang="en-US" sz="1150" b="1" dirty="0">
                <a:solidFill>
                  <a:schemeClr val="accent1"/>
                </a:solidFill>
                <a:latin typeface="Calibri" pitchFamily="34" charset="0"/>
                <a:ea typeface="Calibri" pitchFamily="34" charset="-122"/>
                <a:cs typeface="Calibri" pitchFamily="34" charset="-120"/>
              </a:rPr>
              <a:t>→ Guided conversion</a:t>
            </a:r>
            <a:endParaRPr lang="en-US" sz="1150" dirty="0"/>
          </a:p>
        </p:txBody>
      </p:sp>
      <p:sp>
        <p:nvSpPr>
          <p:cNvPr id="36"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E6A"/>
                </a:solidFill>
                <a:latin typeface="Calibri"/>
                <a:ea typeface="Calibri"/>
                <a:cs typeface="Calibri"/>
              </a:defRPr>
            </a:lvl1pPr>
          </a:lstStyle>
          <a:p>
            <a:pPr algn="r"/>
            <a:fld id="{F7021451-1387-4CA6-816F-3879F97B5CBC}" type="slidenum">
              <a:rPr lang="en-US" b="0"/>
              <a:t>2</a:t>
            </a:fld>
            <a:endParaRPr lang="en-US"/>
          </a:p>
        </p:txBody>
      </p:sp>
      <p:pic>
        <p:nvPicPr>
          <p:cNvPr id="45" name="Picture 44" descr="Daisy Duck – Duckipedia">
            <a:extLst>
              <a:ext uri="{FF2B5EF4-FFF2-40B4-BE49-F238E27FC236}">
                <a16:creationId xmlns:a16="http://schemas.microsoft.com/office/drawing/2014/main" id="{9DDCD750-9CFB-D7D0-B6BB-8A41D6A92AA8}"/>
              </a:ext>
            </a:extLst>
          </p:cNvPr>
          <p:cNvPicPr>
            <a:picLocks noChangeAspect="1"/>
          </p:cNvPicPr>
          <p:nvPr/>
        </p:nvPicPr>
        <p:blipFill>
          <a:blip r:embed="rId6"/>
          <a:srcRect l="21758" b="60156"/>
          <a:stretch>
            <a:fillRect/>
          </a:stretch>
        </p:blipFill>
        <p:spPr>
          <a:xfrm>
            <a:off x="612514" y="1554480"/>
            <a:ext cx="1198131" cy="1039255"/>
          </a:xfrm>
          <a:custGeom>
            <a:avLst/>
            <a:gdLst>
              <a:gd name="csX0" fmla="*/ 195564 w 1198131"/>
              <a:gd name="csY0" fmla="*/ 0 h 1039255"/>
              <a:gd name="csX1" fmla="*/ 1002568 w 1198131"/>
              <a:gd name="csY1" fmla="*/ 0 h 1039255"/>
              <a:gd name="csX2" fmla="*/ 1022670 w 1198131"/>
              <a:gd name="csY2" fmla="*/ 16585 h 1039255"/>
              <a:gd name="csX3" fmla="*/ 1185961 w 1198131"/>
              <a:gd name="csY3" fmla="*/ 319456 h 1039255"/>
              <a:gd name="csX4" fmla="*/ 1198131 w 1198131"/>
              <a:gd name="csY4" fmla="*/ 440179 h 1039255"/>
              <a:gd name="csX5" fmla="*/ 1198131 w 1198131"/>
              <a:gd name="csY5" fmla="*/ 440199 h 1039255"/>
              <a:gd name="csX6" fmla="*/ 1185961 w 1198131"/>
              <a:gd name="csY6" fmla="*/ 560922 h 1039255"/>
              <a:gd name="csX7" fmla="*/ 599066 w 1198131"/>
              <a:gd name="csY7" fmla="*/ 1039255 h 1039255"/>
              <a:gd name="csX8" fmla="*/ 0 w 1198131"/>
              <a:gd name="csY8" fmla="*/ 440189 h 1039255"/>
              <a:gd name="csX9" fmla="*/ 175462 w 1198131"/>
              <a:gd name="csY9" fmla="*/ 16585 h 10392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98131" h="1039255">
                <a:moveTo>
                  <a:pt x="195564" y="0"/>
                </a:moveTo>
                <a:lnTo>
                  <a:pt x="1002568" y="0"/>
                </a:lnTo>
                <a:lnTo>
                  <a:pt x="1022670" y="16585"/>
                </a:lnTo>
                <a:cubicBezTo>
                  <a:pt x="1103977" y="97893"/>
                  <a:pt x="1162021" y="202463"/>
                  <a:pt x="1185961" y="319456"/>
                </a:cubicBezTo>
                <a:lnTo>
                  <a:pt x="1198131" y="440179"/>
                </a:lnTo>
                <a:lnTo>
                  <a:pt x="1198131" y="440199"/>
                </a:lnTo>
                <a:lnTo>
                  <a:pt x="1185961" y="560922"/>
                </a:lnTo>
                <a:cubicBezTo>
                  <a:pt x="1130100" y="833906"/>
                  <a:pt x="888564" y="1039255"/>
                  <a:pt x="599066" y="1039255"/>
                </a:cubicBezTo>
                <a:cubicBezTo>
                  <a:pt x="268211" y="1039255"/>
                  <a:pt x="0" y="771044"/>
                  <a:pt x="0" y="440189"/>
                </a:cubicBezTo>
                <a:cubicBezTo>
                  <a:pt x="0" y="274762"/>
                  <a:pt x="67053" y="124995"/>
                  <a:pt x="175462" y="16585"/>
                </a:cubicBezTo>
                <a:close/>
              </a:path>
            </a:pathLst>
          </a:custGeom>
        </p:spPr>
      </p:pic>
      <p:sp>
        <p:nvSpPr>
          <p:cNvPr id="48" name="ladder Rule">
            <a:extLst>
              <a:ext uri="{FF2B5EF4-FFF2-40B4-BE49-F238E27FC236}">
                <a16:creationId xmlns:a16="http://schemas.microsoft.com/office/drawing/2014/main" id="{E1B99ACF-87E4-1AC3-8661-752D6411EE39}"/>
              </a:ext>
            </a:extLst>
          </p:cNvPr>
          <p:cNvSpPr/>
          <p:nvPr/>
        </p:nvSpPr>
        <p:spPr>
          <a:xfrm>
            <a:off x="13330093" y="4983480"/>
            <a:ext cx="2103120" cy="438912"/>
          </a:xfrm>
          <a:prstGeom prst="rect">
            <a:avLst/>
          </a:prstGeom>
          <a:solidFill>
            <a:schemeClr val="accent2"/>
          </a:solidFill>
          <a:ln w="12700">
            <a:solidFill>
              <a:schemeClr val="accent2"/>
            </a:solidFill>
            <a:prstDash val="solid"/>
          </a:ln>
        </p:spPr>
        <p:txBody>
          <a:bodyPr/>
          <a:lstStyle/>
          <a:p>
            <a:endParaRPr lang="en-DE"/>
          </a:p>
        </p:txBody>
      </p:sp>
      <p:sp>
        <p:nvSpPr>
          <p:cNvPr id="49" name="Text 8">
            <a:extLst>
              <a:ext uri="{FF2B5EF4-FFF2-40B4-BE49-F238E27FC236}">
                <a16:creationId xmlns:a16="http://schemas.microsoft.com/office/drawing/2014/main" id="{A80A6A94-B540-F0FB-915E-B1BC0E4CCE30}"/>
              </a:ext>
            </a:extLst>
          </p:cNvPr>
          <p:cNvSpPr txBox="1"/>
          <p:nvPr/>
        </p:nvSpPr>
        <p:spPr>
          <a:xfrm>
            <a:off x="13467253" y="4983480"/>
            <a:ext cx="1828800" cy="438912"/>
          </a:xfrm>
          <a:prstGeom prst="rect">
            <a:avLst/>
          </a:prstGeom>
          <a:noFill/>
          <a:ln/>
        </p:spPr>
        <p:txBody>
          <a:bodyPr wrap="square" lIns="0" tIns="0" rIns="0" bIns="0" rtlCol="0" anchor="ctr"/>
          <a:lstStyle/>
          <a:p>
            <a:pPr marL="0" indent="0">
              <a:buNone/>
            </a:pPr>
            <a:r>
              <a:rPr lang="en-US" sz="1300" b="1" dirty="0">
                <a:solidFill>
                  <a:schemeClr val="tx2"/>
                </a:solidFill>
                <a:latin typeface="Calibri" pitchFamily="34" charset="0"/>
                <a:ea typeface="Calibri" pitchFamily="34" charset="-122"/>
                <a:cs typeface="Calibri" pitchFamily="34" charset="-120"/>
              </a:rPr>
              <a:t>1  Rule</a:t>
            </a:r>
            <a:endParaRPr lang="en-US" sz="1300" dirty="0"/>
          </a:p>
        </p:txBody>
      </p:sp>
      <p:sp>
        <p:nvSpPr>
          <p:cNvPr id="50" name="ladder Workflow">
            <a:extLst>
              <a:ext uri="{FF2B5EF4-FFF2-40B4-BE49-F238E27FC236}">
                <a16:creationId xmlns:a16="http://schemas.microsoft.com/office/drawing/2014/main" id="{B8BC1C4A-C268-69F7-7618-D75512D7D631}"/>
              </a:ext>
            </a:extLst>
          </p:cNvPr>
          <p:cNvSpPr/>
          <p:nvPr/>
        </p:nvSpPr>
        <p:spPr>
          <a:xfrm>
            <a:off x="14502075" y="4416552"/>
            <a:ext cx="2103120" cy="438912"/>
          </a:xfrm>
          <a:prstGeom prst="rect">
            <a:avLst/>
          </a:prstGeom>
          <a:solidFill>
            <a:schemeClr val="accent2"/>
          </a:solidFill>
          <a:ln w="12700">
            <a:solidFill>
              <a:schemeClr val="accent2"/>
            </a:solidFill>
            <a:prstDash val="solid"/>
          </a:ln>
        </p:spPr>
        <p:txBody>
          <a:bodyPr/>
          <a:lstStyle/>
          <a:p>
            <a:endParaRPr lang="en-DE"/>
          </a:p>
        </p:txBody>
      </p:sp>
      <p:sp>
        <p:nvSpPr>
          <p:cNvPr id="51" name="Text 10">
            <a:extLst>
              <a:ext uri="{FF2B5EF4-FFF2-40B4-BE49-F238E27FC236}">
                <a16:creationId xmlns:a16="http://schemas.microsoft.com/office/drawing/2014/main" id="{99E9E502-DDE8-2F2A-FA79-21685568319C}"/>
              </a:ext>
            </a:extLst>
          </p:cNvPr>
          <p:cNvSpPr txBox="1"/>
          <p:nvPr/>
        </p:nvSpPr>
        <p:spPr>
          <a:xfrm>
            <a:off x="14639235" y="4416552"/>
            <a:ext cx="1828800" cy="438912"/>
          </a:xfrm>
          <a:prstGeom prst="rect">
            <a:avLst/>
          </a:prstGeom>
          <a:noFill/>
          <a:ln/>
        </p:spPr>
        <p:txBody>
          <a:bodyPr wrap="square" lIns="0" tIns="0" rIns="0" bIns="0" rtlCol="0" anchor="ctr"/>
          <a:lstStyle/>
          <a:p>
            <a:pPr marL="0" indent="0">
              <a:buNone/>
            </a:pPr>
            <a:r>
              <a:rPr lang="en-US" sz="1300" b="1" dirty="0">
                <a:solidFill>
                  <a:schemeClr val="tx2"/>
                </a:solidFill>
                <a:latin typeface="Calibri" pitchFamily="34" charset="0"/>
                <a:ea typeface="Calibri" pitchFamily="34" charset="-122"/>
                <a:cs typeface="Calibri" pitchFamily="34" charset="-120"/>
              </a:rPr>
              <a:t>2  Workflow</a:t>
            </a:r>
            <a:endParaRPr lang="en-US" sz="1300" dirty="0"/>
          </a:p>
        </p:txBody>
      </p:sp>
      <p:sp>
        <p:nvSpPr>
          <p:cNvPr id="52" name="ladder Classic ML">
            <a:extLst>
              <a:ext uri="{FF2B5EF4-FFF2-40B4-BE49-F238E27FC236}">
                <a16:creationId xmlns:a16="http://schemas.microsoft.com/office/drawing/2014/main" id="{62B0FFEF-7379-8D81-7B64-F3C556CD1273}"/>
              </a:ext>
            </a:extLst>
          </p:cNvPr>
          <p:cNvSpPr/>
          <p:nvPr/>
        </p:nvSpPr>
        <p:spPr>
          <a:xfrm>
            <a:off x="15612064" y="3849624"/>
            <a:ext cx="2103120" cy="438912"/>
          </a:xfrm>
          <a:prstGeom prst="rect">
            <a:avLst/>
          </a:prstGeom>
          <a:solidFill>
            <a:srgbClr val="153A33"/>
          </a:solidFill>
          <a:ln w="12700">
            <a:solidFill>
              <a:srgbClr val="24524A"/>
            </a:solidFill>
            <a:prstDash val="solid"/>
          </a:ln>
        </p:spPr>
        <p:txBody>
          <a:bodyPr/>
          <a:lstStyle/>
          <a:p>
            <a:endParaRPr lang="en-DE"/>
          </a:p>
        </p:txBody>
      </p:sp>
      <p:sp>
        <p:nvSpPr>
          <p:cNvPr id="53" name="Text 12">
            <a:extLst>
              <a:ext uri="{FF2B5EF4-FFF2-40B4-BE49-F238E27FC236}">
                <a16:creationId xmlns:a16="http://schemas.microsoft.com/office/drawing/2014/main" id="{0BEE9A15-95DC-F716-52C1-093D2E4E4055}"/>
              </a:ext>
            </a:extLst>
          </p:cNvPr>
          <p:cNvSpPr txBox="1"/>
          <p:nvPr/>
        </p:nvSpPr>
        <p:spPr>
          <a:xfrm>
            <a:off x="15749224" y="3849624"/>
            <a:ext cx="1828800" cy="438912"/>
          </a:xfrm>
          <a:prstGeom prst="rect">
            <a:avLst/>
          </a:prstGeom>
          <a:noFill/>
          <a:ln/>
        </p:spPr>
        <p:txBody>
          <a:bodyPr wrap="square" lIns="0" tIns="0" rIns="0" bIns="0" rtlCol="0" anchor="ctr"/>
          <a:lstStyle/>
          <a:p>
            <a:pPr marL="0" indent="0">
              <a:buNone/>
            </a:pPr>
            <a:r>
              <a:rPr lang="en-US" sz="1300" dirty="0">
                <a:solidFill>
                  <a:schemeClr val="bg2"/>
                </a:solidFill>
                <a:latin typeface="Calibri" pitchFamily="34" charset="0"/>
                <a:ea typeface="Calibri" pitchFamily="34" charset="-122"/>
                <a:cs typeface="Calibri" pitchFamily="34" charset="-120"/>
              </a:rPr>
              <a:t>3  Classic ML</a:t>
            </a:r>
            <a:endParaRPr lang="en-US" sz="1300" dirty="0"/>
          </a:p>
        </p:txBody>
      </p:sp>
      <p:sp>
        <p:nvSpPr>
          <p:cNvPr id="54" name="ladder GenAI call">
            <a:extLst>
              <a:ext uri="{FF2B5EF4-FFF2-40B4-BE49-F238E27FC236}">
                <a16:creationId xmlns:a16="http://schemas.microsoft.com/office/drawing/2014/main" id="{CBBA2E87-E020-14BD-E1F7-354A03BE3678}"/>
              </a:ext>
            </a:extLst>
          </p:cNvPr>
          <p:cNvSpPr/>
          <p:nvPr/>
        </p:nvSpPr>
        <p:spPr>
          <a:xfrm>
            <a:off x="16361872" y="3282696"/>
            <a:ext cx="2103120" cy="438912"/>
          </a:xfrm>
          <a:prstGeom prst="rect">
            <a:avLst/>
          </a:prstGeom>
          <a:solidFill>
            <a:srgbClr val="153A33"/>
          </a:solidFill>
          <a:ln w="12700">
            <a:solidFill>
              <a:srgbClr val="24524A"/>
            </a:solidFill>
            <a:prstDash val="solid"/>
          </a:ln>
        </p:spPr>
        <p:txBody>
          <a:bodyPr/>
          <a:lstStyle/>
          <a:p>
            <a:endParaRPr lang="en-DE"/>
          </a:p>
        </p:txBody>
      </p:sp>
      <p:sp>
        <p:nvSpPr>
          <p:cNvPr id="55" name="Text 14">
            <a:extLst>
              <a:ext uri="{FF2B5EF4-FFF2-40B4-BE49-F238E27FC236}">
                <a16:creationId xmlns:a16="http://schemas.microsoft.com/office/drawing/2014/main" id="{DED36EBE-732F-0D83-2B10-3E656F914B8C}"/>
              </a:ext>
            </a:extLst>
          </p:cNvPr>
          <p:cNvSpPr txBox="1"/>
          <p:nvPr/>
        </p:nvSpPr>
        <p:spPr>
          <a:xfrm>
            <a:off x="16499032" y="3282696"/>
            <a:ext cx="1828800" cy="438912"/>
          </a:xfrm>
          <a:prstGeom prst="rect">
            <a:avLst/>
          </a:prstGeom>
          <a:noFill/>
          <a:ln/>
        </p:spPr>
        <p:txBody>
          <a:bodyPr wrap="square" lIns="0" tIns="0" rIns="0" bIns="0" rtlCol="0" anchor="ctr"/>
          <a:lstStyle/>
          <a:p>
            <a:pPr marL="0" indent="0">
              <a:buNone/>
            </a:pPr>
            <a:r>
              <a:rPr lang="en-US" sz="1300" dirty="0">
                <a:solidFill>
                  <a:schemeClr val="bg2"/>
                </a:solidFill>
                <a:latin typeface="Calibri" pitchFamily="34" charset="0"/>
                <a:ea typeface="Calibri" pitchFamily="34" charset="-122"/>
                <a:cs typeface="Calibri" pitchFamily="34" charset="-120"/>
              </a:rPr>
              <a:t>4  GenAI call</a:t>
            </a:r>
            <a:endParaRPr lang="en-US" sz="1300" dirty="0"/>
          </a:p>
        </p:txBody>
      </p:sp>
      <p:sp>
        <p:nvSpPr>
          <p:cNvPr id="56" name="ladder Agent">
            <a:extLst>
              <a:ext uri="{FF2B5EF4-FFF2-40B4-BE49-F238E27FC236}">
                <a16:creationId xmlns:a16="http://schemas.microsoft.com/office/drawing/2014/main" id="{036C3528-3161-2678-4273-B6321129A2D5}"/>
              </a:ext>
            </a:extLst>
          </p:cNvPr>
          <p:cNvSpPr/>
          <p:nvPr/>
        </p:nvSpPr>
        <p:spPr>
          <a:xfrm>
            <a:off x="18026080" y="2715768"/>
            <a:ext cx="2103120" cy="438912"/>
          </a:xfrm>
          <a:prstGeom prst="rect">
            <a:avLst/>
          </a:prstGeom>
          <a:solidFill>
            <a:srgbClr val="153A33"/>
          </a:solidFill>
          <a:ln w="12700">
            <a:solidFill>
              <a:srgbClr val="24524A"/>
            </a:solidFill>
            <a:prstDash val="solid"/>
          </a:ln>
        </p:spPr>
        <p:txBody>
          <a:bodyPr/>
          <a:lstStyle/>
          <a:p>
            <a:endParaRPr lang="en-DE"/>
          </a:p>
        </p:txBody>
      </p:sp>
      <p:sp>
        <p:nvSpPr>
          <p:cNvPr id="57" name="Text 16">
            <a:extLst>
              <a:ext uri="{FF2B5EF4-FFF2-40B4-BE49-F238E27FC236}">
                <a16:creationId xmlns:a16="http://schemas.microsoft.com/office/drawing/2014/main" id="{43F52995-5099-19AF-3364-CA5DCEAFE5C9}"/>
              </a:ext>
            </a:extLst>
          </p:cNvPr>
          <p:cNvSpPr txBox="1"/>
          <p:nvPr/>
        </p:nvSpPr>
        <p:spPr>
          <a:xfrm>
            <a:off x="18163240" y="2715768"/>
            <a:ext cx="1828800" cy="438912"/>
          </a:xfrm>
          <a:prstGeom prst="rect">
            <a:avLst/>
          </a:prstGeom>
          <a:noFill/>
          <a:ln/>
        </p:spPr>
        <p:txBody>
          <a:bodyPr wrap="square" lIns="0" tIns="0" rIns="0" bIns="0" rtlCol="0" anchor="ctr"/>
          <a:lstStyle/>
          <a:p>
            <a:pPr marL="0" indent="0">
              <a:buNone/>
            </a:pPr>
            <a:r>
              <a:rPr lang="en-US" sz="1300" dirty="0">
                <a:solidFill>
                  <a:schemeClr val="bg2"/>
                </a:solidFill>
                <a:latin typeface="Calibri" pitchFamily="34" charset="0"/>
                <a:ea typeface="Calibri" pitchFamily="34" charset="-122"/>
                <a:cs typeface="Calibri" pitchFamily="34" charset="-120"/>
              </a:rPr>
              <a:t>5  Agent</a:t>
            </a:r>
            <a:endParaRPr lang="en-US" sz="1300" dirty="0"/>
          </a:p>
        </p:txBody>
      </p:sp>
      <p:sp>
        <p:nvSpPr>
          <p:cNvPr id="58" name="ladder Multi-agent">
            <a:extLst>
              <a:ext uri="{FF2B5EF4-FFF2-40B4-BE49-F238E27FC236}">
                <a16:creationId xmlns:a16="http://schemas.microsoft.com/office/drawing/2014/main" id="{D082F2CD-FD19-F668-FE25-AAF0F1EED7EE}"/>
              </a:ext>
            </a:extLst>
          </p:cNvPr>
          <p:cNvSpPr/>
          <p:nvPr/>
        </p:nvSpPr>
        <p:spPr>
          <a:xfrm>
            <a:off x="19539025" y="2148840"/>
            <a:ext cx="2103120" cy="438912"/>
          </a:xfrm>
          <a:prstGeom prst="rect">
            <a:avLst/>
          </a:prstGeom>
          <a:solidFill>
            <a:srgbClr val="153A33"/>
          </a:solidFill>
          <a:ln w="12700">
            <a:solidFill>
              <a:srgbClr val="24524A"/>
            </a:solidFill>
            <a:prstDash val="solid"/>
          </a:ln>
        </p:spPr>
        <p:txBody>
          <a:bodyPr/>
          <a:lstStyle/>
          <a:p>
            <a:endParaRPr lang="en-DE"/>
          </a:p>
        </p:txBody>
      </p:sp>
      <p:sp>
        <p:nvSpPr>
          <p:cNvPr id="59" name="Text 18">
            <a:extLst>
              <a:ext uri="{FF2B5EF4-FFF2-40B4-BE49-F238E27FC236}">
                <a16:creationId xmlns:a16="http://schemas.microsoft.com/office/drawing/2014/main" id="{AAC4C884-BDE9-5EA4-0EEA-2E72F1CA44D8}"/>
              </a:ext>
            </a:extLst>
          </p:cNvPr>
          <p:cNvSpPr txBox="1"/>
          <p:nvPr/>
        </p:nvSpPr>
        <p:spPr>
          <a:xfrm>
            <a:off x="19676185" y="2148840"/>
            <a:ext cx="1828800" cy="438912"/>
          </a:xfrm>
          <a:prstGeom prst="rect">
            <a:avLst/>
          </a:prstGeom>
          <a:noFill/>
          <a:ln/>
        </p:spPr>
        <p:txBody>
          <a:bodyPr wrap="square" lIns="0" tIns="0" rIns="0" bIns="0" rtlCol="0" anchor="ctr"/>
          <a:lstStyle/>
          <a:p>
            <a:pPr marL="0" indent="0">
              <a:buNone/>
            </a:pPr>
            <a:r>
              <a:rPr lang="en-US" sz="1300" dirty="0">
                <a:solidFill>
                  <a:schemeClr val="bg2"/>
                </a:solidFill>
                <a:latin typeface="Calibri" pitchFamily="34" charset="0"/>
                <a:ea typeface="Calibri" pitchFamily="34" charset="-122"/>
                <a:cs typeface="Calibri" pitchFamily="34" charset="-120"/>
              </a:rPr>
              <a:t>6  Multi-agent</a:t>
            </a:r>
            <a:endParaRPr lang="en-US" sz="1300" dirty="0"/>
          </a:p>
        </p:txBody>
      </p:sp>
      <p:sp>
        <p:nvSpPr>
          <p:cNvPr id="60" name="Text 19">
            <a:extLst>
              <a:ext uri="{FF2B5EF4-FFF2-40B4-BE49-F238E27FC236}">
                <a16:creationId xmlns:a16="http://schemas.microsoft.com/office/drawing/2014/main" id="{960144EC-2175-24BC-9730-DB322227901B}"/>
              </a:ext>
            </a:extLst>
          </p:cNvPr>
          <p:cNvSpPr txBox="1"/>
          <p:nvPr/>
        </p:nvSpPr>
        <p:spPr>
          <a:xfrm>
            <a:off x="13330093" y="5468112"/>
            <a:ext cx="2926080" cy="274320"/>
          </a:xfrm>
          <a:prstGeom prst="rect">
            <a:avLst/>
          </a:prstGeom>
          <a:noFill/>
          <a:ln/>
        </p:spPr>
        <p:txBody>
          <a:bodyPr wrap="square" lIns="0" tIns="0" rIns="0" bIns="0" rtlCol="0" anchor="ctr"/>
          <a:lstStyle/>
          <a:p>
            <a:pPr marL="0" indent="0">
              <a:buNone/>
            </a:pPr>
            <a:r>
              <a:rPr lang="en-US" sz="1100" i="1" dirty="0">
                <a:solidFill>
                  <a:srgbClr val="9FB8AF"/>
                </a:solidFill>
                <a:latin typeface="Calibri" pitchFamily="34" charset="0"/>
                <a:ea typeface="Calibri" pitchFamily="34" charset="-122"/>
                <a:cs typeface="Calibri" pitchFamily="34" charset="-120"/>
              </a:rPr>
              <a:t>Use the lowest step that does the job</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graphicFrame>
        <p:nvGraphicFramePr>
          <p:cNvPr id="89" name="thinkcell data - do not delete" hidden="1">
            <a:extLst>
              <a:ext uri="{FF2B5EF4-FFF2-40B4-BE49-F238E27FC236}">
                <a16:creationId xmlns:a16="http://schemas.microsoft.com/office/drawing/2014/main" id="{EAC8951F-A676-15A5-DA9E-511914EA64BF}"/>
              </a:ext>
            </a:extLst>
          </p:cNvPr>
          <p:cNvGraphicFramePr>
            <a:graphicFrameLocks/>
          </p:cNvGraphicFramePr>
          <p:nvPr>
            <p:custDataLst>
              <p:tags r:id="rId1"/>
            </p:custDataLst>
            <p:extLst>
              <p:ext uri="{D42A27DB-BD31-4B8C-83A1-F6EECF244321}">
                <p14:modId xmlns:p14="http://schemas.microsoft.com/office/powerpoint/2010/main" val="407477082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ext 0"/>
          <p:cNvSpPr>
            <a:spLocks noGrp="1"/>
          </p:cNvSpPr>
          <p:nvPr>
            <p:ph type="body" idx="100" hasCustomPrompt="1"/>
          </p:nvPr>
        </p:nvSpPr>
        <p:spPr>
          <a:xfrm>
            <a:off x="548640" y="347472"/>
            <a:ext cx="10058400" cy="274320"/>
          </a:xfrm>
          <a:prstGeom prst="rect">
            <a:avLst/>
          </a:prstGeom>
          <a:noFill/>
          <a:ln/>
        </p:spPr>
        <p:txBody>
          <a:bodyPr wrap="square" lIns="0" tIns="0" rIns="0" bIns="0" rtlCol="0"/>
          <a:lstStyle/>
          <a:p>
            <a:pPr marL="0" indent="0">
              <a:buNone/>
            </a:pPr>
            <a:r>
              <a:rPr lang="en-US" sz="1100" b="1" kern="0" spc="200" dirty="0">
                <a:solidFill>
                  <a:schemeClr val="accent1"/>
                </a:solidFill>
                <a:latin typeface="Arial" pitchFamily="34" charset="0"/>
                <a:ea typeface="Arial" pitchFamily="34" charset="-122"/>
                <a:cs typeface="Arial" pitchFamily="34" charset="-120"/>
              </a:rPr>
              <a:t>① DESIRABILITY  ·  SOLUTION PROTOTYPE</a:t>
            </a:r>
            <a:endParaRPr lang="en-US" sz="1100" dirty="0"/>
          </a:p>
        </p:txBody>
      </p:sp>
      <p:sp>
        <p:nvSpPr>
          <p:cNvPr id="3" name="Text 0"/>
          <p:cNvSpPr>
            <a:spLocks noGrp="1"/>
          </p:cNvSpPr>
          <p:nvPr>
            <p:ph type="title" idx="101" hasCustomPrompt="1"/>
          </p:nvPr>
        </p:nvSpPr>
        <p:spPr>
          <a:xfrm>
            <a:off x="548640" y="640080"/>
            <a:ext cx="11064240" cy="685800"/>
          </a:xfrm>
          <a:prstGeom prst="rect">
            <a:avLst/>
          </a:prstGeom>
          <a:noFill/>
          <a:ln/>
        </p:spPr>
        <p:txBody>
          <a:bodyPr vert="horz" wrap="square" lIns="0" tIns="0" rIns="0" bIns="0" rtlCol="0" anchor="t"/>
          <a:lstStyle/>
          <a:p>
            <a:r>
              <a:rPr lang="en-US" sz="2600" b="1" dirty="0" err="1">
                <a:solidFill>
                  <a:schemeClr val="tx1"/>
                </a:solidFill>
                <a:latin typeface="Arial" pitchFamily="34" charset="0"/>
                <a:ea typeface="Arial" pitchFamily="34" charset="-122"/>
                <a:cs typeface="Arial" pitchFamily="34" charset="-120"/>
              </a:rPr>
              <a:t>r</a:t>
            </a:r>
            <a:r>
              <a:rPr lang="en-US" sz="2800" dirty="0" err="1">
                <a:solidFill>
                  <a:schemeClr val="accent2"/>
                </a:solidFill>
              </a:rPr>
              <a:t>AI</a:t>
            </a:r>
            <a:r>
              <a:rPr lang="en-US" sz="2600" b="1" dirty="0" err="1">
                <a:solidFill>
                  <a:schemeClr val="tx1"/>
                </a:solidFill>
                <a:latin typeface="Arial" pitchFamily="34" charset="0"/>
                <a:ea typeface="Arial" pitchFamily="34" charset="-122"/>
                <a:cs typeface="Arial" pitchFamily="34" charset="-120"/>
              </a:rPr>
              <a:t>ght</a:t>
            </a:r>
            <a:r>
              <a:rPr lang="en-US" sz="2600" b="1" dirty="0">
                <a:solidFill>
                  <a:schemeClr val="tx1"/>
                </a:solidFill>
                <a:latin typeface="Arial" pitchFamily="34" charset="0"/>
                <a:ea typeface="Arial" pitchFamily="34" charset="-122"/>
                <a:cs typeface="Arial" pitchFamily="34" charset="-120"/>
              </a:rPr>
              <a:t> supports Lena from her first choice to the conversion</a:t>
            </a:r>
            <a:endParaRPr lang="en-US" sz="2600" dirty="0"/>
          </a:p>
        </p:txBody>
      </p:sp>
      <p:sp>
        <p:nvSpPr>
          <p:cNvPr id="4" name="loop Learn"/>
          <p:cNvSpPr/>
          <p:nvPr/>
        </p:nvSpPr>
        <p:spPr>
          <a:xfrm>
            <a:off x="548640" y="1463040"/>
            <a:ext cx="2606040" cy="868680"/>
          </a:xfrm>
          <a:prstGeom prst="rect">
            <a:avLst/>
          </a:prstGeom>
          <a:solidFill>
            <a:srgbClr val="F4F7F5"/>
          </a:solidFill>
          <a:ln w="12700">
            <a:solidFill>
              <a:srgbClr val="F4F7F5"/>
            </a:solidFill>
            <a:prstDash val="solid"/>
          </a:ln>
        </p:spPr>
        <p:txBody>
          <a:bodyPr/>
          <a:lstStyle/>
          <a:p>
            <a:endParaRPr lang="en-DE"/>
          </a:p>
        </p:txBody>
      </p:sp>
      <p:sp>
        <p:nvSpPr>
          <p:cNvPr id="5" name="Shape 3"/>
          <p:cNvSpPr/>
          <p:nvPr/>
        </p:nvSpPr>
        <p:spPr>
          <a:xfrm>
            <a:off x="685800" y="1645920"/>
            <a:ext cx="502920" cy="502920"/>
          </a:xfrm>
          <a:prstGeom prst="ellipse">
            <a:avLst/>
          </a:prstGeom>
          <a:solidFill>
            <a:schemeClr val="bg1"/>
          </a:solidFill>
          <a:ln w="12700">
            <a:solidFill>
              <a:schemeClr val="bg1"/>
            </a:solidFill>
            <a:prstDash val="solid"/>
          </a:ln>
        </p:spPr>
        <p:txBody>
          <a:bodyPr/>
          <a:lstStyle/>
          <a:p>
            <a:endParaRPr lang="en-DE"/>
          </a:p>
        </p:txBody>
      </p:sp>
      <p:pic>
        <p:nvPicPr>
          <p:cNvPr id="6" name="Image 0" descr="preencoded.png"/>
          <p:cNvPicPr>
            <a:picLocks noChangeAspect="1"/>
          </p:cNvPicPr>
          <p:nvPr/>
        </p:nvPicPr>
        <p:blipFill>
          <a:blip r:embed="rId6"/>
          <a:stretch>
            <a:fillRect/>
          </a:stretch>
        </p:blipFill>
        <p:spPr>
          <a:xfrm>
            <a:off x="804672" y="1764792"/>
            <a:ext cx="265176" cy="265176"/>
          </a:xfrm>
          <a:prstGeom prst="rect">
            <a:avLst/>
          </a:prstGeom>
        </p:spPr>
      </p:pic>
      <p:sp>
        <p:nvSpPr>
          <p:cNvPr id="7" name="Text 4"/>
          <p:cNvSpPr txBox="1"/>
          <p:nvPr/>
        </p:nvSpPr>
        <p:spPr>
          <a:xfrm>
            <a:off x="1325880" y="1536192"/>
            <a:ext cx="1737360" cy="292608"/>
          </a:xfrm>
          <a:prstGeom prst="rect">
            <a:avLst/>
          </a:prstGeom>
          <a:noFill/>
          <a:ln/>
        </p:spPr>
        <p:txBody>
          <a:bodyPr wrap="square" lIns="0" tIns="0" rIns="0" bIns="0" rtlCol="0" anchor="ctr"/>
          <a:lstStyle/>
          <a:p>
            <a:pPr marL="0" indent="0">
              <a:buNone/>
            </a:pPr>
            <a:r>
              <a:rPr lang="en-US" sz="1400" b="1" dirty="0">
                <a:solidFill>
                  <a:schemeClr val="tx1"/>
                </a:solidFill>
                <a:latin typeface="Arial" pitchFamily="34" charset="0"/>
                <a:ea typeface="Arial" pitchFamily="34" charset="-122"/>
                <a:cs typeface="Arial" pitchFamily="34" charset="-120"/>
              </a:rPr>
              <a:t>Learn</a:t>
            </a:r>
            <a:endParaRPr lang="en-US" sz="1400" dirty="0"/>
          </a:p>
        </p:txBody>
      </p:sp>
      <p:sp>
        <p:nvSpPr>
          <p:cNvPr id="8" name="Text 5"/>
          <p:cNvSpPr txBox="1"/>
          <p:nvPr/>
        </p:nvSpPr>
        <p:spPr>
          <a:xfrm>
            <a:off x="1325880" y="1828800"/>
            <a:ext cx="1783080" cy="457200"/>
          </a:xfrm>
          <a:prstGeom prst="rect">
            <a:avLst/>
          </a:prstGeom>
          <a:noFill/>
          <a:ln/>
        </p:spPr>
        <p:txBody>
          <a:bodyPr wrap="square" lIns="0" tIns="0" rIns="0" bIns="0" rtlCol="0" anchor="t"/>
          <a:lstStyle/>
          <a:p>
            <a:pPr marL="0" indent="0">
              <a:buNone/>
            </a:pPr>
            <a:r>
              <a:rPr lang="en-US" sz="1050" dirty="0">
                <a:solidFill>
                  <a:srgbClr val="5E6E6A"/>
                </a:solidFill>
                <a:latin typeface="Calibri" pitchFamily="34" charset="0"/>
                <a:ea typeface="Calibri" pitchFamily="34" charset="-122"/>
                <a:cs typeface="Calibri" pitchFamily="34" charset="-120"/>
              </a:rPr>
              <a:t>Ladder and triage, with recruiting examples</a:t>
            </a:r>
            <a:endParaRPr lang="en-US" sz="1050" dirty="0"/>
          </a:p>
        </p:txBody>
      </p:sp>
      <p:sp>
        <p:nvSpPr>
          <p:cNvPr id="9" name="Shape 6"/>
          <p:cNvSpPr/>
          <p:nvPr/>
        </p:nvSpPr>
        <p:spPr>
          <a:xfrm>
            <a:off x="3182112" y="1897380"/>
            <a:ext cx="155448" cy="0"/>
          </a:xfrm>
          <a:prstGeom prst="line">
            <a:avLst/>
          </a:prstGeom>
          <a:noFill/>
          <a:ln w="19050">
            <a:solidFill>
              <a:srgbClr val="9FB8AF"/>
            </a:solidFill>
            <a:prstDash val="solid"/>
            <a:tailEnd type="triangle"/>
          </a:ln>
        </p:spPr>
        <p:txBody>
          <a:bodyPr/>
          <a:lstStyle/>
          <a:p>
            <a:endParaRPr lang="en-DE"/>
          </a:p>
        </p:txBody>
      </p:sp>
      <p:sp>
        <p:nvSpPr>
          <p:cNvPr id="10" name="loop Build"/>
          <p:cNvSpPr/>
          <p:nvPr/>
        </p:nvSpPr>
        <p:spPr>
          <a:xfrm>
            <a:off x="3364992" y="1463040"/>
            <a:ext cx="2606040" cy="868680"/>
          </a:xfrm>
          <a:prstGeom prst="rect">
            <a:avLst/>
          </a:prstGeom>
          <a:solidFill>
            <a:srgbClr val="F4F7F5"/>
          </a:solidFill>
          <a:ln w="12700">
            <a:solidFill>
              <a:srgbClr val="F4F7F5"/>
            </a:solidFill>
            <a:prstDash val="solid"/>
          </a:ln>
        </p:spPr>
        <p:txBody>
          <a:bodyPr/>
          <a:lstStyle/>
          <a:p>
            <a:endParaRPr lang="en-DE"/>
          </a:p>
        </p:txBody>
      </p:sp>
      <p:sp>
        <p:nvSpPr>
          <p:cNvPr id="11" name="Shape 8"/>
          <p:cNvSpPr/>
          <p:nvPr/>
        </p:nvSpPr>
        <p:spPr>
          <a:xfrm>
            <a:off x="3502152" y="1645920"/>
            <a:ext cx="502920" cy="502920"/>
          </a:xfrm>
          <a:prstGeom prst="ellipse">
            <a:avLst/>
          </a:prstGeom>
          <a:solidFill>
            <a:schemeClr val="bg1"/>
          </a:solidFill>
          <a:ln w="12700">
            <a:solidFill>
              <a:schemeClr val="bg1"/>
            </a:solidFill>
            <a:prstDash val="solid"/>
          </a:ln>
        </p:spPr>
        <p:txBody>
          <a:bodyPr/>
          <a:lstStyle/>
          <a:p>
            <a:endParaRPr lang="en-DE"/>
          </a:p>
        </p:txBody>
      </p:sp>
      <p:pic>
        <p:nvPicPr>
          <p:cNvPr id="12" name="Image 1" descr="preencoded.png"/>
          <p:cNvPicPr>
            <a:picLocks noChangeAspect="1"/>
          </p:cNvPicPr>
          <p:nvPr/>
        </p:nvPicPr>
        <p:blipFill>
          <a:blip r:embed="rId7"/>
          <a:stretch>
            <a:fillRect/>
          </a:stretch>
        </p:blipFill>
        <p:spPr>
          <a:xfrm>
            <a:off x="3621024" y="1764792"/>
            <a:ext cx="265176" cy="265176"/>
          </a:xfrm>
          <a:prstGeom prst="rect">
            <a:avLst/>
          </a:prstGeom>
        </p:spPr>
      </p:pic>
      <p:sp>
        <p:nvSpPr>
          <p:cNvPr id="13" name="Text 9"/>
          <p:cNvSpPr txBox="1"/>
          <p:nvPr/>
        </p:nvSpPr>
        <p:spPr>
          <a:xfrm>
            <a:off x="4142232" y="1536192"/>
            <a:ext cx="1737360" cy="292608"/>
          </a:xfrm>
          <a:prstGeom prst="rect">
            <a:avLst/>
          </a:prstGeom>
          <a:noFill/>
          <a:ln/>
        </p:spPr>
        <p:txBody>
          <a:bodyPr wrap="square" lIns="0" tIns="0" rIns="0" bIns="0" rtlCol="0" anchor="ctr"/>
          <a:lstStyle/>
          <a:p>
            <a:pPr marL="0" indent="0">
              <a:buNone/>
            </a:pPr>
            <a:r>
              <a:rPr lang="en-US" sz="1400" b="1" dirty="0">
                <a:solidFill>
                  <a:schemeClr val="tx1"/>
                </a:solidFill>
                <a:latin typeface="Arial" pitchFamily="34" charset="0"/>
                <a:ea typeface="Arial" pitchFamily="34" charset="-122"/>
                <a:cs typeface="Arial" pitchFamily="34" charset="-120"/>
              </a:rPr>
              <a:t>Build</a:t>
            </a:r>
            <a:endParaRPr lang="en-US" sz="1400" dirty="0"/>
          </a:p>
        </p:txBody>
      </p:sp>
      <p:sp>
        <p:nvSpPr>
          <p:cNvPr id="14" name="Text 10"/>
          <p:cNvSpPr txBox="1"/>
          <p:nvPr/>
        </p:nvSpPr>
        <p:spPr>
          <a:xfrm>
            <a:off x="4142232" y="1828800"/>
            <a:ext cx="1783080" cy="457200"/>
          </a:xfrm>
          <a:prstGeom prst="rect">
            <a:avLst/>
          </a:prstGeom>
          <a:noFill/>
          <a:ln/>
        </p:spPr>
        <p:txBody>
          <a:bodyPr wrap="square" lIns="0" tIns="0" rIns="0" bIns="0" rtlCol="0" anchor="t"/>
          <a:lstStyle/>
          <a:p>
            <a:pPr marL="0" indent="0">
              <a:buNone/>
            </a:pPr>
            <a:r>
              <a:rPr lang="en-US" sz="1050" dirty="0">
                <a:solidFill>
                  <a:srgbClr val="5E6E6A"/>
                </a:solidFill>
                <a:latin typeface="Calibri" pitchFamily="34" charset="0"/>
                <a:ea typeface="Calibri" pitchFamily="34" charset="-122"/>
                <a:cs typeface="Calibri" pitchFamily="34" charset="-120"/>
              </a:rPr>
              <a:t>Lena applies the triage herself when she builds</a:t>
            </a:r>
            <a:endParaRPr lang="en-US" sz="1050" dirty="0"/>
          </a:p>
        </p:txBody>
      </p:sp>
      <p:sp>
        <p:nvSpPr>
          <p:cNvPr id="15" name="Shape 11"/>
          <p:cNvSpPr/>
          <p:nvPr/>
        </p:nvSpPr>
        <p:spPr>
          <a:xfrm>
            <a:off x="5998464" y="1897380"/>
            <a:ext cx="155448" cy="0"/>
          </a:xfrm>
          <a:prstGeom prst="line">
            <a:avLst/>
          </a:prstGeom>
          <a:noFill/>
          <a:ln w="19050">
            <a:solidFill>
              <a:srgbClr val="9FB8AF"/>
            </a:solidFill>
            <a:prstDash val="solid"/>
            <a:tailEnd type="triangle"/>
          </a:ln>
        </p:spPr>
        <p:txBody>
          <a:bodyPr/>
          <a:lstStyle/>
          <a:p>
            <a:endParaRPr lang="en-DE"/>
          </a:p>
        </p:txBody>
      </p:sp>
      <p:sp>
        <p:nvSpPr>
          <p:cNvPr id="16" name="loop Monitor"/>
          <p:cNvSpPr/>
          <p:nvPr/>
        </p:nvSpPr>
        <p:spPr>
          <a:xfrm>
            <a:off x="6181344" y="1463040"/>
            <a:ext cx="2606040" cy="868680"/>
          </a:xfrm>
          <a:prstGeom prst="rect">
            <a:avLst/>
          </a:prstGeom>
          <a:solidFill>
            <a:srgbClr val="F4F7F5"/>
          </a:solidFill>
          <a:ln w="12700">
            <a:solidFill>
              <a:srgbClr val="F4F7F5"/>
            </a:solidFill>
            <a:prstDash val="solid"/>
          </a:ln>
        </p:spPr>
        <p:txBody>
          <a:bodyPr/>
          <a:lstStyle/>
          <a:p>
            <a:endParaRPr lang="en-DE"/>
          </a:p>
        </p:txBody>
      </p:sp>
      <p:sp>
        <p:nvSpPr>
          <p:cNvPr id="17" name="Shape 13"/>
          <p:cNvSpPr/>
          <p:nvPr/>
        </p:nvSpPr>
        <p:spPr>
          <a:xfrm>
            <a:off x="6318504" y="1645920"/>
            <a:ext cx="502920" cy="502920"/>
          </a:xfrm>
          <a:prstGeom prst="ellipse">
            <a:avLst/>
          </a:prstGeom>
          <a:solidFill>
            <a:schemeClr val="bg1"/>
          </a:solidFill>
          <a:ln w="12700">
            <a:solidFill>
              <a:schemeClr val="bg1"/>
            </a:solidFill>
            <a:prstDash val="solid"/>
          </a:ln>
        </p:spPr>
        <p:txBody>
          <a:bodyPr/>
          <a:lstStyle/>
          <a:p>
            <a:endParaRPr lang="en-DE"/>
          </a:p>
        </p:txBody>
      </p:sp>
      <p:pic>
        <p:nvPicPr>
          <p:cNvPr id="18" name="Image 2" descr="preencoded.png"/>
          <p:cNvPicPr>
            <a:picLocks noChangeAspect="1"/>
          </p:cNvPicPr>
          <p:nvPr/>
        </p:nvPicPr>
        <p:blipFill>
          <a:blip r:embed="rId8"/>
          <a:stretch>
            <a:fillRect/>
          </a:stretch>
        </p:blipFill>
        <p:spPr>
          <a:xfrm>
            <a:off x="6437376" y="1764792"/>
            <a:ext cx="265176" cy="265176"/>
          </a:xfrm>
          <a:prstGeom prst="rect">
            <a:avLst/>
          </a:prstGeom>
        </p:spPr>
      </p:pic>
      <p:sp>
        <p:nvSpPr>
          <p:cNvPr id="19" name="Text 14"/>
          <p:cNvSpPr txBox="1"/>
          <p:nvPr/>
        </p:nvSpPr>
        <p:spPr>
          <a:xfrm>
            <a:off x="6958584" y="1536192"/>
            <a:ext cx="1737360" cy="292608"/>
          </a:xfrm>
          <a:prstGeom prst="rect">
            <a:avLst/>
          </a:prstGeom>
          <a:noFill/>
          <a:ln/>
        </p:spPr>
        <p:txBody>
          <a:bodyPr wrap="square" lIns="0" tIns="0" rIns="0" bIns="0" rtlCol="0" anchor="ctr"/>
          <a:lstStyle/>
          <a:p>
            <a:pPr marL="0" indent="0">
              <a:buNone/>
            </a:pPr>
            <a:r>
              <a:rPr lang="en-US" sz="1400" b="1" dirty="0">
                <a:solidFill>
                  <a:schemeClr val="tx1"/>
                </a:solidFill>
                <a:latin typeface="Arial" pitchFamily="34" charset="0"/>
                <a:ea typeface="Arial" pitchFamily="34" charset="-122"/>
                <a:cs typeface="Arial" pitchFamily="34" charset="-120"/>
              </a:rPr>
              <a:t>Monitor</a:t>
            </a:r>
            <a:endParaRPr lang="en-US" sz="1400" dirty="0"/>
          </a:p>
        </p:txBody>
      </p:sp>
      <p:sp>
        <p:nvSpPr>
          <p:cNvPr id="20" name="Text 15"/>
          <p:cNvSpPr txBox="1"/>
          <p:nvPr/>
        </p:nvSpPr>
        <p:spPr>
          <a:xfrm>
            <a:off x="6958584" y="1828800"/>
            <a:ext cx="1783080" cy="457200"/>
          </a:xfrm>
          <a:prstGeom prst="rect">
            <a:avLst/>
          </a:prstGeom>
          <a:noFill/>
          <a:ln/>
        </p:spPr>
        <p:txBody>
          <a:bodyPr wrap="square" lIns="0" tIns="0" rIns="0" bIns="0" rtlCol="0" anchor="t"/>
          <a:lstStyle/>
          <a:p>
            <a:pPr marL="0" indent="0">
              <a:buNone/>
            </a:pPr>
            <a:r>
              <a:rPr lang="en-US" sz="1050" dirty="0">
                <a:solidFill>
                  <a:srgbClr val="5E6E6A"/>
                </a:solidFill>
                <a:latin typeface="Calibri" pitchFamily="34" charset="0"/>
                <a:ea typeface="Calibri" pitchFamily="34" charset="-122"/>
                <a:cs typeface="Calibri" pitchFamily="34" charset="-120"/>
              </a:rPr>
              <a:t>Dashboard shows usage and repetition</a:t>
            </a:r>
            <a:endParaRPr lang="en-US" sz="1050" dirty="0"/>
          </a:p>
        </p:txBody>
      </p:sp>
      <p:sp>
        <p:nvSpPr>
          <p:cNvPr id="21" name="Shape 16"/>
          <p:cNvSpPr/>
          <p:nvPr/>
        </p:nvSpPr>
        <p:spPr>
          <a:xfrm>
            <a:off x="8814816" y="1897380"/>
            <a:ext cx="155448" cy="0"/>
          </a:xfrm>
          <a:prstGeom prst="line">
            <a:avLst/>
          </a:prstGeom>
          <a:noFill/>
          <a:ln w="19050">
            <a:solidFill>
              <a:srgbClr val="9FB8AF"/>
            </a:solidFill>
            <a:prstDash val="solid"/>
            <a:tailEnd type="triangle"/>
          </a:ln>
        </p:spPr>
        <p:txBody>
          <a:bodyPr/>
          <a:lstStyle/>
          <a:p>
            <a:endParaRPr lang="en-DE"/>
          </a:p>
        </p:txBody>
      </p:sp>
      <p:sp>
        <p:nvSpPr>
          <p:cNvPr id="22" name="loop Convert"/>
          <p:cNvSpPr/>
          <p:nvPr/>
        </p:nvSpPr>
        <p:spPr>
          <a:xfrm>
            <a:off x="8997696" y="1463040"/>
            <a:ext cx="2606040" cy="868680"/>
          </a:xfrm>
          <a:prstGeom prst="rect">
            <a:avLst/>
          </a:prstGeom>
          <a:solidFill>
            <a:srgbClr val="F4F7F5"/>
          </a:solidFill>
          <a:ln w="12700">
            <a:solidFill>
              <a:srgbClr val="F4F7F5"/>
            </a:solidFill>
            <a:prstDash val="solid"/>
          </a:ln>
        </p:spPr>
        <p:txBody>
          <a:bodyPr/>
          <a:lstStyle/>
          <a:p>
            <a:endParaRPr lang="en-DE"/>
          </a:p>
        </p:txBody>
      </p:sp>
      <p:sp>
        <p:nvSpPr>
          <p:cNvPr id="23" name="Shape 18"/>
          <p:cNvSpPr/>
          <p:nvPr/>
        </p:nvSpPr>
        <p:spPr>
          <a:xfrm>
            <a:off x="9134856" y="1645920"/>
            <a:ext cx="502920" cy="502920"/>
          </a:xfrm>
          <a:prstGeom prst="ellipse">
            <a:avLst/>
          </a:prstGeom>
          <a:solidFill>
            <a:schemeClr val="bg1"/>
          </a:solidFill>
          <a:ln w="12700">
            <a:solidFill>
              <a:schemeClr val="bg1"/>
            </a:solidFill>
            <a:prstDash val="solid"/>
          </a:ln>
        </p:spPr>
        <p:txBody>
          <a:bodyPr/>
          <a:lstStyle/>
          <a:p>
            <a:endParaRPr lang="en-DE"/>
          </a:p>
        </p:txBody>
      </p:sp>
      <p:pic>
        <p:nvPicPr>
          <p:cNvPr id="24" name="Image 3" descr="preencoded.png"/>
          <p:cNvPicPr>
            <a:picLocks noChangeAspect="1"/>
          </p:cNvPicPr>
          <p:nvPr/>
        </p:nvPicPr>
        <p:blipFill>
          <a:blip r:embed="rId9"/>
          <a:stretch>
            <a:fillRect/>
          </a:stretch>
        </p:blipFill>
        <p:spPr>
          <a:xfrm>
            <a:off x="9253728" y="1764792"/>
            <a:ext cx="265176" cy="265176"/>
          </a:xfrm>
          <a:prstGeom prst="rect">
            <a:avLst/>
          </a:prstGeom>
        </p:spPr>
      </p:pic>
      <p:sp>
        <p:nvSpPr>
          <p:cNvPr id="25" name="Text 19"/>
          <p:cNvSpPr txBox="1"/>
          <p:nvPr/>
        </p:nvSpPr>
        <p:spPr>
          <a:xfrm>
            <a:off x="9774936" y="1536192"/>
            <a:ext cx="1737360" cy="292608"/>
          </a:xfrm>
          <a:prstGeom prst="rect">
            <a:avLst/>
          </a:prstGeom>
          <a:noFill/>
          <a:ln/>
        </p:spPr>
        <p:txBody>
          <a:bodyPr wrap="square" lIns="0" tIns="0" rIns="0" bIns="0" rtlCol="0" anchor="ctr"/>
          <a:lstStyle/>
          <a:p>
            <a:pPr marL="0" indent="0">
              <a:buNone/>
            </a:pPr>
            <a:r>
              <a:rPr lang="en-US" sz="1400" b="1" dirty="0">
                <a:solidFill>
                  <a:schemeClr val="tx1"/>
                </a:solidFill>
                <a:latin typeface="Arial" pitchFamily="34" charset="0"/>
                <a:ea typeface="Arial" pitchFamily="34" charset="-122"/>
                <a:cs typeface="Arial" pitchFamily="34" charset="-120"/>
              </a:rPr>
              <a:t>Convert</a:t>
            </a:r>
            <a:endParaRPr lang="en-US" sz="1400" dirty="0"/>
          </a:p>
        </p:txBody>
      </p:sp>
      <p:sp>
        <p:nvSpPr>
          <p:cNvPr id="26" name="Text 20"/>
          <p:cNvSpPr txBox="1"/>
          <p:nvPr/>
        </p:nvSpPr>
        <p:spPr>
          <a:xfrm>
            <a:off x="9774936" y="1828800"/>
            <a:ext cx="1783080" cy="457200"/>
          </a:xfrm>
          <a:prstGeom prst="rect">
            <a:avLst/>
          </a:prstGeom>
          <a:noFill/>
          <a:ln/>
        </p:spPr>
        <p:txBody>
          <a:bodyPr wrap="square" lIns="0" tIns="0" rIns="0" bIns="0" rtlCol="0" anchor="t"/>
          <a:lstStyle/>
          <a:p>
            <a:pPr marL="0" indent="0">
              <a:buNone/>
            </a:pPr>
            <a:r>
              <a:rPr lang="en-US" sz="1050" dirty="0">
                <a:solidFill>
                  <a:srgbClr val="5E6E6A"/>
                </a:solidFill>
                <a:latin typeface="Calibri" pitchFamily="34" charset="0"/>
                <a:ea typeface="Calibri" pitchFamily="34" charset="-122"/>
                <a:cs typeface="Calibri" pitchFamily="34" charset="-120"/>
              </a:rPr>
              <a:t>Uniform agents become workflows</a:t>
            </a:r>
            <a:endParaRPr lang="en-US" sz="1050" dirty="0"/>
          </a:p>
        </p:txBody>
      </p:sp>
      <p:sp>
        <p:nvSpPr>
          <p:cNvPr id="27" name="Text 21"/>
          <p:cNvSpPr txBox="1"/>
          <p:nvPr/>
        </p:nvSpPr>
        <p:spPr>
          <a:xfrm>
            <a:off x="548640" y="2377440"/>
            <a:ext cx="5486400" cy="228600"/>
          </a:xfrm>
          <a:prstGeom prst="rect">
            <a:avLst/>
          </a:prstGeom>
          <a:noFill/>
          <a:ln/>
        </p:spPr>
        <p:txBody>
          <a:bodyPr wrap="square" lIns="0" tIns="0" rIns="0" bIns="0" rtlCol="0" anchor="ctr"/>
          <a:lstStyle/>
          <a:p>
            <a:pPr marL="0" indent="0">
              <a:buNone/>
            </a:pPr>
            <a:r>
              <a:rPr lang="en-US" sz="1000" i="1" dirty="0">
                <a:solidFill>
                  <a:schemeClr val="accent1"/>
                </a:solidFill>
                <a:latin typeface="Calibri" pitchFamily="34" charset="0"/>
                <a:ea typeface="Calibri" pitchFamily="34" charset="-122"/>
                <a:cs typeface="Calibri" pitchFamily="34" charset="-120"/>
              </a:rPr>
              <a:t>↺ every conversion becomes a new training case</a:t>
            </a:r>
            <a:endParaRPr lang="en-US" sz="1000" dirty="0"/>
          </a:p>
        </p:txBody>
      </p:sp>
      <p:sp>
        <p:nvSpPr>
          <p:cNvPr id="28" name="Text 22"/>
          <p:cNvSpPr txBox="1"/>
          <p:nvPr/>
        </p:nvSpPr>
        <p:spPr>
          <a:xfrm>
            <a:off x="548640" y="2788920"/>
            <a:ext cx="4572000" cy="228600"/>
          </a:xfrm>
          <a:prstGeom prst="rect">
            <a:avLst/>
          </a:prstGeom>
          <a:noFill/>
          <a:ln/>
        </p:spPr>
        <p:txBody>
          <a:bodyPr wrap="square" lIns="0" tIns="0" rIns="0" bIns="0" rtlCol="0" anchor="ctr"/>
          <a:lstStyle/>
          <a:p>
            <a:pPr marL="0" indent="0">
              <a:buNone/>
            </a:pPr>
            <a:r>
              <a:rPr lang="en-US" sz="900" b="1" kern="0" spc="200" dirty="0">
                <a:solidFill>
                  <a:schemeClr val="accent1"/>
                </a:solidFill>
                <a:latin typeface="Arial" pitchFamily="34" charset="0"/>
                <a:ea typeface="Arial" pitchFamily="34" charset="-122"/>
                <a:cs typeface="Arial" pitchFamily="34" charset="-120"/>
              </a:rPr>
              <a:t>PROTOTYPE 1 · TRIAGE LENA APPLIES</a:t>
            </a:r>
            <a:endParaRPr lang="en-US" sz="900" dirty="0"/>
          </a:p>
        </p:txBody>
      </p:sp>
      <p:sp>
        <p:nvSpPr>
          <p:cNvPr id="29" name="triage question 1"/>
          <p:cNvSpPr/>
          <p:nvPr/>
        </p:nvSpPr>
        <p:spPr>
          <a:xfrm>
            <a:off x="548640" y="3108960"/>
            <a:ext cx="2514600" cy="749808"/>
          </a:xfrm>
          <a:prstGeom prst="roundRect">
            <a:avLst>
              <a:gd name="adj" fmla="val 9756"/>
            </a:avLst>
          </a:prstGeom>
          <a:solidFill>
            <a:schemeClr val="bg1"/>
          </a:solidFill>
          <a:ln w="15875">
            <a:solidFill>
              <a:schemeClr val="accent1"/>
            </a:solidFill>
            <a:prstDash val="solid"/>
          </a:ln>
        </p:spPr>
        <p:txBody>
          <a:bodyPr/>
          <a:lstStyle/>
          <a:p>
            <a:endParaRPr lang="en-DE"/>
          </a:p>
        </p:txBody>
      </p:sp>
      <p:sp>
        <p:nvSpPr>
          <p:cNvPr id="30" name="Text 24"/>
          <p:cNvSpPr txBox="1"/>
          <p:nvPr/>
        </p:nvSpPr>
        <p:spPr>
          <a:xfrm>
            <a:off x="658368" y="3108960"/>
            <a:ext cx="2286000" cy="749808"/>
          </a:xfrm>
          <a:prstGeom prst="rect">
            <a:avLst/>
          </a:prstGeom>
          <a:noFill/>
          <a:ln/>
        </p:spPr>
        <p:txBody>
          <a:bodyPr wrap="square" lIns="0" tIns="0" rIns="0" bIns="0" rtlCol="0" anchor="ctr"/>
          <a:lstStyle/>
          <a:p>
            <a:pPr marL="0" indent="0">
              <a:buNone/>
            </a:pPr>
            <a:r>
              <a:rPr lang="en-US" sz="1150" b="1" dirty="0">
                <a:solidFill>
                  <a:schemeClr val="tx1"/>
                </a:solidFill>
                <a:latin typeface="Calibri" pitchFamily="34" charset="0"/>
                <a:ea typeface="Calibri" pitchFamily="34" charset="-122"/>
                <a:cs typeface="Calibri" pitchFamily="34" charset="-120"/>
              </a:rPr>
              <a:t>Are the steps always the same?</a:t>
            </a:r>
            <a:endParaRPr lang="en-US" sz="1150" dirty="0"/>
          </a:p>
        </p:txBody>
      </p:sp>
      <p:sp>
        <p:nvSpPr>
          <p:cNvPr id="31" name="Shape 25"/>
          <p:cNvSpPr/>
          <p:nvPr/>
        </p:nvSpPr>
        <p:spPr>
          <a:xfrm>
            <a:off x="3090672" y="3483864"/>
            <a:ext cx="365760" cy="0"/>
          </a:xfrm>
          <a:prstGeom prst="line">
            <a:avLst/>
          </a:prstGeom>
          <a:noFill/>
          <a:ln w="15875">
            <a:solidFill>
              <a:schemeClr val="accent1"/>
            </a:solidFill>
            <a:prstDash val="solid"/>
            <a:tailEnd type="triangle"/>
          </a:ln>
        </p:spPr>
        <p:txBody>
          <a:bodyPr/>
          <a:lstStyle/>
          <a:p>
            <a:endParaRPr lang="en-DE"/>
          </a:p>
        </p:txBody>
      </p:sp>
      <p:sp>
        <p:nvSpPr>
          <p:cNvPr id="32" name="Text 26"/>
          <p:cNvSpPr txBox="1"/>
          <p:nvPr/>
        </p:nvSpPr>
        <p:spPr>
          <a:xfrm>
            <a:off x="3108960" y="3227832"/>
            <a:ext cx="365760" cy="201168"/>
          </a:xfrm>
          <a:prstGeom prst="rect">
            <a:avLst/>
          </a:prstGeom>
          <a:noFill/>
          <a:ln/>
        </p:spPr>
        <p:txBody>
          <a:bodyPr wrap="square" lIns="0" tIns="0" rIns="0" bIns="0" rtlCol="0" anchor="ctr"/>
          <a:lstStyle/>
          <a:p>
            <a:pPr marL="0" indent="0">
              <a:buNone/>
            </a:pPr>
            <a:r>
              <a:rPr lang="en-US" sz="900" dirty="0">
                <a:solidFill>
                  <a:srgbClr val="5E6E6A"/>
                </a:solidFill>
                <a:latin typeface="Calibri" pitchFamily="34" charset="0"/>
                <a:ea typeface="Calibri" pitchFamily="34" charset="-122"/>
                <a:cs typeface="Calibri" pitchFamily="34" charset="-120"/>
              </a:rPr>
              <a:t>yes</a:t>
            </a:r>
            <a:endParaRPr lang="en-US" sz="900" dirty="0"/>
          </a:p>
        </p:txBody>
      </p:sp>
      <p:sp>
        <p:nvSpPr>
          <p:cNvPr id="33" name="Shape 27"/>
          <p:cNvSpPr/>
          <p:nvPr/>
        </p:nvSpPr>
        <p:spPr>
          <a:xfrm>
            <a:off x="3493008" y="3236976"/>
            <a:ext cx="1508760" cy="502920"/>
          </a:xfrm>
          <a:prstGeom prst="rect">
            <a:avLst/>
          </a:prstGeom>
          <a:solidFill>
            <a:schemeClr val="bg2"/>
          </a:solidFill>
          <a:ln w="12700">
            <a:solidFill>
              <a:schemeClr val="bg2"/>
            </a:solidFill>
            <a:prstDash val="solid"/>
          </a:ln>
        </p:spPr>
        <p:txBody>
          <a:bodyPr/>
          <a:lstStyle/>
          <a:p>
            <a:endParaRPr lang="en-DE"/>
          </a:p>
        </p:txBody>
      </p:sp>
      <p:sp>
        <p:nvSpPr>
          <p:cNvPr id="34" name="Text 28"/>
          <p:cNvSpPr txBox="1"/>
          <p:nvPr/>
        </p:nvSpPr>
        <p:spPr>
          <a:xfrm>
            <a:off x="3566160" y="3236976"/>
            <a:ext cx="1389888" cy="502920"/>
          </a:xfrm>
          <a:prstGeom prst="rect">
            <a:avLst/>
          </a:prstGeom>
          <a:noFill/>
          <a:ln/>
        </p:spPr>
        <p:txBody>
          <a:bodyPr wrap="square" lIns="0" tIns="0" rIns="0" bIns="0" rtlCol="0" anchor="ctr"/>
          <a:lstStyle/>
          <a:p>
            <a:pPr marL="0" indent="0">
              <a:buNone/>
            </a:pPr>
            <a:r>
              <a:rPr lang="en-US" sz="1050" b="1" dirty="0">
                <a:solidFill>
                  <a:schemeClr val="accent1"/>
                </a:solidFill>
                <a:latin typeface="Calibri" pitchFamily="34" charset="0"/>
                <a:ea typeface="Calibri" pitchFamily="34" charset="-122"/>
                <a:cs typeface="Calibri" pitchFamily="34" charset="-120"/>
              </a:rPr>
              <a:t>Rule or workflow</a:t>
            </a:r>
            <a:endParaRPr lang="en-US" sz="1050" dirty="0"/>
          </a:p>
        </p:txBody>
      </p:sp>
      <p:sp>
        <p:nvSpPr>
          <p:cNvPr id="35" name="Shape 29"/>
          <p:cNvSpPr/>
          <p:nvPr/>
        </p:nvSpPr>
        <p:spPr>
          <a:xfrm>
            <a:off x="1801368" y="3858768"/>
            <a:ext cx="0" cy="274320"/>
          </a:xfrm>
          <a:prstGeom prst="line">
            <a:avLst/>
          </a:prstGeom>
          <a:noFill/>
          <a:ln w="15875">
            <a:solidFill>
              <a:srgbClr val="9FB8AF"/>
            </a:solidFill>
            <a:prstDash val="solid"/>
            <a:tailEnd type="triangle"/>
          </a:ln>
        </p:spPr>
        <p:txBody>
          <a:bodyPr/>
          <a:lstStyle/>
          <a:p>
            <a:endParaRPr lang="en-DE"/>
          </a:p>
        </p:txBody>
      </p:sp>
      <p:sp>
        <p:nvSpPr>
          <p:cNvPr id="36" name="Text 30"/>
          <p:cNvSpPr txBox="1"/>
          <p:nvPr/>
        </p:nvSpPr>
        <p:spPr>
          <a:xfrm>
            <a:off x="1874520" y="3877056"/>
            <a:ext cx="365760" cy="201168"/>
          </a:xfrm>
          <a:prstGeom prst="rect">
            <a:avLst/>
          </a:prstGeom>
          <a:noFill/>
          <a:ln/>
        </p:spPr>
        <p:txBody>
          <a:bodyPr wrap="square" lIns="0" tIns="0" rIns="0" bIns="0" rtlCol="0" anchor="ctr"/>
          <a:lstStyle/>
          <a:p>
            <a:pPr marL="0" indent="0">
              <a:buNone/>
            </a:pPr>
            <a:r>
              <a:rPr lang="en-US" sz="900" dirty="0">
                <a:solidFill>
                  <a:srgbClr val="5E6E6A"/>
                </a:solidFill>
                <a:latin typeface="Calibri" pitchFamily="34" charset="0"/>
                <a:ea typeface="Calibri" pitchFamily="34" charset="-122"/>
                <a:cs typeface="Calibri" pitchFamily="34" charset="-120"/>
              </a:rPr>
              <a:t>no</a:t>
            </a:r>
            <a:endParaRPr lang="en-US" sz="900" dirty="0"/>
          </a:p>
        </p:txBody>
      </p:sp>
      <p:sp>
        <p:nvSpPr>
          <p:cNvPr id="37" name="triage question 2"/>
          <p:cNvSpPr/>
          <p:nvPr/>
        </p:nvSpPr>
        <p:spPr>
          <a:xfrm>
            <a:off x="548640" y="4133088"/>
            <a:ext cx="2514600" cy="749808"/>
          </a:xfrm>
          <a:prstGeom prst="roundRect">
            <a:avLst>
              <a:gd name="adj" fmla="val 9756"/>
            </a:avLst>
          </a:prstGeom>
          <a:solidFill>
            <a:schemeClr val="bg1"/>
          </a:solidFill>
          <a:ln w="15875">
            <a:solidFill>
              <a:schemeClr val="accent1"/>
            </a:solidFill>
            <a:prstDash val="solid"/>
          </a:ln>
        </p:spPr>
        <p:txBody>
          <a:bodyPr/>
          <a:lstStyle/>
          <a:p>
            <a:endParaRPr lang="en-DE"/>
          </a:p>
        </p:txBody>
      </p:sp>
      <p:sp>
        <p:nvSpPr>
          <p:cNvPr id="38" name="Text 32"/>
          <p:cNvSpPr txBox="1"/>
          <p:nvPr/>
        </p:nvSpPr>
        <p:spPr>
          <a:xfrm>
            <a:off x="658368" y="4133088"/>
            <a:ext cx="2286000" cy="749808"/>
          </a:xfrm>
          <a:prstGeom prst="rect">
            <a:avLst/>
          </a:prstGeom>
          <a:noFill/>
          <a:ln/>
        </p:spPr>
        <p:txBody>
          <a:bodyPr wrap="square" lIns="0" tIns="0" rIns="0" bIns="0" rtlCol="0" anchor="ctr"/>
          <a:lstStyle/>
          <a:p>
            <a:pPr marL="0" indent="0">
              <a:buNone/>
            </a:pPr>
            <a:r>
              <a:rPr lang="en-US" sz="1150" b="1" dirty="0">
                <a:solidFill>
                  <a:schemeClr val="tx1"/>
                </a:solidFill>
                <a:latin typeface="Calibri" pitchFamily="34" charset="0"/>
                <a:ea typeface="Calibri" pitchFamily="34" charset="-122"/>
                <a:cs typeface="Calibri" pitchFamily="34" charset="-120"/>
              </a:rPr>
              <a:t>Is free text read or written?</a:t>
            </a:r>
            <a:endParaRPr lang="en-US" sz="1150" dirty="0"/>
          </a:p>
        </p:txBody>
      </p:sp>
      <p:sp>
        <p:nvSpPr>
          <p:cNvPr id="39" name="Shape 33"/>
          <p:cNvSpPr/>
          <p:nvPr/>
        </p:nvSpPr>
        <p:spPr>
          <a:xfrm>
            <a:off x="3090672" y="4507992"/>
            <a:ext cx="365760" cy="0"/>
          </a:xfrm>
          <a:prstGeom prst="line">
            <a:avLst/>
          </a:prstGeom>
          <a:noFill/>
          <a:ln w="15875">
            <a:solidFill>
              <a:schemeClr val="accent1"/>
            </a:solidFill>
            <a:prstDash val="solid"/>
            <a:tailEnd type="triangle"/>
          </a:ln>
        </p:spPr>
        <p:txBody>
          <a:bodyPr/>
          <a:lstStyle/>
          <a:p>
            <a:endParaRPr lang="en-DE"/>
          </a:p>
        </p:txBody>
      </p:sp>
      <p:sp>
        <p:nvSpPr>
          <p:cNvPr id="40" name="Text 34"/>
          <p:cNvSpPr txBox="1"/>
          <p:nvPr/>
        </p:nvSpPr>
        <p:spPr>
          <a:xfrm>
            <a:off x="3108960" y="4251960"/>
            <a:ext cx="365760" cy="201168"/>
          </a:xfrm>
          <a:prstGeom prst="rect">
            <a:avLst/>
          </a:prstGeom>
          <a:noFill/>
          <a:ln/>
        </p:spPr>
        <p:txBody>
          <a:bodyPr wrap="square" lIns="0" tIns="0" rIns="0" bIns="0" rtlCol="0" anchor="ctr"/>
          <a:lstStyle/>
          <a:p>
            <a:pPr marL="0" indent="0">
              <a:buNone/>
            </a:pPr>
            <a:r>
              <a:rPr lang="en-US" sz="900" dirty="0">
                <a:solidFill>
                  <a:srgbClr val="5E6E6A"/>
                </a:solidFill>
                <a:latin typeface="Calibri" pitchFamily="34" charset="0"/>
                <a:ea typeface="Calibri" pitchFamily="34" charset="-122"/>
                <a:cs typeface="Calibri" pitchFamily="34" charset="-120"/>
              </a:rPr>
              <a:t>yes</a:t>
            </a:r>
            <a:endParaRPr lang="en-US" sz="900" dirty="0"/>
          </a:p>
        </p:txBody>
      </p:sp>
      <p:sp>
        <p:nvSpPr>
          <p:cNvPr id="41" name="Shape 35"/>
          <p:cNvSpPr/>
          <p:nvPr/>
        </p:nvSpPr>
        <p:spPr>
          <a:xfrm>
            <a:off x="3493008" y="4261104"/>
            <a:ext cx="1508760" cy="502920"/>
          </a:xfrm>
          <a:prstGeom prst="rect">
            <a:avLst/>
          </a:prstGeom>
          <a:solidFill>
            <a:schemeClr val="bg2"/>
          </a:solidFill>
          <a:ln w="12700">
            <a:solidFill>
              <a:schemeClr val="bg2"/>
            </a:solidFill>
            <a:prstDash val="solid"/>
          </a:ln>
        </p:spPr>
        <p:txBody>
          <a:bodyPr/>
          <a:lstStyle/>
          <a:p>
            <a:endParaRPr lang="en-DE"/>
          </a:p>
        </p:txBody>
      </p:sp>
      <p:sp>
        <p:nvSpPr>
          <p:cNvPr id="42" name="Text 36"/>
          <p:cNvSpPr txBox="1"/>
          <p:nvPr/>
        </p:nvSpPr>
        <p:spPr>
          <a:xfrm>
            <a:off x="3566160" y="4261104"/>
            <a:ext cx="1389888" cy="502920"/>
          </a:xfrm>
          <a:prstGeom prst="rect">
            <a:avLst/>
          </a:prstGeom>
          <a:noFill/>
          <a:ln/>
        </p:spPr>
        <p:txBody>
          <a:bodyPr wrap="square" lIns="0" tIns="0" rIns="0" bIns="0" rtlCol="0" anchor="ctr"/>
          <a:lstStyle/>
          <a:p>
            <a:pPr marL="0" indent="0">
              <a:buNone/>
            </a:pPr>
            <a:r>
              <a:rPr lang="en-US" sz="1050" b="1" dirty="0">
                <a:solidFill>
                  <a:schemeClr val="accent1"/>
                </a:solidFill>
                <a:latin typeface="Calibri" pitchFamily="34" charset="0"/>
                <a:ea typeface="Calibri" pitchFamily="34" charset="-122"/>
                <a:cs typeface="Calibri" pitchFamily="34" charset="-120"/>
              </a:rPr>
              <a:t>Single GenAI call</a:t>
            </a:r>
            <a:endParaRPr lang="en-US" sz="1050" dirty="0"/>
          </a:p>
        </p:txBody>
      </p:sp>
      <p:sp>
        <p:nvSpPr>
          <p:cNvPr id="43" name="Shape 37"/>
          <p:cNvSpPr/>
          <p:nvPr/>
        </p:nvSpPr>
        <p:spPr>
          <a:xfrm>
            <a:off x="1801368" y="4882896"/>
            <a:ext cx="0" cy="274320"/>
          </a:xfrm>
          <a:prstGeom prst="line">
            <a:avLst/>
          </a:prstGeom>
          <a:noFill/>
          <a:ln w="15875">
            <a:solidFill>
              <a:srgbClr val="9FB8AF"/>
            </a:solidFill>
            <a:prstDash val="solid"/>
            <a:tailEnd type="triangle"/>
          </a:ln>
        </p:spPr>
        <p:txBody>
          <a:bodyPr/>
          <a:lstStyle/>
          <a:p>
            <a:endParaRPr lang="en-DE"/>
          </a:p>
        </p:txBody>
      </p:sp>
      <p:sp>
        <p:nvSpPr>
          <p:cNvPr id="44" name="Text 38"/>
          <p:cNvSpPr txBox="1"/>
          <p:nvPr/>
        </p:nvSpPr>
        <p:spPr>
          <a:xfrm>
            <a:off x="1874520" y="4901184"/>
            <a:ext cx="365760" cy="201168"/>
          </a:xfrm>
          <a:prstGeom prst="rect">
            <a:avLst/>
          </a:prstGeom>
          <a:noFill/>
          <a:ln/>
        </p:spPr>
        <p:txBody>
          <a:bodyPr wrap="square" lIns="0" tIns="0" rIns="0" bIns="0" rtlCol="0" anchor="ctr"/>
          <a:lstStyle/>
          <a:p>
            <a:pPr marL="0" indent="0">
              <a:buNone/>
            </a:pPr>
            <a:r>
              <a:rPr lang="en-US" sz="900" dirty="0">
                <a:solidFill>
                  <a:srgbClr val="5E6E6A"/>
                </a:solidFill>
                <a:latin typeface="Calibri" pitchFamily="34" charset="0"/>
                <a:ea typeface="Calibri" pitchFamily="34" charset="-122"/>
                <a:cs typeface="Calibri" pitchFamily="34" charset="-120"/>
              </a:rPr>
              <a:t>no</a:t>
            </a:r>
            <a:endParaRPr lang="en-US" sz="900" dirty="0"/>
          </a:p>
        </p:txBody>
      </p:sp>
      <p:sp>
        <p:nvSpPr>
          <p:cNvPr id="45" name="triage question 3"/>
          <p:cNvSpPr/>
          <p:nvPr/>
        </p:nvSpPr>
        <p:spPr>
          <a:xfrm>
            <a:off x="548640" y="5157216"/>
            <a:ext cx="2514600" cy="749808"/>
          </a:xfrm>
          <a:prstGeom prst="roundRect">
            <a:avLst>
              <a:gd name="adj" fmla="val 9756"/>
            </a:avLst>
          </a:prstGeom>
          <a:solidFill>
            <a:schemeClr val="bg1"/>
          </a:solidFill>
          <a:ln w="15875">
            <a:solidFill>
              <a:schemeClr val="accent1"/>
            </a:solidFill>
            <a:prstDash val="solid"/>
          </a:ln>
        </p:spPr>
        <p:txBody>
          <a:bodyPr/>
          <a:lstStyle/>
          <a:p>
            <a:endParaRPr lang="en-DE"/>
          </a:p>
        </p:txBody>
      </p:sp>
      <p:sp>
        <p:nvSpPr>
          <p:cNvPr id="46" name="Text 40"/>
          <p:cNvSpPr txBox="1"/>
          <p:nvPr/>
        </p:nvSpPr>
        <p:spPr>
          <a:xfrm>
            <a:off x="658368" y="5157216"/>
            <a:ext cx="2286000" cy="749808"/>
          </a:xfrm>
          <a:prstGeom prst="rect">
            <a:avLst/>
          </a:prstGeom>
          <a:noFill/>
          <a:ln/>
        </p:spPr>
        <p:txBody>
          <a:bodyPr wrap="square" lIns="0" tIns="0" rIns="0" bIns="0" rtlCol="0" anchor="ctr"/>
          <a:lstStyle/>
          <a:p>
            <a:pPr marL="0" indent="0">
              <a:buNone/>
            </a:pPr>
            <a:r>
              <a:rPr lang="en-US" sz="1150" b="1" dirty="0">
                <a:solidFill>
                  <a:schemeClr val="tx1"/>
                </a:solidFill>
                <a:latin typeface="Calibri" pitchFamily="34" charset="0"/>
                <a:ea typeface="Calibri" pitchFamily="34" charset="-122"/>
                <a:cs typeface="Calibri" pitchFamily="34" charset="-120"/>
              </a:rPr>
              <a:t>Must it plan across tools or handle unknown cases?</a:t>
            </a:r>
            <a:endParaRPr lang="en-US" sz="1150" dirty="0"/>
          </a:p>
        </p:txBody>
      </p:sp>
      <p:sp>
        <p:nvSpPr>
          <p:cNvPr id="47" name="Shape 41"/>
          <p:cNvSpPr/>
          <p:nvPr/>
        </p:nvSpPr>
        <p:spPr>
          <a:xfrm>
            <a:off x="3090672" y="5532120"/>
            <a:ext cx="365760" cy="0"/>
          </a:xfrm>
          <a:prstGeom prst="line">
            <a:avLst/>
          </a:prstGeom>
          <a:noFill/>
          <a:ln w="15875">
            <a:solidFill>
              <a:schemeClr val="accent1"/>
            </a:solidFill>
            <a:prstDash val="solid"/>
            <a:tailEnd type="triangle"/>
          </a:ln>
        </p:spPr>
        <p:txBody>
          <a:bodyPr/>
          <a:lstStyle/>
          <a:p>
            <a:endParaRPr lang="en-DE"/>
          </a:p>
        </p:txBody>
      </p:sp>
      <p:sp>
        <p:nvSpPr>
          <p:cNvPr id="48" name="Text 42"/>
          <p:cNvSpPr txBox="1"/>
          <p:nvPr/>
        </p:nvSpPr>
        <p:spPr>
          <a:xfrm>
            <a:off x="3108960" y="5276088"/>
            <a:ext cx="365760" cy="201168"/>
          </a:xfrm>
          <a:prstGeom prst="rect">
            <a:avLst/>
          </a:prstGeom>
          <a:noFill/>
          <a:ln/>
        </p:spPr>
        <p:txBody>
          <a:bodyPr wrap="square" lIns="0" tIns="0" rIns="0" bIns="0" rtlCol="0" anchor="ctr"/>
          <a:lstStyle/>
          <a:p>
            <a:pPr marL="0" indent="0">
              <a:buNone/>
            </a:pPr>
            <a:r>
              <a:rPr lang="en-US" sz="900" dirty="0">
                <a:solidFill>
                  <a:srgbClr val="5E6E6A"/>
                </a:solidFill>
                <a:latin typeface="Calibri" pitchFamily="34" charset="0"/>
                <a:ea typeface="Calibri" pitchFamily="34" charset="-122"/>
                <a:cs typeface="Calibri" pitchFamily="34" charset="-120"/>
              </a:rPr>
              <a:t>yes</a:t>
            </a:r>
            <a:endParaRPr lang="en-US" sz="900" dirty="0"/>
          </a:p>
        </p:txBody>
      </p:sp>
      <p:sp>
        <p:nvSpPr>
          <p:cNvPr id="49" name="Shape 43"/>
          <p:cNvSpPr/>
          <p:nvPr/>
        </p:nvSpPr>
        <p:spPr>
          <a:xfrm>
            <a:off x="3493008" y="5285232"/>
            <a:ext cx="1508760" cy="502920"/>
          </a:xfrm>
          <a:prstGeom prst="rect">
            <a:avLst/>
          </a:prstGeom>
          <a:solidFill>
            <a:srgbClr val="FDECEC"/>
          </a:solidFill>
          <a:ln w="12700">
            <a:solidFill>
              <a:srgbClr val="FDECEC"/>
            </a:solidFill>
            <a:prstDash val="solid"/>
          </a:ln>
        </p:spPr>
        <p:txBody>
          <a:bodyPr/>
          <a:lstStyle/>
          <a:p>
            <a:endParaRPr lang="en-DE"/>
          </a:p>
        </p:txBody>
      </p:sp>
      <p:sp>
        <p:nvSpPr>
          <p:cNvPr id="50" name="Text 44"/>
          <p:cNvSpPr txBox="1"/>
          <p:nvPr/>
        </p:nvSpPr>
        <p:spPr>
          <a:xfrm>
            <a:off x="3566160" y="5285232"/>
            <a:ext cx="1389888" cy="502920"/>
          </a:xfrm>
          <a:prstGeom prst="rect">
            <a:avLst/>
          </a:prstGeom>
          <a:noFill/>
          <a:ln/>
        </p:spPr>
        <p:txBody>
          <a:bodyPr wrap="square" lIns="0" tIns="0" rIns="0" bIns="0" rtlCol="0" anchor="ctr"/>
          <a:lstStyle/>
          <a:p>
            <a:pPr marL="0" indent="0">
              <a:buNone/>
            </a:pPr>
            <a:r>
              <a:rPr lang="en-US" sz="1050" b="1" dirty="0">
                <a:solidFill>
                  <a:schemeClr val="accent6"/>
                </a:solidFill>
                <a:latin typeface="Calibri" pitchFamily="34" charset="0"/>
                <a:ea typeface="Calibri" pitchFamily="34" charset="-122"/>
                <a:cs typeface="Calibri" pitchFamily="34" charset="-120"/>
              </a:rPr>
              <a:t>Agent – with a one-line reason</a:t>
            </a:r>
            <a:endParaRPr lang="en-US" sz="1050" dirty="0"/>
          </a:p>
        </p:txBody>
      </p:sp>
      <p:sp>
        <p:nvSpPr>
          <p:cNvPr id="51" name="Text 45"/>
          <p:cNvSpPr txBox="1"/>
          <p:nvPr/>
        </p:nvSpPr>
        <p:spPr>
          <a:xfrm>
            <a:off x="5440680" y="2788920"/>
            <a:ext cx="4572000" cy="228600"/>
          </a:xfrm>
          <a:prstGeom prst="rect">
            <a:avLst/>
          </a:prstGeom>
          <a:noFill/>
          <a:ln/>
        </p:spPr>
        <p:txBody>
          <a:bodyPr wrap="square" lIns="0" tIns="0" rIns="0" bIns="0" rtlCol="0" anchor="ctr"/>
          <a:lstStyle/>
          <a:p>
            <a:pPr marL="0" indent="0">
              <a:buNone/>
            </a:pPr>
            <a:r>
              <a:rPr lang="en-US" sz="900" b="1" kern="0" spc="200" dirty="0">
                <a:solidFill>
                  <a:schemeClr val="accent1"/>
                </a:solidFill>
                <a:latin typeface="Arial" pitchFamily="34" charset="0"/>
                <a:ea typeface="Arial" pitchFamily="34" charset="-122"/>
                <a:cs typeface="Arial" pitchFamily="34" charset="-120"/>
              </a:rPr>
              <a:t>PROTOTYPE 2 · LENA’S DASHBOARD</a:t>
            </a:r>
            <a:endParaRPr lang="en-US" sz="900" dirty="0"/>
          </a:p>
        </p:txBody>
      </p:sp>
      <p:sp>
        <p:nvSpPr>
          <p:cNvPr id="52" name="Text 46"/>
          <p:cNvSpPr txBox="1"/>
          <p:nvPr/>
        </p:nvSpPr>
        <p:spPr>
          <a:xfrm>
            <a:off x="9784080" y="2788920"/>
            <a:ext cx="1828800" cy="228600"/>
          </a:xfrm>
          <a:prstGeom prst="rect">
            <a:avLst/>
          </a:prstGeom>
          <a:noFill/>
          <a:ln/>
        </p:spPr>
        <p:txBody>
          <a:bodyPr wrap="square" lIns="0" tIns="0" rIns="0" bIns="0" rtlCol="0" anchor="ctr"/>
          <a:lstStyle/>
          <a:p>
            <a:pPr marL="0" indent="0" algn="r">
              <a:buNone/>
            </a:pPr>
            <a:r>
              <a:rPr lang="en-US" sz="900" i="1" dirty="0">
                <a:solidFill>
                  <a:srgbClr val="5E6E6A"/>
                </a:solidFill>
                <a:latin typeface="Calibri" pitchFamily="34" charset="0"/>
                <a:ea typeface="Calibri" pitchFamily="34" charset="-122"/>
                <a:cs typeface="Calibri" pitchFamily="34" charset="-120"/>
              </a:rPr>
              <a:t>Illustrative values</a:t>
            </a:r>
            <a:endParaRPr lang="en-US" sz="900" dirty="0"/>
          </a:p>
        </p:txBody>
      </p:sp>
      <p:sp>
        <p:nvSpPr>
          <p:cNvPr id="53" name="dashboard mock"/>
          <p:cNvSpPr/>
          <p:nvPr/>
        </p:nvSpPr>
        <p:spPr>
          <a:xfrm>
            <a:off x="5440680" y="3090672"/>
            <a:ext cx="6199632" cy="3127248"/>
          </a:xfrm>
          <a:prstGeom prst="rect">
            <a:avLst/>
          </a:prstGeom>
          <a:solidFill>
            <a:schemeClr val="bg1"/>
          </a:solidFill>
          <a:ln w="12700">
            <a:solidFill>
              <a:srgbClr val="C9D6D0"/>
            </a:solidFill>
            <a:prstDash val="solid"/>
          </a:ln>
          <a:effectLst>
            <a:outerShdw blurRad="50800" dist="25400" dir="5400000" algn="bl" rotWithShape="0">
              <a:srgbClr val="000000">
                <a:alpha val="15000"/>
              </a:srgbClr>
            </a:outerShdw>
          </a:effectLst>
        </p:spPr>
        <p:txBody>
          <a:bodyPr/>
          <a:lstStyle/>
          <a:p>
            <a:endParaRPr lang="en-DE"/>
          </a:p>
        </p:txBody>
      </p:sp>
      <p:sp>
        <p:nvSpPr>
          <p:cNvPr id="54" name="Shape 48"/>
          <p:cNvSpPr/>
          <p:nvPr/>
        </p:nvSpPr>
        <p:spPr>
          <a:xfrm>
            <a:off x="5440680" y="3090672"/>
            <a:ext cx="6199632" cy="384048"/>
          </a:xfrm>
          <a:prstGeom prst="rect">
            <a:avLst/>
          </a:prstGeom>
          <a:solidFill>
            <a:schemeClr val="tx2"/>
          </a:solidFill>
          <a:ln w="12700">
            <a:solidFill>
              <a:schemeClr val="tx2"/>
            </a:solidFill>
            <a:prstDash val="solid"/>
          </a:ln>
        </p:spPr>
        <p:txBody>
          <a:bodyPr/>
          <a:lstStyle/>
          <a:p>
            <a:endParaRPr lang="en-DE"/>
          </a:p>
        </p:txBody>
      </p:sp>
      <p:sp>
        <p:nvSpPr>
          <p:cNvPr id="55" name="Text 49"/>
          <p:cNvSpPr txBox="1"/>
          <p:nvPr/>
        </p:nvSpPr>
        <p:spPr>
          <a:xfrm>
            <a:off x="5605272" y="3090672"/>
            <a:ext cx="4572000" cy="384048"/>
          </a:xfrm>
          <a:prstGeom prst="rect">
            <a:avLst/>
          </a:prstGeom>
          <a:noFill/>
          <a:ln/>
        </p:spPr>
        <p:txBody>
          <a:bodyPr wrap="square" lIns="0" tIns="0" rIns="0" bIns="0" rtlCol="0" anchor="ctr"/>
          <a:lstStyle/>
          <a:p>
            <a:pPr marL="0" indent="0">
              <a:buNone/>
            </a:pPr>
            <a:r>
              <a:rPr lang="en-US" sz="1200" b="1" dirty="0">
                <a:solidFill>
                  <a:schemeClr val="bg1"/>
                </a:solidFill>
                <a:latin typeface="Calibri" pitchFamily="34" charset="0"/>
                <a:ea typeface="Calibri" pitchFamily="34" charset="-122"/>
                <a:cs typeface="Calibri" pitchFamily="34" charset="-120"/>
              </a:rPr>
              <a:t>r</a:t>
            </a:r>
            <a:r>
              <a:rPr lang="en-US" sz="1200" b="1" dirty="0">
                <a:solidFill>
                  <a:schemeClr val="accent2"/>
                </a:solidFill>
                <a:latin typeface="Calibri" pitchFamily="34" charset="0"/>
                <a:ea typeface="Calibri" pitchFamily="34" charset="-122"/>
                <a:cs typeface="Calibri" pitchFamily="34" charset="-120"/>
              </a:rPr>
              <a:t>AI</a:t>
            </a:r>
            <a:r>
              <a:rPr lang="en-US" sz="1200" b="1" dirty="0">
                <a:solidFill>
                  <a:schemeClr val="bg1"/>
                </a:solidFill>
                <a:latin typeface="Calibri" pitchFamily="34" charset="0"/>
                <a:ea typeface="Calibri" pitchFamily="34" charset="-122"/>
                <a:cs typeface="Calibri" pitchFamily="34" charset="-120"/>
              </a:rPr>
              <a:t>ght  · Lena’s automations</a:t>
            </a:r>
            <a:endParaRPr lang="en-US" sz="1200" dirty="0"/>
          </a:p>
        </p:txBody>
      </p:sp>
      <p:sp>
        <p:nvSpPr>
          <p:cNvPr id="56" name="Text 50"/>
          <p:cNvSpPr txBox="1"/>
          <p:nvPr/>
        </p:nvSpPr>
        <p:spPr>
          <a:xfrm>
            <a:off x="5605272" y="3566160"/>
            <a:ext cx="1600200" cy="228600"/>
          </a:xfrm>
          <a:prstGeom prst="rect">
            <a:avLst/>
          </a:prstGeom>
          <a:noFill/>
          <a:ln/>
        </p:spPr>
        <p:txBody>
          <a:bodyPr wrap="square" lIns="0" tIns="0" rIns="0" bIns="0" rtlCol="0" anchor="ctr"/>
          <a:lstStyle/>
          <a:p>
            <a:pPr marL="0" indent="0">
              <a:buNone/>
            </a:pPr>
            <a:r>
              <a:rPr lang="en-US" sz="850" b="1" kern="0" spc="100" dirty="0">
                <a:solidFill>
                  <a:srgbClr val="5E6E6A"/>
                </a:solidFill>
                <a:latin typeface="Calibri" pitchFamily="34" charset="0"/>
                <a:ea typeface="Calibri" pitchFamily="34" charset="-122"/>
                <a:cs typeface="Calibri" pitchFamily="34" charset="-120"/>
              </a:rPr>
              <a:t>AGENT</a:t>
            </a:r>
            <a:endParaRPr lang="en-US" sz="850" dirty="0"/>
          </a:p>
        </p:txBody>
      </p:sp>
      <p:sp>
        <p:nvSpPr>
          <p:cNvPr id="57" name="Text 51"/>
          <p:cNvSpPr txBox="1"/>
          <p:nvPr/>
        </p:nvSpPr>
        <p:spPr>
          <a:xfrm>
            <a:off x="7205472" y="3566160"/>
            <a:ext cx="1325880" cy="228600"/>
          </a:xfrm>
          <a:prstGeom prst="rect">
            <a:avLst/>
          </a:prstGeom>
          <a:noFill/>
          <a:ln/>
        </p:spPr>
        <p:txBody>
          <a:bodyPr wrap="square" lIns="0" tIns="0" rIns="0" bIns="0" rtlCol="0" anchor="ctr"/>
          <a:lstStyle/>
          <a:p>
            <a:pPr marL="0" indent="0">
              <a:buNone/>
            </a:pPr>
            <a:r>
              <a:rPr lang="en-US" sz="850" b="1" kern="0" spc="100" dirty="0">
                <a:solidFill>
                  <a:srgbClr val="5E6E6A"/>
                </a:solidFill>
                <a:latin typeface="Calibri" pitchFamily="34" charset="0"/>
                <a:ea typeface="Calibri" pitchFamily="34" charset="-122"/>
                <a:cs typeface="Calibri" pitchFamily="34" charset="-120"/>
              </a:rPr>
              <a:t>TOKENS / MONTH</a:t>
            </a:r>
            <a:endParaRPr lang="en-US" sz="850" dirty="0"/>
          </a:p>
        </p:txBody>
      </p:sp>
      <p:sp>
        <p:nvSpPr>
          <p:cNvPr id="58" name="Text 52"/>
          <p:cNvSpPr txBox="1"/>
          <p:nvPr/>
        </p:nvSpPr>
        <p:spPr>
          <a:xfrm>
            <a:off x="8531352" y="3566160"/>
            <a:ext cx="1234440" cy="228600"/>
          </a:xfrm>
          <a:prstGeom prst="rect">
            <a:avLst/>
          </a:prstGeom>
          <a:noFill/>
          <a:ln/>
        </p:spPr>
        <p:txBody>
          <a:bodyPr wrap="square" lIns="0" tIns="0" rIns="0" bIns="0" rtlCol="0" anchor="ctr"/>
          <a:lstStyle/>
          <a:p>
            <a:pPr marL="0" indent="0">
              <a:buNone/>
            </a:pPr>
            <a:r>
              <a:rPr lang="en-US" sz="850" b="1" kern="0" spc="100" dirty="0">
                <a:solidFill>
                  <a:srgbClr val="5E6E6A"/>
                </a:solidFill>
                <a:latin typeface="Calibri" pitchFamily="34" charset="0"/>
                <a:ea typeface="Calibri" pitchFamily="34" charset="-122"/>
                <a:cs typeface="Calibri" pitchFamily="34" charset="-120"/>
              </a:rPr>
              <a:t>SAME PATH</a:t>
            </a:r>
            <a:endParaRPr lang="en-US" sz="850" dirty="0"/>
          </a:p>
        </p:txBody>
      </p:sp>
      <p:sp>
        <p:nvSpPr>
          <p:cNvPr id="59" name="Text 53"/>
          <p:cNvSpPr txBox="1"/>
          <p:nvPr/>
        </p:nvSpPr>
        <p:spPr>
          <a:xfrm>
            <a:off x="9765792" y="3566160"/>
            <a:ext cx="1828800" cy="228600"/>
          </a:xfrm>
          <a:prstGeom prst="rect">
            <a:avLst/>
          </a:prstGeom>
          <a:noFill/>
          <a:ln/>
        </p:spPr>
        <p:txBody>
          <a:bodyPr wrap="square" lIns="0" tIns="0" rIns="0" bIns="0" rtlCol="0" anchor="ctr"/>
          <a:lstStyle/>
          <a:p>
            <a:pPr marL="0" indent="0">
              <a:buNone/>
            </a:pPr>
            <a:r>
              <a:rPr lang="en-US" sz="850" b="1" kern="0" spc="100" dirty="0">
                <a:solidFill>
                  <a:srgbClr val="5E6E6A"/>
                </a:solidFill>
                <a:latin typeface="Calibri" pitchFamily="34" charset="0"/>
                <a:ea typeface="Calibri" pitchFamily="34" charset="-122"/>
                <a:cs typeface="Calibri" pitchFamily="34" charset="-120"/>
              </a:rPr>
              <a:t>RAIGHT SUGGESTS</a:t>
            </a:r>
            <a:endParaRPr lang="en-US" sz="850" dirty="0"/>
          </a:p>
        </p:txBody>
      </p:sp>
      <p:sp>
        <p:nvSpPr>
          <p:cNvPr id="60" name="Text 54"/>
          <p:cNvSpPr txBox="1"/>
          <p:nvPr/>
        </p:nvSpPr>
        <p:spPr>
          <a:xfrm>
            <a:off x="5605272" y="3867912"/>
            <a:ext cx="1554480" cy="457200"/>
          </a:xfrm>
          <a:prstGeom prst="rect">
            <a:avLst/>
          </a:prstGeom>
          <a:noFill/>
          <a:ln/>
        </p:spPr>
        <p:txBody>
          <a:bodyPr wrap="square" lIns="0" tIns="0" rIns="0" bIns="0" rtlCol="0" anchor="ctr"/>
          <a:lstStyle/>
          <a:p>
            <a:pPr marL="0" indent="0">
              <a:buNone/>
            </a:pPr>
            <a:r>
              <a:rPr lang="en-US" sz="1150" b="1" dirty="0">
                <a:solidFill>
                  <a:schemeClr val="tx1"/>
                </a:solidFill>
                <a:latin typeface="Calibri" pitchFamily="34" charset="0"/>
                <a:ea typeface="Calibri" pitchFamily="34" charset="-122"/>
                <a:cs typeface="Calibri" pitchFamily="34" charset="-120"/>
              </a:rPr>
              <a:t>Application status</a:t>
            </a:r>
            <a:endParaRPr lang="en-US" sz="1150" dirty="0"/>
          </a:p>
        </p:txBody>
      </p:sp>
      <p:sp>
        <p:nvSpPr>
          <p:cNvPr id="61" name="Shape 55"/>
          <p:cNvSpPr/>
          <p:nvPr/>
        </p:nvSpPr>
        <p:spPr>
          <a:xfrm>
            <a:off x="7205472" y="4032504"/>
            <a:ext cx="1143000" cy="128016"/>
          </a:xfrm>
          <a:prstGeom prst="rect">
            <a:avLst/>
          </a:prstGeom>
          <a:solidFill>
            <a:srgbClr val="E3EAE6"/>
          </a:solidFill>
          <a:ln w="12700">
            <a:solidFill>
              <a:srgbClr val="E3EAE6"/>
            </a:solidFill>
            <a:prstDash val="solid"/>
          </a:ln>
        </p:spPr>
        <p:txBody>
          <a:bodyPr/>
          <a:lstStyle/>
          <a:p>
            <a:endParaRPr lang="en-DE"/>
          </a:p>
        </p:txBody>
      </p:sp>
      <p:sp>
        <p:nvSpPr>
          <p:cNvPr id="62" name="Shape 56"/>
          <p:cNvSpPr/>
          <p:nvPr/>
        </p:nvSpPr>
        <p:spPr>
          <a:xfrm>
            <a:off x="7205472" y="4032504"/>
            <a:ext cx="1085850" cy="128016"/>
          </a:xfrm>
          <a:prstGeom prst="rect">
            <a:avLst/>
          </a:prstGeom>
          <a:solidFill>
            <a:schemeClr val="accent3"/>
          </a:solidFill>
          <a:ln w="12700">
            <a:solidFill>
              <a:schemeClr val="accent3"/>
            </a:solidFill>
            <a:prstDash val="solid"/>
          </a:ln>
        </p:spPr>
        <p:txBody>
          <a:bodyPr/>
          <a:lstStyle/>
          <a:p>
            <a:endParaRPr lang="en-DE"/>
          </a:p>
        </p:txBody>
      </p:sp>
      <p:sp>
        <p:nvSpPr>
          <p:cNvPr id="63" name="Text 57"/>
          <p:cNvSpPr txBox="1"/>
          <p:nvPr/>
        </p:nvSpPr>
        <p:spPr>
          <a:xfrm>
            <a:off x="8531352" y="3867912"/>
            <a:ext cx="1097280" cy="457200"/>
          </a:xfrm>
          <a:prstGeom prst="rect">
            <a:avLst/>
          </a:prstGeom>
          <a:noFill/>
          <a:ln/>
        </p:spPr>
        <p:txBody>
          <a:bodyPr wrap="square" lIns="0" tIns="0" rIns="0" bIns="0" rtlCol="0" anchor="ctr"/>
          <a:lstStyle/>
          <a:p>
            <a:pPr marL="0" indent="0">
              <a:buNone/>
            </a:pPr>
            <a:r>
              <a:rPr lang="en-US" sz="1400" b="1" dirty="0">
                <a:solidFill>
                  <a:schemeClr val="accent6"/>
                </a:solidFill>
                <a:latin typeface="Calibri" pitchFamily="34" charset="0"/>
                <a:ea typeface="Calibri" pitchFamily="34" charset="-122"/>
                <a:cs typeface="Calibri" pitchFamily="34" charset="-120"/>
              </a:rPr>
              <a:t>94%</a:t>
            </a:r>
            <a:endParaRPr lang="en-US" sz="1400" dirty="0"/>
          </a:p>
        </p:txBody>
      </p:sp>
      <p:sp>
        <p:nvSpPr>
          <p:cNvPr id="64" name="Shape 58"/>
          <p:cNvSpPr/>
          <p:nvPr/>
        </p:nvSpPr>
        <p:spPr>
          <a:xfrm>
            <a:off x="9765792" y="3941064"/>
            <a:ext cx="1783080" cy="329184"/>
          </a:xfrm>
          <a:prstGeom prst="roundRect">
            <a:avLst>
              <a:gd name="adj" fmla="val 50000"/>
            </a:avLst>
          </a:prstGeom>
          <a:solidFill>
            <a:schemeClr val="accent1"/>
          </a:solidFill>
          <a:ln w="12700">
            <a:solidFill>
              <a:schemeClr val="accent1"/>
            </a:solidFill>
            <a:prstDash val="solid"/>
          </a:ln>
        </p:spPr>
        <p:txBody>
          <a:bodyPr/>
          <a:lstStyle/>
          <a:p>
            <a:endParaRPr lang="en-DE"/>
          </a:p>
        </p:txBody>
      </p:sp>
      <p:sp>
        <p:nvSpPr>
          <p:cNvPr id="65" name="Text 59"/>
          <p:cNvSpPr txBox="1"/>
          <p:nvPr/>
        </p:nvSpPr>
        <p:spPr>
          <a:xfrm>
            <a:off x="9765792" y="3941064"/>
            <a:ext cx="1783080" cy="329184"/>
          </a:xfrm>
          <a:prstGeom prst="rect">
            <a:avLst/>
          </a:prstGeom>
          <a:no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Convert to workflow  ›</a:t>
            </a:r>
            <a:endParaRPr lang="en-US" sz="1000" dirty="0"/>
          </a:p>
        </p:txBody>
      </p:sp>
      <p:sp>
        <p:nvSpPr>
          <p:cNvPr id="66" name="Shape 60"/>
          <p:cNvSpPr/>
          <p:nvPr/>
        </p:nvSpPr>
        <p:spPr>
          <a:xfrm>
            <a:off x="5605272" y="4315968"/>
            <a:ext cx="5870448" cy="0"/>
          </a:xfrm>
          <a:prstGeom prst="line">
            <a:avLst/>
          </a:prstGeom>
          <a:noFill/>
          <a:ln w="9525">
            <a:solidFill>
              <a:srgbClr val="E3EAE6"/>
            </a:solidFill>
            <a:prstDash val="solid"/>
          </a:ln>
        </p:spPr>
        <p:txBody>
          <a:bodyPr/>
          <a:lstStyle/>
          <a:p>
            <a:endParaRPr lang="en-DE"/>
          </a:p>
        </p:txBody>
      </p:sp>
      <p:sp>
        <p:nvSpPr>
          <p:cNvPr id="67" name="Text 61"/>
          <p:cNvSpPr txBox="1"/>
          <p:nvPr/>
        </p:nvSpPr>
        <p:spPr>
          <a:xfrm>
            <a:off x="5605272" y="4370832"/>
            <a:ext cx="1554480" cy="457200"/>
          </a:xfrm>
          <a:prstGeom prst="rect">
            <a:avLst/>
          </a:prstGeom>
          <a:noFill/>
          <a:ln/>
        </p:spPr>
        <p:txBody>
          <a:bodyPr wrap="square" lIns="0" tIns="0" rIns="0" bIns="0" rtlCol="0" anchor="ctr"/>
          <a:lstStyle/>
          <a:p>
            <a:pPr marL="0" indent="0">
              <a:buNone/>
            </a:pPr>
            <a:r>
              <a:rPr lang="en-US" sz="1150" b="1" dirty="0">
                <a:solidFill>
                  <a:schemeClr val="tx1"/>
                </a:solidFill>
                <a:latin typeface="Calibri" pitchFamily="34" charset="0"/>
                <a:ea typeface="Calibri" pitchFamily="34" charset="-122"/>
                <a:cs typeface="Calibri" pitchFamily="34" charset="-120"/>
              </a:rPr>
              <a:t>Document check</a:t>
            </a:r>
            <a:endParaRPr lang="en-US" sz="1150" dirty="0"/>
          </a:p>
        </p:txBody>
      </p:sp>
      <p:sp>
        <p:nvSpPr>
          <p:cNvPr id="68" name="Shape 62"/>
          <p:cNvSpPr/>
          <p:nvPr/>
        </p:nvSpPr>
        <p:spPr>
          <a:xfrm>
            <a:off x="7205472" y="4535424"/>
            <a:ext cx="1143000" cy="128016"/>
          </a:xfrm>
          <a:prstGeom prst="rect">
            <a:avLst/>
          </a:prstGeom>
          <a:solidFill>
            <a:srgbClr val="E3EAE6"/>
          </a:solidFill>
          <a:ln w="12700">
            <a:solidFill>
              <a:srgbClr val="E3EAE6"/>
            </a:solidFill>
            <a:prstDash val="solid"/>
          </a:ln>
        </p:spPr>
        <p:txBody>
          <a:bodyPr/>
          <a:lstStyle/>
          <a:p>
            <a:endParaRPr lang="en-DE"/>
          </a:p>
        </p:txBody>
      </p:sp>
      <p:sp>
        <p:nvSpPr>
          <p:cNvPr id="69" name="Shape 63"/>
          <p:cNvSpPr/>
          <p:nvPr/>
        </p:nvSpPr>
        <p:spPr>
          <a:xfrm>
            <a:off x="7205472" y="4535424"/>
            <a:ext cx="800100" cy="128016"/>
          </a:xfrm>
          <a:prstGeom prst="rect">
            <a:avLst/>
          </a:prstGeom>
          <a:solidFill>
            <a:schemeClr val="accent3"/>
          </a:solidFill>
          <a:ln w="12700">
            <a:solidFill>
              <a:schemeClr val="accent3"/>
            </a:solidFill>
            <a:prstDash val="solid"/>
          </a:ln>
        </p:spPr>
        <p:txBody>
          <a:bodyPr/>
          <a:lstStyle/>
          <a:p>
            <a:endParaRPr lang="en-DE"/>
          </a:p>
        </p:txBody>
      </p:sp>
      <p:sp>
        <p:nvSpPr>
          <p:cNvPr id="70" name="Text 64"/>
          <p:cNvSpPr txBox="1"/>
          <p:nvPr/>
        </p:nvSpPr>
        <p:spPr>
          <a:xfrm>
            <a:off x="8531352" y="4370832"/>
            <a:ext cx="1097280" cy="457200"/>
          </a:xfrm>
          <a:prstGeom prst="rect">
            <a:avLst/>
          </a:prstGeom>
          <a:noFill/>
          <a:ln/>
        </p:spPr>
        <p:txBody>
          <a:bodyPr wrap="square" lIns="0" tIns="0" rIns="0" bIns="0" rtlCol="0" anchor="ctr"/>
          <a:lstStyle/>
          <a:p>
            <a:pPr marL="0" indent="0">
              <a:buNone/>
            </a:pPr>
            <a:r>
              <a:rPr lang="en-US" sz="1400" b="1" dirty="0">
                <a:solidFill>
                  <a:schemeClr val="accent6"/>
                </a:solidFill>
                <a:latin typeface="Calibri" pitchFamily="34" charset="0"/>
                <a:ea typeface="Calibri" pitchFamily="34" charset="-122"/>
                <a:cs typeface="Calibri" pitchFamily="34" charset="-120"/>
              </a:rPr>
              <a:t>91%</a:t>
            </a:r>
            <a:endParaRPr lang="en-US" sz="1400" dirty="0"/>
          </a:p>
        </p:txBody>
      </p:sp>
      <p:sp>
        <p:nvSpPr>
          <p:cNvPr id="71" name="Shape 65"/>
          <p:cNvSpPr/>
          <p:nvPr/>
        </p:nvSpPr>
        <p:spPr>
          <a:xfrm>
            <a:off x="9765792" y="4443984"/>
            <a:ext cx="1783080" cy="329184"/>
          </a:xfrm>
          <a:prstGeom prst="roundRect">
            <a:avLst>
              <a:gd name="adj" fmla="val 50000"/>
            </a:avLst>
          </a:prstGeom>
          <a:solidFill>
            <a:schemeClr val="accent1"/>
          </a:solidFill>
          <a:ln w="12700">
            <a:solidFill>
              <a:schemeClr val="accent1"/>
            </a:solidFill>
            <a:prstDash val="solid"/>
          </a:ln>
        </p:spPr>
        <p:txBody>
          <a:bodyPr/>
          <a:lstStyle/>
          <a:p>
            <a:endParaRPr lang="en-DE"/>
          </a:p>
        </p:txBody>
      </p:sp>
      <p:sp>
        <p:nvSpPr>
          <p:cNvPr id="72" name="Text 66"/>
          <p:cNvSpPr txBox="1"/>
          <p:nvPr/>
        </p:nvSpPr>
        <p:spPr>
          <a:xfrm>
            <a:off x="9765792" y="4443984"/>
            <a:ext cx="1783080" cy="329184"/>
          </a:xfrm>
          <a:prstGeom prst="rect">
            <a:avLst/>
          </a:prstGeom>
          <a:no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Replace with rule  ›</a:t>
            </a:r>
            <a:endParaRPr lang="en-US" sz="1000" dirty="0"/>
          </a:p>
        </p:txBody>
      </p:sp>
      <p:sp>
        <p:nvSpPr>
          <p:cNvPr id="73" name="Shape 67"/>
          <p:cNvSpPr/>
          <p:nvPr/>
        </p:nvSpPr>
        <p:spPr>
          <a:xfrm>
            <a:off x="5605272" y="4818888"/>
            <a:ext cx="5870448" cy="0"/>
          </a:xfrm>
          <a:prstGeom prst="line">
            <a:avLst/>
          </a:prstGeom>
          <a:noFill/>
          <a:ln w="9525">
            <a:solidFill>
              <a:srgbClr val="E3EAE6"/>
            </a:solidFill>
            <a:prstDash val="solid"/>
          </a:ln>
        </p:spPr>
        <p:txBody>
          <a:bodyPr/>
          <a:lstStyle/>
          <a:p>
            <a:endParaRPr lang="en-DE"/>
          </a:p>
        </p:txBody>
      </p:sp>
      <p:sp>
        <p:nvSpPr>
          <p:cNvPr id="74" name="Text 68"/>
          <p:cNvSpPr txBox="1"/>
          <p:nvPr/>
        </p:nvSpPr>
        <p:spPr>
          <a:xfrm>
            <a:off x="5605272" y="4873752"/>
            <a:ext cx="1554480" cy="457200"/>
          </a:xfrm>
          <a:prstGeom prst="rect">
            <a:avLst/>
          </a:prstGeom>
          <a:noFill/>
          <a:ln/>
        </p:spPr>
        <p:txBody>
          <a:bodyPr wrap="square" lIns="0" tIns="0" rIns="0" bIns="0" rtlCol="0" anchor="ctr"/>
          <a:lstStyle/>
          <a:p>
            <a:pPr marL="0" indent="0">
              <a:buNone/>
            </a:pPr>
            <a:r>
              <a:rPr lang="en-US" sz="1150" b="1" dirty="0">
                <a:solidFill>
                  <a:schemeClr val="tx1"/>
                </a:solidFill>
                <a:latin typeface="Calibri" pitchFamily="34" charset="0"/>
                <a:ea typeface="Calibri" pitchFamily="34" charset="-122"/>
                <a:cs typeface="Calibri" pitchFamily="34" charset="-120"/>
              </a:rPr>
              <a:t>Offer letters</a:t>
            </a:r>
            <a:endParaRPr lang="en-US" sz="1150" dirty="0"/>
          </a:p>
        </p:txBody>
      </p:sp>
      <p:sp>
        <p:nvSpPr>
          <p:cNvPr id="75" name="Shape 69"/>
          <p:cNvSpPr/>
          <p:nvPr/>
        </p:nvSpPr>
        <p:spPr>
          <a:xfrm>
            <a:off x="7205472" y="5038344"/>
            <a:ext cx="1143000" cy="128016"/>
          </a:xfrm>
          <a:prstGeom prst="rect">
            <a:avLst/>
          </a:prstGeom>
          <a:solidFill>
            <a:srgbClr val="E3EAE6"/>
          </a:solidFill>
          <a:ln w="12700">
            <a:solidFill>
              <a:srgbClr val="E3EAE6"/>
            </a:solidFill>
            <a:prstDash val="solid"/>
          </a:ln>
        </p:spPr>
        <p:txBody>
          <a:bodyPr/>
          <a:lstStyle/>
          <a:p>
            <a:endParaRPr lang="en-DE"/>
          </a:p>
        </p:txBody>
      </p:sp>
      <p:sp>
        <p:nvSpPr>
          <p:cNvPr id="76" name="Shape 70"/>
          <p:cNvSpPr/>
          <p:nvPr/>
        </p:nvSpPr>
        <p:spPr>
          <a:xfrm>
            <a:off x="7205472" y="5038344"/>
            <a:ext cx="628650" cy="128016"/>
          </a:xfrm>
          <a:prstGeom prst="rect">
            <a:avLst/>
          </a:prstGeom>
          <a:solidFill>
            <a:schemeClr val="accent3"/>
          </a:solidFill>
          <a:ln w="12700">
            <a:solidFill>
              <a:schemeClr val="accent3"/>
            </a:solidFill>
            <a:prstDash val="solid"/>
          </a:ln>
        </p:spPr>
        <p:txBody>
          <a:bodyPr/>
          <a:lstStyle/>
          <a:p>
            <a:endParaRPr lang="en-DE"/>
          </a:p>
        </p:txBody>
      </p:sp>
      <p:sp>
        <p:nvSpPr>
          <p:cNvPr id="77" name="Text 71"/>
          <p:cNvSpPr txBox="1"/>
          <p:nvPr/>
        </p:nvSpPr>
        <p:spPr>
          <a:xfrm>
            <a:off x="8531352" y="4873752"/>
            <a:ext cx="1097280" cy="457200"/>
          </a:xfrm>
          <a:prstGeom prst="rect">
            <a:avLst/>
          </a:prstGeom>
          <a:noFill/>
          <a:ln/>
        </p:spPr>
        <p:txBody>
          <a:bodyPr wrap="square" lIns="0" tIns="0" rIns="0" bIns="0" rtlCol="0" anchor="ctr"/>
          <a:lstStyle/>
          <a:p>
            <a:pPr marL="0" indent="0">
              <a:buNone/>
            </a:pPr>
            <a:r>
              <a:rPr lang="en-US" sz="1400" b="1" dirty="0">
                <a:solidFill>
                  <a:schemeClr val="accent6"/>
                </a:solidFill>
                <a:latin typeface="Calibri" pitchFamily="34" charset="0"/>
                <a:ea typeface="Calibri" pitchFamily="34" charset="-122"/>
                <a:cs typeface="Calibri" pitchFamily="34" charset="-120"/>
              </a:rPr>
              <a:t>88%</a:t>
            </a:r>
            <a:endParaRPr lang="en-US" sz="1400" dirty="0"/>
          </a:p>
        </p:txBody>
      </p:sp>
      <p:sp>
        <p:nvSpPr>
          <p:cNvPr id="78" name="Shape 72"/>
          <p:cNvSpPr/>
          <p:nvPr/>
        </p:nvSpPr>
        <p:spPr>
          <a:xfrm>
            <a:off x="9765792" y="4946904"/>
            <a:ext cx="1783080" cy="329184"/>
          </a:xfrm>
          <a:prstGeom prst="roundRect">
            <a:avLst>
              <a:gd name="adj" fmla="val 50000"/>
            </a:avLst>
          </a:prstGeom>
          <a:solidFill>
            <a:schemeClr val="accent1"/>
          </a:solidFill>
          <a:ln w="12700">
            <a:solidFill>
              <a:schemeClr val="accent1"/>
            </a:solidFill>
            <a:prstDash val="solid"/>
          </a:ln>
        </p:spPr>
        <p:txBody>
          <a:bodyPr/>
          <a:lstStyle/>
          <a:p>
            <a:endParaRPr lang="en-DE"/>
          </a:p>
        </p:txBody>
      </p:sp>
      <p:sp>
        <p:nvSpPr>
          <p:cNvPr id="79" name="Text 73"/>
          <p:cNvSpPr txBox="1"/>
          <p:nvPr/>
        </p:nvSpPr>
        <p:spPr>
          <a:xfrm>
            <a:off x="9765792" y="4946904"/>
            <a:ext cx="1783080" cy="329184"/>
          </a:xfrm>
          <a:prstGeom prst="rect">
            <a:avLst/>
          </a:prstGeom>
          <a:no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Use template  ›</a:t>
            </a:r>
            <a:endParaRPr lang="en-US" sz="1000" dirty="0"/>
          </a:p>
        </p:txBody>
      </p:sp>
      <p:sp>
        <p:nvSpPr>
          <p:cNvPr id="80" name="Shape 74"/>
          <p:cNvSpPr/>
          <p:nvPr/>
        </p:nvSpPr>
        <p:spPr>
          <a:xfrm>
            <a:off x="5605272" y="5321808"/>
            <a:ext cx="5870448" cy="0"/>
          </a:xfrm>
          <a:prstGeom prst="line">
            <a:avLst/>
          </a:prstGeom>
          <a:noFill/>
          <a:ln w="9525">
            <a:solidFill>
              <a:srgbClr val="E3EAE6"/>
            </a:solidFill>
            <a:prstDash val="solid"/>
          </a:ln>
        </p:spPr>
        <p:txBody>
          <a:bodyPr/>
          <a:lstStyle/>
          <a:p>
            <a:endParaRPr lang="en-DE"/>
          </a:p>
        </p:txBody>
      </p:sp>
      <p:sp>
        <p:nvSpPr>
          <p:cNvPr id="81" name="Text 75"/>
          <p:cNvSpPr txBox="1"/>
          <p:nvPr/>
        </p:nvSpPr>
        <p:spPr>
          <a:xfrm>
            <a:off x="5605272" y="5376672"/>
            <a:ext cx="1554480" cy="457200"/>
          </a:xfrm>
          <a:prstGeom prst="rect">
            <a:avLst/>
          </a:prstGeom>
          <a:noFill/>
          <a:ln/>
        </p:spPr>
        <p:txBody>
          <a:bodyPr wrap="square" lIns="0" tIns="0" rIns="0" bIns="0" rtlCol="0" anchor="ctr"/>
          <a:lstStyle/>
          <a:p>
            <a:pPr marL="0" indent="0">
              <a:buNone/>
            </a:pPr>
            <a:r>
              <a:rPr lang="en-US" sz="1150" b="1" dirty="0">
                <a:solidFill>
                  <a:schemeClr val="tx1"/>
                </a:solidFill>
                <a:latin typeface="Calibri" pitchFamily="34" charset="0"/>
                <a:ea typeface="Calibri" pitchFamily="34" charset="-122"/>
                <a:cs typeface="Calibri" pitchFamily="34" charset="-120"/>
              </a:rPr>
              <a:t>Interview scheduling</a:t>
            </a:r>
            <a:endParaRPr lang="en-US" sz="1150" dirty="0"/>
          </a:p>
        </p:txBody>
      </p:sp>
      <p:sp>
        <p:nvSpPr>
          <p:cNvPr id="82" name="Shape 76"/>
          <p:cNvSpPr/>
          <p:nvPr/>
        </p:nvSpPr>
        <p:spPr>
          <a:xfrm>
            <a:off x="7205472" y="5541264"/>
            <a:ext cx="1143000" cy="128016"/>
          </a:xfrm>
          <a:prstGeom prst="rect">
            <a:avLst/>
          </a:prstGeom>
          <a:solidFill>
            <a:srgbClr val="E3EAE6"/>
          </a:solidFill>
          <a:ln w="12700">
            <a:solidFill>
              <a:srgbClr val="E3EAE6"/>
            </a:solidFill>
            <a:prstDash val="solid"/>
          </a:ln>
        </p:spPr>
        <p:txBody>
          <a:bodyPr/>
          <a:lstStyle/>
          <a:p>
            <a:endParaRPr lang="en-DE"/>
          </a:p>
        </p:txBody>
      </p:sp>
      <p:sp>
        <p:nvSpPr>
          <p:cNvPr id="83" name="Shape 77"/>
          <p:cNvSpPr/>
          <p:nvPr/>
        </p:nvSpPr>
        <p:spPr>
          <a:xfrm>
            <a:off x="7205472" y="5541264"/>
            <a:ext cx="914400" cy="128016"/>
          </a:xfrm>
          <a:prstGeom prst="rect">
            <a:avLst/>
          </a:prstGeom>
          <a:solidFill>
            <a:schemeClr val="accent3"/>
          </a:solidFill>
          <a:ln w="12700">
            <a:solidFill>
              <a:schemeClr val="accent3"/>
            </a:solidFill>
            <a:prstDash val="solid"/>
          </a:ln>
        </p:spPr>
        <p:txBody>
          <a:bodyPr/>
          <a:lstStyle/>
          <a:p>
            <a:endParaRPr lang="en-DE"/>
          </a:p>
        </p:txBody>
      </p:sp>
      <p:sp>
        <p:nvSpPr>
          <p:cNvPr id="84" name="Text 78"/>
          <p:cNvSpPr txBox="1"/>
          <p:nvPr/>
        </p:nvSpPr>
        <p:spPr>
          <a:xfrm>
            <a:off x="8531352" y="5376672"/>
            <a:ext cx="1097280" cy="457200"/>
          </a:xfrm>
          <a:prstGeom prst="rect">
            <a:avLst/>
          </a:prstGeom>
          <a:noFill/>
          <a:ln/>
        </p:spPr>
        <p:txBody>
          <a:bodyPr wrap="square" lIns="0" tIns="0" rIns="0" bIns="0" rtlCol="0" anchor="ctr"/>
          <a:lstStyle/>
          <a:p>
            <a:pPr marL="0" indent="0">
              <a:buNone/>
            </a:pPr>
            <a:r>
              <a:rPr lang="en-US" sz="1400" b="1" dirty="0">
                <a:solidFill>
                  <a:schemeClr val="accent1"/>
                </a:solidFill>
                <a:latin typeface="Calibri" pitchFamily="34" charset="0"/>
                <a:ea typeface="Calibri" pitchFamily="34" charset="-122"/>
                <a:cs typeface="Calibri" pitchFamily="34" charset="-120"/>
              </a:rPr>
              <a:t>52%</a:t>
            </a:r>
            <a:endParaRPr lang="en-US" sz="1400" dirty="0"/>
          </a:p>
        </p:txBody>
      </p:sp>
      <p:sp>
        <p:nvSpPr>
          <p:cNvPr id="85" name="Shape 79"/>
          <p:cNvSpPr/>
          <p:nvPr/>
        </p:nvSpPr>
        <p:spPr>
          <a:xfrm>
            <a:off x="9765792" y="5449824"/>
            <a:ext cx="1783080" cy="329184"/>
          </a:xfrm>
          <a:prstGeom prst="roundRect">
            <a:avLst>
              <a:gd name="adj" fmla="val 50000"/>
            </a:avLst>
          </a:prstGeom>
          <a:solidFill>
            <a:schemeClr val="bg2"/>
          </a:solidFill>
          <a:ln w="12700">
            <a:solidFill>
              <a:schemeClr val="bg2"/>
            </a:solidFill>
            <a:prstDash val="solid"/>
          </a:ln>
        </p:spPr>
        <p:txBody>
          <a:bodyPr/>
          <a:lstStyle/>
          <a:p>
            <a:endParaRPr lang="en-DE"/>
          </a:p>
        </p:txBody>
      </p:sp>
      <p:sp>
        <p:nvSpPr>
          <p:cNvPr id="86" name="Text 80"/>
          <p:cNvSpPr txBox="1"/>
          <p:nvPr/>
        </p:nvSpPr>
        <p:spPr>
          <a:xfrm>
            <a:off x="9765792" y="5449824"/>
            <a:ext cx="1783080" cy="329184"/>
          </a:xfrm>
          <a:prstGeom prst="rect">
            <a:avLst/>
          </a:prstGeom>
          <a:noFill/>
          <a:ln/>
        </p:spPr>
        <p:txBody>
          <a:bodyPr wrap="square" lIns="0" tIns="0" rIns="0" bIns="0" rtlCol="0" anchor="ctr"/>
          <a:lstStyle/>
          <a:p>
            <a:pPr marL="0" indent="0" algn="ctr">
              <a:buNone/>
            </a:pPr>
            <a:r>
              <a:rPr lang="en-US" sz="1000" b="1" dirty="0">
                <a:solidFill>
                  <a:schemeClr val="accent1"/>
                </a:solidFill>
                <a:latin typeface="Calibri" pitchFamily="34" charset="0"/>
                <a:ea typeface="Calibri" pitchFamily="34" charset="-122"/>
                <a:cs typeface="Calibri" pitchFamily="34" charset="-120"/>
              </a:rPr>
              <a:t>Keep for complex panels</a:t>
            </a:r>
            <a:endParaRPr lang="en-US" sz="1000" dirty="0"/>
          </a:p>
        </p:txBody>
      </p:sp>
      <p:sp>
        <p:nvSpPr>
          <p:cNvPr id="87" name="Text 81"/>
          <p:cNvSpPr txBox="1"/>
          <p:nvPr/>
        </p:nvSpPr>
        <p:spPr>
          <a:xfrm>
            <a:off x="5605272" y="5897880"/>
            <a:ext cx="5870448" cy="274320"/>
          </a:xfrm>
          <a:prstGeom prst="rect">
            <a:avLst/>
          </a:prstGeom>
          <a:noFill/>
          <a:ln/>
        </p:spPr>
        <p:txBody>
          <a:bodyPr wrap="square" lIns="0" tIns="0" rIns="0" bIns="0" rtlCol="0" anchor="ctr"/>
          <a:lstStyle/>
          <a:p>
            <a:pPr marL="0" indent="0">
              <a:buNone/>
            </a:pPr>
            <a:r>
              <a:rPr lang="en-US" sz="950" i="1" dirty="0">
                <a:solidFill>
                  <a:srgbClr val="5E6E6A"/>
                </a:solidFill>
                <a:latin typeface="Calibri" pitchFamily="34" charset="0"/>
                <a:ea typeface="Calibri" pitchFamily="34" charset="-122"/>
                <a:cs typeface="Calibri" pitchFamily="34" charset="-120"/>
              </a:rPr>
              <a:t>Tokens straight from the run logs · “Same path” = share of runs with identical steps · no extra AI checks the AI</a:t>
            </a:r>
            <a:endParaRPr lang="en-US" sz="950" dirty="0"/>
          </a:p>
        </p:txBody>
      </p:sp>
      <p:sp>
        <p:nvSpPr>
          <p:cNvPr id="88"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E6A"/>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10058400" cy="274320"/>
          </a:xfrm>
          <a:prstGeom prst="rect">
            <a:avLst/>
          </a:prstGeom>
          <a:noFill/>
          <a:ln/>
        </p:spPr>
        <p:txBody>
          <a:bodyPr wrap="square" lIns="0" tIns="0" rIns="0" bIns="0" rtlCol="0"/>
          <a:lstStyle/>
          <a:p>
            <a:pPr marL="0" indent="0">
              <a:buNone/>
            </a:pPr>
            <a:r>
              <a:rPr lang="en-US" sz="1100" b="1" kern="0" spc="200" dirty="0">
                <a:solidFill>
                  <a:schemeClr val="accent1"/>
                </a:solidFill>
                <a:latin typeface="Arial" pitchFamily="34" charset="0"/>
                <a:ea typeface="Arial" pitchFamily="34" charset="-122"/>
                <a:cs typeface="Arial" pitchFamily="34" charset="-120"/>
              </a:rPr>
              <a:t>② VIABILITY  ·  VALUE PROPOSITION &amp; BUSINESS MODEL</a:t>
            </a:r>
            <a:endParaRPr lang="en-US" sz="1100" dirty="0"/>
          </a:p>
        </p:txBody>
      </p:sp>
      <p:sp>
        <p:nvSpPr>
          <p:cNvPr id="3" name="Text 0"/>
          <p:cNvSpPr>
            <a:spLocks noGrp="1"/>
          </p:cNvSpPr>
          <p:nvPr>
            <p:ph type="title" idx="101" hasCustomPrompt="1"/>
          </p:nvPr>
        </p:nvSpPr>
        <p:spPr>
          <a:xfrm>
            <a:off x="548640" y="640080"/>
            <a:ext cx="11064240" cy="685800"/>
          </a:xfrm>
          <a:prstGeom prst="rect">
            <a:avLst/>
          </a:prstGeom>
          <a:noFill/>
          <a:ln/>
        </p:spPr>
        <p:txBody>
          <a:bodyPr wrap="square" lIns="0" tIns="0" rIns="0" bIns="0" rtlCol="0" anchor="t"/>
          <a:lstStyle/>
          <a:p>
            <a:pPr marL="0" indent="0" algn="l">
              <a:buNone/>
            </a:pPr>
            <a:r>
              <a:rPr lang="en-US" sz="2600" b="1" dirty="0">
                <a:solidFill>
                  <a:schemeClr val="tx1"/>
                </a:solidFill>
                <a:latin typeface="Arial" pitchFamily="34" charset="0"/>
                <a:ea typeface="Arial" pitchFamily="34" charset="-122"/>
                <a:cs typeface="Arial" pitchFamily="34" charset="-120"/>
              </a:rPr>
              <a:t>The CIO office gets autonomy without footprint growth</a:t>
            </a:r>
            <a:endParaRPr lang="en-US" sz="2600" dirty="0"/>
          </a:p>
        </p:txBody>
      </p:sp>
      <p:sp>
        <p:nvSpPr>
          <p:cNvPr id="4" name="Text 2"/>
          <p:cNvSpPr txBox="1"/>
          <p:nvPr/>
        </p:nvSpPr>
        <p:spPr>
          <a:xfrm>
            <a:off x="548640" y="1463040"/>
            <a:ext cx="5486400" cy="228600"/>
          </a:xfrm>
          <a:prstGeom prst="rect">
            <a:avLst/>
          </a:prstGeom>
          <a:noFill/>
          <a:ln/>
        </p:spPr>
        <p:txBody>
          <a:bodyPr wrap="square" lIns="0" tIns="0" rIns="0" bIns="0" rtlCol="0" anchor="ctr"/>
          <a:lstStyle/>
          <a:p>
            <a:pPr marL="0" indent="0">
              <a:buNone/>
            </a:pPr>
            <a:r>
              <a:rPr lang="en-US" sz="900" b="1" kern="0" spc="200" dirty="0">
                <a:solidFill>
                  <a:schemeClr val="accent1"/>
                </a:solidFill>
                <a:latin typeface="Arial" pitchFamily="34" charset="0"/>
                <a:ea typeface="Arial" pitchFamily="34" charset="-122"/>
                <a:cs typeface="Arial" pitchFamily="34" charset="-120"/>
              </a:rPr>
              <a:t>VALUE PROPOSITION  ·  CUSTOMER: SAP CIO OFFICE</a:t>
            </a:r>
            <a:endParaRPr lang="en-US" sz="900" dirty="0"/>
          </a:p>
        </p:txBody>
      </p:sp>
      <p:sp>
        <p:nvSpPr>
          <p:cNvPr id="5" name="Shape 3"/>
          <p:cNvSpPr/>
          <p:nvPr/>
        </p:nvSpPr>
        <p:spPr>
          <a:xfrm>
            <a:off x="548640" y="1755648"/>
            <a:ext cx="2514600" cy="841248"/>
          </a:xfrm>
          <a:prstGeom prst="rect">
            <a:avLst/>
          </a:prstGeom>
          <a:solidFill>
            <a:schemeClr val="bg2"/>
          </a:solidFill>
          <a:ln w="12700">
            <a:solidFill>
              <a:schemeClr val="bg2"/>
            </a:solidFill>
            <a:prstDash val="solid"/>
          </a:ln>
        </p:spPr>
        <p:txBody>
          <a:bodyPr/>
          <a:lstStyle/>
          <a:p>
            <a:endParaRPr lang="en-DE"/>
          </a:p>
        </p:txBody>
      </p:sp>
      <p:sp>
        <p:nvSpPr>
          <p:cNvPr id="6" name="Text 4"/>
          <p:cNvSpPr txBox="1"/>
          <p:nvPr/>
        </p:nvSpPr>
        <p:spPr>
          <a:xfrm>
            <a:off x="658368" y="1828800"/>
            <a:ext cx="2286000" cy="228600"/>
          </a:xfrm>
          <a:prstGeom prst="rect">
            <a:avLst/>
          </a:prstGeom>
          <a:noFill/>
          <a:ln/>
        </p:spPr>
        <p:txBody>
          <a:bodyPr wrap="square" lIns="0" tIns="0" rIns="0" bIns="0" rtlCol="0" anchor="ctr"/>
          <a:lstStyle/>
          <a:p>
            <a:pPr marL="0" indent="0">
              <a:buNone/>
            </a:pPr>
            <a:r>
              <a:rPr lang="en-US" sz="900" b="1" kern="0" spc="200" dirty="0">
                <a:solidFill>
                  <a:schemeClr val="accent1"/>
                </a:solidFill>
                <a:latin typeface="Arial" pitchFamily="34" charset="0"/>
                <a:ea typeface="Arial" pitchFamily="34" charset="-122"/>
                <a:cs typeface="Arial" pitchFamily="34" charset="-120"/>
              </a:rPr>
              <a:t>PRODUCTS</a:t>
            </a:r>
            <a:endParaRPr lang="en-US" sz="900" dirty="0"/>
          </a:p>
        </p:txBody>
      </p:sp>
      <p:sp>
        <p:nvSpPr>
          <p:cNvPr id="7" name="Text 5"/>
          <p:cNvSpPr txBox="1"/>
          <p:nvPr/>
        </p:nvSpPr>
        <p:spPr>
          <a:xfrm>
            <a:off x="658368" y="2048256"/>
            <a:ext cx="2331720" cy="530352"/>
          </a:xfrm>
          <a:prstGeom prst="rect">
            <a:avLst/>
          </a:prstGeom>
          <a:noFill/>
          <a:ln/>
        </p:spPr>
        <p:txBody>
          <a:bodyPr wrap="square" lIns="0" tIns="0" rIns="0" bIns="0" rtlCol="0" anchor="t">
            <a:normAutofit/>
          </a:bodyPr>
          <a:lstStyle/>
          <a:p>
            <a:pPr marL="95250" indent="-95250">
              <a:buFont typeface="Arial" panose="020B0604020202020204" pitchFamily="34" charset="0"/>
              <a:buChar char="•"/>
            </a:pPr>
            <a:r>
              <a:rPr lang="en-US" sz="1000" b="1" dirty="0" err="1">
                <a:solidFill>
                  <a:schemeClr val="tx1"/>
                </a:solidFill>
                <a:latin typeface="Calibri" pitchFamily="34" charset="0"/>
                <a:ea typeface="Calibri" pitchFamily="34" charset="-122"/>
                <a:cs typeface="Calibri" pitchFamily="34" charset="-120"/>
              </a:rPr>
              <a:t>r</a:t>
            </a:r>
            <a:r>
              <a:rPr lang="en-US" sz="1000" b="1" dirty="0" err="1">
                <a:solidFill>
                  <a:schemeClr val="accent2"/>
                </a:solidFill>
                <a:latin typeface="Arial" pitchFamily="34" charset="0"/>
                <a:ea typeface="Arial" pitchFamily="34" charset="-122"/>
                <a:cs typeface="Arial" pitchFamily="34" charset="-120"/>
              </a:rPr>
              <a:t>AI</a:t>
            </a:r>
            <a:r>
              <a:rPr lang="en-US" sz="1000" b="1" dirty="0" err="1">
                <a:solidFill>
                  <a:schemeClr val="tx1"/>
                </a:solidFill>
                <a:latin typeface="Calibri" pitchFamily="34" charset="0"/>
                <a:ea typeface="Calibri" pitchFamily="34" charset="-122"/>
                <a:cs typeface="Calibri" pitchFamily="34" charset="-120"/>
              </a:rPr>
              <a:t>ght</a:t>
            </a:r>
            <a:r>
              <a:rPr lang="en-US" sz="1000" dirty="0">
                <a:solidFill>
                  <a:schemeClr val="tx1"/>
                </a:solidFill>
                <a:latin typeface="Calibri" pitchFamily="34" charset="0"/>
                <a:ea typeface="Calibri" pitchFamily="34" charset="-122"/>
                <a:cs typeface="Calibri" pitchFamily="34" charset="-120"/>
              </a:rPr>
              <a:t> training</a:t>
            </a:r>
          </a:p>
          <a:p>
            <a:pPr marL="95250" indent="-95250">
              <a:buFont typeface="Arial" panose="020B0604020202020204" pitchFamily="34" charset="0"/>
              <a:buChar char="•"/>
            </a:pPr>
            <a:r>
              <a:rPr lang="en-US" sz="1000" b="1" dirty="0" err="1">
                <a:latin typeface="Calibri" pitchFamily="34" charset="0"/>
                <a:ea typeface="Calibri" pitchFamily="34" charset="-122"/>
                <a:cs typeface="Calibri" pitchFamily="34" charset="-120"/>
              </a:rPr>
              <a:t>r</a:t>
            </a:r>
            <a:r>
              <a:rPr lang="en-US" sz="1000" b="1" dirty="0" err="1">
                <a:solidFill>
                  <a:schemeClr val="accent2"/>
                </a:solidFill>
                <a:latin typeface="Arial" pitchFamily="34" charset="0"/>
                <a:ea typeface="Arial" pitchFamily="34" charset="-122"/>
                <a:cs typeface="Arial" pitchFamily="34" charset="-120"/>
              </a:rPr>
              <a:t>AI</a:t>
            </a:r>
            <a:r>
              <a:rPr lang="en-US" sz="1000" b="1" dirty="0" err="1">
                <a:latin typeface="Calibri" pitchFamily="34" charset="0"/>
                <a:ea typeface="Calibri" pitchFamily="34" charset="-122"/>
                <a:cs typeface="Calibri" pitchFamily="34" charset="-120"/>
              </a:rPr>
              <a:t>ght</a:t>
            </a:r>
            <a:r>
              <a:rPr lang="en-US" sz="1000" dirty="0">
                <a:latin typeface="Calibri" pitchFamily="34" charset="0"/>
                <a:ea typeface="Calibri" pitchFamily="34" charset="-122"/>
                <a:cs typeface="Calibri" pitchFamily="34" charset="-120"/>
              </a:rPr>
              <a:t> dashboard</a:t>
            </a:r>
          </a:p>
          <a:p>
            <a:pPr marL="95250" indent="-95250">
              <a:buFont typeface="Arial" panose="020B0604020202020204" pitchFamily="34" charset="0"/>
              <a:buChar char="•"/>
            </a:pPr>
            <a:r>
              <a:rPr lang="en-US" sz="1000" dirty="0">
                <a:latin typeface="Calibri" pitchFamily="34" charset="0"/>
                <a:ea typeface="Calibri" pitchFamily="34" charset="-122"/>
                <a:cs typeface="Calibri" pitchFamily="34" charset="-120"/>
              </a:rPr>
              <a:t>Optional </a:t>
            </a:r>
            <a:r>
              <a:rPr lang="en-US" sz="1000" dirty="0">
                <a:solidFill>
                  <a:schemeClr val="tx1"/>
                </a:solidFill>
                <a:latin typeface="Calibri" pitchFamily="34" charset="0"/>
                <a:ea typeface="Calibri" pitchFamily="34" charset="-122"/>
                <a:cs typeface="Calibri" pitchFamily="34" charset="-120"/>
              </a:rPr>
              <a:t>guided conversion</a:t>
            </a:r>
            <a:endParaRPr lang="en-US" sz="1000" dirty="0"/>
          </a:p>
        </p:txBody>
      </p:sp>
      <p:sp>
        <p:nvSpPr>
          <p:cNvPr id="8" name="Shape 6"/>
          <p:cNvSpPr/>
          <p:nvPr/>
        </p:nvSpPr>
        <p:spPr>
          <a:xfrm>
            <a:off x="548640" y="2688336"/>
            <a:ext cx="2514600" cy="841248"/>
          </a:xfrm>
          <a:prstGeom prst="rect">
            <a:avLst/>
          </a:prstGeom>
          <a:solidFill>
            <a:schemeClr val="bg2"/>
          </a:solidFill>
          <a:ln w="12700">
            <a:solidFill>
              <a:schemeClr val="bg2"/>
            </a:solidFill>
            <a:prstDash val="solid"/>
          </a:ln>
        </p:spPr>
        <p:txBody>
          <a:bodyPr/>
          <a:lstStyle/>
          <a:p>
            <a:endParaRPr lang="en-DE"/>
          </a:p>
        </p:txBody>
      </p:sp>
      <p:sp>
        <p:nvSpPr>
          <p:cNvPr id="9" name="Text 7"/>
          <p:cNvSpPr txBox="1"/>
          <p:nvPr/>
        </p:nvSpPr>
        <p:spPr>
          <a:xfrm>
            <a:off x="658368" y="2761488"/>
            <a:ext cx="2286000" cy="228600"/>
          </a:xfrm>
          <a:prstGeom prst="rect">
            <a:avLst/>
          </a:prstGeom>
          <a:noFill/>
          <a:ln/>
        </p:spPr>
        <p:txBody>
          <a:bodyPr wrap="square" lIns="0" tIns="0" rIns="0" bIns="0" rtlCol="0" anchor="ctr"/>
          <a:lstStyle/>
          <a:p>
            <a:pPr marL="0" indent="0">
              <a:buNone/>
            </a:pPr>
            <a:r>
              <a:rPr lang="en-US" sz="900" b="1" kern="0" spc="200" dirty="0">
                <a:solidFill>
                  <a:schemeClr val="accent1"/>
                </a:solidFill>
                <a:latin typeface="Arial" pitchFamily="34" charset="0"/>
                <a:ea typeface="Arial" pitchFamily="34" charset="-122"/>
                <a:cs typeface="Arial" pitchFamily="34" charset="-120"/>
              </a:rPr>
              <a:t>PAIN RELIEVERS</a:t>
            </a:r>
            <a:endParaRPr lang="en-US" sz="900" dirty="0"/>
          </a:p>
        </p:txBody>
      </p:sp>
      <p:sp>
        <p:nvSpPr>
          <p:cNvPr id="10" name="Text 8"/>
          <p:cNvSpPr txBox="1"/>
          <p:nvPr/>
        </p:nvSpPr>
        <p:spPr>
          <a:xfrm>
            <a:off x="658368" y="2980944"/>
            <a:ext cx="2331720" cy="530352"/>
          </a:xfrm>
          <a:prstGeom prst="rect">
            <a:avLst/>
          </a:prstGeom>
          <a:noFill/>
          <a:ln/>
        </p:spPr>
        <p:txBody>
          <a:bodyPr wrap="square" lIns="0" tIns="0" rIns="0" bIns="0" rtlCol="0" anchor="t">
            <a:normAutofit/>
          </a:bodyPr>
          <a:lstStyle/>
          <a:p>
            <a:pPr marL="95250" indent="-95250">
              <a:buFont typeface="Arial" panose="020B0604020202020204" pitchFamily="34" charset="0"/>
              <a:buChar char="•"/>
            </a:pPr>
            <a:r>
              <a:rPr lang="en-US" sz="1000" dirty="0">
                <a:solidFill>
                  <a:schemeClr val="tx1"/>
                </a:solidFill>
                <a:latin typeface="Calibri" pitchFamily="34" charset="0"/>
                <a:ea typeface="Calibri" pitchFamily="34" charset="-122"/>
                <a:cs typeface="Calibri" pitchFamily="34" charset="-120"/>
              </a:rPr>
              <a:t>Every agent visible with its usage</a:t>
            </a:r>
          </a:p>
          <a:p>
            <a:pPr marL="95250" indent="-95250">
              <a:buFont typeface="Arial" panose="020B0604020202020204" pitchFamily="34" charset="0"/>
              <a:buChar char="•"/>
            </a:pPr>
            <a:r>
              <a:rPr lang="en-US" sz="1000" dirty="0">
                <a:latin typeface="Calibri" pitchFamily="34" charset="0"/>
                <a:ea typeface="Calibri" pitchFamily="34" charset="-122"/>
                <a:cs typeface="Calibri" pitchFamily="34" charset="-120"/>
              </a:rPr>
              <a:t>U</a:t>
            </a:r>
            <a:r>
              <a:rPr lang="en-US" sz="1000" dirty="0">
                <a:solidFill>
                  <a:schemeClr val="tx1"/>
                </a:solidFill>
                <a:latin typeface="Calibri" pitchFamily="34" charset="0"/>
                <a:ea typeface="Calibri" pitchFamily="34" charset="-122"/>
                <a:cs typeface="Calibri" pitchFamily="34" charset="-120"/>
              </a:rPr>
              <a:t>niform agents flagged and converted</a:t>
            </a:r>
          </a:p>
          <a:p>
            <a:pPr marL="95250" indent="-95250">
              <a:buFont typeface="Arial" panose="020B0604020202020204" pitchFamily="34" charset="0"/>
              <a:buChar char="•"/>
            </a:pPr>
            <a:r>
              <a:rPr lang="en-US" sz="1000" dirty="0">
                <a:latin typeface="Calibri" pitchFamily="34" charset="0"/>
                <a:ea typeface="Calibri" pitchFamily="34" charset="-122"/>
                <a:cs typeface="Calibri" pitchFamily="34" charset="-120"/>
              </a:rPr>
              <a:t>U</a:t>
            </a:r>
            <a:r>
              <a:rPr lang="en-US" sz="1000" dirty="0">
                <a:solidFill>
                  <a:schemeClr val="tx1"/>
                </a:solidFill>
                <a:latin typeface="Calibri" pitchFamily="34" charset="0"/>
                <a:ea typeface="Calibri" pitchFamily="34" charset="-122"/>
                <a:cs typeface="Calibri" pitchFamily="34" charset="-120"/>
              </a:rPr>
              <a:t>nused agents retired</a:t>
            </a:r>
            <a:endParaRPr lang="en-US" sz="1000" dirty="0"/>
          </a:p>
        </p:txBody>
      </p:sp>
      <p:sp>
        <p:nvSpPr>
          <p:cNvPr id="11" name="Shape 9"/>
          <p:cNvSpPr/>
          <p:nvPr/>
        </p:nvSpPr>
        <p:spPr>
          <a:xfrm>
            <a:off x="548640" y="3621024"/>
            <a:ext cx="2514600" cy="841248"/>
          </a:xfrm>
          <a:prstGeom prst="rect">
            <a:avLst/>
          </a:prstGeom>
          <a:solidFill>
            <a:schemeClr val="bg2"/>
          </a:solidFill>
          <a:ln w="12700">
            <a:solidFill>
              <a:schemeClr val="bg2"/>
            </a:solidFill>
            <a:prstDash val="solid"/>
          </a:ln>
        </p:spPr>
        <p:txBody>
          <a:bodyPr/>
          <a:lstStyle/>
          <a:p>
            <a:endParaRPr lang="en-DE"/>
          </a:p>
        </p:txBody>
      </p:sp>
      <p:sp>
        <p:nvSpPr>
          <p:cNvPr id="12" name="Text 10"/>
          <p:cNvSpPr txBox="1"/>
          <p:nvPr/>
        </p:nvSpPr>
        <p:spPr>
          <a:xfrm>
            <a:off x="658368" y="3694176"/>
            <a:ext cx="2286000" cy="228600"/>
          </a:xfrm>
          <a:prstGeom prst="rect">
            <a:avLst/>
          </a:prstGeom>
          <a:noFill/>
          <a:ln/>
        </p:spPr>
        <p:txBody>
          <a:bodyPr wrap="square" lIns="0" tIns="0" rIns="0" bIns="0" rtlCol="0" anchor="ctr"/>
          <a:lstStyle/>
          <a:p>
            <a:pPr marL="0" indent="0">
              <a:buNone/>
            </a:pPr>
            <a:r>
              <a:rPr lang="en-US" sz="900" b="1" kern="0" spc="200" dirty="0">
                <a:solidFill>
                  <a:schemeClr val="accent1"/>
                </a:solidFill>
                <a:latin typeface="Arial" pitchFamily="34" charset="0"/>
                <a:ea typeface="Arial" pitchFamily="34" charset="-122"/>
                <a:cs typeface="Arial" pitchFamily="34" charset="-120"/>
              </a:rPr>
              <a:t>GAIN CREATORS</a:t>
            </a:r>
            <a:endParaRPr lang="en-US" sz="900" dirty="0"/>
          </a:p>
        </p:txBody>
      </p:sp>
      <p:sp>
        <p:nvSpPr>
          <p:cNvPr id="13" name="Text 11"/>
          <p:cNvSpPr txBox="1"/>
          <p:nvPr/>
        </p:nvSpPr>
        <p:spPr>
          <a:xfrm>
            <a:off x="658368" y="3913632"/>
            <a:ext cx="2331720" cy="530352"/>
          </a:xfrm>
          <a:prstGeom prst="rect">
            <a:avLst/>
          </a:prstGeom>
          <a:noFill/>
          <a:ln/>
        </p:spPr>
        <p:txBody>
          <a:bodyPr wrap="square" lIns="0" tIns="0" rIns="0" bIns="0" rtlCol="0" anchor="t">
            <a:normAutofit/>
          </a:bodyPr>
          <a:lstStyle/>
          <a:p>
            <a:pPr marL="95250" indent="-95250">
              <a:buFont typeface="Arial" panose="020B0604020202020204" pitchFamily="34" charset="0"/>
              <a:buChar char="•"/>
            </a:pPr>
            <a:r>
              <a:rPr lang="en-US" sz="1000" dirty="0">
                <a:solidFill>
                  <a:schemeClr val="tx1"/>
                </a:solidFill>
                <a:latin typeface="Calibri" pitchFamily="34" charset="0"/>
                <a:ea typeface="Calibri" pitchFamily="34" charset="-122"/>
                <a:cs typeface="Calibri" pitchFamily="34" charset="-120"/>
              </a:rPr>
              <a:t>Process owners choose lean themselves, so it scales without a central team</a:t>
            </a:r>
            <a:br>
              <a:rPr lang="en-US" sz="1000" dirty="0">
                <a:solidFill>
                  <a:schemeClr val="tx1"/>
                </a:solidFill>
                <a:latin typeface="Calibri" pitchFamily="34" charset="0"/>
                <a:ea typeface="Calibri" pitchFamily="34" charset="-122"/>
                <a:cs typeface="Calibri" pitchFamily="34" charset="-120"/>
              </a:rPr>
            </a:br>
            <a:r>
              <a:rPr lang="en-US" sz="1000" dirty="0">
                <a:solidFill>
                  <a:schemeClr val="tx1"/>
                </a:solidFill>
                <a:latin typeface="Calibri" pitchFamily="34" charset="0"/>
                <a:ea typeface="Calibri" pitchFamily="34" charset="-122"/>
                <a:cs typeface="Calibri" pitchFamily="34" charset="-120"/>
              </a:rPr>
              <a:t>Savings visible per unit</a:t>
            </a:r>
            <a:endParaRPr lang="en-US" sz="1000" dirty="0"/>
          </a:p>
        </p:txBody>
      </p:sp>
      <p:sp>
        <p:nvSpPr>
          <p:cNvPr id="14" name="Shape 12"/>
          <p:cNvSpPr/>
          <p:nvPr/>
        </p:nvSpPr>
        <p:spPr>
          <a:xfrm>
            <a:off x="3246120" y="1755648"/>
            <a:ext cx="2514600" cy="841248"/>
          </a:xfrm>
          <a:prstGeom prst="rect">
            <a:avLst/>
          </a:prstGeom>
          <a:solidFill>
            <a:srgbClr val="F4F7F5"/>
          </a:solidFill>
          <a:ln w="9525">
            <a:solidFill>
              <a:srgbClr val="C9D6D0"/>
            </a:solidFill>
            <a:prstDash val="solid"/>
          </a:ln>
        </p:spPr>
        <p:txBody>
          <a:bodyPr/>
          <a:lstStyle/>
          <a:p>
            <a:endParaRPr lang="en-DE"/>
          </a:p>
        </p:txBody>
      </p:sp>
      <p:sp>
        <p:nvSpPr>
          <p:cNvPr id="15" name="Text 13"/>
          <p:cNvSpPr txBox="1"/>
          <p:nvPr/>
        </p:nvSpPr>
        <p:spPr>
          <a:xfrm>
            <a:off x="3355848" y="1828800"/>
            <a:ext cx="2286000" cy="228600"/>
          </a:xfrm>
          <a:prstGeom prst="rect">
            <a:avLst/>
          </a:prstGeom>
          <a:noFill/>
          <a:ln/>
        </p:spPr>
        <p:txBody>
          <a:bodyPr wrap="square" lIns="0" tIns="0" rIns="0" bIns="0" rtlCol="0" anchor="ctr"/>
          <a:lstStyle/>
          <a:p>
            <a:pPr marL="0" indent="0">
              <a:buNone/>
            </a:pPr>
            <a:r>
              <a:rPr lang="en-US" sz="900" b="1" kern="0" spc="200" dirty="0">
                <a:solidFill>
                  <a:schemeClr val="accent1"/>
                </a:solidFill>
                <a:latin typeface="Arial" pitchFamily="34" charset="0"/>
                <a:ea typeface="Arial" pitchFamily="34" charset="-122"/>
                <a:cs typeface="Arial" pitchFamily="34" charset="-120"/>
              </a:rPr>
              <a:t>JOBS</a:t>
            </a:r>
            <a:endParaRPr lang="en-US" sz="900" dirty="0"/>
          </a:p>
        </p:txBody>
      </p:sp>
      <p:sp>
        <p:nvSpPr>
          <p:cNvPr id="16" name="Text 14"/>
          <p:cNvSpPr txBox="1"/>
          <p:nvPr/>
        </p:nvSpPr>
        <p:spPr>
          <a:xfrm>
            <a:off x="3355848" y="2048256"/>
            <a:ext cx="2331720" cy="530352"/>
          </a:xfrm>
          <a:prstGeom prst="rect">
            <a:avLst/>
          </a:prstGeom>
          <a:noFill/>
          <a:ln/>
        </p:spPr>
        <p:txBody>
          <a:bodyPr wrap="square" lIns="0" tIns="0" rIns="0" bIns="0" rtlCol="0" anchor="t">
            <a:normAutofit/>
          </a:bodyPr>
          <a:lstStyle/>
          <a:p>
            <a:pPr marL="95250" indent="-95250">
              <a:buFont typeface="Arial" panose="020B0604020202020204" pitchFamily="34" charset="0"/>
              <a:buChar char="•"/>
            </a:pPr>
            <a:r>
              <a:rPr lang="en-US" sz="1000" dirty="0">
                <a:solidFill>
                  <a:schemeClr val="tx1"/>
                </a:solidFill>
                <a:latin typeface="Calibri" pitchFamily="34" charset="0"/>
                <a:ea typeface="Calibri" pitchFamily="34" charset="-122"/>
                <a:cs typeface="Calibri" pitchFamily="34" charset="-120"/>
              </a:rPr>
              <a:t>Deliver the Autonomous Enterprise</a:t>
            </a:r>
          </a:p>
          <a:p>
            <a:pPr marL="95250" indent="-95250">
              <a:buFont typeface="Arial" panose="020B0604020202020204" pitchFamily="34" charset="0"/>
              <a:buChar char="•"/>
            </a:pPr>
            <a:r>
              <a:rPr lang="en-US" sz="1000" dirty="0">
                <a:latin typeface="Calibri" pitchFamily="34" charset="0"/>
                <a:ea typeface="Calibri" pitchFamily="34" charset="-122"/>
                <a:cs typeface="Calibri" pitchFamily="34" charset="-120"/>
              </a:rPr>
              <a:t>K</a:t>
            </a:r>
            <a:r>
              <a:rPr lang="en-US" sz="1000" dirty="0">
                <a:solidFill>
                  <a:schemeClr val="tx1"/>
                </a:solidFill>
                <a:latin typeface="Calibri" pitchFamily="34" charset="0"/>
                <a:ea typeface="Calibri" pitchFamily="34" charset="-122"/>
                <a:cs typeface="Calibri" pitchFamily="34" charset="-120"/>
              </a:rPr>
              <a:t>eep SAP on its net zero path</a:t>
            </a:r>
            <a:endParaRPr lang="en-US" sz="1000" dirty="0"/>
          </a:p>
        </p:txBody>
      </p:sp>
      <p:sp>
        <p:nvSpPr>
          <p:cNvPr id="17" name="Shape 15"/>
          <p:cNvSpPr/>
          <p:nvPr/>
        </p:nvSpPr>
        <p:spPr>
          <a:xfrm>
            <a:off x="3246120" y="2688336"/>
            <a:ext cx="2514600" cy="841248"/>
          </a:xfrm>
          <a:prstGeom prst="rect">
            <a:avLst/>
          </a:prstGeom>
          <a:solidFill>
            <a:srgbClr val="F4F7F5"/>
          </a:solidFill>
          <a:ln w="9525">
            <a:solidFill>
              <a:srgbClr val="C9D6D0"/>
            </a:solidFill>
            <a:prstDash val="solid"/>
          </a:ln>
        </p:spPr>
        <p:txBody>
          <a:bodyPr/>
          <a:lstStyle/>
          <a:p>
            <a:endParaRPr lang="en-DE"/>
          </a:p>
        </p:txBody>
      </p:sp>
      <p:sp>
        <p:nvSpPr>
          <p:cNvPr id="18" name="Text 16"/>
          <p:cNvSpPr txBox="1"/>
          <p:nvPr/>
        </p:nvSpPr>
        <p:spPr>
          <a:xfrm>
            <a:off x="3355848" y="2761488"/>
            <a:ext cx="2286000" cy="228600"/>
          </a:xfrm>
          <a:prstGeom prst="rect">
            <a:avLst/>
          </a:prstGeom>
          <a:noFill/>
          <a:ln/>
        </p:spPr>
        <p:txBody>
          <a:bodyPr wrap="square" lIns="0" tIns="0" rIns="0" bIns="0" rtlCol="0" anchor="ctr"/>
          <a:lstStyle/>
          <a:p>
            <a:pPr marL="0" indent="0">
              <a:buNone/>
            </a:pPr>
            <a:r>
              <a:rPr lang="en-US" sz="900" b="1" kern="0" spc="200" dirty="0">
                <a:solidFill>
                  <a:schemeClr val="accent6"/>
                </a:solidFill>
                <a:latin typeface="Arial" pitchFamily="34" charset="0"/>
                <a:ea typeface="Arial" pitchFamily="34" charset="-122"/>
                <a:cs typeface="Arial" pitchFamily="34" charset="-120"/>
              </a:rPr>
              <a:t>PAINS</a:t>
            </a:r>
            <a:endParaRPr lang="en-US" sz="900" dirty="0"/>
          </a:p>
        </p:txBody>
      </p:sp>
      <p:sp>
        <p:nvSpPr>
          <p:cNvPr id="19" name="Text 17"/>
          <p:cNvSpPr txBox="1"/>
          <p:nvPr/>
        </p:nvSpPr>
        <p:spPr>
          <a:xfrm>
            <a:off x="3355848" y="2980944"/>
            <a:ext cx="2331720" cy="530352"/>
          </a:xfrm>
          <a:prstGeom prst="rect">
            <a:avLst/>
          </a:prstGeom>
          <a:noFill/>
          <a:ln/>
        </p:spPr>
        <p:txBody>
          <a:bodyPr wrap="square" lIns="0" tIns="0" rIns="0" bIns="0" rtlCol="0" anchor="t">
            <a:normAutofit/>
          </a:bodyPr>
          <a:lstStyle/>
          <a:p>
            <a:pPr marL="95250" indent="-95250">
              <a:buFont typeface="Arial" panose="020B0604020202020204" pitchFamily="34" charset="0"/>
              <a:buChar char="•"/>
            </a:pPr>
            <a:r>
              <a:rPr lang="en-US" sz="1000" dirty="0">
                <a:solidFill>
                  <a:schemeClr val="tx1"/>
                </a:solidFill>
                <a:latin typeface="Calibri" pitchFamily="34" charset="0"/>
                <a:ea typeface="Calibri" pitchFamily="34" charset="-122"/>
                <a:cs typeface="Calibri" pitchFamily="34" charset="-120"/>
              </a:rPr>
              <a:t>Agent sprawl nobody reviews</a:t>
            </a:r>
          </a:p>
          <a:p>
            <a:pPr marL="95250" indent="-95250">
              <a:buFont typeface="Arial" panose="020B0604020202020204" pitchFamily="34" charset="0"/>
              <a:buChar char="•"/>
            </a:pPr>
            <a:r>
              <a:rPr lang="en-US" sz="1000" dirty="0">
                <a:solidFill>
                  <a:schemeClr val="tx1"/>
                </a:solidFill>
                <a:latin typeface="Calibri" pitchFamily="34" charset="0"/>
                <a:ea typeface="Calibri" pitchFamily="34" charset="-122"/>
                <a:cs typeface="Calibri" pitchFamily="34" charset="-120"/>
              </a:rPr>
              <a:t>Compute and emissions grow with every agent</a:t>
            </a:r>
            <a:endParaRPr lang="en-US" sz="1000" dirty="0"/>
          </a:p>
        </p:txBody>
      </p:sp>
      <p:sp>
        <p:nvSpPr>
          <p:cNvPr id="20" name="Shape 18"/>
          <p:cNvSpPr/>
          <p:nvPr/>
        </p:nvSpPr>
        <p:spPr>
          <a:xfrm>
            <a:off x="3246120" y="3621024"/>
            <a:ext cx="2514600" cy="841248"/>
          </a:xfrm>
          <a:prstGeom prst="rect">
            <a:avLst/>
          </a:prstGeom>
          <a:solidFill>
            <a:srgbClr val="F4F7F5"/>
          </a:solidFill>
          <a:ln w="9525">
            <a:solidFill>
              <a:srgbClr val="C9D6D0"/>
            </a:solidFill>
            <a:prstDash val="solid"/>
          </a:ln>
        </p:spPr>
        <p:txBody>
          <a:bodyPr/>
          <a:lstStyle/>
          <a:p>
            <a:endParaRPr lang="en-DE"/>
          </a:p>
        </p:txBody>
      </p:sp>
      <p:sp>
        <p:nvSpPr>
          <p:cNvPr id="21" name="Text 19"/>
          <p:cNvSpPr txBox="1"/>
          <p:nvPr/>
        </p:nvSpPr>
        <p:spPr>
          <a:xfrm>
            <a:off x="3355848" y="3694176"/>
            <a:ext cx="2286000" cy="228600"/>
          </a:xfrm>
          <a:prstGeom prst="rect">
            <a:avLst/>
          </a:prstGeom>
          <a:noFill/>
          <a:ln/>
        </p:spPr>
        <p:txBody>
          <a:bodyPr wrap="square" lIns="0" tIns="0" rIns="0" bIns="0" rtlCol="0" anchor="ctr"/>
          <a:lstStyle/>
          <a:p>
            <a:pPr marL="0" indent="0">
              <a:buNone/>
            </a:pPr>
            <a:r>
              <a:rPr lang="en-US" sz="900" b="1" kern="0" spc="200" dirty="0">
                <a:solidFill>
                  <a:schemeClr val="accent1"/>
                </a:solidFill>
                <a:latin typeface="Arial" pitchFamily="34" charset="0"/>
                <a:ea typeface="Arial" pitchFamily="34" charset="-122"/>
                <a:cs typeface="Arial" pitchFamily="34" charset="-120"/>
              </a:rPr>
              <a:t>GAINS</a:t>
            </a:r>
            <a:endParaRPr lang="en-US" sz="900" dirty="0"/>
          </a:p>
        </p:txBody>
      </p:sp>
      <p:sp>
        <p:nvSpPr>
          <p:cNvPr id="22" name="Text 20"/>
          <p:cNvSpPr txBox="1"/>
          <p:nvPr/>
        </p:nvSpPr>
        <p:spPr>
          <a:xfrm>
            <a:off x="3355848" y="3913632"/>
            <a:ext cx="2331720" cy="530352"/>
          </a:xfrm>
          <a:prstGeom prst="rect">
            <a:avLst/>
          </a:prstGeom>
          <a:noFill/>
          <a:ln/>
        </p:spPr>
        <p:txBody>
          <a:bodyPr wrap="square" lIns="0" tIns="0" rIns="0" bIns="0" rtlCol="0" anchor="t">
            <a:normAutofit/>
          </a:bodyPr>
          <a:lstStyle/>
          <a:p>
            <a:pPr marL="171450" indent="-171450">
              <a:buFont typeface="Arial" panose="020B0604020202020204" pitchFamily="34" charset="0"/>
              <a:buChar char="•"/>
            </a:pPr>
            <a:r>
              <a:rPr lang="en-US" sz="1000" dirty="0">
                <a:solidFill>
                  <a:schemeClr val="tx1"/>
                </a:solidFill>
                <a:latin typeface="Calibri" pitchFamily="34" charset="0"/>
                <a:ea typeface="Calibri" pitchFamily="34" charset="-122"/>
                <a:cs typeface="Calibri" pitchFamily="34" charset="-120"/>
              </a:rPr>
              <a:t>Same or better service</a:t>
            </a:r>
          </a:p>
          <a:p>
            <a:pPr marL="171450" indent="-171450">
              <a:buFont typeface="Arial" panose="020B0604020202020204" pitchFamily="34" charset="0"/>
              <a:buChar char="•"/>
            </a:pPr>
            <a:r>
              <a:rPr lang="en-US" sz="1000" dirty="0">
                <a:latin typeface="Calibri" pitchFamily="34" charset="0"/>
                <a:ea typeface="Calibri" pitchFamily="34" charset="-122"/>
                <a:cs typeface="Calibri" pitchFamily="34" charset="-120"/>
              </a:rPr>
              <a:t>M</a:t>
            </a:r>
            <a:r>
              <a:rPr lang="en-US" sz="1000" dirty="0">
                <a:solidFill>
                  <a:schemeClr val="tx1"/>
                </a:solidFill>
                <a:latin typeface="Calibri" pitchFamily="34" charset="0"/>
                <a:ea typeface="Calibri" pitchFamily="34" charset="-122"/>
                <a:cs typeface="Calibri" pitchFamily="34" charset="-120"/>
              </a:rPr>
              <a:t>easurable progress to net zero</a:t>
            </a:r>
            <a:br>
              <a:rPr lang="en-US" sz="1000" dirty="0">
                <a:solidFill>
                  <a:schemeClr val="tx1"/>
                </a:solidFill>
                <a:latin typeface="Calibri" pitchFamily="34" charset="0"/>
                <a:ea typeface="Calibri" pitchFamily="34" charset="-122"/>
                <a:cs typeface="Calibri" pitchFamily="34" charset="-120"/>
              </a:rPr>
            </a:br>
            <a:r>
              <a:rPr lang="en-US" sz="1000" dirty="0">
                <a:solidFill>
                  <a:schemeClr val="tx1"/>
                </a:solidFill>
                <a:latin typeface="Calibri" pitchFamily="34" charset="0"/>
                <a:ea typeface="Calibri" pitchFamily="34" charset="-122"/>
                <a:cs typeface="Calibri" pitchFamily="34" charset="-120"/>
              </a:rPr>
              <a:t>Lower running cost</a:t>
            </a:r>
            <a:endParaRPr lang="en-US" sz="1000" dirty="0"/>
          </a:p>
        </p:txBody>
      </p:sp>
      <p:sp>
        <p:nvSpPr>
          <p:cNvPr id="23" name="Shape 21"/>
          <p:cNvSpPr/>
          <p:nvPr/>
        </p:nvSpPr>
        <p:spPr>
          <a:xfrm>
            <a:off x="3081528" y="3127248"/>
            <a:ext cx="146304" cy="0"/>
          </a:xfrm>
          <a:prstGeom prst="line">
            <a:avLst/>
          </a:prstGeom>
          <a:noFill/>
          <a:ln w="19050">
            <a:solidFill>
              <a:schemeClr val="accent1"/>
            </a:solidFill>
            <a:prstDash val="solid"/>
            <a:headEnd type="triangle"/>
            <a:tailEnd type="triangle"/>
          </a:ln>
        </p:spPr>
        <p:txBody>
          <a:bodyPr/>
          <a:lstStyle/>
          <a:p>
            <a:endParaRPr lang="en-DE"/>
          </a:p>
        </p:txBody>
      </p:sp>
      <p:sp>
        <p:nvSpPr>
          <p:cNvPr id="24" name="value statement"/>
          <p:cNvSpPr/>
          <p:nvPr/>
        </p:nvSpPr>
        <p:spPr>
          <a:xfrm>
            <a:off x="548640" y="4617719"/>
            <a:ext cx="5212080" cy="1683683"/>
          </a:xfrm>
          <a:prstGeom prst="rect">
            <a:avLst/>
          </a:prstGeom>
          <a:solidFill>
            <a:schemeClr val="tx2"/>
          </a:solidFill>
          <a:ln w="12700">
            <a:solidFill>
              <a:schemeClr val="tx2"/>
            </a:solidFill>
            <a:prstDash val="solid"/>
          </a:ln>
        </p:spPr>
        <p:txBody>
          <a:bodyPr/>
          <a:lstStyle/>
          <a:p>
            <a:endParaRPr lang="en-DE"/>
          </a:p>
        </p:txBody>
      </p:sp>
      <p:sp>
        <p:nvSpPr>
          <p:cNvPr id="25" name="Text 23"/>
          <p:cNvSpPr txBox="1"/>
          <p:nvPr/>
        </p:nvSpPr>
        <p:spPr>
          <a:xfrm>
            <a:off x="731520" y="4727448"/>
            <a:ext cx="4846320" cy="1371600"/>
          </a:xfrm>
          <a:prstGeom prst="rect">
            <a:avLst/>
          </a:prstGeom>
          <a:noFill/>
          <a:ln/>
        </p:spPr>
        <p:txBody>
          <a:bodyPr wrap="square" lIns="0" tIns="0" rIns="0" bIns="0" rtlCol="0" anchor="t"/>
          <a:lstStyle/>
          <a:p>
            <a:pPr marL="0" indent="0">
              <a:buNone/>
            </a:pPr>
            <a:r>
              <a:rPr lang="en-US" sz="1150" b="1" dirty="0">
                <a:solidFill>
                  <a:schemeClr val="accent2"/>
                </a:solidFill>
                <a:latin typeface="Calibri" pitchFamily="34" charset="0"/>
                <a:ea typeface="Calibri" pitchFamily="34" charset="-122"/>
                <a:cs typeface="Calibri" pitchFamily="34" charset="-120"/>
              </a:rPr>
              <a:t>Why it pays</a:t>
            </a:r>
            <a:endParaRPr lang="en-US" sz="1150" dirty="0"/>
          </a:p>
          <a:p>
            <a:pPr marL="0" indent="0">
              <a:buNone/>
            </a:pPr>
            <a:r>
              <a:rPr lang="en-US" sz="1150" dirty="0">
                <a:solidFill>
                  <a:schemeClr val="bg1"/>
                </a:solidFill>
                <a:latin typeface="Calibri" pitchFamily="34" charset="0"/>
                <a:ea typeface="Calibri" pitchFamily="34" charset="-122"/>
                <a:cs typeface="Calibri" pitchFamily="34" charset="-120"/>
              </a:rPr>
              <a:t>Revenue here means value captured inside SAP: lower compute cost and emissions, less maintenance, and AI budget freed for use cases that really need an agent. </a:t>
            </a:r>
          </a:p>
          <a:p>
            <a:pPr marL="0" indent="0">
              <a:buNone/>
            </a:pPr>
            <a:endParaRPr lang="en-US" sz="1150" dirty="0">
              <a:solidFill>
                <a:schemeClr val="bg1"/>
              </a:solidFill>
              <a:latin typeface="Calibri" pitchFamily="34" charset="0"/>
              <a:ea typeface="Calibri" pitchFamily="34" charset="-122"/>
              <a:cs typeface="Calibri" pitchFamily="34" charset="-120"/>
            </a:endParaRPr>
          </a:p>
          <a:p>
            <a:pPr marL="0" indent="0">
              <a:buNone/>
            </a:pPr>
            <a:r>
              <a:rPr lang="en-US" sz="1150" dirty="0">
                <a:solidFill>
                  <a:schemeClr val="bg1"/>
                </a:solidFill>
                <a:latin typeface="Calibri" pitchFamily="34" charset="0"/>
                <a:ea typeface="Calibri" pitchFamily="34" charset="-122"/>
                <a:cs typeface="Calibri" pitchFamily="34" charset="-120"/>
              </a:rPr>
              <a:t>Efficiency alone isn't enough, because of the rebound effect: when AI gets cheaper, people tend to use more of it. That's why each business unit gets a carbon budget. It caps the total, so every saving actually counts towards net zero.</a:t>
            </a:r>
            <a:endParaRPr lang="en-US" sz="1150" dirty="0"/>
          </a:p>
        </p:txBody>
      </p:sp>
      <p:sp>
        <p:nvSpPr>
          <p:cNvPr id="26" name="Text 24"/>
          <p:cNvSpPr txBox="1"/>
          <p:nvPr/>
        </p:nvSpPr>
        <p:spPr>
          <a:xfrm>
            <a:off x="6035040" y="1463040"/>
            <a:ext cx="5486400" cy="228600"/>
          </a:xfrm>
          <a:prstGeom prst="rect">
            <a:avLst/>
          </a:prstGeom>
          <a:noFill/>
          <a:ln/>
        </p:spPr>
        <p:txBody>
          <a:bodyPr wrap="square" lIns="0" tIns="0" rIns="0" bIns="0" rtlCol="0" anchor="ctr"/>
          <a:lstStyle/>
          <a:p>
            <a:pPr marL="0" indent="0">
              <a:buNone/>
            </a:pPr>
            <a:r>
              <a:rPr lang="en-US" sz="900" b="1" kern="0" spc="200" dirty="0">
                <a:solidFill>
                  <a:schemeClr val="accent1"/>
                </a:solidFill>
                <a:latin typeface="Arial" pitchFamily="34" charset="0"/>
                <a:ea typeface="Arial" pitchFamily="34" charset="-122"/>
                <a:cs typeface="Arial" pitchFamily="34" charset="-120"/>
              </a:rPr>
              <a:t>BUSINESS MODEL CANVAS</a:t>
            </a:r>
            <a:endParaRPr lang="en-US" sz="900" dirty="0"/>
          </a:p>
        </p:txBody>
      </p:sp>
      <p:sp>
        <p:nvSpPr>
          <p:cNvPr id="27" name="bmc Key partners"/>
          <p:cNvSpPr/>
          <p:nvPr/>
        </p:nvSpPr>
        <p:spPr>
          <a:xfrm>
            <a:off x="6035040" y="1755648"/>
            <a:ext cx="1121054" cy="2834640"/>
          </a:xfrm>
          <a:prstGeom prst="rect">
            <a:avLst/>
          </a:prstGeom>
          <a:solidFill>
            <a:schemeClr val="bg1"/>
          </a:solidFill>
          <a:ln w="9525">
            <a:solidFill>
              <a:srgbClr val="C9D6D0"/>
            </a:solidFill>
            <a:prstDash val="solid"/>
          </a:ln>
        </p:spPr>
        <p:txBody>
          <a:bodyPr/>
          <a:lstStyle/>
          <a:p>
            <a:endParaRPr lang="en-DE"/>
          </a:p>
        </p:txBody>
      </p:sp>
      <p:sp>
        <p:nvSpPr>
          <p:cNvPr id="28" name="Text 26"/>
          <p:cNvSpPr txBox="1"/>
          <p:nvPr/>
        </p:nvSpPr>
        <p:spPr>
          <a:xfrm>
            <a:off x="6099048" y="1810512"/>
            <a:ext cx="993038" cy="2743200"/>
          </a:xfrm>
          <a:prstGeom prst="rect">
            <a:avLst/>
          </a:prstGeom>
          <a:noFill/>
          <a:ln/>
        </p:spPr>
        <p:txBody>
          <a:bodyPr wrap="square" lIns="0" tIns="0" rIns="0" bIns="0" rtlCol="0" anchor="t">
            <a:normAutofit/>
          </a:bodyPr>
          <a:lstStyle/>
          <a:p>
            <a:pPr marL="0" indent="0">
              <a:buNone/>
            </a:pPr>
            <a:r>
              <a:rPr lang="en-US" sz="800" b="1" kern="0" spc="100" dirty="0">
                <a:solidFill>
                  <a:schemeClr val="accent1"/>
                </a:solidFill>
                <a:latin typeface="Calibri" pitchFamily="34" charset="0"/>
                <a:ea typeface="Calibri" pitchFamily="34" charset="-122"/>
                <a:cs typeface="Calibri" pitchFamily="34" charset="-120"/>
              </a:rPr>
              <a:t>KEY PARTNERS</a:t>
            </a:r>
            <a:endParaRPr lang="en-US" sz="800" dirty="0"/>
          </a:p>
          <a:p>
            <a:pPr marL="96838" indent="-96838">
              <a:buFont typeface="Arial" panose="020B0604020202020204" pitchFamily="34" charset="0"/>
              <a:buChar char="•"/>
            </a:pPr>
            <a:r>
              <a:rPr lang="en-US" sz="950" dirty="0">
                <a:solidFill>
                  <a:schemeClr val="tx1"/>
                </a:solidFill>
                <a:latin typeface="Calibri" pitchFamily="34" charset="0"/>
                <a:ea typeface="Calibri" pitchFamily="34" charset="-122"/>
                <a:cs typeface="Calibri" pitchFamily="34" charset="-120"/>
              </a:rPr>
              <a:t>AI platform team (logs)</a:t>
            </a:r>
          </a:p>
          <a:p>
            <a:pPr marL="96838" indent="-96838">
              <a:buFont typeface="Arial" panose="020B0604020202020204" pitchFamily="34" charset="0"/>
              <a:buChar char="•"/>
            </a:pPr>
            <a:r>
              <a:rPr lang="en-US" sz="950" dirty="0">
                <a:solidFill>
                  <a:schemeClr val="tx1"/>
                </a:solidFill>
                <a:latin typeface="Calibri" pitchFamily="34" charset="0"/>
                <a:ea typeface="Calibri" pitchFamily="34" charset="-122"/>
                <a:cs typeface="Calibri" pitchFamily="34" charset="-120"/>
              </a:rPr>
              <a:t>L&amp;D</a:t>
            </a:r>
          </a:p>
          <a:p>
            <a:pPr marL="96838" indent="-96838">
              <a:buFont typeface="Arial" panose="020B0604020202020204" pitchFamily="34" charset="0"/>
              <a:buChar char="•"/>
            </a:pPr>
            <a:r>
              <a:rPr lang="en-US" sz="950" dirty="0">
                <a:solidFill>
                  <a:schemeClr val="tx1"/>
                </a:solidFill>
                <a:latin typeface="Calibri" pitchFamily="34" charset="0"/>
                <a:ea typeface="Calibri" pitchFamily="34" charset="-122"/>
                <a:cs typeface="Calibri" pitchFamily="34" charset="-120"/>
              </a:rPr>
              <a:t>Sustainability office</a:t>
            </a:r>
          </a:p>
          <a:p>
            <a:pPr marL="96838" indent="-96838">
              <a:buFont typeface="Arial" panose="020B0604020202020204" pitchFamily="34" charset="0"/>
              <a:buChar char="•"/>
            </a:pPr>
            <a:r>
              <a:rPr lang="en-US" sz="950" dirty="0">
                <a:latin typeface="Calibri" pitchFamily="34" charset="0"/>
                <a:ea typeface="Calibri" pitchFamily="34" charset="-122"/>
                <a:cs typeface="Calibri" pitchFamily="34" charset="-120"/>
              </a:rPr>
              <a:t>W</a:t>
            </a:r>
            <a:r>
              <a:rPr lang="en-US" sz="950" dirty="0">
                <a:solidFill>
                  <a:schemeClr val="tx1"/>
                </a:solidFill>
                <a:latin typeface="Calibri" pitchFamily="34" charset="0"/>
                <a:ea typeface="Calibri" pitchFamily="34" charset="-122"/>
                <a:cs typeface="Calibri" pitchFamily="34" charset="-120"/>
              </a:rPr>
              <a:t>orks council &amp; data protection</a:t>
            </a:r>
          </a:p>
          <a:p>
            <a:pPr marL="96838" indent="-96838">
              <a:buFont typeface="Arial" panose="020B0604020202020204" pitchFamily="34" charset="0"/>
              <a:buChar char="•"/>
            </a:pPr>
            <a:r>
              <a:rPr lang="en-US" sz="950" dirty="0" err="1">
                <a:latin typeface="Calibri" pitchFamily="34" charset="0"/>
                <a:ea typeface="Calibri" pitchFamily="34" charset="-122"/>
                <a:cs typeface="Calibri" pitchFamily="34" charset="-120"/>
              </a:rPr>
              <a:t>H</a:t>
            </a:r>
            <a:r>
              <a:rPr lang="en-US" sz="950" dirty="0" err="1">
                <a:solidFill>
                  <a:schemeClr val="tx1"/>
                </a:solidFill>
                <a:latin typeface="Calibri" pitchFamily="34" charset="0"/>
                <a:ea typeface="Calibri" pitchFamily="34" charset="-122"/>
                <a:cs typeface="Calibri" pitchFamily="34" charset="-120"/>
              </a:rPr>
              <a:t>yperscalers</a:t>
            </a:r>
            <a:r>
              <a:rPr lang="en-US" sz="950" dirty="0">
                <a:solidFill>
                  <a:schemeClr val="tx1"/>
                </a:solidFill>
                <a:latin typeface="Calibri" pitchFamily="34" charset="0"/>
                <a:ea typeface="Calibri" pitchFamily="34" charset="-122"/>
                <a:cs typeface="Calibri" pitchFamily="34" charset="-120"/>
              </a:rPr>
              <a:t> (energy data)</a:t>
            </a:r>
            <a:endParaRPr lang="en-US" sz="800" dirty="0"/>
          </a:p>
        </p:txBody>
      </p:sp>
      <p:sp>
        <p:nvSpPr>
          <p:cNvPr id="29" name="bmc Key activities"/>
          <p:cNvSpPr/>
          <p:nvPr/>
        </p:nvSpPr>
        <p:spPr>
          <a:xfrm>
            <a:off x="7156094" y="1755648"/>
            <a:ext cx="1121054" cy="1417320"/>
          </a:xfrm>
          <a:prstGeom prst="rect">
            <a:avLst/>
          </a:prstGeom>
          <a:solidFill>
            <a:schemeClr val="bg1"/>
          </a:solidFill>
          <a:ln w="9525">
            <a:solidFill>
              <a:srgbClr val="C9D6D0"/>
            </a:solidFill>
            <a:prstDash val="solid"/>
          </a:ln>
        </p:spPr>
        <p:txBody>
          <a:bodyPr/>
          <a:lstStyle/>
          <a:p>
            <a:endParaRPr lang="en-DE"/>
          </a:p>
        </p:txBody>
      </p:sp>
      <p:sp>
        <p:nvSpPr>
          <p:cNvPr id="30" name="Text 28"/>
          <p:cNvSpPr txBox="1"/>
          <p:nvPr/>
        </p:nvSpPr>
        <p:spPr>
          <a:xfrm>
            <a:off x="7220102" y="1810512"/>
            <a:ext cx="993038" cy="1325880"/>
          </a:xfrm>
          <a:prstGeom prst="rect">
            <a:avLst/>
          </a:prstGeom>
          <a:noFill/>
          <a:ln/>
        </p:spPr>
        <p:txBody>
          <a:bodyPr wrap="square" lIns="0" tIns="0" rIns="0" bIns="0" rtlCol="0" anchor="t">
            <a:normAutofit/>
          </a:bodyPr>
          <a:lstStyle/>
          <a:p>
            <a:pPr marL="0" indent="0">
              <a:buNone/>
            </a:pPr>
            <a:r>
              <a:rPr lang="en-US" sz="800" b="1" kern="0" spc="100" dirty="0">
                <a:solidFill>
                  <a:schemeClr val="accent1"/>
                </a:solidFill>
                <a:latin typeface="Calibri" pitchFamily="34" charset="0"/>
                <a:ea typeface="Calibri" pitchFamily="34" charset="-122"/>
                <a:cs typeface="Calibri" pitchFamily="34" charset="-120"/>
              </a:rPr>
              <a:t>KEY ACTIVITIES</a:t>
            </a:r>
            <a:endParaRPr lang="en-US" sz="800" dirty="0"/>
          </a:p>
          <a:p>
            <a:pPr marL="93663" indent="-93663">
              <a:buFont typeface="Arial" panose="020B0604020202020204" pitchFamily="34" charset="0"/>
              <a:buChar char="•"/>
            </a:pPr>
            <a:r>
              <a:rPr lang="en-US" sz="950" dirty="0">
                <a:solidFill>
                  <a:schemeClr val="tx1"/>
                </a:solidFill>
                <a:latin typeface="Calibri" pitchFamily="34" charset="0"/>
                <a:ea typeface="Calibri" pitchFamily="34" charset="-122"/>
                <a:cs typeface="Calibri" pitchFamily="34" charset="-120"/>
              </a:rPr>
              <a:t>Train process owners</a:t>
            </a:r>
          </a:p>
          <a:p>
            <a:pPr marL="93663" indent="-93663">
              <a:buFont typeface="Arial" panose="020B0604020202020204" pitchFamily="34" charset="0"/>
              <a:buChar char="•"/>
            </a:pPr>
            <a:r>
              <a:rPr lang="en-US" sz="950" dirty="0">
                <a:latin typeface="Calibri" pitchFamily="34" charset="0"/>
                <a:ea typeface="Calibri" pitchFamily="34" charset="-122"/>
                <a:cs typeface="Calibri" pitchFamily="34" charset="-120"/>
              </a:rPr>
              <a:t>R</a:t>
            </a:r>
            <a:r>
              <a:rPr lang="en-US" sz="950" dirty="0">
                <a:solidFill>
                  <a:schemeClr val="tx1"/>
                </a:solidFill>
                <a:latin typeface="Calibri" pitchFamily="34" charset="0"/>
                <a:ea typeface="Calibri" pitchFamily="34" charset="-122"/>
                <a:cs typeface="Calibri" pitchFamily="34" charset="-120"/>
              </a:rPr>
              <a:t>un the dashboard</a:t>
            </a:r>
          </a:p>
          <a:p>
            <a:pPr marL="93663" indent="-93663">
              <a:buFont typeface="Arial" panose="020B0604020202020204" pitchFamily="34" charset="0"/>
              <a:buChar char="•"/>
            </a:pPr>
            <a:r>
              <a:rPr lang="en-US" sz="950" dirty="0">
                <a:solidFill>
                  <a:schemeClr val="tx1"/>
                </a:solidFill>
                <a:latin typeface="Calibri" pitchFamily="34" charset="0"/>
                <a:ea typeface="Calibri" pitchFamily="34" charset="-122"/>
                <a:cs typeface="Calibri" pitchFamily="34" charset="-120"/>
              </a:rPr>
              <a:t>Curate templates</a:t>
            </a:r>
          </a:p>
          <a:p>
            <a:pPr marL="93663" indent="-93663">
              <a:buFont typeface="Arial" panose="020B0604020202020204" pitchFamily="34" charset="0"/>
              <a:buChar char="•"/>
            </a:pPr>
            <a:r>
              <a:rPr lang="en-US" sz="950" dirty="0">
                <a:latin typeface="Calibri" pitchFamily="34" charset="0"/>
                <a:ea typeface="Calibri" pitchFamily="34" charset="-122"/>
                <a:cs typeface="Calibri" pitchFamily="34" charset="-120"/>
              </a:rPr>
              <a:t>R</a:t>
            </a:r>
            <a:r>
              <a:rPr lang="en-US" sz="950" dirty="0">
                <a:solidFill>
                  <a:schemeClr val="tx1"/>
                </a:solidFill>
                <a:latin typeface="Calibri" pitchFamily="34" charset="0"/>
                <a:ea typeface="Calibri" pitchFamily="34" charset="-122"/>
                <a:cs typeface="Calibri" pitchFamily="34" charset="-120"/>
              </a:rPr>
              <a:t>eport savings</a:t>
            </a:r>
            <a:endParaRPr lang="en-US" sz="800" dirty="0"/>
          </a:p>
        </p:txBody>
      </p:sp>
      <p:sp>
        <p:nvSpPr>
          <p:cNvPr id="31" name="bmc Key resources"/>
          <p:cNvSpPr/>
          <p:nvPr/>
        </p:nvSpPr>
        <p:spPr>
          <a:xfrm>
            <a:off x="7156094" y="3172968"/>
            <a:ext cx="1121054" cy="1417320"/>
          </a:xfrm>
          <a:prstGeom prst="rect">
            <a:avLst/>
          </a:prstGeom>
          <a:solidFill>
            <a:schemeClr val="bg1"/>
          </a:solidFill>
          <a:ln w="9525">
            <a:solidFill>
              <a:srgbClr val="C9D6D0"/>
            </a:solidFill>
            <a:prstDash val="solid"/>
          </a:ln>
        </p:spPr>
        <p:txBody>
          <a:bodyPr/>
          <a:lstStyle/>
          <a:p>
            <a:endParaRPr lang="en-DE"/>
          </a:p>
        </p:txBody>
      </p:sp>
      <p:sp>
        <p:nvSpPr>
          <p:cNvPr id="32" name="Text 30"/>
          <p:cNvSpPr txBox="1"/>
          <p:nvPr/>
        </p:nvSpPr>
        <p:spPr>
          <a:xfrm>
            <a:off x="7220102" y="3227832"/>
            <a:ext cx="993038" cy="1325880"/>
          </a:xfrm>
          <a:prstGeom prst="rect">
            <a:avLst/>
          </a:prstGeom>
          <a:noFill/>
          <a:ln/>
        </p:spPr>
        <p:txBody>
          <a:bodyPr wrap="square" lIns="0" tIns="0" rIns="0" bIns="0" rtlCol="0" anchor="t">
            <a:normAutofit/>
          </a:bodyPr>
          <a:lstStyle/>
          <a:p>
            <a:pPr marL="0" indent="0">
              <a:buNone/>
            </a:pPr>
            <a:r>
              <a:rPr lang="en-US" sz="800" b="1" kern="0" spc="100" dirty="0">
                <a:solidFill>
                  <a:schemeClr val="accent1"/>
                </a:solidFill>
                <a:latin typeface="Calibri" pitchFamily="34" charset="0"/>
                <a:ea typeface="Calibri" pitchFamily="34" charset="-122"/>
                <a:cs typeface="Calibri" pitchFamily="34" charset="-120"/>
              </a:rPr>
              <a:t>KEY RESOURCES</a:t>
            </a:r>
            <a:endParaRPr lang="en-US" sz="800" dirty="0"/>
          </a:p>
          <a:p>
            <a:pPr marL="96838" indent="-96838">
              <a:buFont typeface="Arial" panose="020B0604020202020204" pitchFamily="34" charset="0"/>
              <a:buChar char="•"/>
            </a:pPr>
            <a:r>
              <a:rPr lang="en-US" sz="950" dirty="0">
                <a:solidFill>
                  <a:schemeClr val="tx1"/>
                </a:solidFill>
                <a:latin typeface="Calibri" pitchFamily="34" charset="0"/>
                <a:ea typeface="Calibri" pitchFamily="34" charset="-122"/>
                <a:cs typeface="Calibri" pitchFamily="34" charset="-120"/>
              </a:rPr>
              <a:t>Ladder &amp; triage</a:t>
            </a:r>
            <a:br>
              <a:rPr lang="en-US" sz="950" dirty="0">
                <a:solidFill>
                  <a:schemeClr val="tx1"/>
                </a:solidFill>
                <a:latin typeface="Calibri" pitchFamily="34" charset="0"/>
                <a:ea typeface="Calibri" pitchFamily="34" charset="-122"/>
                <a:cs typeface="Calibri" pitchFamily="34" charset="-120"/>
              </a:rPr>
            </a:br>
            <a:r>
              <a:rPr lang="en-US" sz="950" dirty="0">
                <a:solidFill>
                  <a:schemeClr val="tx1"/>
                </a:solidFill>
                <a:latin typeface="Calibri" pitchFamily="34" charset="0"/>
                <a:ea typeface="Calibri" pitchFamily="34" charset="-122"/>
                <a:cs typeface="Calibri" pitchFamily="34" charset="-120"/>
              </a:rPr>
              <a:t>Dashboard on existing &amp; future logs</a:t>
            </a:r>
          </a:p>
          <a:p>
            <a:pPr marL="96838" indent="-96838">
              <a:buFont typeface="Arial" panose="020B0604020202020204" pitchFamily="34" charset="0"/>
              <a:buChar char="•"/>
            </a:pPr>
            <a:r>
              <a:rPr lang="en-US" sz="950" dirty="0">
                <a:latin typeface="Calibri" pitchFamily="34" charset="0"/>
                <a:ea typeface="Calibri" pitchFamily="34" charset="-122"/>
                <a:cs typeface="Calibri" pitchFamily="34" charset="-120"/>
              </a:rPr>
              <a:t>T</a:t>
            </a:r>
            <a:r>
              <a:rPr lang="en-US" sz="950" dirty="0">
                <a:solidFill>
                  <a:schemeClr val="tx1"/>
                </a:solidFill>
                <a:latin typeface="Calibri" pitchFamily="34" charset="0"/>
                <a:ea typeface="Calibri" pitchFamily="34" charset="-122"/>
                <a:cs typeface="Calibri" pitchFamily="34" charset="-120"/>
              </a:rPr>
              <a:t>emplate store</a:t>
            </a:r>
            <a:endParaRPr lang="en-US" sz="800" dirty="0"/>
          </a:p>
        </p:txBody>
      </p:sp>
      <p:sp>
        <p:nvSpPr>
          <p:cNvPr id="33" name="bmc Value proposition"/>
          <p:cNvSpPr/>
          <p:nvPr/>
        </p:nvSpPr>
        <p:spPr>
          <a:xfrm>
            <a:off x="8277149" y="1755648"/>
            <a:ext cx="1121054" cy="2834640"/>
          </a:xfrm>
          <a:prstGeom prst="rect">
            <a:avLst/>
          </a:prstGeom>
          <a:solidFill>
            <a:schemeClr val="bg2"/>
          </a:solidFill>
          <a:ln w="9525">
            <a:solidFill>
              <a:srgbClr val="C9D6D0"/>
            </a:solidFill>
            <a:prstDash val="solid"/>
          </a:ln>
        </p:spPr>
        <p:txBody>
          <a:bodyPr/>
          <a:lstStyle/>
          <a:p>
            <a:endParaRPr lang="en-DE"/>
          </a:p>
        </p:txBody>
      </p:sp>
      <p:sp>
        <p:nvSpPr>
          <p:cNvPr id="34" name="Text 32"/>
          <p:cNvSpPr txBox="1"/>
          <p:nvPr/>
        </p:nvSpPr>
        <p:spPr>
          <a:xfrm>
            <a:off x="8341157" y="1810512"/>
            <a:ext cx="993038" cy="2743200"/>
          </a:xfrm>
          <a:prstGeom prst="rect">
            <a:avLst/>
          </a:prstGeom>
          <a:noFill/>
          <a:ln/>
        </p:spPr>
        <p:txBody>
          <a:bodyPr wrap="square" lIns="0" tIns="0" rIns="0" bIns="0" rtlCol="0" anchor="t">
            <a:normAutofit/>
          </a:bodyPr>
          <a:lstStyle/>
          <a:p>
            <a:pPr marL="0" indent="0">
              <a:buNone/>
            </a:pPr>
            <a:r>
              <a:rPr lang="en-US" sz="800" b="1" kern="0" spc="100" dirty="0">
                <a:solidFill>
                  <a:schemeClr val="accent1"/>
                </a:solidFill>
                <a:latin typeface="Calibri" pitchFamily="34" charset="0"/>
                <a:ea typeface="Calibri" pitchFamily="34" charset="-122"/>
                <a:cs typeface="Calibri" pitchFamily="34" charset="-120"/>
              </a:rPr>
              <a:t>VALUE PROPOSITION</a:t>
            </a:r>
            <a:endParaRPr lang="en-US" sz="800" dirty="0"/>
          </a:p>
          <a:p>
            <a:pPr marL="0" indent="0">
              <a:buNone/>
            </a:pPr>
            <a:r>
              <a:rPr lang="en-US" sz="950" dirty="0">
                <a:solidFill>
                  <a:schemeClr val="tx1"/>
                </a:solidFill>
                <a:latin typeface="Calibri" pitchFamily="34" charset="0"/>
                <a:ea typeface="Calibri" pitchFamily="34" charset="-122"/>
                <a:cs typeface="Calibri" pitchFamily="34" charset="-120"/>
              </a:rPr>
              <a:t>Autonomy without footprint growth.</a:t>
            </a:r>
            <a:endParaRPr lang="en-US" sz="800" dirty="0"/>
          </a:p>
          <a:p>
            <a:pPr marL="0" indent="0">
              <a:buNone/>
            </a:pPr>
            <a:endParaRPr lang="en-US" sz="800" dirty="0"/>
          </a:p>
          <a:p>
            <a:endParaRPr lang="en-US" sz="950" dirty="0">
              <a:solidFill>
                <a:schemeClr val="tx1"/>
              </a:solidFill>
              <a:latin typeface="Calibri" pitchFamily="34" charset="0"/>
              <a:ea typeface="Calibri" pitchFamily="34" charset="-122"/>
              <a:cs typeface="Calibri" pitchFamily="34" charset="-120"/>
            </a:endParaRPr>
          </a:p>
          <a:p>
            <a:endParaRPr lang="en-US" sz="950" dirty="0">
              <a:latin typeface="Calibri" pitchFamily="34" charset="0"/>
              <a:ea typeface="Calibri" pitchFamily="34" charset="-122"/>
              <a:cs typeface="Calibri" pitchFamily="34" charset="-120"/>
            </a:endParaRPr>
          </a:p>
          <a:p>
            <a:endParaRPr lang="en-US" sz="950" dirty="0">
              <a:solidFill>
                <a:schemeClr val="tx1"/>
              </a:solidFill>
              <a:latin typeface="Calibri" pitchFamily="34" charset="0"/>
              <a:ea typeface="Calibri" pitchFamily="34" charset="-122"/>
              <a:cs typeface="Calibri" pitchFamily="34" charset="-120"/>
            </a:endParaRPr>
          </a:p>
          <a:p>
            <a:endParaRPr lang="en-US" sz="950" dirty="0">
              <a:latin typeface="Calibri" pitchFamily="34" charset="0"/>
              <a:ea typeface="Calibri" pitchFamily="34" charset="-122"/>
              <a:cs typeface="Calibri" pitchFamily="34" charset="-120"/>
            </a:endParaRPr>
          </a:p>
          <a:p>
            <a:pPr algn="ctr"/>
            <a:r>
              <a:rPr lang="en-US" sz="950" dirty="0">
                <a:solidFill>
                  <a:schemeClr val="tx1"/>
                </a:solidFill>
                <a:latin typeface="Calibri" pitchFamily="34" charset="0"/>
                <a:ea typeface="Calibri" pitchFamily="34" charset="-122"/>
                <a:cs typeface="Calibri" pitchFamily="34" charset="-120"/>
              </a:rPr>
              <a:t>Not more AI, but </a:t>
            </a:r>
            <a:r>
              <a:rPr lang="en-US" sz="2800" b="1" dirty="0" err="1">
                <a:solidFill>
                  <a:schemeClr val="tx1"/>
                </a:solidFill>
                <a:latin typeface="Calibri" pitchFamily="34" charset="0"/>
                <a:ea typeface="Calibri" pitchFamily="34" charset="-122"/>
                <a:cs typeface="Calibri" pitchFamily="34" charset="-120"/>
              </a:rPr>
              <a:t>r</a:t>
            </a:r>
            <a:r>
              <a:rPr lang="en-US" sz="2800" b="1" dirty="0" err="1">
                <a:solidFill>
                  <a:schemeClr val="accent2"/>
                </a:solidFill>
                <a:latin typeface="Arial" pitchFamily="34" charset="0"/>
                <a:ea typeface="Arial" pitchFamily="34" charset="-122"/>
                <a:cs typeface="Arial" pitchFamily="34" charset="-120"/>
              </a:rPr>
              <a:t>AI</a:t>
            </a:r>
            <a:r>
              <a:rPr lang="en-US" sz="2800" b="1" dirty="0" err="1">
                <a:solidFill>
                  <a:schemeClr val="tx1"/>
                </a:solidFill>
                <a:latin typeface="Calibri" pitchFamily="34" charset="0"/>
                <a:ea typeface="Calibri" pitchFamily="34" charset="-122"/>
                <a:cs typeface="Calibri" pitchFamily="34" charset="-120"/>
              </a:rPr>
              <a:t>ght</a:t>
            </a:r>
            <a:endParaRPr lang="en-US" sz="1000" b="1" dirty="0"/>
          </a:p>
        </p:txBody>
      </p:sp>
      <p:sp>
        <p:nvSpPr>
          <p:cNvPr id="35" name="bmc Relationships"/>
          <p:cNvSpPr/>
          <p:nvPr/>
        </p:nvSpPr>
        <p:spPr>
          <a:xfrm>
            <a:off x="9398203" y="1755648"/>
            <a:ext cx="1121054" cy="1417320"/>
          </a:xfrm>
          <a:prstGeom prst="rect">
            <a:avLst/>
          </a:prstGeom>
          <a:solidFill>
            <a:schemeClr val="bg1"/>
          </a:solidFill>
          <a:ln w="9525">
            <a:solidFill>
              <a:srgbClr val="C9D6D0"/>
            </a:solidFill>
            <a:prstDash val="solid"/>
          </a:ln>
        </p:spPr>
        <p:txBody>
          <a:bodyPr/>
          <a:lstStyle/>
          <a:p>
            <a:endParaRPr lang="en-DE"/>
          </a:p>
        </p:txBody>
      </p:sp>
      <p:sp>
        <p:nvSpPr>
          <p:cNvPr id="36" name="Text 34"/>
          <p:cNvSpPr txBox="1"/>
          <p:nvPr/>
        </p:nvSpPr>
        <p:spPr>
          <a:xfrm>
            <a:off x="9462211" y="1810512"/>
            <a:ext cx="993038" cy="1325880"/>
          </a:xfrm>
          <a:prstGeom prst="rect">
            <a:avLst/>
          </a:prstGeom>
          <a:noFill/>
          <a:ln/>
        </p:spPr>
        <p:txBody>
          <a:bodyPr wrap="square" lIns="0" tIns="0" rIns="0" bIns="0" rtlCol="0" anchor="t">
            <a:normAutofit/>
          </a:bodyPr>
          <a:lstStyle/>
          <a:p>
            <a:pPr marL="0" indent="0">
              <a:buNone/>
            </a:pPr>
            <a:r>
              <a:rPr lang="en-US" sz="800" b="1" kern="0" spc="100" dirty="0">
                <a:solidFill>
                  <a:schemeClr val="accent1"/>
                </a:solidFill>
                <a:latin typeface="Calibri" pitchFamily="34" charset="0"/>
                <a:ea typeface="Calibri" pitchFamily="34" charset="-122"/>
                <a:cs typeface="Calibri" pitchFamily="34" charset="-120"/>
              </a:rPr>
              <a:t>RELATIONSHIPS</a:t>
            </a:r>
            <a:endParaRPr lang="en-US" sz="800" dirty="0"/>
          </a:p>
          <a:p>
            <a:pPr marL="96838" indent="-96838">
              <a:buFont typeface="Arial" panose="020B0604020202020204" pitchFamily="34" charset="0"/>
              <a:buChar char="•"/>
            </a:pPr>
            <a:r>
              <a:rPr lang="en-US" sz="950" dirty="0">
                <a:solidFill>
                  <a:schemeClr val="tx1"/>
                </a:solidFill>
                <a:latin typeface="Calibri" pitchFamily="34" charset="0"/>
                <a:ea typeface="Calibri" pitchFamily="34" charset="-122"/>
                <a:cs typeface="Calibri" pitchFamily="34" charset="-120"/>
              </a:rPr>
              <a:t>Self-service</a:t>
            </a:r>
          </a:p>
          <a:p>
            <a:pPr marL="96838" indent="-96838">
              <a:buFont typeface="Arial" panose="020B0604020202020204" pitchFamily="34" charset="0"/>
              <a:buChar char="•"/>
            </a:pPr>
            <a:r>
              <a:rPr lang="en-US" sz="950" dirty="0">
                <a:latin typeface="Calibri" pitchFamily="34" charset="0"/>
                <a:ea typeface="Calibri" pitchFamily="34" charset="-122"/>
                <a:cs typeface="Calibri" pitchFamily="34" charset="-120"/>
              </a:rPr>
              <a:t>C</a:t>
            </a:r>
            <a:r>
              <a:rPr lang="en-US" sz="950" dirty="0">
                <a:solidFill>
                  <a:schemeClr val="tx1"/>
                </a:solidFill>
                <a:latin typeface="Calibri" pitchFamily="34" charset="0"/>
                <a:ea typeface="Calibri" pitchFamily="34" charset="-122"/>
                <a:cs typeface="Calibri" pitchFamily="34" charset="-120"/>
              </a:rPr>
              <a:t>ommunity of practice</a:t>
            </a:r>
          </a:p>
          <a:p>
            <a:pPr marL="96838" indent="-96838">
              <a:buFont typeface="Arial" panose="020B0604020202020204" pitchFamily="34" charset="0"/>
              <a:buChar char="•"/>
            </a:pPr>
            <a:r>
              <a:rPr lang="en-US" sz="950" dirty="0">
                <a:latin typeface="Calibri" pitchFamily="34" charset="0"/>
                <a:ea typeface="Calibri" pitchFamily="34" charset="-122"/>
                <a:cs typeface="Calibri" pitchFamily="34" charset="-120"/>
              </a:rPr>
              <a:t>R</a:t>
            </a:r>
            <a:r>
              <a:rPr lang="en-US" sz="950" dirty="0">
                <a:solidFill>
                  <a:schemeClr val="tx1"/>
                </a:solidFill>
                <a:latin typeface="Calibri" pitchFamily="34" charset="0"/>
                <a:ea typeface="Calibri" pitchFamily="34" charset="-122"/>
                <a:cs typeface="Calibri" pitchFamily="34" charset="-120"/>
              </a:rPr>
              <a:t>ecognition for lean teams</a:t>
            </a:r>
            <a:endParaRPr lang="en-US" sz="800" dirty="0"/>
          </a:p>
        </p:txBody>
      </p:sp>
      <p:sp>
        <p:nvSpPr>
          <p:cNvPr id="37" name="bmc Channels"/>
          <p:cNvSpPr/>
          <p:nvPr/>
        </p:nvSpPr>
        <p:spPr>
          <a:xfrm>
            <a:off x="9398203" y="3172968"/>
            <a:ext cx="1121054" cy="1417320"/>
          </a:xfrm>
          <a:prstGeom prst="rect">
            <a:avLst/>
          </a:prstGeom>
          <a:solidFill>
            <a:schemeClr val="bg1"/>
          </a:solidFill>
          <a:ln w="9525">
            <a:solidFill>
              <a:srgbClr val="C9D6D0"/>
            </a:solidFill>
            <a:prstDash val="solid"/>
          </a:ln>
        </p:spPr>
        <p:txBody>
          <a:bodyPr/>
          <a:lstStyle/>
          <a:p>
            <a:endParaRPr lang="en-DE"/>
          </a:p>
        </p:txBody>
      </p:sp>
      <p:sp>
        <p:nvSpPr>
          <p:cNvPr id="38" name="Text 36"/>
          <p:cNvSpPr txBox="1"/>
          <p:nvPr/>
        </p:nvSpPr>
        <p:spPr>
          <a:xfrm>
            <a:off x="9462211" y="3227832"/>
            <a:ext cx="993038" cy="1325880"/>
          </a:xfrm>
          <a:prstGeom prst="rect">
            <a:avLst/>
          </a:prstGeom>
          <a:noFill/>
          <a:ln/>
        </p:spPr>
        <p:txBody>
          <a:bodyPr wrap="square" lIns="0" tIns="0" rIns="0" bIns="0" rtlCol="0" anchor="t">
            <a:normAutofit/>
          </a:bodyPr>
          <a:lstStyle/>
          <a:p>
            <a:pPr marL="0" indent="0">
              <a:buNone/>
            </a:pPr>
            <a:r>
              <a:rPr lang="en-US" sz="800" b="1" kern="0" spc="100" dirty="0">
                <a:solidFill>
                  <a:schemeClr val="accent1"/>
                </a:solidFill>
                <a:latin typeface="Calibri" pitchFamily="34" charset="0"/>
                <a:ea typeface="Calibri" pitchFamily="34" charset="-122"/>
                <a:cs typeface="Calibri" pitchFamily="34" charset="-120"/>
              </a:rPr>
              <a:t>CHANNELS</a:t>
            </a:r>
            <a:endParaRPr lang="en-US" sz="800" dirty="0"/>
          </a:p>
          <a:p>
            <a:pPr marL="96838" indent="-96838">
              <a:buFont typeface="Arial" panose="020B0604020202020204" pitchFamily="34" charset="0"/>
              <a:buChar char="•"/>
            </a:pPr>
            <a:r>
              <a:rPr lang="en-US" sz="950" dirty="0">
                <a:solidFill>
                  <a:schemeClr val="tx1"/>
                </a:solidFill>
                <a:latin typeface="Calibri" pitchFamily="34" charset="0"/>
                <a:ea typeface="Calibri" pitchFamily="34" charset="-122"/>
                <a:cs typeface="Calibri" pitchFamily="34" charset="-120"/>
              </a:rPr>
              <a:t>Inside the low-code platform</a:t>
            </a:r>
          </a:p>
          <a:p>
            <a:pPr marL="96838" indent="-96838">
              <a:buFont typeface="Arial" panose="020B0604020202020204" pitchFamily="34" charset="0"/>
              <a:buChar char="•"/>
            </a:pPr>
            <a:r>
              <a:rPr lang="en-US" sz="950" dirty="0">
                <a:latin typeface="Calibri" pitchFamily="34" charset="0"/>
                <a:ea typeface="Calibri" pitchFamily="34" charset="-122"/>
                <a:cs typeface="Calibri" pitchFamily="34" charset="-120"/>
              </a:rPr>
              <a:t>T</a:t>
            </a:r>
            <a:r>
              <a:rPr lang="en-US" sz="950" dirty="0">
                <a:solidFill>
                  <a:schemeClr val="tx1"/>
                </a:solidFill>
                <a:latin typeface="Calibri" pitchFamily="34" charset="0"/>
                <a:ea typeface="Calibri" pitchFamily="34" charset="-122"/>
                <a:cs typeface="Calibri" pitchFamily="34" charset="-120"/>
              </a:rPr>
              <a:t>raining</a:t>
            </a:r>
          </a:p>
          <a:p>
            <a:pPr marL="96838" indent="-96838">
              <a:buFont typeface="Arial" panose="020B0604020202020204" pitchFamily="34" charset="0"/>
              <a:buChar char="•"/>
            </a:pPr>
            <a:r>
              <a:rPr lang="en-US" sz="950" dirty="0">
                <a:latin typeface="Calibri" pitchFamily="34" charset="0"/>
                <a:ea typeface="Calibri" pitchFamily="34" charset="-122"/>
                <a:cs typeface="Calibri" pitchFamily="34" charset="-120"/>
              </a:rPr>
              <a:t>P</a:t>
            </a:r>
            <a:r>
              <a:rPr lang="en-US" sz="950" dirty="0">
                <a:solidFill>
                  <a:schemeClr val="tx1"/>
                </a:solidFill>
                <a:latin typeface="Calibri" pitchFamily="34" charset="0"/>
                <a:ea typeface="Calibri" pitchFamily="34" charset="-122"/>
                <a:cs typeface="Calibri" pitchFamily="34" charset="-120"/>
              </a:rPr>
              <a:t>ilot in HR recruiting</a:t>
            </a:r>
            <a:endParaRPr lang="en-US" sz="800" dirty="0"/>
          </a:p>
        </p:txBody>
      </p:sp>
      <p:sp>
        <p:nvSpPr>
          <p:cNvPr id="39" name="bmc Segments"/>
          <p:cNvSpPr/>
          <p:nvPr/>
        </p:nvSpPr>
        <p:spPr>
          <a:xfrm>
            <a:off x="10519258" y="1755648"/>
            <a:ext cx="1121054" cy="2834640"/>
          </a:xfrm>
          <a:prstGeom prst="rect">
            <a:avLst/>
          </a:prstGeom>
          <a:solidFill>
            <a:schemeClr val="bg1"/>
          </a:solidFill>
          <a:ln w="9525">
            <a:solidFill>
              <a:srgbClr val="C9D6D0"/>
            </a:solidFill>
            <a:prstDash val="solid"/>
          </a:ln>
        </p:spPr>
        <p:txBody>
          <a:bodyPr/>
          <a:lstStyle/>
          <a:p>
            <a:endParaRPr lang="en-DE"/>
          </a:p>
        </p:txBody>
      </p:sp>
      <p:sp>
        <p:nvSpPr>
          <p:cNvPr id="40" name="Text 38"/>
          <p:cNvSpPr txBox="1"/>
          <p:nvPr/>
        </p:nvSpPr>
        <p:spPr>
          <a:xfrm>
            <a:off x="10583266" y="1810512"/>
            <a:ext cx="993038" cy="2743200"/>
          </a:xfrm>
          <a:prstGeom prst="rect">
            <a:avLst/>
          </a:prstGeom>
          <a:noFill/>
          <a:ln/>
        </p:spPr>
        <p:txBody>
          <a:bodyPr wrap="square" lIns="0" tIns="0" rIns="0" bIns="0" rtlCol="0" anchor="t">
            <a:normAutofit/>
          </a:bodyPr>
          <a:lstStyle/>
          <a:p>
            <a:pPr marL="0" indent="0">
              <a:buNone/>
            </a:pPr>
            <a:r>
              <a:rPr lang="en-US" sz="800" b="1" kern="0" spc="100" dirty="0">
                <a:solidFill>
                  <a:schemeClr val="accent1"/>
                </a:solidFill>
                <a:latin typeface="Calibri" pitchFamily="34" charset="0"/>
                <a:ea typeface="Calibri" pitchFamily="34" charset="-122"/>
                <a:cs typeface="Calibri" pitchFamily="34" charset="-120"/>
              </a:rPr>
              <a:t>SEGMENTS</a:t>
            </a:r>
            <a:endParaRPr lang="en-US" sz="800" dirty="0"/>
          </a:p>
          <a:p>
            <a:pPr marL="0" indent="0">
              <a:buNone/>
            </a:pPr>
            <a:r>
              <a:rPr lang="en-US" sz="950" b="1" dirty="0">
                <a:solidFill>
                  <a:schemeClr val="tx1"/>
                </a:solidFill>
                <a:latin typeface="Calibri" pitchFamily="34" charset="0"/>
                <a:ea typeface="Calibri" pitchFamily="34" charset="-122"/>
                <a:cs typeface="Calibri" pitchFamily="34" charset="-120"/>
              </a:rPr>
              <a:t>Customer</a:t>
            </a:r>
            <a:r>
              <a:rPr lang="en-US" sz="950" dirty="0">
                <a:solidFill>
                  <a:schemeClr val="tx1"/>
                </a:solidFill>
                <a:latin typeface="Calibri" pitchFamily="34" charset="0"/>
                <a:ea typeface="Calibri" pitchFamily="34" charset="-122"/>
                <a:cs typeface="Calibri" pitchFamily="34" charset="-120"/>
              </a:rPr>
              <a:t>: CIO office</a:t>
            </a:r>
            <a:endParaRPr lang="en-US" sz="800" dirty="0"/>
          </a:p>
          <a:p>
            <a:pPr marL="0" indent="0">
              <a:buNone/>
            </a:pPr>
            <a:endParaRPr lang="en-US" sz="800" dirty="0"/>
          </a:p>
          <a:p>
            <a:pPr marL="0" indent="0">
              <a:buNone/>
            </a:pPr>
            <a:r>
              <a:rPr lang="en-US" sz="950" b="1" dirty="0">
                <a:solidFill>
                  <a:schemeClr val="tx1"/>
                </a:solidFill>
                <a:latin typeface="Calibri" pitchFamily="34" charset="0"/>
                <a:ea typeface="Calibri" pitchFamily="34" charset="-122"/>
                <a:cs typeface="Calibri" pitchFamily="34" charset="-120"/>
              </a:rPr>
              <a:t>Users</a:t>
            </a:r>
            <a:r>
              <a:rPr lang="en-US" sz="950" dirty="0">
                <a:solidFill>
                  <a:schemeClr val="tx1"/>
                </a:solidFill>
                <a:latin typeface="Calibri" pitchFamily="34" charset="0"/>
                <a:ea typeface="Calibri" pitchFamily="34" charset="-122"/>
                <a:cs typeface="Calibri" pitchFamily="34" charset="-120"/>
              </a:rPr>
              <a:t>: process owners like Lena</a:t>
            </a:r>
            <a:endParaRPr lang="en-US" sz="800" dirty="0"/>
          </a:p>
          <a:p>
            <a:pPr marL="0" indent="0">
              <a:buNone/>
            </a:pPr>
            <a:endParaRPr lang="en-US" sz="800" dirty="0"/>
          </a:p>
          <a:p>
            <a:pPr marL="0" indent="0">
              <a:buNone/>
            </a:pPr>
            <a:r>
              <a:rPr lang="en-US" sz="950" b="1" dirty="0">
                <a:solidFill>
                  <a:schemeClr val="tx1"/>
                </a:solidFill>
                <a:latin typeface="Calibri" pitchFamily="34" charset="0"/>
                <a:ea typeface="Calibri" pitchFamily="34" charset="-122"/>
                <a:cs typeface="Calibri" pitchFamily="34" charset="-120"/>
              </a:rPr>
              <a:t>Stakeholder</a:t>
            </a:r>
            <a:r>
              <a:rPr lang="en-US" sz="950" dirty="0">
                <a:solidFill>
                  <a:schemeClr val="tx1"/>
                </a:solidFill>
                <a:latin typeface="Calibri" pitchFamily="34" charset="0"/>
                <a:ea typeface="Calibri" pitchFamily="34" charset="-122"/>
                <a:cs typeface="Calibri" pitchFamily="34" charset="-120"/>
              </a:rPr>
              <a:t>: sustainability office</a:t>
            </a:r>
            <a:endParaRPr lang="en-US" sz="800" dirty="0"/>
          </a:p>
        </p:txBody>
      </p:sp>
      <p:sp>
        <p:nvSpPr>
          <p:cNvPr id="41" name="bmc Cost structure"/>
          <p:cNvSpPr/>
          <p:nvPr/>
        </p:nvSpPr>
        <p:spPr>
          <a:xfrm>
            <a:off x="6035040" y="4590288"/>
            <a:ext cx="2802636" cy="896112"/>
          </a:xfrm>
          <a:prstGeom prst="rect">
            <a:avLst/>
          </a:prstGeom>
          <a:solidFill>
            <a:schemeClr val="bg1"/>
          </a:solidFill>
          <a:ln w="9525">
            <a:solidFill>
              <a:srgbClr val="C9D6D0"/>
            </a:solidFill>
            <a:prstDash val="solid"/>
          </a:ln>
        </p:spPr>
        <p:txBody>
          <a:bodyPr/>
          <a:lstStyle/>
          <a:p>
            <a:endParaRPr lang="en-DE"/>
          </a:p>
        </p:txBody>
      </p:sp>
      <p:sp>
        <p:nvSpPr>
          <p:cNvPr id="42" name="Text 40"/>
          <p:cNvSpPr txBox="1"/>
          <p:nvPr/>
        </p:nvSpPr>
        <p:spPr>
          <a:xfrm>
            <a:off x="6099048" y="4645152"/>
            <a:ext cx="2674620" cy="804672"/>
          </a:xfrm>
          <a:prstGeom prst="rect">
            <a:avLst/>
          </a:prstGeom>
          <a:noFill/>
          <a:ln/>
        </p:spPr>
        <p:txBody>
          <a:bodyPr wrap="square" lIns="0" tIns="0" rIns="0" bIns="0" rtlCol="0" anchor="t">
            <a:normAutofit/>
          </a:bodyPr>
          <a:lstStyle/>
          <a:p>
            <a:pPr marL="0" indent="0">
              <a:buNone/>
            </a:pPr>
            <a:r>
              <a:rPr lang="en-US" sz="800" b="1" kern="0" spc="100" dirty="0">
                <a:solidFill>
                  <a:schemeClr val="accent1"/>
                </a:solidFill>
                <a:latin typeface="Calibri" pitchFamily="34" charset="0"/>
                <a:ea typeface="Calibri" pitchFamily="34" charset="-122"/>
                <a:cs typeface="Calibri" pitchFamily="34" charset="-120"/>
              </a:rPr>
              <a:t>COST STRUCTURE</a:t>
            </a:r>
            <a:endParaRPr lang="en-US" sz="800" dirty="0"/>
          </a:p>
          <a:p>
            <a:pPr marL="93663" indent="-93663">
              <a:buFont typeface="Arial" panose="020B0604020202020204" pitchFamily="34" charset="0"/>
              <a:buChar char="•"/>
            </a:pPr>
            <a:r>
              <a:rPr lang="en-US" sz="950" dirty="0">
                <a:solidFill>
                  <a:schemeClr val="tx1"/>
                </a:solidFill>
                <a:latin typeface="Calibri" pitchFamily="34" charset="0"/>
                <a:ea typeface="Calibri" pitchFamily="34" charset="-122"/>
                <a:cs typeface="Calibri" pitchFamily="34" charset="-120"/>
              </a:rPr>
              <a:t>Training</a:t>
            </a:r>
          </a:p>
          <a:p>
            <a:pPr marL="93663" indent="-93663">
              <a:buFont typeface="Arial" panose="020B0604020202020204" pitchFamily="34" charset="0"/>
              <a:buChar char="•"/>
            </a:pPr>
            <a:r>
              <a:rPr lang="en-US" sz="950" dirty="0">
                <a:latin typeface="Calibri" pitchFamily="34" charset="0"/>
                <a:ea typeface="Calibri" pitchFamily="34" charset="-122"/>
                <a:cs typeface="Calibri" pitchFamily="34" charset="-120"/>
              </a:rPr>
              <a:t>D</a:t>
            </a:r>
            <a:r>
              <a:rPr lang="en-US" sz="950" dirty="0">
                <a:solidFill>
                  <a:schemeClr val="tx1"/>
                </a:solidFill>
                <a:latin typeface="Calibri" pitchFamily="34" charset="0"/>
                <a:ea typeface="Calibri" pitchFamily="34" charset="-122"/>
                <a:cs typeface="Calibri" pitchFamily="34" charset="-120"/>
              </a:rPr>
              <a:t>ashboard build</a:t>
            </a:r>
          </a:p>
          <a:p>
            <a:pPr marL="93663" indent="-93663">
              <a:buFont typeface="Arial" panose="020B0604020202020204" pitchFamily="34" charset="0"/>
              <a:buChar char="•"/>
            </a:pPr>
            <a:r>
              <a:rPr lang="en-US" sz="950" dirty="0">
                <a:solidFill>
                  <a:schemeClr val="tx1"/>
                </a:solidFill>
                <a:latin typeface="Calibri" pitchFamily="34" charset="0"/>
                <a:ea typeface="Calibri" pitchFamily="34" charset="-122"/>
                <a:cs typeface="Calibri" pitchFamily="34" charset="-120"/>
              </a:rPr>
              <a:t>Process owners’ time for conversions</a:t>
            </a:r>
            <a:endParaRPr lang="en-US" sz="800" dirty="0"/>
          </a:p>
        </p:txBody>
      </p:sp>
      <p:sp>
        <p:nvSpPr>
          <p:cNvPr id="43" name="bmc Value captured"/>
          <p:cNvSpPr/>
          <p:nvPr/>
        </p:nvSpPr>
        <p:spPr>
          <a:xfrm>
            <a:off x="8837676" y="4590288"/>
            <a:ext cx="2802636" cy="896112"/>
          </a:xfrm>
          <a:prstGeom prst="rect">
            <a:avLst/>
          </a:prstGeom>
          <a:solidFill>
            <a:schemeClr val="bg1"/>
          </a:solidFill>
          <a:ln w="9525">
            <a:solidFill>
              <a:srgbClr val="C9D6D0"/>
            </a:solidFill>
            <a:prstDash val="solid"/>
          </a:ln>
        </p:spPr>
        <p:txBody>
          <a:bodyPr/>
          <a:lstStyle/>
          <a:p>
            <a:endParaRPr lang="en-DE"/>
          </a:p>
        </p:txBody>
      </p:sp>
      <p:sp>
        <p:nvSpPr>
          <p:cNvPr id="44" name="Text 42"/>
          <p:cNvSpPr txBox="1"/>
          <p:nvPr/>
        </p:nvSpPr>
        <p:spPr>
          <a:xfrm>
            <a:off x="8901684" y="4645152"/>
            <a:ext cx="2674620" cy="804672"/>
          </a:xfrm>
          <a:prstGeom prst="rect">
            <a:avLst/>
          </a:prstGeom>
          <a:noFill/>
          <a:ln/>
        </p:spPr>
        <p:txBody>
          <a:bodyPr wrap="square" lIns="0" tIns="0" rIns="0" bIns="0" rtlCol="0" anchor="t">
            <a:normAutofit/>
          </a:bodyPr>
          <a:lstStyle/>
          <a:p>
            <a:pPr marL="0" indent="0">
              <a:buNone/>
            </a:pPr>
            <a:r>
              <a:rPr lang="en-US" sz="800" b="1" kern="0" spc="100" dirty="0">
                <a:solidFill>
                  <a:schemeClr val="accent1"/>
                </a:solidFill>
                <a:latin typeface="Calibri" pitchFamily="34" charset="0"/>
                <a:ea typeface="Calibri" pitchFamily="34" charset="-122"/>
                <a:cs typeface="Calibri" pitchFamily="34" charset="-120"/>
              </a:rPr>
              <a:t>VALUE CAPTURED</a:t>
            </a:r>
            <a:endParaRPr lang="en-US" sz="800" dirty="0"/>
          </a:p>
          <a:p>
            <a:pPr marL="171450" indent="-171450">
              <a:buFont typeface="Arial" panose="020B0604020202020204" pitchFamily="34" charset="0"/>
              <a:buChar char="•"/>
            </a:pPr>
            <a:r>
              <a:rPr lang="en-US" sz="950" dirty="0">
                <a:solidFill>
                  <a:schemeClr val="tx1"/>
                </a:solidFill>
                <a:latin typeface="Calibri" pitchFamily="34" charset="0"/>
                <a:ea typeface="Calibri" pitchFamily="34" charset="-122"/>
                <a:cs typeface="Calibri" pitchFamily="34" charset="-120"/>
              </a:rPr>
              <a:t>Lower compute cost and emissions</a:t>
            </a:r>
          </a:p>
          <a:p>
            <a:pPr marL="171450" indent="-171450">
              <a:buFont typeface="Arial" panose="020B0604020202020204" pitchFamily="34" charset="0"/>
              <a:buChar char="•"/>
            </a:pPr>
            <a:r>
              <a:rPr lang="en-US" sz="950" dirty="0">
                <a:solidFill>
                  <a:schemeClr val="tx1"/>
                </a:solidFill>
                <a:latin typeface="Calibri" pitchFamily="34" charset="0"/>
                <a:ea typeface="Calibri" pitchFamily="34" charset="-122"/>
                <a:cs typeface="Calibri" pitchFamily="34" charset="-120"/>
              </a:rPr>
              <a:t>Less maintenance</a:t>
            </a:r>
          </a:p>
          <a:p>
            <a:pPr marL="171450" indent="-171450">
              <a:buFont typeface="Arial" panose="020B0604020202020204" pitchFamily="34" charset="0"/>
              <a:buChar char="•"/>
            </a:pPr>
            <a:r>
              <a:rPr lang="en-US" sz="950" dirty="0">
                <a:solidFill>
                  <a:schemeClr val="tx1"/>
                </a:solidFill>
                <a:latin typeface="Calibri" pitchFamily="34" charset="0"/>
                <a:ea typeface="Calibri" pitchFamily="34" charset="-122"/>
                <a:cs typeface="Calibri" pitchFamily="34" charset="-120"/>
              </a:rPr>
              <a:t>Freed AI budget</a:t>
            </a:r>
            <a:endParaRPr lang="en-US" sz="800" dirty="0"/>
          </a:p>
        </p:txBody>
      </p:sp>
      <p:sp>
        <p:nvSpPr>
          <p:cNvPr id="45"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E6A"/>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10058400" cy="274320"/>
          </a:xfrm>
          <a:prstGeom prst="rect">
            <a:avLst/>
          </a:prstGeom>
          <a:noFill/>
          <a:ln/>
        </p:spPr>
        <p:txBody>
          <a:bodyPr wrap="square" lIns="0" tIns="0" rIns="0" bIns="0" rtlCol="0"/>
          <a:lstStyle/>
          <a:p>
            <a:pPr marL="0" indent="0">
              <a:buNone/>
            </a:pPr>
            <a:r>
              <a:rPr lang="en-US" sz="1100" b="1" kern="0" spc="200" dirty="0">
                <a:solidFill>
                  <a:schemeClr val="accent1"/>
                </a:solidFill>
                <a:latin typeface="Arial" pitchFamily="34" charset="0"/>
                <a:ea typeface="Arial" pitchFamily="34" charset="-122"/>
                <a:cs typeface="Arial" pitchFamily="34" charset="-120"/>
              </a:rPr>
              <a:t>③ FEASIBILITY  ·  PRODUCT VISION BOX</a:t>
            </a:r>
            <a:endParaRPr lang="en-US" sz="1100" dirty="0"/>
          </a:p>
        </p:txBody>
      </p:sp>
      <p:sp>
        <p:nvSpPr>
          <p:cNvPr id="3" name="Text 0"/>
          <p:cNvSpPr>
            <a:spLocks noGrp="1"/>
          </p:cNvSpPr>
          <p:nvPr>
            <p:ph type="title" idx="101" hasCustomPrompt="1"/>
          </p:nvPr>
        </p:nvSpPr>
        <p:spPr>
          <a:xfrm>
            <a:off x="548640" y="640080"/>
            <a:ext cx="11064240" cy="685800"/>
          </a:xfrm>
          <a:prstGeom prst="rect">
            <a:avLst/>
          </a:prstGeom>
          <a:noFill/>
          <a:ln/>
        </p:spPr>
        <p:txBody>
          <a:bodyPr wrap="square" lIns="0" tIns="0" rIns="0" bIns="0" rtlCol="0" anchor="t"/>
          <a:lstStyle/>
          <a:p>
            <a:pPr marL="0" indent="0" algn="l">
              <a:buNone/>
            </a:pPr>
            <a:r>
              <a:rPr lang="en-US" sz="2600" b="1" dirty="0">
                <a:solidFill>
                  <a:schemeClr val="tx1"/>
                </a:solidFill>
                <a:latin typeface="Arial" pitchFamily="34" charset="0"/>
                <a:ea typeface="Arial" pitchFamily="34" charset="-122"/>
                <a:cs typeface="Arial" pitchFamily="34" charset="-120"/>
              </a:rPr>
              <a:t>rAIght in a box: what Lena gets and what it needs</a:t>
            </a:r>
            <a:endParaRPr lang="en-US" sz="2600" dirty="0"/>
          </a:p>
        </p:txBody>
      </p:sp>
      <p:sp>
        <p:nvSpPr>
          <p:cNvPr id="4" name="box top"/>
          <p:cNvSpPr/>
          <p:nvPr/>
        </p:nvSpPr>
        <p:spPr>
          <a:xfrm>
            <a:off x="548640" y="1463040"/>
            <a:ext cx="4983480" cy="411480"/>
          </a:xfrm>
          <a:custGeom>
            <a:avLst/>
            <a:gdLst/>
            <a:ahLst/>
            <a:cxnLst/>
            <a:rect l="l" t="t" r="r" b="b"/>
            <a:pathLst>
              <a:path w="4983480" h="411480">
                <a:moveTo>
                  <a:pt x="0" y="411480"/>
                </a:moveTo>
                <a:lnTo>
                  <a:pt x="411480" y="0"/>
                </a:lnTo>
                <a:lnTo>
                  <a:pt x="4983480" y="0"/>
                </a:lnTo>
                <a:lnTo>
                  <a:pt x="4572000" y="411480"/>
                </a:lnTo>
                <a:close/>
              </a:path>
            </a:pathLst>
          </a:custGeom>
          <a:solidFill>
            <a:srgbClr val="1E4A42"/>
          </a:solidFill>
          <a:ln w="12700">
            <a:solidFill>
              <a:schemeClr val="accent2"/>
            </a:solidFill>
            <a:prstDash val="solid"/>
          </a:ln>
        </p:spPr>
        <p:txBody>
          <a:bodyPr/>
          <a:lstStyle/>
          <a:p>
            <a:endParaRPr lang="en-DE"/>
          </a:p>
        </p:txBody>
      </p:sp>
      <p:sp>
        <p:nvSpPr>
          <p:cNvPr id="5" name="box side"/>
          <p:cNvSpPr/>
          <p:nvPr/>
        </p:nvSpPr>
        <p:spPr>
          <a:xfrm>
            <a:off x="5120640" y="1463040"/>
            <a:ext cx="411480" cy="4754880"/>
          </a:xfrm>
          <a:custGeom>
            <a:avLst/>
            <a:gdLst/>
            <a:ahLst/>
            <a:cxnLst/>
            <a:rect l="l" t="t" r="r" b="b"/>
            <a:pathLst>
              <a:path w="411480" h="4754880">
                <a:moveTo>
                  <a:pt x="0" y="411480"/>
                </a:moveTo>
                <a:lnTo>
                  <a:pt x="411480" y="0"/>
                </a:lnTo>
                <a:lnTo>
                  <a:pt x="411480" y="4343400"/>
                </a:lnTo>
                <a:lnTo>
                  <a:pt x="0" y="4754880"/>
                </a:lnTo>
                <a:close/>
              </a:path>
            </a:pathLst>
          </a:custGeom>
          <a:solidFill>
            <a:srgbClr val="07201C"/>
          </a:solidFill>
          <a:ln w="12700">
            <a:solidFill>
              <a:schemeClr val="accent2"/>
            </a:solidFill>
            <a:prstDash val="solid"/>
          </a:ln>
        </p:spPr>
        <p:txBody>
          <a:bodyPr/>
          <a:lstStyle/>
          <a:p>
            <a:endParaRPr lang="en-DE"/>
          </a:p>
        </p:txBody>
      </p:sp>
      <p:sp>
        <p:nvSpPr>
          <p:cNvPr id="6" name="box front"/>
          <p:cNvSpPr/>
          <p:nvPr/>
        </p:nvSpPr>
        <p:spPr>
          <a:xfrm>
            <a:off x="548640" y="1874520"/>
            <a:ext cx="4572000" cy="4343400"/>
          </a:xfrm>
          <a:prstGeom prst="rect">
            <a:avLst/>
          </a:prstGeom>
          <a:solidFill>
            <a:schemeClr val="tx2"/>
          </a:solidFill>
          <a:ln w="12700">
            <a:solidFill>
              <a:schemeClr val="accent2"/>
            </a:solidFill>
            <a:prstDash val="solid"/>
          </a:ln>
        </p:spPr>
        <p:txBody>
          <a:bodyPr/>
          <a:lstStyle/>
          <a:p>
            <a:endParaRPr lang="en-DE"/>
          </a:p>
        </p:txBody>
      </p:sp>
      <p:sp>
        <p:nvSpPr>
          <p:cNvPr id="7" name="Text 5"/>
          <p:cNvSpPr txBox="1"/>
          <p:nvPr/>
        </p:nvSpPr>
        <p:spPr>
          <a:xfrm>
            <a:off x="731520" y="1965960"/>
            <a:ext cx="4206240" cy="822960"/>
          </a:xfrm>
          <a:prstGeom prst="rect">
            <a:avLst/>
          </a:prstGeom>
          <a:noFill/>
          <a:ln/>
        </p:spPr>
        <p:txBody>
          <a:bodyPr wrap="square" lIns="0" tIns="0" rIns="0" bIns="0" rtlCol="0" anchor="ctr"/>
          <a:lstStyle/>
          <a:p>
            <a:pPr marL="0" indent="0" algn="ctr">
              <a:buNone/>
            </a:pPr>
            <a:r>
              <a:rPr lang="en-US" sz="5400" b="1" dirty="0">
                <a:solidFill>
                  <a:schemeClr val="bg1"/>
                </a:solidFill>
                <a:latin typeface="Arial" pitchFamily="34" charset="0"/>
                <a:ea typeface="Arial" pitchFamily="34" charset="-122"/>
                <a:cs typeface="Arial" pitchFamily="34" charset="-120"/>
              </a:rPr>
              <a:t>r</a:t>
            </a:r>
            <a:r>
              <a:rPr lang="en-US" sz="5400" b="1" dirty="0">
                <a:solidFill>
                  <a:schemeClr val="accent2"/>
                </a:solidFill>
                <a:latin typeface="Arial" pitchFamily="34" charset="0"/>
                <a:ea typeface="Arial" pitchFamily="34" charset="-122"/>
                <a:cs typeface="Arial" pitchFamily="34" charset="-120"/>
              </a:rPr>
              <a:t>AI</a:t>
            </a:r>
            <a:r>
              <a:rPr lang="en-US" sz="5400" b="1" dirty="0">
                <a:solidFill>
                  <a:schemeClr val="bg1"/>
                </a:solidFill>
                <a:latin typeface="Arial" pitchFamily="34" charset="0"/>
                <a:ea typeface="Arial" pitchFamily="34" charset="-122"/>
                <a:cs typeface="Arial" pitchFamily="34" charset="-120"/>
              </a:rPr>
              <a:t>ght</a:t>
            </a:r>
            <a:endParaRPr lang="en-US" sz="5400" dirty="0"/>
          </a:p>
        </p:txBody>
      </p:sp>
      <p:sp>
        <p:nvSpPr>
          <p:cNvPr id="8" name="Text 6"/>
          <p:cNvSpPr txBox="1"/>
          <p:nvPr/>
        </p:nvSpPr>
        <p:spPr>
          <a:xfrm>
            <a:off x="731520" y="2743200"/>
            <a:ext cx="4206240" cy="365760"/>
          </a:xfrm>
          <a:prstGeom prst="rect">
            <a:avLst/>
          </a:prstGeom>
          <a:noFill/>
          <a:ln/>
        </p:spPr>
        <p:txBody>
          <a:bodyPr wrap="square" lIns="0" tIns="0" rIns="0" bIns="0" rtlCol="0" anchor="ctr"/>
          <a:lstStyle/>
          <a:p>
            <a:pPr marL="0" indent="0" algn="ctr">
              <a:buNone/>
            </a:pPr>
            <a:r>
              <a:rPr lang="en-US" sz="1500" i="1" dirty="0">
                <a:solidFill>
                  <a:schemeClr val="accent2"/>
                </a:solidFill>
                <a:latin typeface="Calibri" pitchFamily="34" charset="0"/>
                <a:ea typeface="Calibri" pitchFamily="34" charset="-122"/>
                <a:cs typeface="Calibri" pitchFamily="34" charset="-120"/>
              </a:rPr>
              <a:t>Not more AI, but rAIght.</a:t>
            </a:r>
            <a:endParaRPr lang="en-US" sz="1500" dirty="0"/>
          </a:p>
        </p:txBody>
      </p:sp>
      <p:sp>
        <p:nvSpPr>
          <p:cNvPr id="9" name="Shape 7"/>
          <p:cNvSpPr/>
          <p:nvPr/>
        </p:nvSpPr>
        <p:spPr>
          <a:xfrm>
            <a:off x="777240" y="3346704"/>
            <a:ext cx="274320" cy="274320"/>
          </a:xfrm>
          <a:prstGeom prst="ellipse">
            <a:avLst/>
          </a:prstGeom>
          <a:solidFill>
            <a:schemeClr val="accent2"/>
          </a:solidFill>
          <a:ln w="12700">
            <a:solidFill>
              <a:schemeClr val="accent2"/>
            </a:solidFill>
            <a:prstDash val="solid"/>
          </a:ln>
        </p:spPr>
        <p:txBody>
          <a:bodyPr/>
          <a:lstStyle/>
          <a:p>
            <a:endParaRPr lang="en-DE"/>
          </a:p>
        </p:txBody>
      </p:sp>
      <p:sp>
        <p:nvSpPr>
          <p:cNvPr id="10" name="Text 8"/>
          <p:cNvSpPr txBox="1"/>
          <p:nvPr/>
        </p:nvSpPr>
        <p:spPr>
          <a:xfrm>
            <a:off x="777240" y="3346704"/>
            <a:ext cx="274320" cy="274320"/>
          </a:xfrm>
          <a:prstGeom prst="rect">
            <a:avLst/>
          </a:prstGeom>
          <a:noFill/>
          <a:ln/>
        </p:spPr>
        <p:txBody>
          <a:bodyPr wrap="square" lIns="0" tIns="0" rIns="0" bIns="0" rtlCol="0" anchor="ctr"/>
          <a:lstStyle/>
          <a:p>
            <a:pPr marL="0" indent="0" algn="ctr">
              <a:buNone/>
            </a:pPr>
            <a:r>
              <a:rPr lang="en-US" sz="1200" b="1" dirty="0">
                <a:solidFill>
                  <a:schemeClr val="tx2"/>
                </a:solidFill>
                <a:latin typeface="Calibri" pitchFamily="34" charset="0"/>
                <a:ea typeface="Calibri" pitchFamily="34" charset="-122"/>
                <a:cs typeface="Calibri" pitchFamily="34" charset="-120"/>
              </a:rPr>
              <a:t>✓</a:t>
            </a:r>
            <a:endParaRPr lang="en-US" sz="1200" dirty="0"/>
          </a:p>
        </p:txBody>
      </p:sp>
      <p:sp>
        <p:nvSpPr>
          <p:cNvPr id="11" name="Text 9"/>
          <p:cNvSpPr txBox="1"/>
          <p:nvPr/>
        </p:nvSpPr>
        <p:spPr>
          <a:xfrm>
            <a:off x="1188720" y="3291840"/>
            <a:ext cx="3749040" cy="658368"/>
          </a:xfrm>
          <a:prstGeom prst="rect">
            <a:avLst/>
          </a:prstGeom>
          <a:noFill/>
          <a:ln/>
        </p:spPr>
        <p:txBody>
          <a:bodyPr wrap="square" lIns="0" tIns="0" rIns="0" bIns="0" rtlCol="0" anchor="t"/>
          <a:lstStyle/>
          <a:p>
            <a:pPr marL="0" indent="0">
              <a:buNone/>
            </a:pPr>
            <a:r>
              <a:rPr lang="en-US" sz="1300" b="1" dirty="0">
                <a:solidFill>
                  <a:schemeClr val="bg1"/>
                </a:solidFill>
                <a:latin typeface="Calibri" pitchFamily="34" charset="0"/>
                <a:ea typeface="Calibri" pitchFamily="34" charset="-122"/>
                <a:cs typeface="Calibri" pitchFamily="34" charset="-120"/>
              </a:rPr>
              <a:t>Pick the right step in minutes</a:t>
            </a:r>
            <a:endParaRPr lang="en-US" sz="1300" dirty="0"/>
          </a:p>
          <a:p>
            <a:pPr marL="0" indent="0">
              <a:buNone/>
            </a:pPr>
            <a:r>
              <a:rPr lang="en-US" sz="1100" dirty="0">
                <a:solidFill>
                  <a:schemeClr val="bg2"/>
                </a:solidFill>
                <a:latin typeface="Calibri" pitchFamily="34" charset="0"/>
                <a:ea typeface="Calibri" pitchFamily="34" charset="-122"/>
                <a:cs typeface="Calibri" pitchFamily="34" charset="-120"/>
              </a:rPr>
              <a:t>a triage you learn once and apply yourself</a:t>
            </a:r>
            <a:endParaRPr lang="en-US" sz="1300" dirty="0"/>
          </a:p>
        </p:txBody>
      </p:sp>
      <p:sp>
        <p:nvSpPr>
          <p:cNvPr id="12" name="Shape 10"/>
          <p:cNvSpPr/>
          <p:nvPr/>
        </p:nvSpPr>
        <p:spPr>
          <a:xfrm>
            <a:off x="777240" y="4059936"/>
            <a:ext cx="274320" cy="274320"/>
          </a:xfrm>
          <a:prstGeom prst="ellipse">
            <a:avLst/>
          </a:prstGeom>
          <a:solidFill>
            <a:schemeClr val="accent2"/>
          </a:solidFill>
          <a:ln w="12700">
            <a:solidFill>
              <a:schemeClr val="accent2"/>
            </a:solidFill>
            <a:prstDash val="solid"/>
          </a:ln>
        </p:spPr>
        <p:txBody>
          <a:bodyPr/>
          <a:lstStyle/>
          <a:p>
            <a:endParaRPr lang="en-DE"/>
          </a:p>
        </p:txBody>
      </p:sp>
      <p:sp>
        <p:nvSpPr>
          <p:cNvPr id="13" name="Text 11"/>
          <p:cNvSpPr txBox="1"/>
          <p:nvPr/>
        </p:nvSpPr>
        <p:spPr>
          <a:xfrm>
            <a:off x="777240" y="4059936"/>
            <a:ext cx="274320" cy="274320"/>
          </a:xfrm>
          <a:prstGeom prst="rect">
            <a:avLst/>
          </a:prstGeom>
          <a:noFill/>
          <a:ln/>
        </p:spPr>
        <p:txBody>
          <a:bodyPr wrap="square" lIns="0" tIns="0" rIns="0" bIns="0" rtlCol="0" anchor="ctr"/>
          <a:lstStyle/>
          <a:p>
            <a:pPr marL="0" indent="0" algn="ctr">
              <a:buNone/>
            </a:pPr>
            <a:r>
              <a:rPr lang="en-US" sz="1200" b="1" dirty="0">
                <a:solidFill>
                  <a:schemeClr val="tx2"/>
                </a:solidFill>
                <a:latin typeface="Calibri" pitchFamily="34" charset="0"/>
                <a:ea typeface="Calibri" pitchFamily="34" charset="-122"/>
                <a:cs typeface="Calibri" pitchFamily="34" charset="-120"/>
              </a:rPr>
              <a:t>✓</a:t>
            </a:r>
            <a:endParaRPr lang="en-US" sz="1200" dirty="0"/>
          </a:p>
        </p:txBody>
      </p:sp>
      <p:sp>
        <p:nvSpPr>
          <p:cNvPr id="14" name="Text 12"/>
          <p:cNvSpPr txBox="1"/>
          <p:nvPr/>
        </p:nvSpPr>
        <p:spPr>
          <a:xfrm>
            <a:off x="1188720" y="4005072"/>
            <a:ext cx="3749040" cy="658368"/>
          </a:xfrm>
          <a:prstGeom prst="rect">
            <a:avLst/>
          </a:prstGeom>
          <a:noFill/>
          <a:ln/>
        </p:spPr>
        <p:txBody>
          <a:bodyPr wrap="square" lIns="0" tIns="0" rIns="0" bIns="0" rtlCol="0" anchor="t"/>
          <a:lstStyle/>
          <a:p>
            <a:pPr marL="0" indent="0">
              <a:buNone/>
            </a:pPr>
            <a:r>
              <a:rPr lang="en-US" sz="1300" b="1" dirty="0">
                <a:solidFill>
                  <a:schemeClr val="bg1"/>
                </a:solidFill>
                <a:latin typeface="Calibri" pitchFamily="34" charset="0"/>
                <a:ea typeface="Calibri" pitchFamily="34" charset="-122"/>
                <a:cs typeface="Calibri" pitchFamily="34" charset="-120"/>
              </a:rPr>
              <a:t>See what your automations use</a:t>
            </a:r>
            <a:endParaRPr lang="en-US" sz="1300" dirty="0"/>
          </a:p>
          <a:p>
            <a:pPr marL="0" indent="0">
              <a:buNone/>
            </a:pPr>
            <a:r>
              <a:rPr lang="en-US" sz="1100" dirty="0">
                <a:solidFill>
                  <a:schemeClr val="bg2"/>
                </a:solidFill>
                <a:latin typeface="Calibri" pitchFamily="34" charset="0"/>
                <a:ea typeface="Calibri" pitchFamily="34" charset="-122"/>
                <a:cs typeface="Calibri" pitchFamily="34" charset="-120"/>
              </a:rPr>
              <a:t>tokens and repetition per agent</a:t>
            </a:r>
            <a:endParaRPr lang="en-US" sz="1300" dirty="0"/>
          </a:p>
        </p:txBody>
      </p:sp>
      <p:sp>
        <p:nvSpPr>
          <p:cNvPr id="15" name="Shape 13"/>
          <p:cNvSpPr/>
          <p:nvPr/>
        </p:nvSpPr>
        <p:spPr>
          <a:xfrm>
            <a:off x="777240" y="4773168"/>
            <a:ext cx="274320" cy="274320"/>
          </a:xfrm>
          <a:prstGeom prst="ellipse">
            <a:avLst/>
          </a:prstGeom>
          <a:solidFill>
            <a:schemeClr val="accent2"/>
          </a:solidFill>
          <a:ln w="12700">
            <a:solidFill>
              <a:schemeClr val="accent2"/>
            </a:solidFill>
            <a:prstDash val="solid"/>
          </a:ln>
        </p:spPr>
        <p:txBody>
          <a:bodyPr/>
          <a:lstStyle/>
          <a:p>
            <a:endParaRPr lang="en-DE"/>
          </a:p>
        </p:txBody>
      </p:sp>
      <p:sp>
        <p:nvSpPr>
          <p:cNvPr id="16" name="Text 14"/>
          <p:cNvSpPr txBox="1"/>
          <p:nvPr/>
        </p:nvSpPr>
        <p:spPr>
          <a:xfrm>
            <a:off x="777240" y="4773168"/>
            <a:ext cx="274320" cy="274320"/>
          </a:xfrm>
          <a:prstGeom prst="rect">
            <a:avLst/>
          </a:prstGeom>
          <a:noFill/>
          <a:ln/>
        </p:spPr>
        <p:txBody>
          <a:bodyPr wrap="square" lIns="0" tIns="0" rIns="0" bIns="0" rtlCol="0" anchor="ctr"/>
          <a:lstStyle/>
          <a:p>
            <a:pPr marL="0" indent="0" algn="ctr">
              <a:buNone/>
            </a:pPr>
            <a:r>
              <a:rPr lang="en-US" sz="1200" b="1" dirty="0">
                <a:solidFill>
                  <a:schemeClr val="tx2"/>
                </a:solidFill>
                <a:latin typeface="Calibri" pitchFamily="34" charset="0"/>
                <a:ea typeface="Calibri" pitchFamily="34" charset="-122"/>
                <a:cs typeface="Calibri" pitchFamily="34" charset="-120"/>
              </a:rPr>
              <a:t>✓</a:t>
            </a:r>
            <a:endParaRPr lang="en-US" sz="1200" dirty="0"/>
          </a:p>
        </p:txBody>
      </p:sp>
      <p:sp>
        <p:nvSpPr>
          <p:cNvPr id="17" name="Text 15"/>
          <p:cNvSpPr txBox="1"/>
          <p:nvPr/>
        </p:nvSpPr>
        <p:spPr>
          <a:xfrm>
            <a:off x="1188720" y="4718304"/>
            <a:ext cx="3749040" cy="658368"/>
          </a:xfrm>
          <a:prstGeom prst="rect">
            <a:avLst/>
          </a:prstGeom>
          <a:noFill/>
          <a:ln/>
        </p:spPr>
        <p:txBody>
          <a:bodyPr wrap="square" lIns="0" tIns="0" rIns="0" bIns="0" rtlCol="0" anchor="t"/>
          <a:lstStyle/>
          <a:p>
            <a:pPr marL="0" indent="0">
              <a:buNone/>
            </a:pPr>
            <a:r>
              <a:rPr lang="en-US" sz="1300" b="1" dirty="0">
                <a:solidFill>
                  <a:schemeClr val="bg1"/>
                </a:solidFill>
                <a:latin typeface="Calibri" pitchFamily="34" charset="0"/>
                <a:ea typeface="Calibri" pitchFamily="34" charset="-122"/>
                <a:cs typeface="Calibri" pitchFamily="34" charset="-120"/>
              </a:rPr>
              <a:t>Spot agents that act like workflows</a:t>
            </a:r>
            <a:endParaRPr lang="en-US" sz="1300" dirty="0"/>
          </a:p>
          <a:p>
            <a:pPr marL="0" indent="0">
              <a:buNone/>
            </a:pPr>
            <a:r>
              <a:rPr lang="en-US" sz="1100" dirty="0">
                <a:solidFill>
                  <a:schemeClr val="bg2"/>
                </a:solidFill>
                <a:latin typeface="Calibri" pitchFamily="34" charset="0"/>
                <a:ea typeface="Calibri" pitchFamily="34" charset="-122"/>
                <a:cs typeface="Calibri" pitchFamily="34" charset="-120"/>
              </a:rPr>
              <a:t>from logs you already have</a:t>
            </a:r>
            <a:endParaRPr lang="en-US" sz="1300" dirty="0"/>
          </a:p>
        </p:txBody>
      </p:sp>
      <p:sp>
        <p:nvSpPr>
          <p:cNvPr id="18" name="Shape 16"/>
          <p:cNvSpPr/>
          <p:nvPr/>
        </p:nvSpPr>
        <p:spPr>
          <a:xfrm>
            <a:off x="777240" y="5486400"/>
            <a:ext cx="274320" cy="274320"/>
          </a:xfrm>
          <a:prstGeom prst="ellipse">
            <a:avLst/>
          </a:prstGeom>
          <a:solidFill>
            <a:schemeClr val="accent2"/>
          </a:solidFill>
          <a:ln w="12700">
            <a:solidFill>
              <a:schemeClr val="accent2"/>
            </a:solidFill>
            <a:prstDash val="solid"/>
          </a:ln>
        </p:spPr>
        <p:txBody>
          <a:bodyPr/>
          <a:lstStyle/>
          <a:p>
            <a:endParaRPr lang="en-DE"/>
          </a:p>
        </p:txBody>
      </p:sp>
      <p:sp>
        <p:nvSpPr>
          <p:cNvPr id="19" name="Text 17"/>
          <p:cNvSpPr txBox="1"/>
          <p:nvPr/>
        </p:nvSpPr>
        <p:spPr>
          <a:xfrm>
            <a:off x="777240" y="5486400"/>
            <a:ext cx="274320" cy="274320"/>
          </a:xfrm>
          <a:prstGeom prst="rect">
            <a:avLst/>
          </a:prstGeom>
          <a:noFill/>
          <a:ln/>
        </p:spPr>
        <p:txBody>
          <a:bodyPr wrap="square" lIns="0" tIns="0" rIns="0" bIns="0" rtlCol="0" anchor="ctr"/>
          <a:lstStyle/>
          <a:p>
            <a:pPr marL="0" indent="0" algn="ctr">
              <a:buNone/>
            </a:pPr>
            <a:r>
              <a:rPr lang="en-US" sz="1200" b="1" dirty="0">
                <a:solidFill>
                  <a:schemeClr val="tx2"/>
                </a:solidFill>
                <a:latin typeface="Calibri" pitchFamily="34" charset="0"/>
                <a:ea typeface="Calibri" pitchFamily="34" charset="-122"/>
                <a:cs typeface="Calibri" pitchFamily="34" charset="-120"/>
              </a:rPr>
              <a:t>✓</a:t>
            </a:r>
            <a:endParaRPr lang="en-US" sz="1200" dirty="0"/>
          </a:p>
        </p:txBody>
      </p:sp>
      <p:sp>
        <p:nvSpPr>
          <p:cNvPr id="20" name="Text 18"/>
          <p:cNvSpPr txBox="1"/>
          <p:nvPr/>
        </p:nvSpPr>
        <p:spPr>
          <a:xfrm>
            <a:off x="1188720" y="5431536"/>
            <a:ext cx="3749040" cy="658368"/>
          </a:xfrm>
          <a:prstGeom prst="rect">
            <a:avLst/>
          </a:prstGeom>
          <a:noFill/>
          <a:ln/>
        </p:spPr>
        <p:txBody>
          <a:bodyPr wrap="square" lIns="0" tIns="0" rIns="0" bIns="0" rtlCol="0" anchor="t"/>
          <a:lstStyle/>
          <a:p>
            <a:pPr marL="0" indent="0">
              <a:buNone/>
            </a:pPr>
            <a:r>
              <a:rPr lang="en-US" sz="1300" b="1" dirty="0">
                <a:solidFill>
                  <a:schemeClr val="bg1"/>
                </a:solidFill>
                <a:latin typeface="Calibri" pitchFamily="34" charset="0"/>
                <a:ea typeface="Calibri" pitchFamily="34" charset="-122"/>
                <a:cs typeface="Calibri" pitchFamily="34" charset="-120"/>
              </a:rPr>
              <a:t>Convert in a few clicks (beta)</a:t>
            </a:r>
            <a:endParaRPr lang="en-US" sz="1300" dirty="0"/>
          </a:p>
          <a:p>
            <a:pPr marL="0" indent="0">
              <a:buNone/>
            </a:pPr>
            <a:r>
              <a:rPr lang="en-US" sz="1100" dirty="0">
                <a:solidFill>
                  <a:schemeClr val="bg2"/>
                </a:solidFill>
                <a:latin typeface="Calibri" pitchFamily="34" charset="0"/>
                <a:ea typeface="Calibri" pitchFamily="34" charset="-122"/>
                <a:cs typeface="Calibri" pitchFamily="34" charset="-120"/>
              </a:rPr>
              <a:t>a draft workflow from your agent’s own paths</a:t>
            </a:r>
            <a:endParaRPr lang="en-US" sz="1300" dirty="0"/>
          </a:p>
        </p:txBody>
      </p:sp>
      <p:sp>
        <p:nvSpPr>
          <p:cNvPr id="21" name="Text 19"/>
          <p:cNvSpPr txBox="1"/>
          <p:nvPr/>
        </p:nvSpPr>
        <p:spPr>
          <a:xfrm>
            <a:off x="548640" y="6245352"/>
            <a:ext cx="4572000" cy="182880"/>
          </a:xfrm>
          <a:prstGeom prst="rect">
            <a:avLst/>
          </a:prstGeom>
          <a:noFill/>
          <a:ln/>
        </p:spPr>
        <p:txBody>
          <a:bodyPr wrap="square" lIns="0" tIns="0" rIns="0" bIns="0" rtlCol="0" anchor="ctr"/>
          <a:lstStyle/>
          <a:p>
            <a:pPr marL="0" indent="0" algn="ctr">
              <a:buNone/>
            </a:pPr>
            <a:r>
              <a:rPr lang="en-US" sz="800" b="1" kern="0" spc="200" dirty="0">
                <a:solidFill>
                  <a:srgbClr val="5E6E6A"/>
                </a:solidFill>
                <a:latin typeface="Calibri" pitchFamily="34" charset="0"/>
                <a:ea typeface="Calibri" pitchFamily="34" charset="-122"/>
                <a:cs typeface="Calibri" pitchFamily="34" charset="-120"/>
              </a:rPr>
              <a:t>FRONT</a:t>
            </a:r>
            <a:endParaRPr lang="en-US" sz="800" dirty="0"/>
          </a:p>
        </p:txBody>
      </p:sp>
      <p:sp>
        <p:nvSpPr>
          <p:cNvPr id="22" name="Text 20"/>
          <p:cNvSpPr txBox="1"/>
          <p:nvPr/>
        </p:nvSpPr>
        <p:spPr>
          <a:xfrm>
            <a:off x="5806440" y="1463040"/>
            <a:ext cx="5486400" cy="228600"/>
          </a:xfrm>
          <a:prstGeom prst="rect">
            <a:avLst/>
          </a:prstGeom>
          <a:noFill/>
          <a:ln/>
        </p:spPr>
        <p:txBody>
          <a:bodyPr wrap="square" lIns="0" tIns="0" rIns="0" bIns="0" rtlCol="0" anchor="ctr"/>
          <a:lstStyle/>
          <a:p>
            <a:pPr marL="0" indent="0">
              <a:buNone/>
            </a:pPr>
            <a:r>
              <a:rPr lang="en-US" sz="900" b="1" kern="0" spc="200" dirty="0">
                <a:solidFill>
                  <a:schemeClr val="accent1"/>
                </a:solidFill>
                <a:latin typeface="Arial" pitchFamily="34" charset="0"/>
                <a:ea typeface="Arial" pitchFamily="34" charset="-122"/>
                <a:cs typeface="Arial" pitchFamily="34" charset="-120"/>
              </a:rPr>
              <a:t>BACK OF THE BOX</a:t>
            </a:r>
            <a:endParaRPr lang="en-US" sz="900" dirty="0"/>
          </a:p>
        </p:txBody>
      </p:sp>
      <p:sp>
        <p:nvSpPr>
          <p:cNvPr id="23" name="Text 21"/>
          <p:cNvSpPr txBox="1"/>
          <p:nvPr/>
        </p:nvSpPr>
        <p:spPr>
          <a:xfrm>
            <a:off x="5806440" y="1755648"/>
            <a:ext cx="1143000" cy="548640"/>
          </a:xfrm>
          <a:prstGeom prst="rect">
            <a:avLst/>
          </a:prstGeom>
          <a:noFill/>
          <a:ln/>
        </p:spPr>
        <p:txBody>
          <a:bodyPr wrap="square" lIns="0" tIns="0" rIns="0" bIns="0" rtlCol="0" anchor="t"/>
          <a:lstStyle/>
          <a:p>
            <a:pPr marL="0" indent="0">
              <a:buNone/>
            </a:pPr>
            <a:r>
              <a:rPr lang="en-US" sz="1200" b="1" dirty="0">
                <a:solidFill>
                  <a:schemeClr val="accent1"/>
                </a:solidFill>
                <a:latin typeface="Arial" pitchFamily="34" charset="0"/>
                <a:ea typeface="Arial" pitchFamily="34" charset="-122"/>
                <a:cs typeface="Arial" pitchFamily="34" charset="-120"/>
              </a:rPr>
              <a:t>Who</a:t>
            </a:r>
            <a:endParaRPr lang="en-US" sz="1200" dirty="0"/>
          </a:p>
        </p:txBody>
      </p:sp>
      <p:sp>
        <p:nvSpPr>
          <p:cNvPr id="24" name="Text 22"/>
          <p:cNvSpPr txBox="1"/>
          <p:nvPr/>
        </p:nvSpPr>
        <p:spPr>
          <a:xfrm>
            <a:off x="6949440" y="1755648"/>
            <a:ext cx="4663440" cy="566928"/>
          </a:xfrm>
          <a:prstGeom prst="rect">
            <a:avLst/>
          </a:prstGeom>
          <a:noFill/>
          <a:ln/>
        </p:spPr>
        <p:txBody>
          <a:bodyPr wrap="square" lIns="0" tIns="0" rIns="0" bIns="0" rtlCol="0" anchor="t"/>
          <a:lstStyle/>
          <a:p>
            <a:pPr marL="0" indent="0">
              <a:buNone/>
            </a:pPr>
            <a:r>
              <a:rPr lang="en-US" sz="1150" dirty="0">
                <a:solidFill>
                  <a:schemeClr val="tx1"/>
                </a:solidFill>
                <a:latin typeface="Calibri" pitchFamily="34" charset="0"/>
                <a:ea typeface="Calibri" pitchFamily="34" charset="-122"/>
                <a:cs typeface="Calibri" pitchFamily="34" charset="-120"/>
              </a:rPr>
              <a:t>Process owners who build their own automations – first Lena in HR recruiting. Sponsored by the CIO office.</a:t>
            </a:r>
            <a:endParaRPr lang="en-US" sz="1150" dirty="0"/>
          </a:p>
        </p:txBody>
      </p:sp>
      <p:sp>
        <p:nvSpPr>
          <p:cNvPr id="25" name="Shape 23"/>
          <p:cNvSpPr/>
          <p:nvPr/>
        </p:nvSpPr>
        <p:spPr>
          <a:xfrm>
            <a:off x="5806440" y="2331720"/>
            <a:ext cx="5806440" cy="0"/>
          </a:xfrm>
          <a:prstGeom prst="line">
            <a:avLst/>
          </a:prstGeom>
          <a:noFill/>
          <a:ln w="9525">
            <a:solidFill>
              <a:srgbClr val="E3EAE6"/>
            </a:solidFill>
            <a:prstDash val="solid"/>
          </a:ln>
        </p:spPr>
        <p:txBody>
          <a:bodyPr/>
          <a:lstStyle/>
          <a:p>
            <a:endParaRPr lang="en-DE"/>
          </a:p>
        </p:txBody>
      </p:sp>
      <p:sp>
        <p:nvSpPr>
          <p:cNvPr id="26" name="Text 24"/>
          <p:cNvSpPr txBox="1"/>
          <p:nvPr/>
        </p:nvSpPr>
        <p:spPr>
          <a:xfrm>
            <a:off x="5806440" y="2377440"/>
            <a:ext cx="1143000" cy="548640"/>
          </a:xfrm>
          <a:prstGeom prst="rect">
            <a:avLst/>
          </a:prstGeom>
          <a:noFill/>
          <a:ln/>
        </p:spPr>
        <p:txBody>
          <a:bodyPr wrap="square" lIns="0" tIns="0" rIns="0" bIns="0" rtlCol="0" anchor="t"/>
          <a:lstStyle/>
          <a:p>
            <a:pPr marL="0" indent="0">
              <a:buNone/>
            </a:pPr>
            <a:r>
              <a:rPr lang="en-US" sz="1200" b="1" dirty="0">
                <a:solidFill>
                  <a:schemeClr val="accent1"/>
                </a:solidFill>
                <a:latin typeface="Arial" pitchFamily="34" charset="0"/>
                <a:ea typeface="Arial" pitchFamily="34" charset="-122"/>
                <a:cs typeface="Arial" pitchFamily="34" charset="-120"/>
              </a:rPr>
              <a:t>What</a:t>
            </a:r>
            <a:endParaRPr lang="en-US" sz="1200" dirty="0"/>
          </a:p>
        </p:txBody>
      </p:sp>
      <p:sp>
        <p:nvSpPr>
          <p:cNvPr id="27" name="Text 25"/>
          <p:cNvSpPr txBox="1"/>
          <p:nvPr/>
        </p:nvSpPr>
        <p:spPr>
          <a:xfrm>
            <a:off x="6949440" y="2377440"/>
            <a:ext cx="4663440" cy="566928"/>
          </a:xfrm>
          <a:prstGeom prst="rect">
            <a:avLst/>
          </a:prstGeom>
          <a:noFill/>
          <a:ln/>
        </p:spPr>
        <p:txBody>
          <a:bodyPr wrap="square" lIns="0" tIns="0" rIns="0" bIns="0" rtlCol="0" anchor="t"/>
          <a:lstStyle/>
          <a:p>
            <a:pPr marL="95250" indent="-95250">
              <a:buFont typeface="Arial" panose="020B0604020202020204" pitchFamily="34" charset="0"/>
              <a:buChar char="•"/>
            </a:pPr>
            <a:r>
              <a:rPr lang="en-US" sz="1150" dirty="0">
                <a:solidFill>
                  <a:schemeClr val="tx1"/>
                </a:solidFill>
                <a:latin typeface="Calibri" pitchFamily="34" charset="0"/>
                <a:ea typeface="Calibri" pitchFamily="34" charset="-122"/>
                <a:cs typeface="Calibri" pitchFamily="34" charset="-120"/>
              </a:rPr>
              <a:t>Ladder &amp; triage training</a:t>
            </a:r>
          </a:p>
          <a:p>
            <a:pPr marL="95250" indent="-95250">
              <a:buFont typeface="Arial" panose="020B0604020202020204" pitchFamily="34" charset="0"/>
              <a:buChar char="•"/>
            </a:pPr>
            <a:r>
              <a:rPr lang="en-US" sz="1150" dirty="0">
                <a:latin typeface="Calibri" pitchFamily="34" charset="0"/>
                <a:ea typeface="Calibri" pitchFamily="34" charset="-122"/>
                <a:cs typeface="Calibri" pitchFamily="34" charset="-120"/>
              </a:rPr>
              <a:t>D</a:t>
            </a:r>
            <a:r>
              <a:rPr lang="en-US" sz="1150" dirty="0">
                <a:solidFill>
                  <a:schemeClr val="tx1"/>
                </a:solidFill>
                <a:latin typeface="Calibri" pitchFamily="34" charset="0"/>
                <a:ea typeface="Calibri" pitchFamily="34" charset="-122"/>
                <a:cs typeface="Calibri" pitchFamily="34" charset="-120"/>
              </a:rPr>
              <a:t>ashboard with tokens, path similarity and suggestions</a:t>
            </a:r>
          </a:p>
          <a:p>
            <a:pPr marL="95250" indent="-95250">
              <a:buFont typeface="Arial" panose="020B0604020202020204" pitchFamily="34" charset="0"/>
              <a:buChar char="•"/>
            </a:pPr>
            <a:r>
              <a:rPr lang="en-US" sz="1150" dirty="0">
                <a:solidFill>
                  <a:schemeClr val="tx1"/>
                </a:solidFill>
                <a:latin typeface="Calibri" pitchFamily="34" charset="0"/>
                <a:ea typeface="Calibri" pitchFamily="34" charset="-122"/>
                <a:cs typeface="Calibri" pitchFamily="34" charset="-120"/>
              </a:rPr>
              <a:t>Optional guided conversion; retiring unused agents</a:t>
            </a:r>
            <a:endParaRPr lang="en-US" sz="1150" dirty="0"/>
          </a:p>
        </p:txBody>
      </p:sp>
      <p:sp>
        <p:nvSpPr>
          <p:cNvPr id="28" name="Shape 26"/>
          <p:cNvSpPr/>
          <p:nvPr/>
        </p:nvSpPr>
        <p:spPr>
          <a:xfrm>
            <a:off x="5806440" y="2953512"/>
            <a:ext cx="5806440" cy="0"/>
          </a:xfrm>
          <a:prstGeom prst="line">
            <a:avLst/>
          </a:prstGeom>
          <a:noFill/>
          <a:ln w="9525">
            <a:solidFill>
              <a:srgbClr val="E3EAE6"/>
            </a:solidFill>
            <a:prstDash val="solid"/>
          </a:ln>
        </p:spPr>
        <p:txBody>
          <a:bodyPr/>
          <a:lstStyle/>
          <a:p>
            <a:endParaRPr lang="en-DE"/>
          </a:p>
        </p:txBody>
      </p:sp>
      <p:sp>
        <p:nvSpPr>
          <p:cNvPr id="29" name="Text 27"/>
          <p:cNvSpPr txBox="1"/>
          <p:nvPr/>
        </p:nvSpPr>
        <p:spPr>
          <a:xfrm>
            <a:off x="5806440" y="2999232"/>
            <a:ext cx="1143000" cy="548640"/>
          </a:xfrm>
          <a:prstGeom prst="rect">
            <a:avLst/>
          </a:prstGeom>
          <a:noFill/>
          <a:ln/>
        </p:spPr>
        <p:txBody>
          <a:bodyPr wrap="square" lIns="0" tIns="0" rIns="0" bIns="0" rtlCol="0" anchor="t"/>
          <a:lstStyle/>
          <a:p>
            <a:pPr marL="0" indent="0">
              <a:buNone/>
            </a:pPr>
            <a:r>
              <a:rPr lang="en-US" sz="1200" b="1" dirty="0">
                <a:solidFill>
                  <a:schemeClr val="accent1"/>
                </a:solidFill>
                <a:latin typeface="Arial" pitchFamily="34" charset="0"/>
                <a:ea typeface="Arial" pitchFamily="34" charset="-122"/>
                <a:cs typeface="Arial" pitchFamily="34" charset="-120"/>
              </a:rPr>
              <a:t>Where</a:t>
            </a:r>
            <a:endParaRPr lang="en-US" sz="1200" dirty="0"/>
          </a:p>
        </p:txBody>
      </p:sp>
      <p:sp>
        <p:nvSpPr>
          <p:cNvPr id="30" name="Text 28"/>
          <p:cNvSpPr txBox="1"/>
          <p:nvPr/>
        </p:nvSpPr>
        <p:spPr>
          <a:xfrm>
            <a:off x="6949440" y="2999232"/>
            <a:ext cx="4663440" cy="566928"/>
          </a:xfrm>
          <a:prstGeom prst="rect">
            <a:avLst/>
          </a:prstGeom>
          <a:noFill/>
          <a:ln/>
        </p:spPr>
        <p:txBody>
          <a:bodyPr wrap="square" lIns="0" tIns="0" rIns="0" bIns="0" rtlCol="0" anchor="t"/>
          <a:lstStyle/>
          <a:p>
            <a:pPr marL="0" indent="0">
              <a:buNone/>
            </a:pPr>
            <a:r>
              <a:rPr lang="en-US" sz="1150" dirty="0">
                <a:solidFill>
                  <a:schemeClr val="tx1"/>
                </a:solidFill>
                <a:latin typeface="Calibri" pitchFamily="34" charset="0"/>
                <a:ea typeface="Calibri" pitchFamily="34" charset="-122"/>
                <a:cs typeface="Calibri" pitchFamily="34" charset="-120"/>
              </a:rPr>
              <a:t>Inside the low-code platform Lena already builds with – no extra tool to open</a:t>
            </a:r>
            <a:endParaRPr lang="en-US" sz="1150" dirty="0"/>
          </a:p>
        </p:txBody>
      </p:sp>
      <p:sp>
        <p:nvSpPr>
          <p:cNvPr id="31" name="Shape 29"/>
          <p:cNvSpPr/>
          <p:nvPr/>
        </p:nvSpPr>
        <p:spPr>
          <a:xfrm>
            <a:off x="5806440" y="3575304"/>
            <a:ext cx="5806440" cy="0"/>
          </a:xfrm>
          <a:prstGeom prst="line">
            <a:avLst/>
          </a:prstGeom>
          <a:noFill/>
          <a:ln w="9525">
            <a:solidFill>
              <a:srgbClr val="E3EAE6"/>
            </a:solidFill>
            <a:prstDash val="solid"/>
          </a:ln>
        </p:spPr>
        <p:txBody>
          <a:bodyPr/>
          <a:lstStyle/>
          <a:p>
            <a:endParaRPr lang="en-DE"/>
          </a:p>
        </p:txBody>
      </p:sp>
      <p:sp>
        <p:nvSpPr>
          <p:cNvPr id="32" name="Text 30"/>
          <p:cNvSpPr txBox="1"/>
          <p:nvPr/>
        </p:nvSpPr>
        <p:spPr>
          <a:xfrm>
            <a:off x="5806440" y="3621024"/>
            <a:ext cx="1143000" cy="548640"/>
          </a:xfrm>
          <a:prstGeom prst="rect">
            <a:avLst/>
          </a:prstGeom>
          <a:noFill/>
          <a:ln/>
        </p:spPr>
        <p:txBody>
          <a:bodyPr wrap="square" lIns="0" tIns="0" rIns="0" bIns="0" rtlCol="0" anchor="t"/>
          <a:lstStyle/>
          <a:p>
            <a:pPr marL="0" indent="0">
              <a:buNone/>
            </a:pPr>
            <a:r>
              <a:rPr lang="en-US" sz="1200" b="1" dirty="0">
                <a:solidFill>
                  <a:schemeClr val="accent1"/>
                </a:solidFill>
                <a:latin typeface="Arial" pitchFamily="34" charset="0"/>
                <a:ea typeface="Arial" pitchFamily="34" charset="-122"/>
                <a:cs typeface="Arial" pitchFamily="34" charset="-120"/>
              </a:rPr>
              <a:t>When</a:t>
            </a:r>
            <a:endParaRPr lang="en-US" sz="1200" dirty="0"/>
          </a:p>
        </p:txBody>
      </p:sp>
      <p:sp>
        <p:nvSpPr>
          <p:cNvPr id="33" name="Text 31"/>
          <p:cNvSpPr txBox="1"/>
          <p:nvPr/>
        </p:nvSpPr>
        <p:spPr>
          <a:xfrm>
            <a:off x="6949440" y="3621024"/>
            <a:ext cx="4663440" cy="566928"/>
          </a:xfrm>
          <a:prstGeom prst="rect">
            <a:avLst/>
          </a:prstGeom>
          <a:noFill/>
          <a:ln/>
        </p:spPr>
        <p:txBody>
          <a:bodyPr wrap="square" lIns="0" tIns="0" rIns="0" bIns="0" rtlCol="0" anchor="t"/>
          <a:lstStyle/>
          <a:p>
            <a:pPr marL="98425" indent="-98425">
              <a:buFont typeface="Arial" panose="020B0604020202020204" pitchFamily="34" charset="0"/>
              <a:buChar char="•"/>
            </a:pPr>
            <a:r>
              <a:rPr lang="en-US" sz="1150" dirty="0">
                <a:solidFill>
                  <a:schemeClr val="tx1"/>
                </a:solidFill>
                <a:latin typeface="Calibri" pitchFamily="34" charset="0"/>
                <a:ea typeface="Calibri" pitchFamily="34" charset="-122"/>
                <a:cs typeface="Calibri" pitchFamily="34" charset="-120"/>
              </a:rPr>
              <a:t>Release 1: training + dashboard</a:t>
            </a:r>
          </a:p>
          <a:p>
            <a:pPr marL="98425" indent="-98425">
              <a:buFont typeface="Arial" panose="020B0604020202020204" pitchFamily="34" charset="0"/>
              <a:buChar char="•"/>
            </a:pPr>
            <a:r>
              <a:rPr lang="en-US" sz="1150" dirty="0">
                <a:solidFill>
                  <a:schemeClr val="tx1"/>
                </a:solidFill>
                <a:latin typeface="Calibri" pitchFamily="34" charset="0"/>
                <a:ea typeface="Calibri" pitchFamily="34" charset="-122"/>
                <a:cs typeface="Calibri" pitchFamily="34" charset="-120"/>
              </a:rPr>
              <a:t>Release 2: guided conversion</a:t>
            </a:r>
          </a:p>
          <a:p>
            <a:pPr marL="98425" indent="-98425">
              <a:buFont typeface="Arial" panose="020B0604020202020204" pitchFamily="34" charset="0"/>
              <a:buChar char="•"/>
            </a:pPr>
            <a:r>
              <a:rPr lang="en-US" sz="1150" dirty="0">
                <a:solidFill>
                  <a:schemeClr val="tx1"/>
                </a:solidFill>
                <a:latin typeface="Calibri" pitchFamily="34" charset="0"/>
                <a:ea typeface="Calibri" pitchFamily="34" charset="-122"/>
                <a:cs typeface="Calibri" pitchFamily="34" charset="-120"/>
              </a:rPr>
              <a:t>Release 3: carbon budgets, SAP-wide</a:t>
            </a:r>
            <a:endParaRPr lang="en-US" sz="1150" dirty="0"/>
          </a:p>
        </p:txBody>
      </p:sp>
      <p:sp>
        <p:nvSpPr>
          <p:cNvPr id="34" name="Shape 32"/>
          <p:cNvSpPr/>
          <p:nvPr/>
        </p:nvSpPr>
        <p:spPr>
          <a:xfrm>
            <a:off x="5806440" y="4197096"/>
            <a:ext cx="5806440" cy="0"/>
          </a:xfrm>
          <a:prstGeom prst="line">
            <a:avLst/>
          </a:prstGeom>
          <a:noFill/>
          <a:ln w="9525">
            <a:solidFill>
              <a:srgbClr val="E3EAE6"/>
            </a:solidFill>
            <a:prstDash val="solid"/>
          </a:ln>
        </p:spPr>
        <p:txBody>
          <a:bodyPr/>
          <a:lstStyle/>
          <a:p>
            <a:endParaRPr lang="en-DE"/>
          </a:p>
        </p:txBody>
      </p:sp>
      <p:sp>
        <p:nvSpPr>
          <p:cNvPr id="35" name="Text 33"/>
          <p:cNvSpPr txBox="1"/>
          <p:nvPr/>
        </p:nvSpPr>
        <p:spPr>
          <a:xfrm>
            <a:off x="5806440" y="4242816"/>
            <a:ext cx="1143000" cy="548640"/>
          </a:xfrm>
          <a:prstGeom prst="rect">
            <a:avLst/>
          </a:prstGeom>
          <a:noFill/>
          <a:ln/>
        </p:spPr>
        <p:txBody>
          <a:bodyPr wrap="square" lIns="0" tIns="0" rIns="0" bIns="0" rtlCol="0" anchor="t"/>
          <a:lstStyle/>
          <a:p>
            <a:r>
              <a:rPr lang="en-US" sz="1200" b="1" dirty="0">
                <a:solidFill>
                  <a:schemeClr val="accent1"/>
                </a:solidFill>
                <a:latin typeface="Arial" pitchFamily="34" charset="0"/>
                <a:ea typeface="Arial" pitchFamily="34" charset="-122"/>
                <a:cs typeface="Arial" pitchFamily="34" charset="-120"/>
              </a:rPr>
              <a:t>Why </a:t>
            </a:r>
            <a:r>
              <a:rPr lang="en-US" sz="1200" b="1" dirty="0" err="1">
                <a:solidFill>
                  <a:schemeClr val="accent1"/>
                </a:solidFill>
                <a:latin typeface="Arial" pitchFamily="34" charset="0"/>
                <a:ea typeface="Arial" pitchFamily="34" charset="-122"/>
                <a:cs typeface="Arial" pitchFamily="34" charset="-120"/>
              </a:rPr>
              <a:t>r</a:t>
            </a:r>
            <a:r>
              <a:rPr lang="en-US" sz="1200" b="1" dirty="0" err="1">
                <a:solidFill>
                  <a:schemeClr val="accent2"/>
                </a:solidFill>
                <a:latin typeface="Arial" pitchFamily="34" charset="0"/>
                <a:ea typeface="Arial" pitchFamily="34" charset="-122"/>
                <a:cs typeface="Arial" pitchFamily="34" charset="-120"/>
              </a:rPr>
              <a:t>AI</a:t>
            </a:r>
            <a:r>
              <a:rPr lang="en-US" sz="1200" b="1" dirty="0" err="1">
                <a:solidFill>
                  <a:schemeClr val="accent1"/>
                </a:solidFill>
                <a:latin typeface="Arial" pitchFamily="34" charset="0"/>
                <a:ea typeface="Arial" pitchFamily="34" charset="-122"/>
                <a:cs typeface="Arial" pitchFamily="34" charset="-120"/>
              </a:rPr>
              <a:t>ght</a:t>
            </a:r>
            <a:endParaRPr lang="en-US" sz="1200" dirty="0"/>
          </a:p>
        </p:txBody>
      </p:sp>
      <p:sp>
        <p:nvSpPr>
          <p:cNvPr id="36" name="Text 34"/>
          <p:cNvSpPr txBox="1"/>
          <p:nvPr/>
        </p:nvSpPr>
        <p:spPr>
          <a:xfrm>
            <a:off x="6949440" y="4242816"/>
            <a:ext cx="4663440" cy="566928"/>
          </a:xfrm>
          <a:prstGeom prst="rect">
            <a:avLst/>
          </a:prstGeom>
          <a:noFill/>
          <a:ln/>
        </p:spPr>
        <p:txBody>
          <a:bodyPr wrap="square" lIns="0" tIns="0" rIns="0" bIns="0" rtlCol="0" anchor="t"/>
          <a:lstStyle/>
          <a:p>
            <a:pPr marL="0" indent="0">
              <a:buNone/>
            </a:pPr>
            <a:r>
              <a:rPr lang="en-US" sz="1150" dirty="0">
                <a:solidFill>
                  <a:schemeClr val="tx1"/>
                </a:solidFill>
                <a:latin typeface="Calibri" pitchFamily="34" charset="0"/>
                <a:ea typeface="Calibri" pitchFamily="34" charset="-122"/>
                <a:cs typeface="Calibri" pitchFamily="34" charset="-120"/>
              </a:rPr>
              <a:t>Monitoring tools show usage. rAIght also tells Lena what to change – and helps her do it herself.</a:t>
            </a:r>
            <a:endParaRPr lang="en-US" sz="1150" dirty="0"/>
          </a:p>
        </p:txBody>
      </p:sp>
      <p:sp>
        <p:nvSpPr>
          <p:cNvPr id="37" name="ingredients"/>
          <p:cNvSpPr/>
          <p:nvPr/>
        </p:nvSpPr>
        <p:spPr>
          <a:xfrm>
            <a:off x="5806440" y="4937760"/>
            <a:ext cx="5833872" cy="1280160"/>
          </a:xfrm>
          <a:prstGeom prst="rect">
            <a:avLst/>
          </a:prstGeom>
          <a:solidFill>
            <a:schemeClr val="bg1"/>
          </a:solidFill>
          <a:ln w="19050">
            <a:solidFill>
              <a:schemeClr val="tx1"/>
            </a:solidFill>
            <a:prstDash val="solid"/>
          </a:ln>
        </p:spPr>
        <p:txBody>
          <a:bodyPr/>
          <a:lstStyle/>
          <a:p>
            <a:endParaRPr lang="en-DE"/>
          </a:p>
        </p:txBody>
      </p:sp>
      <p:sp>
        <p:nvSpPr>
          <p:cNvPr id="38" name="Text 36"/>
          <p:cNvSpPr txBox="1"/>
          <p:nvPr/>
        </p:nvSpPr>
        <p:spPr>
          <a:xfrm>
            <a:off x="5943600" y="4983480"/>
            <a:ext cx="2743200" cy="292608"/>
          </a:xfrm>
          <a:prstGeom prst="rect">
            <a:avLst/>
          </a:prstGeom>
          <a:noFill/>
          <a:ln/>
        </p:spPr>
        <p:txBody>
          <a:bodyPr wrap="square" lIns="0" tIns="0" rIns="0" bIns="0" rtlCol="0" anchor="ctr"/>
          <a:lstStyle/>
          <a:p>
            <a:pPr marL="0" indent="0">
              <a:buNone/>
            </a:pPr>
            <a:r>
              <a:rPr lang="en-US" sz="1400" b="1" dirty="0">
                <a:solidFill>
                  <a:schemeClr val="tx1"/>
                </a:solidFill>
                <a:latin typeface="Arial" pitchFamily="34" charset="0"/>
                <a:ea typeface="Arial" pitchFamily="34" charset="-122"/>
                <a:cs typeface="Arial" pitchFamily="34" charset="-120"/>
              </a:rPr>
              <a:t>Ingredients</a:t>
            </a:r>
            <a:endParaRPr lang="en-US" sz="1400" dirty="0"/>
          </a:p>
        </p:txBody>
      </p:sp>
      <p:sp>
        <p:nvSpPr>
          <p:cNvPr id="39" name="Shape 37"/>
          <p:cNvSpPr/>
          <p:nvPr/>
        </p:nvSpPr>
        <p:spPr>
          <a:xfrm>
            <a:off x="5943600" y="5303520"/>
            <a:ext cx="5559552" cy="0"/>
          </a:xfrm>
          <a:prstGeom prst="line">
            <a:avLst/>
          </a:prstGeom>
          <a:noFill/>
          <a:ln w="25400">
            <a:solidFill>
              <a:schemeClr val="tx1"/>
            </a:solidFill>
            <a:prstDash val="solid"/>
          </a:ln>
        </p:spPr>
        <p:txBody>
          <a:bodyPr/>
          <a:lstStyle/>
          <a:p>
            <a:endParaRPr lang="en-DE"/>
          </a:p>
        </p:txBody>
      </p:sp>
      <p:sp>
        <p:nvSpPr>
          <p:cNvPr id="40" name="Text 38"/>
          <p:cNvSpPr txBox="1"/>
          <p:nvPr/>
        </p:nvSpPr>
        <p:spPr>
          <a:xfrm>
            <a:off x="5943600" y="5358384"/>
            <a:ext cx="3931920" cy="210312"/>
          </a:xfrm>
          <a:prstGeom prst="rect">
            <a:avLst/>
          </a:prstGeom>
          <a:noFill/>
          <a:ln/>
        </p:spPr>
        <p:txBody>
          <a:bodyPr wrap="square" lIns="0" tIns="0" rIns="0" bIns="0" rtlCol="0" anchor="ctr"/>
          <a:lstStyle/>
          <a:p>
            <a:pPr marL="0" indent="0">
              <a:buNone/>
            </a:pPr>
            <a:r>
              <a:rPr lang="en-US" sz="1050" dirty="0">
                <a:solidFill>
                  <a:schemeClr val="tx1"/>
                </a:solidFill>
                <a:latin typeface="Calibri" pitchFamily="34" charset="0"/>
                <a:ea typeface="Calibri" pitchFamily="34" charset="-122"/>
                <a:cs typeface="Calibri" pitchFamily="34" charset="-120"/>
              </a:rPr>
              <a:t>Existing run logs</a:t>
            </a:r>
            <a:endParaRPr lang="en-US" sz="1050" dirty="0"/>
          </a:p>
        </p:txBody>
      </p:sp>
      <p:sp>
        <p:nvSpPr>
          <p:cNvPr id="41" name="Text 39"/>
          <p:cNvSpPr txBox="1"/>
          <p:nvPr/>
        </p:nvSpPr>
        <p:spPr>
          <a:xfrm>
            <a:off x="9875520" y="5358384"/>
            <a:ext cx="1645920" cy="210312"/>
          </a:xfrm>
          <a:prstGeom prst="rect">
            <a:avLst/>
          </a:prstGeom>
          <a:noFill/>
          <a:ln/>
        </p:spPr>
        <p:txBody>
          <a:bodyPr wrap="square" lIns="0" tIns="0" rIns="0" bIns="0" rtlCol="0" anchor="ctr"/>
          <a:lstStyle/>
          <a:p>
            <a:pPr marL="0" indent="0" algn="r">
              <a:buNone/>
            </a:pPr>
            <a:r>
              <a:rPr lang="en-US" sz="1050" b="1" dirty="0">
                <a:solidFill>
                  <a:schemeClr val="tx1"/>
                </a:solidFill>
                <a:latin typeface="Calibri" pitchFamily="34" charset="0"/>
                <a:ea typeface="Calibri" pitchFamily="34" charset="-122"/>
                <a:cs typeface="Calibri" pitchFamily="34" charset="-120"/>
              </a:rPr>
              <a:t>100%</a:t>
            </a:r>
            <a:endParaRPr lang="en-US" sz="1050" dirty="0"/>
          </a:p>
        </p:txBody>
      </p:sp>
      <p:sp>
        <p:nvSpPr>
          <p:cNvPr id="42" name="Text 40"/>
          <p:cNvSpPr txBox="1"/>
          <p:nvPr/>
        </p:nvSpPr>
        <p:spPr>
          <a:xfrm>
            <a:off x="5943600" y="5568696"/>
            <a:ext cx="3931920" cy="210312"/>
          </a:xfrm>
          <a:prstGeom prst="rect">
            <a:avLst/>
          </a:prstGeom>
          <a:noFill/>
          <a:ln/>
        </p:spPr>
        <p:txBody>
          <a:bodyPr wrap="square" lIns="0" tIns="0" rIns="0" bIns="0" rtlCol="0" anchor="ctr"/>
          <a:lstStyle/>
          <a:p>
            <a:pPr marL="0" indent="0">
              <a:buNone/>
            </a:pPr>
            <a:r>
              <a:rPr lang="en-US" sz="1050" dirty="0">
                <a:solidFill>
                  <a:schemeClr val="tx1"/>
                </a:solidFill>
                <a:latin typeface="Calibri" pitchFamily="34" charset="0"/>
                <a:ea typeface="Calibri" pitchFamily="34" charset="-122"/>
                <a:cs typeface="Calibri" pitchFamily="34" charset="-120"/>
              </a:rPr>
              <a:t>Extra AI to check the AI</a:t>
            </a:r>
            <a:endParaRPr lang="en-US" sz="1050" dirty="0"/>
          </a:p>
        </p:txBody>
      </p:sp>
      <p:sp>
        <p:nvSpPr>
          <p:cNvPr id="43" name="Text 41"/>
          <p:cNvSpPr txBox="1"/>
          <p:nvPr/>
        </p:nvSpPr>
        <p:spPr>
          <a:xfrm>
            <a:off x="9875520" y="5568696"/>
            <a:ext cx="1645920" cy="210312"/>
          </a:xfrm>
          <a:prstGeom prst="rect">
            <a:avLst/>
          </a:prstGeom>
          <a:noFill/>
          <a:ln/>
        </p:spPr>
        <p:txBody>
          <a:bodyPr wrap="square" lIns="0" tIns="0" rIns="0" bIns="0" rtlCol="0" anchor="ctr"/>
          <a:lstStyle/>
          <a:p>
            <a:pPr marL="0" indent="0" algn="r">
              <a:buNone/>
            </a:pPr>
            <a:r>
              <a:rPr lang="en-US" sz="1050" b="1" dirty="0">
                <a:solidFill>
                  <a:schemeClr val="tx1"/>
                </a:solidFill>
                <a:latin typeface="Calibri" pitchFamily="34" charset="0"/>
                <a:ea typeface="Calibri" pitchFamily="34" charset="-122"/>
                <a:cs typeface="Calibri" pitchFamily="34" charset="-120"/>
              </a:rPr>
              <a:t>0%</a:t>
            </a:r>
            <a:endParaRPr lang="en-US" sz="1050" dirty="0"/>
          </a:p>
        </p:txBody>
      </p:sp>
      <p:sp>
        <p:nvSpPr>
          <p:cNvPr id="44" name="Text 42"/>
          <p:cNvSpPr txBox="1"/>
          <p:nvPr/>
        </p:nvSpPr>
        <p:spPr>
          <a:xfrm>
            <a:off x="5943600" y="5779008"/>
            <a:ext cx="3931920" cy="210312"/>
          </a:xfrm>
          <a:prstGeom prst="rect">
            <a:avLst/>
          </a:prstGeom>
          <a:noFill/>
          <a:ln/>
        </p:spPr>
        <p:txBody>
          <a:bodyPr wrap="square" lIns="0" tIns="0" rIns="0" bIns="0" rtlCol="0" anchor="ctr"/>
          <a:lstStyle/>
          <a:p>
            <a:pPr marL="0" indent="0">
              <a:buNone/>
            </a:pPr>
            <a:r>
              <a:rPr lang="en-US" sz="1050" dirty="0">
                <a:solidFill>
                  <a:schemeClr val="tx1"/>
                </a:solidFill>
                <a:latin typeface="Calibri" pitchFamily="34" charset="0"/>
                <a:ea typeface="Calibri" pitchFamily="34" charset="-122"/>
                <a:cs typeface="Calibri" pitchFamily="34" charset="-120"/>
              </a:rPr>
              <a:t>Low-code platform</a:t>
            </a:r>
            <a:endParaRPr lang="en-US" sz="1050" dirty="0"/>
          </a:p>
        </p:txBody>
      </p:sp>
      <p:sp>
        <p:nvSpPr>
          <p:cNvPr id="45" name="Text 43"/>
          <p:cNvSpPr txBox="1"/>
          <p:nvPr/>
        </p:nvSpPr>
        <p:spPr>
          <a:xfrm>
            <a:off x="9875520" y="5779008"/>
            <a:ext cx="1645920" cy="210312"/>
          </a:xfrm>
          <a:prstGeom prst="rect">
            <a:avLst/>
          </a:prstGeom>
          <a:noFill/>
          <a:ln/>
        </p:spPr>
        <p:txBody>
          <a:bodyPr wrap="square" lIns="0" tIns="0" rIns="0" bIns="0" rtlCol="0" anchor="ctr"/>
          <a:lstStyle/>
          <a:p>
            <a:pPr marL="0" indent="0" algn="r">
              <a:buNone/>
            </a:pPr>
            <a:r>
              <a:rPr lang="en-US" sz="1050" b="1" dirty="0">
                <a:solidFill>
                  <a:schemeClr val="tx1"/>
                </a:solidFill>
                <a:latin typeface="Calibri" pitchFamily="34" charset="0"/>
                <a:ea typeface="Calibri" pitchFamily="34" charset="-122"/>
                <a:cs typeface="Calibri" pitchFamily="34" charset="-120"/>
              </a:rPr>
              <a:t>already in use</a:t>
            </a:r>
            <a:endParaRPr lang="en-US" sz="1050" dirty="0"/>
          </a:p>
        </p:txBody>
      </p:sp>
      <p:sp>
        <p:nvSpPr>
          <p:cNvPr id="46" name="Text 44"/>
          <p:cNvSpPr txBox="1"/>
          <p:nvPr/>
        </p:nvSpPr>
        <p:spPr>
          <a:xfrm>
            <a:off x="5943600" y="5989320"/>
            <a:ext cx="3931920" cy="210312"/>
          </a:xfrm>
          <a:prstGeom prst="rect">
            <a:avLst/>
          </a:prstGeom>
          <a:noFill/>
          <a:ln/>
        </p:spPr>
        <p:txBody>
          <a:bodyPr wrap="square" lIns="0" tIns="0" rIns="0" bIns="0" rtlCol="0" anchor="ctr"/>
          <a:lstStyle/>
          <a:p>
            <a:pPr marL="0" indent="0">
              <a:buNone/>
            </a:pPr>
            <a:r>
              <a:rPr lang="en-US" sz="1050" dirty="0">
                <a:solidFill>
                  <a:schemeClr val="tx1"/>
                </a:solidFill>
                <a:latin typeface="Calibri" pitchFamily="34" charset="0"/>
                <a:ea typeface="Calibri" pitchFamily="34" charset="-122"/>
                <a:cs typeface="Calibri" pitchFamily="34" charset="-120"/>
              </a:rPr>
              <a:t>Data protection &amp; works council sign-off</a:t>
            </a:r>
            <a:endParaRPr lang="en-US" sz="1050" dirty="0"/>
          </a:p>
        </p:txBody>
      </p:sp>
      <p:sp>
        <p:nvSpPr>
          <p:cNvPr id="47" name="Text 45"/>
          <p:cNvSpPr txBox="1"/>
          <p:nvPr/>
        </p:nvSpPr>
        <p:spPr>
          <a:xfrm>
            <a:off x="9875520" y="5989320"/>
            <a:ext cx="1645920" cy="210312"/>
          </a:xfrm>
          <a:prstGeom prst="rect">
            <a:avLst/>
          </a:prstGeom>
          <a:noFill/>
          <a:ln/>
        </p:spPr>
        <p:txBody>
          <a:bodyPr wrap="square" lIns="0" tIns="0" rIns="0" bIns="0" rtlCol="0" anchor="ctr"/>
          <a:lstStyle/>
          <a:p>
            <a:pPr marL="0" indent="0" algn="r">
              <a:buNone/>
            </a:pPr>
            <a:r>
              <a:rPr lang="en-US" sz="1050" b="1" dirty="0">
                <a:solidFill>
                  <a:schemeClr val="tx1"/>
                </a:solidFill>
                <a:latin typeface="Calibri" pitchFamily="34" charset="0"/>
                <a:ea typeface="Calibri" pitchFamily="34" charset="-122"/>
                <a:cs typeface="Calibri" pitchFamily="34" charset="-120"/>
              </a:rPr>
              <a:t>required</a:t>
            </a:r>
            <a:endParaRPr lang="en-US" sz="1050" dirty="0"/>
          </a:p>
        </p:txBody>
      </p:sp>
      <p:sp>
        <p:nvSpPr>
          <p:cNvPr id="48"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E6A"/>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10058400" cy="274320"/>
          </a:xfrm>
          <a:prstGeom prst="rect">
            <a:avLst/>
          </a:prstGeom>
          <a:noFill/>
          <a:ln/>
        </p:spPr>
        <p:txBody>
          <a:bodyPr wrap="square" lIns="0" tIns="0" rIns="0" bIns="0" rtlCol="0"/>
          <a:lstStyle/>
          <a:p>
            <a:pPr marL="0" indent="0">
              <a:buNone/>
            </a:pPr>
            <a:r>
              <a:rPr lang="en-US" sz="1100" b="1" kern="0" spc="200" dirty="0">
                <a:solidFill>
                  <a:schemeClr val="accent1"/>
                </a:solidFill>
                <a:latin typeface="Arial" pitchFamily="34" charset="0"/>
                <a:ea typeface="Arial" pitchFamily="34" charset="-122"/>
                <a:cs typeface="Arial" pitchFamily="34" charset="-120"/>
              </a:rPr>
              <a:t>③ FEASIBILITY  ·  USER STORY MAP</a:t>
            </a:r>
            <a:endParaRPr lang="en-US" sz="1100" dirty="0"/>
          </a:p>
        </p:txBody>
      </p:sp>
      <p:sp>
        <p:nvSpPr>
          <p:cNvPr id="3" name="Text 0"/>
          <p:cNvSpPr>
            <a:spLocks noGrp="1"/>
          </p:cNvSpPr>
          <p:nvPr>
            <p:ph type="title" idx="101" hasCustomPrompt="1"/>
          </p:nvPr>
        </p:nvSpPr>
        <p:spPr>
          <a:xfrm>
            <a:off x="548640" y="640080"/>
            <a:ext cx="11064240" cy="685800"/>
          </a:xfrm>
          <a:prstGeom prst="rect">
            <a:avLst/>
          </a:prstGeom>
          <a:noFill/>
          <a:ln/>
        </p:spPr>
        <p:txBody>
          <a:bodyPr wrap="square" lIns="0" tIns="0" rIns="0" bIns="0" rtlCol="0" anchor="t"/>
          <a:lstStyle/>
          <a:p>
            <a:pPr marL="0" indent="0" algn="l">
              <a:buNone/>
            </a:pPr>
            <a:r>
              <a:rPr lang="en-US" sz="2600" b="1" dirty="0">
                <a:solidFill>
                  <a:schemeClr val="tx1"/>
                </a:solidFill>
                <a:latin typeface="Arial" pitchFamily="34" charset="0"/>
                <a:ea typeface="Arial" pitchFamily="34" charset="-122"/>
                <a:cs typeface="Arial" pitchFamily="34" charset="-120"/>
              </a:rPr>
              <a:t>Lena’s journey as the backbone – release 1 already works end to end</a:t>
            </a:r>
            <a:endParaRPr lang="en-US" sz="2600" dirty="0"/>
          </a:p>
        </p:txBody>
      </p:sp>
      <p:sp>
        <p:nvSpPr>
          <p:cNvPr id="4" name="Text 2"/>
          <p:cNvSpPr txBox="1"/>
          <p:nvPr/>
        </p:nvSpPr>
        <p:spPr>
          <a:xfrm>
            <a:off x="548640" y="1298448"/>
            <a:ext cx="11064240" cy="365760"/>
          </a:xfrm>
          <a:prstGeom prst="rect">
            <a:avLst/>
          </a:prstGeom>
          <a:noFill/>
          <a:ln/>
        </p:spPr>
        <p:txBody>
          <a:bodyPr wrap="square" lIns="0" tIns="0" rIns="0" bIns="0" rtlCol="0" anchor="t"/>
          <a:lstStyle/>
          <a:p>
            <a:pPr marL="0" indent="0">
              <a:buNone/>
            </a:pPr>
            <a:r>
              <a:rPr lang="en-US" sz="1150" b="1" dirty="0">
                <a:solidFill>
                  <a:schemeClr val="accent1"/>
                </a:solidFill>
                <a:latin typeface="Calibri" pitchFamily="34" charset="0"/>
                <a:ea typeface="Calibri" pitchFamily="34" charset="-122"/>
                <a:cs typeface="Calibri" pitchFamily="34" charset="-120"/>
              </a:rPr>
              <a:t>Vision  </a:t>
            </a:r>
            <a:r>
              <a:rPr lang="en-US" sz="1150" i="1" dirty="0">
                <a:solidFill>
                  <a:schemeClr val="tx1"/>
                </a:solidFill>
                <a:latin typeface="Calibri" pitchFamily="34" charset="0"/>
                <a:ea typeface="Calibri" pitchFamily="34" charset="-122"/>
                <a:cs typeface="Calibri" pitchFamily="34" charset="-120"/>
              </a:rPr>
              <a:t>rAIght gives process owners the know-how and the visibility to build every automation on the lowest step that does the job – and to turn repetitive agents into workflows themselves.</a:t>
            </a:r>
            <a:endParaRPr lang="en-US" sz="1150" dirty="0"/>
          </a:p>
        </p:txBody>
      </p:sp>
      <p:sp>
        <p:nvSpPr>
          <p:cNvPr id="5" name="Text 3"/>
          <p:cNvSpPr txBox="1"/>
          <p:nvPr/>
        </p:nvSpPr>
        <p:spPr>
          <a:xfrm>
            <a:off x="548640" y="1801368"/>
            <a:ext cx="1508760" cy="274320"/>
          </a:xfrm>
          <a:prstGeom prst="rect">
            <a:avLst/>
          </a:prstGeom>
          <a:noFill/>
          <a:ln/>
        </p:spPr>
        <p:txBody>
          <a:bodyPr wrap="square" lIns="0" tIns="0" rIns="0" bIns="0" rtlCol="0" anchor="ctr"/>
          <a:lstStyle/>
          <a:p>
            <a:pPr marL="0" indent="0">
              <a:buNone/>
            </a:pPr>
            <a:r>
              <a:rPr lang="en-US" sz="850" b="1" kern="0" spc="150" dirty="0">
                <a:solidFill>
                  <a:srgbClr val="5E6E6A"/>
                </a:solidFill>
                <a:latin typeface="Arial" pitchFamily="34" charset="0"/>
                <a:ea typeface="Arial" pitchFamily="34" charset="-122"/>
                <a:cs typeface="Arial" pitchFamily="34" charset="-120"/>
              </a:rPr>
              <a:t>USAGE STEPS</a:t>
            </a:r>
            <a:endParaRPr lang="en-US" sz="850" dirty="0"/>
          </a:p>
        </p:txBody>
      </p:sp>
      <p:sp>
        <p:nvSpPr>
          <p:cNvPr id="6" name="Shape 4"/>
          <p:cNvSpPr/>
          <p:nvPr/>
        </p:nvSpPr>
        <p:spPr>
          <a:xfrm>
            <a:off x="2148840" y="1783080"/>
            <a:ext cx="1508760" cy="310896"/>
          </a:xfrm>
          <a:prstGeom prst="rect">
            <a:avLst/>
          </a:prstGeom>
          <a:solidFill>
            <a:schemeClr val="tx2"/>
          </a:solidFill>
          <a:ln w="12700">
            <a:solidFill>
              <a:schemeClr val="tx2"/>
            </a:solidFill>
            <a:prstDash val="solid"/>
          </a:ln>
        </p:spPr>
        <p:txBody>
          <a:bodyPr/>
          <a:lstStyle/>
          <a:p>
            <a:endParaRPr lang="en-DE"/>
          </a:p>
        </p:txBody>
      </p:sp>
      <p:sp>
        <p:nvSpPr>
          <p:cNvPr id="7" name="Text 5"/>
          <p:cNvSpPr txBox="1"/>
          <p:nvPr/>
        </p:nvSpPr>
        <p:spPr>
          <a:xfrm>
            <a:off x="2203704" y="1783080"/>
            <a:ext cx="1399032" cy="310896"/>
          </a:xfrm>
          <a:prstGeom prst="rect">
            <a:avLst/>
          </a:prstGeom>
          <a:noFill/>
          <a:ln/>
        </p:spPr>
        <p:txBody>
          <a:bodyPr wrap="square" lIns="0" tIns="0" rIns="0" bIns="0" rtlCol="0" anchor="ctr"/>
          <a:lstStyle/>
          <a:p>
            <a:pPr marL="0" indent="0" algn="ctr">
              <a:buNone/>
            </a:pPr>
            <a:r>
              <a:rPr lang="en-US" sz="1100" b="1" dirty="0">
                <a:solidFill>
                  <a:schemeClr val="bg1"/>
                </a:solidFill>
                <a:latin typeface="Calibri" pitchFamily="34" charset="0"/>
                <a:ea typeface="Calibri" pitchFamily="34" charset="-122"/>
                <a:cs typeface="Calibri" pitchFamily="34" charset="-120"/>
              </a:rPr>
              <a:t>Get started</a:t>
            </a:r>
            <a:endParaRPr lang="en-US" sz="1100" dirty="0"/>
          </a:p>
        </p:txBody>
      </p:sp>
      <p:sp>
        <p:nvSpPr>
          <p:cNvPr id="8" name="Shape 6"/>
          <p:cNvSpPr/>
          <p:nvPr/>
        </p:nvSpPr>
        <p:spPr>
          <a:xfrm>
            <a:off x="3730752" y="1783080"/>
            <a:ext cx="1508760" cy="310896"/>
          </a:xfrm>
          <a:prstGeom prst="rect">
            <a:avLst/>
          </a:prstGeom>
          <a:solidFill>
            <a:schemeClr val="tx2"/>
          </a:solidFill>
          <a:ln w="12700">
            <a:solidFill>
              <a:schemeClr val="tx2"/>
            </a:solidFill>
            <a:prstDash val="solid"/>
          </a:ln>
        </p:spPr>
        <p:txBody>
          <a:bodyPr/>
          <a:lstStyle/>
          <a:p>
            <a:endParaRPr lang="en-DE"/>
          </a:p>
        </p:txBody>
      </p:sp>
      <p:sp>
        <p:nvSpPr>
          <p:cNvPr id="9" name="Text 7"/>
          <p:cNvSpPr txBox="1"/>
          <p:nvPr/>
        </p:nvSpPr>
        <p:spPr>
          <a:xfrm>
            <a:off x="3785616" y="1783080"/>
            <a:ext cx="1399032" cy="310896"/>
          </a:xfrm>
          <a:prstGeom prst="rect">
            <a:avLst/>
          </a:prstGeom>
          <a:noFill/>
          <a:ln/>
        </p:spPr>
        <p:txBody>
          <a:bodyPr wrap="square" lIns="0" tIns="0" rIns="0" bIns="0" rtlCol="0" anchor="ctr"/>
          <a:lstStyle/>
          <a:p>
            <a:pPr marL="0" indent="0" algn="ctr">
              <a:buNone/>
            </a:pPr>
            <a:r>
              <a:rPr lang="en-US" sz="1100" b="1" dirty="0">
                <a:solidFill>
                  <a:schemeClr val="bg1"/>
                </a:solidFill>
                <a:latin typeface="Calibri" pitchFamily="34" charset="0"/>
                <a:ea typeface="Calibri" pitchFamily="34" charset="-122"/>
                <a:cs typeface="Calibri" pitchFamily="34" charset="-120"/>
              </a:rPr>
              <a:t>Plan an automation</a:t>
            </a:r>
            <a:endParaRPr lang="en-US" sz="1100" dirty="0"/>
          </a:p>
        </p:txBody>
      </p:sp>
      <p:sp>
        <p:nvSpPr>
          <p:cNvPr id="10" name="Shape 8"/>
          <p:cNvSpPr/>
          <p:nvPr/>
        </p:nvSpPr>
        <p:spPr>
          <a:xfrm>
            <a:off x="5312664" y="1783080"/>
            <a:ext cx="1508760" cy="310896"/>
          </a:xfrm>
          <a:prstGeom prst="rect">
            <a:avLst/>
          </a:prstGeom>
          <a:solidFill>
            <a:schemeClr val="tx2"/>
          </a:solidFill>
          <a:ln w="12700">
            <a:solidFill>
              <a:schemeClr val="tx2"/>
            </a:solidFill>
            <a:prstDash val="solid"/>
          </a:ln>
        </p:spPr>
        <p:txBody>
          <a:bodyPr/>
          <a:lstStyle/>
          <a:p>
            <a:endParaRPr lang="en-DE"/>
          </a:p>
        </p:txBody>
      </p:sp>
      <p:sp>
        <p:nvSpPr>
          <p:cNvPr id="11" name="Text 9"/>
          <p:cNvSpPr txBox="1"/>
          <p:nvPr/>
        </p:nvSpPr>
        <p:spPr>
          <a:xfrm>
            <a:off x="5367528" y="1783080"/>
            <a:ext cx="1399032" cy="310896"/>
          </a:xfrm>
          <a:prstGeom prst="rect">
            <a:avLst/>
          </a:prstGeom>
          <a:noFill/>
          <a:ln/>
        </p:spPr>
        <p:txBody>
          <a:bodyPr wrap="square" lIns="0" tIns="0" rIns="0" bIns="0" rtlCol="0" anchor="ctr"/>
          <a:lstStyle/>
          <a:p>
            <a:pPr marL="0" indent="0" algn="ctr">
              <a:buNone/>
            </a:pPr>
            <a:r>
              <a:rPr lang="en-US" sz="1100" b="1" dirty="0">
                <a:solidFill>
                  <a:schemeClr val="bg1"/>
                </a:solidFill>
                <a:latin typeface="Calibri" pitchFamily="34" charset="0"/>
                <a:ea typeface="Calibri" pitchFamily="34" charset="-122"/>
                <a:cs typeface="Calibri" pitchFamily="34" charset="-120"/>
              </a:rPr>
              <a:t>Build it</a:t>
            </a:r>
            <a:endParaRPr lang="en-US" sz="1100" dirty="0"/>
          </a:p>
        </p:txBody>
      </p:sp>
      <p:sp>
        <p:nvSpPr>
          <p:cNvPr id="12" name="Shape 10"/>
          <p:cNvSpPr/>
          <p:nvPr/>
        </p:nvSpPr>
        <p:spPr>
          <a:xfrm>
            <a:off x="6894576" y="1783080"/>
            <a:ext cx="1508760" cy="310896"/>
          </a:xfrm>
          <a:prstGeom prst="rect">
            <a:avLst/>
          </a:prstGeom>
          <a:solidFill>
            <a:schemeClr val="tx2"/>
          </a:solidFill>
          <a:ln w="12700">
            <a:solidFill>
              <a:schemeClr val="tx2"/>
            </a:solidFill>
            <a:prstDash val="solid"/>
          </a:ln>
        </p:spPr>
        <p:txBody>
          <a:bodyPr/>
          <a:lstStyle/>
          <a:p>
            <a:endParaRPr lang="en-DE"/>
          </a:p>
        </p:txBody>
      </p:sp>
      <p:sp>
        <p:nvSpPr>
          <p:cNvPr id="13" name="Text 11"/>
          <p:cNvSpPr txBox="1"/>
          <p:nvPr/>
        </p:nvSpPr>
        <p:spPr>
          <a:xfrm>
            <a:off x="6949440" y="1783080"/>
            <a:ext cx="1399032" cy="310896"/>
          </a:xfrm>
          <a:prstGeom prst="rect">
            <a:avLst/>
          </a:prstGeom>
          <a:noFill/>
          <a:ln/>
        </p:spPr>
        <p:txBody>
          <a:bodyPr wrap="square" lIns="0" tIns="0" rIns="0" bIns="0" rtlCol="0" anchor="ctr"/>
          <a:lstStyle/>
          <a:p>
            <a:pPr marL="0" indent="0" algn="ctr">
              <a:buNone/>
            </a:pPr>
            <a:r>
              <a:rPr lang="en-US" sz="1100" b="1" dirty="0">
                <a:solidFill>
                  <a:schemeClr val="bg1"/>
                </a:solidFill>
                <a:latin typeface="Calibri" pitchFamily="34" charset="0"/>
                <a:ea typeface="Calibri" pitchFamily="34" charset="-122"/>
                <a:cs typeface="Calibri" pitchFamily="34" charset="-120"/>
              </a:rPr>
              <a:t>Run it</a:t>
            </a:r>
            <a:endParaRPr lang="en-US" sz="1100" dirty="0"/>
          </a:p>
        </p:txBody>
      </p:sp>
      <p:sp>
        <p:nvSpPr>
          <p:cNvPr id="14" name="Shape 12"/>
          <p:cNvSpPr/>
          <p:nvPr/>
        </p:nvSpPr>
        <p:spPr>
          <a:xfrm>
            <a:off x="8476488" y="1783080"/>
            <a:ext cx="1508760" cy="310896"/>
          </a:xfrm>
          <a:prstGeom prst="rect">
            <a:avLst/>
          </a:prstGeom>
          <a:solidFill>
            <a:schemeClr val="tx2"/>
          </a:solidFill>
          <a:ln w="12700">
            <a:solidFill>
              <a:schemeClr val="tx2"/>
            </a:solidFill>
            <a:prstDash val="solid"/>
          </a:ln>
        </p:spPr>
        <p:txBody>
          <a:bodyPr/>
          <a:lstStyle/>
          <a:p>
            <a:endParaRPr lang="en-DE"/>
          </a:p>
        </p:txBody>
      </p:sp>
      <p:sp>
        <p:nvSpPr>
          <p:cNvPr id="15" name="Text 13"/>
          <p:cNvSpPr txBox="1"/>
          <p:nvPr/>
        </p:nvSpPr>
        <p:spPr>
          <a:xfrm>
            <a:off x="8531352" y="1783080"/>
            <a:ext cx="1399032" cy="310896"/>
          </a:xfrm>
          <a:prstGeom prst="rect">
            <a:avLst/>
          </a:prstGeom>
          <a:noFill/>
          <a:ln/>
        </p:spPr>
        <p:txBody>
          <a:bodyPr wrap="square" lIns="0" tIns="0" rIns="0" bIns="0" rtlCol="0" anchor="ctr"/>
          <a:lstStyle/>
          <a:p>
            <a:pPr marL="0" indent="0" algn="ctr">
              <a:buNone/>
            </a:pPr>
            <a:r>
              <a:rPr lang="en-US" sz="1100" b="1" dirty="0">
                <a:solidFill>
                  <a:schemeClr val="bg1"/>
                </a:solidFill>
                <a:latin typeface="Calibri" pitchFamily="34" charset="0"/>
                <a:ea typeface="Calibri" pitchFamily="34" charset="-122"/>
                <a:cs typeface="Calibri" pitchFamily="34" charset="-120"/>
              </a:rPr>
              <a:t>Review it</a:t>
            </a:r>
            <a:endParaRPr lang="en-US" sz="1100" dirty="0"/>
          </a:p>
        </p:txBody>
      </p:sp>
      <p:sp>
        <p:nvSpPr>
          <p:cNvPr id="16" name="Shape 14"/>
          <p:cNvSpPr/>
          <p:nvPr/>
        </p:nvSpPr>
        <p:spPr>
          <a:xfrm>
            <a:off x="10058400" y="1783080"/>
            <a:ext cx="1508760" cy="310896"/>
          </a:xfrm>
          <a:prstGeom prst="rect">
            <a:avLst/>
          </a:prstGeom>
          <a:solidFill>
            <a:schemeClr val="tx2"/>
          </a:solidFill>
          <a:ln w="12700">
            <a:solidFill>
              <a:schemeClr val="tx2"/>
            </a:solidFill>
            <a:prstDash val="solid"/>
          </a:ln>
        </p:spPr>
        <p:txBody>
          <a:bodyPr/>
          <a:lstStyle/>
          <a:p>
            <a:endParaRPr lang="en-DE"/>
          </a:p>
        </p:txBody>
      </p:sp>
      <p:sp>
        <p:nvSpPr>
          <p:cNvPr id="17" name="Text 15"/>
          <p:cNvSpPr txBox="1"/>
          <p:nvPr/>
        </p:nvSpPr>
        <p:spPr>
          <a:xfrm>
            <a:off x="10113264" y="1783080"/>
            <a:ext cx="1399032" cy="310896"/>
          </a:xfrm>
          <a:prstGeom prst="rect">
            <a:avLst/>
          </a:prstGeom>
          <a:noFill/>
          <a:ln/>
        </p:spPr>
        <p:txBody>
          <a:bodyPr wrap="square" lIns="0" tIns="0" rIns="0" bIns="0" rtlCol="0" anchor="ctr"/>
          <a:lstStyle/>
          <a:p>
            <a:pPr marL="0" indent="0" algn="ctr">
              <a:buNone/>
            </a:pPr>
            <a:r>
              <a:rPr lang="en-US" sz="1100" b="1" dirty="0">
                <a:solidFill>
                  <a:schemeClr val="bg1"/>
                </a:solidFill>
                <a:latin typeface="Calibri" pitchFamily="34" charset="0"/>
                <a:ea typeface="Calibri" pitchFamily="34" charset="-122"/>
                <a:cs typeface="Calibri" pitchFamily="34" charset="-120"/>
              </a:rPr>
              <a:t>Improve it</a:t>
            </a:r>
            <a:endParaRPr lang="en-US" sz="1100" dirty="0"/>
          </a:p>
        </p:txBody>
      </p:sp>
      <p:sp>
        <p:nvSpPr>
          <p:cNvPr id="18" name="Shape 16"/>
          <p:cNvSpPr/>
          <p:nvPr/>
        </p:nvSpPr>
        <p:spPr>
          <a:xfrm>
            <a:off x="548640" y="2176272"/>
            <a:ext cx="1508760" cy="786384"/>
          </a:xfrm>
          <a:prstGeom prst="rect">
            <a:avLst/>
          </a:prstGeom>
          <a:solidFill>
            <a:schemeClr val="accent1"/>
          </a:solidFill>
          <a:ln w="12700">
            <a:solidFill>
              <a:schemeClr val="accent1"/>
            </a:solidFill>
            <a:prstDash val="solid"/>
          </a:ln>
        </p:spPr>
        <p:txBody>
          <a:bodyPr/>
          <a:lstStyle/>
          <a:p>
            <a:endParaRPr lang="en-DE"/>
          </a:p>
        </p:txBody>
      </p:sp>
      <p:sp>
        <p:nvSpPr>
          <p:cNvPr id="19" name="Text 17"/>
          <p:cNvSpPr txBox="1"/>
          <p:nvPr/>
        </p:nvSpPr>
        <p:spPr>
          <a:xfrm>
            <a:off x="621792" y="2473692"/>
            <a:ext cx="1371600" cy="488963"/>
          </a:xfrm>
          <a:prstGeom prst="rect">
            <a:avLst/>
          </a:prstGeom>
          <a:noFill/>
          <a:ln/>
        </p:spPr>
        <p:txBody>
          <a:bodyPr wrap="square" lIns="0" tIns="0" rIns="0" bIns="0" rtlCol="0" anchor="ctr"/>
          <a:lstStyle/>
          <a:p>
            <a:pPr marL="0" indent="0" algn="r">
              <a:buNone/>
            </a:pPr>
            <a:r>
              <a:rPr lang="en-US" sz="1300" b="1" dirty="0">
                <a:solidFill>
                  <a:schemeClr val="bg1"/>
                </a:solidFill>
                <a:latin typeface="Calibri" pitchFamily="34" charset="0"/>
                <a:ea typeface="Calibri" pitchFamily="34" charset="-122"/>
                <a:cs typeface="Calibri" pitchFamily="34" charset="-120"/>
              </a:rPr>
              <a:t>Lena</a:t>
            </a:r>
            <a:endParaRPr lang="en-US" sz="1300" dirty="0"/>
          </a:p>
          <a:p>
            <a:pPr marL="0" indent="0" algn="r">
              <a:buNone/>
            </a:pPr>
            <a:r>
              <a:rPr lang="en-US" sz="900" dirty="0">
                <a:solidFill>
                  <a:schemeClr val="bg1"/>
                </a:solidFill>
                <a:latin typeface="Calibri" pitchFamily="34" charset="0"/>
                <a:ea typeface="Calibri" pitchFamily="34" charset="-122"/>
                <a:cs typeface="Calibri" pitchFamily="34" charset="-120"/>
              </a:rPr>
              <a:t>process owner </a:t>
            </a:r>
            <a:endParaRPr lang="en-US" sz="1300" dirty="0"/>
          </a:p>
        </p:txBody>
      </p:sp>
      <p:sp>
        <p:nvSpPr>
          <p:cNvPr id="20" name="Shape 18"/>
          <p:cNvSpPr/>
          <p:nvPr/>
        </p:nvSpPr>
        <p:spPr>
          <a:xfrm>
            <a:off x="2148840" y="2176272"/>
            <a:ext cx="1508760" cy="365760"/>
          </a:xfrm>
          <a:prstGeom prst="rect">
            <a:avLst/>
          </a:prstGeom>
          <a:solidFill>
            <a:schemeClr val="accent2"/>
          </a:solidFill>
          <a:ln w="12700">
            <a:solidFill>
              <a:schemeClr val="accent2"/>
            </a:solidFill>
            <a:prstDash val="solid"/>
          </a:ln>
        </p:spPr>
        <p:txBody>
          <a:bodyPr/>
          <a:lstStyle/>
          <a:p>
            <a:endParaRPr lang="en-DE"/>
          </a:p>
        </p:txBody>
      </p:sp>
      <p:sp>
        <p:nvSpPr>
          <p:cNvPr id="21" name="Text 19"/>
          <p:cNvSpPr txBox="1"/>
          <p:nvPr/>
        </p:nvSpPr>
        <p:spPr>
          <a:xfrm>
            <a:off x="2203704" y="2176272"/>
            <a:ext cx="1399032" cy="365760"/>
          </a:xfrm>
          <a:prstGeom prst="rect">
            <a:avLst/>
          </a:prstGeom>
          <a:noFill/>
          <a:ln/>
        </p:spPr>
        <p:txBody>
          <a:bodyPr wrap="square" lIns="0" tIns="0" rIns="0" bIns="0" rtlCol="0" anchor="ctr"/>
          <a:lstStyle/>
          <a:p>
            <a:pPr marL="0" indent="0" algn="ctr">
              <a:buNone/>
            </a:pPr>
            <a:r>
              <a:rPr lang="en-US" sz="1050" b="1" dirty="0">
                <a:solidFill>
                  <a:schemeClr val="tx2"/>
                </a:solidFill>
                <a:latin typeface="Calibri" pitchFamily="34" charset="0"/>
                <a:ea typeface="Calibri" pitchFamily="34" charset="-122"/>
                <a:cs typeface="Calibri" pitchFamily="34" charset="-120"/>
              </a:rPr>
              <a:t>Learn the ladder</a:t>
            </a:r>
            <a:endParaRPr lang="en-US" sz="1050" dirty="0"/>
          </a:p>
        </p:txBody>
      </p:sp>
      <p:sp>
        <p:nvSpPr>
          <p:cNvPr id="22" name="Shape 20"/>
          <p:cNvSpPr/>
          <p:nvPr/>
        </p:nvSpPr>
        <p:spPr>
          <a:xfrm>
            <a:off x="2148840" y="2587752"/>
            <a:ext cx="1508760" cy="365760"/>
          </a:xfrm>
          <a:prstGeom prst="rect">
            <a:avLst/>
          </a:prstGeom>
          <a:solidFill>
            <a:schemeClr val="accent2"/>
          </a:solidFill>
          <a:ln w="12700">
            <a:solidFill>
              <a:schemeClr val="accent2"/>
            </a:solidFill>
            <a:prstDash val="solid"/>
          </a:ln>
        </p:spPr>
        <p:txBody>
          <a:bodyPr/>
          <a:lstStyle/>
          <a:p>
            <a:endParaRPr lang="en-DE"/>
          </a:p>
        </p:txBody>
      </p:sp>
      <p:sp>
        <p:nvSpPr>
          <p:cNvPr id="23" name="Text 21"/>
          <p:cNvSpPr txBox="1"/>
          <p:nvPr/>
        </p:nvSpPr>
        <p:spPr>
          <a:xfrm>
            <a:off x="2203704" y="2587752"/>
            <a:ext cx="1399032" cy="365760"/>
          </a:xfrm>
          <a:prstGeom prst="rect">
            <a:avLst/>
          </a:prstGeom>
          <a:noFill/>
          <a:ln/>
        </p:spPr>
        <p:txBody>
          <a:bodyPr wrap="square" lIns="0" tIns="0" rIns="0" bIns="0" rtlCol="0" anchor="ctr"/>
          <a:lstStyle/>
          <a:p>
            <a:pPr marL="0" indent="0" algn="ctr">
              <a:buNone/>
            </a:pPr>
            <a:r>
              <a:rPr lang="en-US" sz="1050" b="1" dirty="0">
                <a:solidFill>
                  <a:schemeClr val="tx2"/>
                </a:solidFill>
                <a:latin typeface="Calibri" pitchFamily="34" charset="0"/>
                <a:ea typeface="Calibri" pitchFamily="34" charset="-122"/>
                <a:cs typeface="Calibri" pitchFamily="34" charset="-120"/>
              </a:rPr>
              <a:t>Practise triage</a:t>
            </a:r>
            <a:endParaRPr lang="en-US" sz="1050" dirty="0"/>
          </a:p>
        </p:txBody>
      </p:sp>
      <p:sp>
        <p:nvSpPr>
          <p:cNvPr id="24" name="Shape 22"/>
          <p:cNvSpPr/>
          <p:nvPr/>
        </p:nvSpPr>
        <p:spPr>
          <a:xfrm>
            <a:off x="3730752" y="2176272"/>
            <a:ext cx="1508760" cy="365760"/>
          </a:xfrm>
          <a:prstGeom prst="rect">
            <a:avLst/>
          </a:prstGeom>
          <a:solidFill>
            <a:schemeClr val="accent2"/>
          </a:solidFill>
          <a:ln w="12700">
            <a:solidFill>
              <a:schemeClr val="accent2"/>
            </a:solidFill>
            <a:prstDash val="solid"/>
          </a:ln>
        </p:spPr>
        <p:txBody>
          <a:bodyPr/>
          <a:lstStyle/>
          <a:p>
            <a:endParaRPr lang="en-DE"/>
          </a:p>
        </p:txBody>
      </p:sp>
      <p:sp>
        <p:nvSpPr>
          <p:cNvPr id="25" name="Text 23"/>
          <p:cNvSpPr txBox="1"/>
          <p:nvPr/>
        </p:nvSpPr>
        <p:spPr>
          <a:xfrm>
            <a:off x="3785616" y="2176272"/>
            <a:ext cx="1399032" cy="365760"/>
          </a:xfrm>
          <a:prstGeom prst="rect">
            <a:avLst/>
          </a:prstGeom>
          <a:noFill/>
          <a:ln/>
        </p:spPr>
        <p:txBody>
          <a:bodyPr wrap="square" lIns="0" tIns="0" rIns="0" bIns="0" rtlCol="0" anchor="ctr"/>
          <a:lstStyle/>
          <a:p>
            <a:pPr marL="0" indent="0" algn="ctr">
              <a:buNone/>
            </a:pPr>
            <a:r>
              <a:rPr lang="en-US" sz="1050" b="1" dirty="0">
                <a:solidFill>
                  <a:schemeClr val="tx2"/>
                </a:solidFill>
                <a:latin typeface="Calibri" pitchFamily="34" charset="0"/>
                <a:ea typeface="Calibri" pitchFamily="34" charset="-122"/>
                <a:cs typeface="Calibri" pitchFamily="34" charset="-120"/>
              </a:rPr>
              <a:t>Describe the task</a:t>
            </a:r>
            <a:endParaRPr lang="en-US" sz="1050" dirty="0"/>
          </a:p>
        </p:txBody>
      </p:sp>
      <p:sp>
        <p:nvSpPr>
          <p:cNvPr id="26" name="Shape 24"/>
          <p:cNvSpPr/>
          <p:nvPr/>
        </p:nvSpPr>
        <p:spPr>
          <a:xfrm>
            <a:off x="3730752" y="2587752"/>
            <a:ext cx="1508760" cy="365760"/>
          </a:xfrm>
          <a:prstGeom prst="rect">
            <a:avLst/>
          </a:prstGeom>
          <a:solidFill>
            <a:schemeClr val="accent2"/>
          </a:solidFill>
          <a:ln w="12700">
            <a:solidFill>
              <a:schemeClr val="accent2"/>
            </a:solidFill>
            <a:prstDash val="solid"/>
          </a:ln>
        </p:spPr>
        <p:txBody>
          <a:bodyPr/>
          <a:lstStyle/>
          <a:p>
            <a:endParaRPr lang="en-DE"/>
          </a:p>
        </p:txBody>
      </p:sp>
      <p:sp>
        <p:nvSpPr>
          <p:cNvPr id="27" name="Text 25"/>
          <p:cNvSpPr txBox="1"/>
          <p:nvPr/>
        </p:nvSpPr>
        <p:spPr>
          <a:xfrm>
            <a:off x="3785616" y="2587752"/>
            <a:ext cx="1399032" cy="365760"/>
          </a:xfrm>
          <a:prstGeom prst="rect">
            <a:avLst/>
          </a:prstGeom>
          <a:noFill/>
          <a:ln/>
        </p:spPr>
        <p:txBody>
          <a:bodyPr wrap="square" lIns="0" tIns="0" rIns="0" bIns="0" rtlCol="0" anchor="ctr"/>
          <a:lstStyle/>
          <a:p>
            <a:pPr marL="0" indent="0" algn="ctr">
              <a:buNone/>
            </a:pPr>
            <a:r>
              <a:rPr lang="en-US" sz="1050" b="1" dirty="0">
                <a:solidFill>
                  <a:schemeClr val="tx2"/>
                </a:solidFill>
                <a:latin typeface="Calibri" pitchFamily="34" charset="0"/>
                <a:ea typeface="Calibri" pitchFamily="34" charset="-122"/>
                <a:cs typeface="Calibri" pitchFamily="34" charset="-120"/>
              </a:rPr>
              <a:t>Apply the triage</a:t>
            </a:r>
            <a:endParaRPr lang="en-US" sz="1050" dirty="0"/>
          </a:p>
        </p:txBody>
      </p:sp>
      <p:sp>
        <p:nvSpPr>
          <p:cNvPr id="28" name="Shape 26"/>
          <p:cNvSpPr/>
          <p:nvPr/>
        </p:nvSpPr>
        <p:spPr>
          <a:xfrm>
            <a:off x="5312664" y="2176272"/>
            <a:ext cx="1508760" cy="365760"/>
          </a:xfrm>
          <a:prstGeom prst="rect">
            <a:avLst/>
          </a:prstGeom>
          <a:solidFill>
            <a:schemeClr val="accent2"/>
          </a:solidFill>
          <a:ln w="12700">
            <a:solidFill>
              <a:schemeClr val="accent2"/>
            </a:solidFill>
            <a:prstDash val="solid"/>
          </a:ln>
        </p:spPr>
        <p:txBody>
          <a:bodyPr/>
          <a:lstStyle/>
          <a:p>
            <a:endParaRPr lang="en-DE"/>
          </a:p>
        </p:txBody>
      </p:sp>
      <p:sp>
        <p:nvSpPr>
          <p:cNvPr id="29" name="Text 27"/>
          <p:cNvSpPr txBox="1"/>
          <p:nvPr/>
        </p:nvSpPr>
        <p:spPr>
          <a:xfrm>
            <a:off x="5367528" y="2176272"/>
            <a:ext cx="1399032" cy="365760"/>
          </a:xfrm>
          <a:prstGeom prst="rect">
            <a:avLst/>
          </a:prstGeom>
          <a:noFill/>
          <a:ln/>
        </p:spPr>
        <p:txBody>
          <a:bodyPr wrap="square" lIns="0" tIns="0" rIns="0" bIns="0" rtlCol="0" anchor="ctr"/>
          <a:lstStyle/>
          <a:p>
            <a:pPr marL="0" indent="0" algn="ctr">
              <a:buNone/>
            </a:pPr>
            <a:r>
              <a:rPr lang="en-US" sz="1050" b="1" dirty="0">
                <a:solidFill>
                  <a:schemeClr val="tx2"/>
                </a:solidFill>
                <a:latin typeface="Calibri" pitchFamily="34" charset="0"/>
                <a:ea typeface="Calibri" pitchFamily="34" charset="-122"/>
                <a:cs typeface="Calibri" pitchFamily="34" charset="-120"/>
              </a:rPr>
              <a:t>Build on the platform</a:t>
            </a:r>
            <a:endParaRPr lang="en-US" sz="1050" dirty="0"/>
          </a:p>
        </p:txBody>
      </p:sp>
      <p:sp>
        <p:nvSpPr>
          <p:cNvPr id="30" name="Shape 28"/>
          <p:cNvSpPr/>
          <p:nvPr/>
        </p:nvSpPr>
        <p:spPr>
          <a:xfrm>
            <a:off x="5312664" y="2587752"/>
            <a:ext cx="1508760" cy="365760"/>
          </a:xfrm>
          <a:prstGeom prst="rect">
            <a:avLst/>
          </a:prstGeom>
          <a:solidFill>
            <a:schemeClr val="accent2"/>
          </a:solidFill>
          <a:ln w="12700">
            <a:solidFill>
              <a:schemeClr val="accent2"/>
            </a:solidFill>
            <a:prstDash val="solid"/>
          </a:ln>
        </p:spPr>
        <p:txBody>
          <a:bodyPr/>
          <a:lstStyle/>
          <a:p>
            <a:endParaRPr lang="en-DE"/>
          </a:p>
        </p:txBody>
      </p:sp>
      <p:sp>
        <p:nvSpPr>
          <p:cNvPr id="31" name="Text 29"/>
          <p:cNvSpPr txBox="1"/>
          <p:nvPr/>
        </p:nvSpPr>
        <p:spPr>
          <a:xfrm>
            <a:off x="5367528" y="2587752"/>
            <a:ext cx="1399032" cy="365760"/>
          </a:xfrm>
          <a:prstGeom prst="rect">
            <a:avLst/>
          </a:prstGeom>
          <a:noFill/>
          <a:ln/>
        </p:spPr>
        <p:txBody>
          <a:bodyPr wrap="square" lIns="0" tIns="0" rIns="0" bIns="0" rtlCol="0" anchor="ctr"/>
          <a:lstStyle/>
          <a:p>
            <a:pPr marL="0" indent="0" algn="ctr">
              <a:buNone/>
            </a:pPr>
            <a:r>
              <a:rPr lang="en-US" sz="1050" b="1" dirty="0">
                <a:solidFill>
                  <a:schemeClr val="tx2"/>
                </a:solidFill>
                <a:latin typeface="Calibri" pitchFamily="34" charset="0"/>
                <a:ea typeface="Calibri" pitchFamily="34" charset="-122"/>
                <a:cs typeface="Calibri" pitchFamily="34" charset="-120"/>
              </a:rPr>
              <a:t>Note why an agent</a:t>
            </a:r>
            <a:endParaRPr lang="en-US" sz="1050" dirty="0"/>
          </a:p>
        </p:txBody>
      </p:sp>
      <p:sp>
        <p:nvSpPr>
          <p:cNvPr id="32" name="Shape 30"/>
          <p:cNvSpPr/>
          <p:nvPr/>
        </p:nvSpPr>
        <p:spPr>
          <a:xfrm>
            <a:off x="6894576" y="2176272"/>
            <a:ext cx="1508760" cy="365760"/>
          </a:xfrm>
          <a:prstGeom prst="rect">
            <a:avLst/>
          </a:prstGeom>
          <a:solidFill>
            <a:schemeClr val="accent2"/>
          </a:solidFill>
          <a:ln w="12700">
            <a:solidFill>
              <a:schemeClr val="accent2"/>
            </a:solidFill>
            <a:prstDash val="solid"/>
          </a:ln>
        </p:spPr>
        <p:txBody>
          <a:bodyPr/>
          <a:lstStyle/>
          <a:p>
            <a:endParaRPr lang="en-DE"/>
          </a:p>
        </p:txBody>
      </p:sp>
      <p:sp>
        <p:nvSpPr>
          <p:cNvPr id="33" name="Text 31"/>
          <p:cNvSpPr txBox="1"/>
          <p:nvPr/>
        </p:nvSpPr>
        <p:spPr>
          <a:xfrm>
            <a:off x="6949440" y="2176272"/>
            <a:ext cx="1399032" cy="365760"/>
          </a:xfrm>
          <a:prstGeom prst="rect">
            <a:avLst/>
          </a:prstGeom>
          <a:noFill/>
          <a:ln/>
        </p:spPr>
        <p:txBody>
          <a:bodyPr wrap="square" lIns="0" tIns="0" rIns="0" bIns="0" rtlCol="0" anchor="ctr"/>
          <a:lstStyle/>
          <a:p>
            <a:pPr marL="0" indent="0" algn="ctr">
              <a:buNone/>
            </a:pPr>
            <a:r>
              <a:rPr lang="en-US" sz="1050" b="1" dirty="0">
                <a:solidFill>
                  <a:schemeClr val="tx2"/>
                </a:solidFill>
                <a:latin typeface="Calibri" pitchFamily="34" charset="0"/>
                <a:ea typeface="Calibri" pitchFamily="34" charset="-122"/>
                <a:cs typeface="Calibri" pitchFamily="34" charset="-120"/>
              </a:rPr>
              <a:t>Handle requests</a:t>
            </a:r>
            <a:endParaRPr lang="en-US" sz="1050" dirty="0"/>
          </a:p>
        </p:txBody>
      </p:sp>
      <p:sp>
        <p:nvSpPr>
          <p:cNvPr id="34" name="Shape 32"/>
          <p:cNvSpPr/>
          <p:nvPr/>
        </p:nvSpPr>
        <p:spPr>
          <a:xfrm>
            <a:off x="6894576" y="2587752"/>
            <a:ext cx="1508760" cy="365760"/>
          </a:xfrm>
          <a:prstGeom prst="rect">
            <a:avLst/>
          </a:prstGeom>
          <a:solidFill>
            <a:schemeClr val="accent2"/>
          </a:solidFill>
          <a:ln w="12700">
            <a:solidFill>
              <a:schemeClr val="accent2"/>
            </a:solidFill>
            <a:prstDash val="solid"/>
          </a:ln>
        </p:spPr>
        <p:txBody>
          <a:bodyPr/>
          <a:lstStyle/>
          <a:p>
            <a:endParaRPr lang="en-DE"/>
          </a:p>
        </p:txBody>
      </p:sp>
      <p:sp>
        <p:nvSpPr>
          <p:cNvPr id="35" name="Text 33"/>
          <p:cNvSpPr txBox="1"/>
          <p:nvPr/>
        </p:nvSpPr>
        <p:spPr>
          <a:xfrm>
            <a:off x="6949440" y="2587752"/>
            <a:ext cx="1399032" cy="365760"/>
          </a:xfrm>
          <a:prstGeom prst="rect">
            <a:avLst/>
          </a:prstGeom>
          <a:noFill/>
          <a:ln/>
        </p:spPr>
        <p:txBody>
          <a:bodyPr wrap="square" lIns="0" tIns="0" rIns="0" bIns="0" rtlCol="0" anchor="ctr"/>
          <a:lstStyle/>
          <a:p>
            <a:pPr marL="0" indent="0" algn="ctr">
              <a:buNone/>
            </a:pPr>
            <a:r>
              <a:rPr lang="en-US" sz="1050" b="1" dirty="0">
                <a:solidFill>
                  <a:schemeClr val="tx2"/>
                </a:solidFill>
                <a:latin typeface="Calibri" pitchFamily="34" charset="0"/>
                <a:ea typeface="Calibri" pitchFamily="34" charset="-122"/>
                <a:cs typeface="Calibri" pitchFamily="34" charset="-120"/>
              </a:rPr>
              <a:t>Escalate exceptions</a:t>
            </a:r>
            <a:endParaRPr lang="en-US" sz="1050" dirty="0"/>
          </a:p>
        </p:txBody>
      </p:sp>
      <p:sp>
        <p:nvSpPr>
          <p:cNvPr id="36" name="Shape 34"/>
          <p:cNvSpPr/>
          <p:nvPr/>
        </p:nvSpPr>
        <p:spPr>
          <a:xfrm>
            <a:off x="8476488" y="2176272"/>
            <a:ext cx="1508760" cy="365760"/>
          </a:xfrm>
          <a:prstGeom prst="rect">
            <a:avLst/>
          </a:prstGeom>
          <a:solidFill>
            <a:schemeClr val="accent2"/>
          </a:solidFill>
          <a:ln w="12700">
            <a:solidFill>
              <a:schemeClr val="accent2"/>
            </a:solidFill>
            <a:prstDash val="solid"/>
          </a:ln>
        </p:spPr>
        <p:txBody>
          <a:bodyPr/>
          <a:lstStyle/>
          <a:p>
            <a:endParaRPr lang="en-DE"/>
          </a:p>
        </p:txBody>
      </p:sp>
      <p:sp>
        <p:nvSpPr>
          <p:cNvPr id="37" name="Text 35"/>
          <p:cNvSpPr txBox="1"/>
          <p:nvPr/>
        </p:nvSpPr>
        <p:spPr>
          <a:xfrm>
            <a:off x="8531352" y="2176272"/>
            <a:ext cx="1399032" cy="365760"/>
          </a:xfrm>
          <a:prstGeom prst="rect">
            <a:avLst/>
          </a:prstGeom>
          <a:noFill/>
          <a:ln/>
        </p:spPr>
        <p:txBody>
          <a:bodyPr wrap="square" lIns="0" tIns="0" rIns="0" bIns="0" rtlCol="0" anchor="ctr"/>
          <a:lstStyle/>
          <a:p>
            <a:pPr marL="0" indent="0" algn="ctr">
              <a:buNone/>
            </a:pPr>
            <a:r>
              <a:rPr lang="en-US" sz="1050" b="1" dirty="0">
                <a:solidFill>
                  <a:schemeClr val="tx2"/>
                </a:solidFill>
                <a:latin typeface="Calibri" pitchFamily="34" charset="0"/>
                <a:ea typeface="Calibri" pitchFamily="34" charset="-122"/>
                <a:cs typeface="Calibri" pitchFamily="34" charset="-120"/>
              </a:rPr>
              <a:t>Check the dashboard</a:t>
            </a:r>
            <a:endParaRPr lang="en-US" sz="1050" dirty="0"/>
          </a:p>
        </p:txBody>
      </p:sp>
      <p:sp>
        <p:nvSpPr>
          <p:cNvPr id="38" name="Shape 36"/>
          <p:cNvSpPr/>
          <p:nvPr/>
        </p:nvSpPr>
        <p:spPr>
          <a:xfrm>
            <a:off x="8476488" y="2587752"/>
            <a:ext cx="1508760" cy="365760"/>
          </a:xfrm>
          <a:prstGeom prst="rect">
            <a:avLst/>
          </a:prstGeom>
          <a:solidFill>
            <a:schemeClr val="accent2"/>
          </a:solidFill>
          <a:ln w="12700">
            <a:solidFill>
              <a:schemeClr val="accent2"/>
            </a:solidFill>
            <a:prstDash val="solid"/>
          </a:ln>
        </p:spPr>
        <p:txBody>
          <a:bodyPr/>
          <a:lstStyle/>
          <a:p>
            <a:endParaRPr lang="en-DE"/>
          </a:p>
        </p:txBody>
      </p:sp>
      <p:sp>
        <p:nvSpPr>
          <p:cNvPr id="39" name="Text 37"/>
          <p:cNvSpPr txBox="1"/>
          <p:nvPr/>
        </p:nvSpPr>
        <p:spPr>
          <a:xfrm>
            <a:off x="8531352" y="2587752"/>
            <a:ext cx="1399032" cy="365760"/>
          </a:xfrm>
          <a:prstGeom prst="rect">
            <a:avLst/>
          </a:prstGeom>
          <a:noFill/>
          <a:ln/>
        </p:spPr>
        <p:txBody>
          <a:bodyPr wrap="square" lIns="0" tIns="0" rIns="0" bIns="0" rtlCol="0" anchor="ctr"/>
          <a:lstStyle/>
          <a:p>
            <a:pPr marL="0" indent="0" algn="ctr">
              <a:buNone/>
            </a:pPr>
            <a:r>
              <a:rPr lang="en-US" sz="1050" b="1" dirty="0">
                <a:solidFill>
                  <a:schemeClr val="tx2"/>
                </a:solidFill>
                <a:latin typeface="Calibri" pitchFamily="34" charset="0"/>
                <a:ea typeface="Calibri" pitchFamily="34" charset="-122"/>
                <a:cs typeface="Calibri" pitchFamily="34" charset="-120"/>
              </a:rPr>
              <a:t>Act on flags</a:t>
            </a:r>
            <a:endParaRPr lang="en-US" sz="1050" dirty="0"/>
          </a:p>
        </p:txBody>
      </p:sp>
      <p:sp>
        <p:nvSpPr>
          <p:cNvPr id="40" name="Shape 38"/>
          <p:cNvSpPr/>
          <p:nvPr/>
        </p:nvSpPr>
        <p:spPr>
          <a:xfrm>
            <a:off x="10058400" y="2176272"/>
            <a:ext cx="1508760" cy="365760"/>
          </a:xfrm>
          <a:prstGeom prst="rect">
            <a:avLst/>
          </a:prstGeom>
          <a:solidFill>
            <a:schemeClr val="accent2"/>
          </a:solidFill>
          <a:ln w="12700">
            <a:solidFill>
              <a:schemeClr val="accent2"/>
            </a:solidFill>
            <a:prstDash val="solid"/>
          </a:ln>
        </p:spPr>
        <p:txBody>
          <a:bodyPr/>
          <a:lstStyle/>
          <a:p>
            <a:endParaRPr lang="en-DE"/>
          </a:p>
        </p:txBody>
      </p:sp>
      <p:sp>
        <p:nvSpPr>
          <p:cNvPr id="41" name="Text 39"/>
          <p:cNvSpPr txBox="1"/>
          <p:nvPr/>
        </p:nvSpPr>
        <p:spPr>
          <a:xfrm>
            <a:off x="10113264" y="2176272"/>
            <a:ext cx="1399032" cy="365760"/>
          </a:xfrm>
          <a:prstGeom prst="rect">
            <a:avLst/>
          </a:prstGeom>
          <a:noFill/>
          <a:ln/>
        </p:spPr>
        <p:txBody>
          <a:bodyPr wrap="square" lIns="0" tIns="0" rIns="0" bIns="0" rtlCol="0" anchor="ctr"/>
          <a:lstStyle/>
          <a:p>
            <a:pPr marL="0" indent="0" algn="ctr">
              <a:buNone/>
            </a:pPr>
            <a:r>
              <a:rPr lang="en-US" sz="1050" b="1" dirty="0">
                <a:solidFill>
                  <a:schemeClr val="tx2"/>
                </a:solidFill>
                <a:latin typeface="Calibri" pitchFamily="34" charset="0"/>
                <a:ea typeface="Calibri" pitchFamily="34" charset="-122"/>
                <a:cs typeface="Calibri" pitchFamily="34" charset="-120"/>
              </a:rPr>
              <a:t>Convert to workflow</a:t>
            </a:r>
            <a:endParaRPr lang="en-US" sz="1050" dirty="0"/>
          </a:p>
        </p:txBody>
      </p:sp>
      <p:sp>
        <p:nvSpPr>
          <p:cNvPr id="42" name="Shape 40"/>
          <p:cNvSpPr/>
          <p:nvPr/>
        </p:nvSpPr>
        <p:spPr>
          <a:xfrm>
            <a:off x="10058400" y="2587752"/>
            <a:ext cx="1508760" cy="365760"/>
          </a:xfrm>
          <a:prstGeom prst="rect">
            <a:avLst/>
          </a:prstGeom>
          <a:solidFill>
            <a:schemeClr val="accent2"/>
          </a:solidFill>
          <a:ln w="12700">
            <a:solidFill>
              <a:schemeClr val="accent2"/>
            </a:solidFill>
            <a:prstDash val="solid"/>
          </a:ln>
        </p:spPr>
        <p:txBody>
          <a:bodyPr/>
          <a:lstStyle/>
          <a:p>
            <a:endParaRPr lang="en-DE"/>
          </a:p>
        </p:txBody>
      </p:sp>
      <p:sp>
        <p:nvSpPr>
          <p:cNvPr id="43" name="Text 41"/>
          <p:cNvSpPr txBox="1"/>
          <p:nvPr/>
        </p:nvSpPr>
        <p:spPr>
          <a:xfrm>
            <a:off x="10113264" y="2587752"/>
            <a:ext cx="1399032" cy="365760"/>
          </a:xfrm>
          <a:prstGeom prst="rect">
            <a:avLst/>
          </a:prstGeom>
          <a:noFill/>
          <a:ln/>
        </p:spPr>
        <p:txBody>
          <a:bodyPr wrap="square" lIns="0" tIns="0" rIns="0" bIns="0" rtlCol="0" anchor="ctr"/>
          <a:lstStyle/>
          <a:p>
            <a:pPr marL="0" indent="0" algn="ctr">
              <a:buNone/>
            </a:pPr>
            <a:r>
              <a:rPr lang="en-US" sz="1050" b="1" dirty="0">
                <a:solidFill>
                  <a:schemeClr val="tx2"/>
                </a:solidFill>
                <a:latin typeface="Calibri" pitchFamily="34" charset="0"/>
                <a:ea typeface="Calibri" pitchFamily="34" charset="-122"/>
                <a:cs typeface="Calibri" pitchFamily="34" charset="-120"/>
              </a:rPr>
              <a:t>Retire agent</a:t>
            </a:r>
            <a:endParaRPr lang="en-US" sz="1050" dirty="0"/>
          </a:p>
        </p:txBody>
      </p:sp>
      <p:sp>
        <p:nvSpPr>
          <p:cNvPr id="44" name="Shape 42"/>
          <p:cNvSpPr/>
          <p:nvPr/>
        </p:nvSpPr>
        <p:spPr>
          <a:xfrm>
            <a:off x="548640" y="3090672"/>
            <a:ext cx="11091672" cy="0"/>
          </a:xfrm>
          <a:prstGeom prst="line">
            <a:avLst/>
          </a:prstGeom>
          <a:noFill/>
          <a:ln w="15875">
            <a:solidFill>
              <a:schemeClr val="accent1"/>
            </a:solidFill>
            <a:prstDash val="dash"/>
          </a:ln>
        </p:spPr>
        <p:txBody>
          <a:bodyPr/>
          <a:lstStyle/>
          <a:p>
            <a:endParaRPr lang="en-DE"/>
          </a:p>
        </p:txBody>
      </p:sp>
      <p:sp>
        <p:nvSpPr>
          <p:cNvPr id="45" name="Text 43"/>
          <p:cNvSpPr txBox="1"/>
          <p:nvPr/>
        </p:nvSpPr>
        <p:spPr>
          <a:xfrm>
            <a:off x="548640" y="3154680"/>
            <a:ext cx="1554480" cy="896112"/>
          </a:xfrm>
          <a:prstGeom prst="rect">
            <a:avLst/>
          </a:prstGeom>
          <a:noFill/>
          <a:ln/>
        </p:spPr>
        <p:txBody>
          <a:bodyPr wrap="square" lIns="0" tIns="0" rIns="0" bIns="0" rtlCol="0" anchor="t"/>
          <a:lstStyle/>
          <a:p>
            <a:pPr marL="0" indent="0">
              <a:buNone/>
            </a:pPr>
            <a:r>
              <a:rPr lang="en-US" sz="1300" b="1" dirty="0">
                <a:solidFill>
                  <a:schemeClr val="accent1"/>
                </a:solidFill>
                <a:latin typeface="Calibri" pitchFamily="34" charset="0"/>
                <a:ea typeface="Calibri" pitchFamily="34" charset="-122"/>
                <a:cs typeface="Calibri" pitchFamily="34" charset="-120"/>
              </a:rPr>
              <a:t>R1  </a:t>
            </a:r>
            <a:r>
              <a:rPr lang="en-US" sz="1050" b="1" dirty="0">
                <a:solidFill>
                  <a:schemeClr val="tx1"/>
                </a:solidFill>
                <a:latin typeface="Calibri" pitchFamily="34" charset="0"/>
                <a:ea typeface="Calibri" pitchFamily="34" charset="-122"/>
                <a:cs typeface="Calibri" pitchFamily="34" charset="-120"/>
              </a:rPr>
              <a:t>Walking skeleton</a:t>
            </a:r>
            <a:endParaRPr lang="en-US" sz="1300" dirty="0"/>
          </a:p>
          <a:p>
            <a:pPr marL="0" indent="0">
              <a:buNone/>
            </a:pPr>
            <a:r>
              <a:rPr lang="en-US" sz="950" dirty="0">
                <a:solidFill>
                  <a:srgbClr val="5E6E6A"/>
                </a:solidFill>
                <a:latin typeface="Calibri" pitchFamily="34" charset="0"/>
                <a:ea typeface="Calibri" pitchFamily="34" charset="-122"/>
                <a:cs typeface="Calibri" pitchFamily="34" charset="-120"/>
              </a:rPr>
              <a:t>Learn &amp; see</a:t>
            </a:r>
            <a:endParaRPr lang="en-US" sz="1300" dirty="0"/>
          </a:p>
        </p:txBody>
      </p:sp>
      <p:sp>
        <p:nvSpPr>
          <p:cNvPr id="46" name="Shape 44"/>
          <p:cNvSpPr/>
          <p:nvPr/>
        </p:nvSpPr>
        <p:spPr>
          <a:xfrm>
            <a:off x="2148840" y="3154680"/>
            <a:ext cx="1508760" cy="365760"/>
          </a:xfrm>
          <a:prstGeom prst="rect">
            <a:avLst/>
          </a:prstGeom>
          <a:solidFill>
            <a:schemeClr val="accent5"/>
          </a:solidFill>
          <a:ln w="12700">
            <a:solidFill>
              <a:schemeClr val="accent5"/>
            </a:solidFill>
            <a:prstDash val="solid"/>
          </a:ln>
          <a:effectLst>
            <a:outerShdw blurRad="50800" dist="25400" dir="5400000" algn="bl" rotWithShape="0">
              <a:srgbClr val="000000">
                <a:alpha val="15000"/>
              </a:srgbClr>
            </a:outerShdw>
          </a:effectLst>
        </p:spPr>
        <p:txBody>
          <a:bodyPr/>
          <a:lstStyle/>
          <a:p>
            <a:endParaRPr lang="en-DE"/>
          </a:p>
        </p:txBody>
      </p:sp>
      <p:sp>
        <p:nvSpPr>
          <p:cNvPr id="47" name="Text 45"/>
          <p:cNvSpPr txBox="1"/>
          <p:nvPr/>
        </p:nvSpPr>
        <p:spPr>
          <a:xfrm>
            <a:off x="2203704" y="3154680"/>
            <a:ext cx="1399032" cy="365760"/>
          </a:xfrm>
          <a:prstGeom prst="rect">
            <a:avLst/>
          </a:prstGeom>
          <a:noFill/>
          <a:ln/>
        </p:spPr>
        <p:txBody>
          <a:bodyPr wrap="square" lIns="0" tIns="0" rIns="0" bIns="0" rtlCol="0" anchor="ctr">
            <a:normAutofit/>
          </a:bodyPr>
          <a:lstStyle/>
          <a:p>
            <a:pPr marL="0" indent="0">
              <a:buNone/>
            </a:pPr>
            <a:r>
              <a:rPr lang="en-US" sz="950" dirty="0">
                <a:solidFill>
                  <a:schemeClr val="tx1"/>
                </a:solidFill>
                <a:latin typeface="Calibri" pitchFamily="34" charset="0"/>
                <a:ea typeface="Calibri" pitchFamily="34" charset="-122"/>
                <a:cs typeface="Calibri" pitchFamily="34" charset="-120"/>
              </a:rPr>
              <a:t>Ladder module with recruiting cases</a:t>
            </a:r>
            <a:endParaRPr lang="en-US" sz="950" dirty="0"/>
          </a:p>
        </p:txBody>
      </p:sp>
      <p:sp>
        <p:nvSpPr>
          <p:cNvPr id="48" name="Shape 46"/>
          <p:cNvSpPr/>
          <p:nvPr/>
        </p:nvSpPr>
        <p:spPr>
          <a:xfrm>
            <a:off x="2148840" y="3566160"/>
            <a:ext cx="1508760" cy="365760"/>
          </a:xfrm>
          <a:prstGeom prst="rect">
            <a:avLst/>
          </a:prstGeom>
          <a:solidFill>
            <a:schemeClr val="accent5"/>
          </a:solidFill>
          <a:ln w="12700">
            <a:solidFill>
              <a:schemeClr val="accent5"/>
            </a:solidFill>
            <a:prstDash val="solid"/>
          </a:ln>
          <a:effectLst>
            <a:outerShdw blurRad="50800" dist="25400" dir="5400000" algn="bl" rotWithShape="0">
              <a:srgbClr val="000000">
                <a:alpha val="15000"/>
              </a:srgbClr>
            </a:outerShdw>
          </a:effectLst>
        </p:spPr>
        <p:txBody>
          <a:bodyPr/>
          <a:lstStyle/>
          <a:p>
            <a:endParaRPr lang="en-DE"/>
          </a:p>
        </p:txBody>
      </p:sp>
      <p:sp>
        <p:nvSpPr>
          <p:cNvPr id="49" name="Text 47"/>
          <p:cNvSpPr txBox="1"/>
          <p:nvPr/>
        </p:nvSpPr>
        <p:spPr>
          <a:xfrm>
            <a:off x="2203704" y="3566160"/>
            <a:ext cx="1399032" cy="365760"/>
          </a:xfrm>
          <a:prstGeom prst="rect">
            <a:avLst/>
          </a:prstGeom>
          <a:noFill/>
          <a:ln/>
        </p:spPr>
        <p:txBody>
          <a:bodyPr wrap="square" lIns="0" tIns="0" rIns="0" bIns="0" rtlCol="0" anchor="ctr">
            <a:normAutofit/>
          </a:bodyPr>
          <a:lstStyle/>
          <a:p>
            <a:pPr marL="0" indent="0">
              <a:buNone/>
            </a:pPr>
            <a:r>
              <a:rPr lang="en-US" sz="950" dirty="0">
                <a:solidFill>
                  <a:schemeClr val="tx1"/>
                </a:solidFill>
                <a:latin typeface="Calibri" pitchFamily="34" charset="0"/>
                <a:ea typeface="Calibri" pitchFamily="34" charset="-122"/>
                <a:cs typeface="Calibri" pitchFamily="34" charset="-120"/>
              </a:rPr>
              <a:t>Triage cheat sheet</a:t>
            </a:r>
            <a:endParaRPr lang="en-US" sz="950" dirty="0"/>
          </a:p>
        </p:txBody>
      </p:sp>
      <p:sp>
        <p:nvSpPr>
          <p:cNvPr id="50" name="Shape 48"/>
          <p:cNvSpPr/>
          <p:nvPr/>
        </p:nvSpPr>
        <p:spPr>
          <a:xfrm>
            <a:off x="3730752" y="3154680"/>
            <a:ext cx="1508760" cy="365760"/>
          </a:xfrm>
          <a:prstGeom prst="rect">
            <a:avLst/>
          </a:prstGeom>
          <a:solidFill>
            <a:schemeClr val="accent5"/>
          </a:solidFill>
          <a:ln w="12700">
            <a:solidFill>
              <a:schemeClr val="accent5"/>
            </a:solidFill>
            <a:prstDash val="solid"/>
          </a:ln>
          <a:effectLst>
            <a:outerShdw blurRad="50800" dist="25400" dir="5400000" algn="bl" rotWithShape="0">
              <a:srgbClr val="000000">
                <a:alpha val="15000"/>
              </a:srgbClr>
            </a:outerShdw>
          </a:effectLst>
        </p:spPr>
        <p:txBody>
          <a:bodyPr/>
          <a:lstStyle/>
          <a:p>
            <a:endParaRPr lang="en-DE"/>
          </a:p>
        </p:txBody>
      </p:sp>
      <p:sp>
        <p:nvSpPr>
          <p:cNvPr id="51" name="Text 49"/>
          <p:cNvSpPr txBox="1"/>
          <p:nvPr/>
        </p:nvSpPr>
        <p:spPr>
          <a:xfrm>
            <a:off x="3785616" y="3154680"/>
            <a:ext cx="1399032" cy="365760"/>
          </a:xfrm>
          <a:prstGeom prst="rect">
            <a:avLst/>
          </a:prstGeom>
          <a:noFill/>
          <a:ln/>
        </p:spPr>
        <p:txBody>
          <a:bodyPr wrap="square" lIns="0" tIns="0" rIns="0" bIns="0" rtlCol="0" anchor="ctr">
            <a:normAutofit/>
          </a:bodyPr>
          <a:lstStyle/>
          <a:p>
            <a:pPr marL="0" indent="0">
              <a:buNone/>
            </a:pPr>
            <a:r>
              <a:rPr lang="en-US" sz="950" dirty="0">
                <a:solidFill>
                  <a:schemeClr val="tx1"/>
                </a:solidFill>
                <a:latin typeface="Calibri" pitchFamily="34" charset="0"/>
                <a:ea typeface="Calibri" pitchFamily="34" charset="-122"/>
                <a:cs typeface="Calibri" pitchFamily="34" charset="-120"/>
              </a:rPr>
              <a:t>Triage questions on one page</a:t>
            </a:r>
            <a:endParaRPr lang="en-US" sz="950" dirty="0"/>
          </a:p>
        </p:txBody>
      </p:sp>
      <p:sp>
        <p:nvSpPr>
          <p:cNvPr id="52" name="Shape 50"/>
          <p:cNvSpPr/>
          <p:nvPr/>
        </p:nvSpPr>
        <p:spPr>
          <a:xfrm>
            <a:off x="5312664" y="3154680"/>
            <a:ext cx="1508760" cy="365760"/>
          </a:xfrm>
          <a:prstGeom prst="rect">
            <a:avLst/>
          </a:prstGeom>
          <a:solidFill>
            <a:schemeClr val="accent5"/>
          </a:solidFill>
          <a:ln w="12700">
            <a:solidFill>
              <a:schemeClr val="accent5"/>
            </a:solidFill>
            <a:prstDash val="solid"/>
          </a:ln>
          <a:effectLst>
            <a:outerShdw blurRad="50800" dist="25400" dir="5400000" algn="bl" rotWithShape="0">
              <a:srgbClr val="000000">
                <a:alpha val="15000"/>
              </a:srgbClr>
            </a:outerShdw>
          </a:effectLst>
        </p:spPr>
        <p:txBody>
          <a:bodyPr/>
          <a:lstStyle/>
          <a:p>
            <a:endParaRPr lang="en-DE"/>
          </a:p>
        </p:txBody>
      </p:sp>
      <p:sp>
        <p:nvSpPr>
          <p:cNvPr id="53" name="Text 51"/>
          <p:cNvSpPr txBox="1"/>
          <p:nvPr/>
        </p:nvSpPr>
        <p:spPr>
          <a:xfrm>
            <a:off x="5367528" y="3154680"/>
            <a:ext cx="1399032" cy="365760"/>
          </a:xfrm>
          <a:prstGeom prst="rect">
            <a:avLst/>
          </a:prstGeom>
          <a:noFill/>
          <a:ln/>
        </p:spPr>
        <p:txBody>
          <a:bodyPr wrap="square" lIns="0" tIns="0" rIns="0" bIns="0" rtlCol="0" anchor="ctr">
            <a:normAutofit/>
          </a:bodyPr>
          <a:lstStyle/>
          <a:p>
            <a:pPr marL="0" indent="0">
              <a:buNone/>
            </a:pPr>
            <a:r>
              <a:rPr lang="en-US" sz="950" dirty="0">
                <a:solidFill>
                  <a:schemeClr val="tx1"/>
                </a:solidFill>
                <a:latin typeface="Calibri" pitchFamily="34" charset="0"/>
                <a:ea typeface="Calibri" pitchFamily="34" charset="-122"/>
                <a:cs typeface="Calibri" pitchFamily="34" charset="-120"/>
              </a:rPr>
              <a:t>One-line reason when choosing an agent</a:t>
            </a:r>
            <a:endParaRPr lang="en-US" sz="950" dirty="0"/>
          </a:p>
        </p:txBody>
      </p:sp>
      <p:sp>
        <p:nvSpPr>
          <p:cNvPr id="54" name="Shape 52"/>
          <p:cNvSpPr/>
          <p:nvPr/>
        </p:nvSpPr>
        <p:spPr>
          <a:xfrm>
            <a:off x="6894576" y="3154680"/>
            <a:ext cx="1508760" cy="365760"/>
          </a:xfrm>
          <a:prstGeom prst="rect">
            <a:avLst/>
          </a:prstGeom>
          <a:solidFill>
            <a:schemeClr val="accent5"/>
          </a:solidFill>
          <a:ln w="12700">
            <a:solidFill>
              <a:schemeClr val="accent5"/>
            </a:solidFill>
            <a:prstDash val="solid"/>
          </a:ln>
          <a:effectLst>
            <a:outerShdw blurRad="50800" dist="25400" dir="5400000" algn="bl" rotWithShape="0">
              <a:srgbClr val="000000">
                <a:alpha val="15000"/>
              </a:srgbClr>
            </a:outerShdw>
          </a:effectLst>
        </p:spPr>
        <p:txBody>
          <a:bodyPr/>
          <a:lstStyle/>
          <a:p>
            <a:endParaRPr lang="en-DE"/>
          </a:p>
        </p:txBody>
      </p:sp>
      <p:sp>
        <p:nvSpPr>
          <p:cNvPr id="55" name="Text 53"/>
          <p:cNvSpPr txBox="1"/>
          <p:nvPr/>
        </p:nvSpPr>
        <p:spPr>
          <a:xfrm>
            <a:off x="6949440" y="3154680"/>
            <a:ext cx="1399032" cy="365760"/>
          </a:xfrm>
          <a:prstGeom prst="rect">
            <a:avLst/>
          </a:prstGeom>
          <a:noFill/>
          <a:ln/>
        </p:spPr>
        <p:txBody>
          <a:bodyPr wrap="square" lIns="0" tIns="0" rIns="0" bIns="0" rtlCol="0" anchor="ctr">
            <a:normAutofit/>
          </a:bodyPr>
          <a:lstStyle/>
          <a:p>
            <a:pPr marL="0" indent="0">
              <a:buNone/>
            </a:pPr>
            <a:r>
              <a:rPr lang="en-US" sz="950" dirty="0">
                <a:solidFill>
                  <a:schemeClr val="tx1"/>
                </a:solidFill>
                <a:latin typeface="Calibri" pitchFamily="34" charset="0"/>
                <a:ea typeface="Calibri" pitchFamily="34" charset="-122"/>
                <a:cs typeface="Calibri" pitchFamily="34" charset="-120"/>
              </a:rPr>
              <a:t>Every run logged automatically</a:t>
            </a:r>
            <a:endParaRPr lang="en-US" sz="950" dirty="0"/>
          </a:p>
        </p:txBody>
      </p:sp>
      <p:sp>
        <p:nvSpPr>
          <p:cNvPr id="56" name="Shape 54"/>
          <p:cNvSpPr/>
          <p:nvPr/>
        </p:nvSpPr>
        <p:spPr>
          <a:xfrm>
            <a:off x="6894576" y="3566160"/>
            <a:ext cx="1508760" cy="365760"/>
          </a:xfrm>
          <a:prstGeom prst="rect">
            <a:avLst/>
          </a:prstGeom>
          <a:solidFill>
            <a:schemeClr val="accent5"/>
          </a:solidFill>
          <a:ln w="12700">
            <a:solidFill>
              <a:schemeClr val="accent5"/>
            </a:solidFill>
            <a:prstDash val="solid"/>
          </a:ln>
          <a:effectLst>
            <a:outerShdw blurRad="50800" dist="25400" dir="5400000" algn="bl" rotWithShape="0">
              <a:srgbClr val="000000">
                <a:alpha val="15000"/>
              </a:srgbClr>
            </a:outerShdw>
          </a:effectLst>
        </p:spPr>
        <p:txBody>
          <a:bodyPr/>
          <a:lstStyle/>
          <a:p>
            <a:endParaRPr lang="en-DE"/>
          </a:p>
        </p:txBody>
      </p:sp>
      <p:sp>
        <p:nvSpPr>
          <p:cNvPr id="57" name="Text 55"/>
          <p:cNvSpPr txBox="1"/>
          <p:nvPr/>
        </p:nvSpPr>
        <p:spPr>
          <a:xfrm>
            <a:off x="6949440" y="3566160"/>
            <a:ext cx="1399032" cy="365760"/>
          </a:xfrm>
          <a:prstGeom prst="rect">
            <a:avLst/>
          </a:prstGeom>
          <a:noFill/>
          <a:ln/>
        </p:spPr>
        <p:txBody>
          <a:bodyPr wrap="square" lIns="0" tIns="0" rIns="0" bIns="0" rtlCol="0" anchor="ctr">
            <a:normAutofit/>
          </a:bodyPr>
          <a:lstStyle/>
          <a:p>
            <a:pPr marL="0" indent="0">
              <a:buNone/>
            </a:pPr>
            <a:r>
              <a:rPr lang="en-US" sz="950" dirty="0">
                <a:solidFill>
                  <a:schemeClr val="tx1"/>
                </a:solidFill>
                <a:latin typeface="Calibri" pitchFamily="34" charset="0"/>
                <a:ea typeface="Calibri" pitchFamily="34" charset="-122"/>
                <a:cs typeface="Calibri" pitchFamily="34" charset="-120"/>
              </a:rPr>
              <a:t>Unknown cases routed to me</a:t>
            </a:r>
            <a:endParaRPr lang="en-US" sz="950" dirty="0"/>
          </a:p>
        </p:txBody>
      </p:sp>
      <p:sp>
        <p:nvSpPr>
          <p:cNvPr id="58" name="Shape 56"/>
          <p:cNvSpPr/>
          <p:nvPr/>
        </p:nvSpPr>
        <p:spPr>
          <a:xfrm>
            <a:off x="8476488" y="3154680"/>
            <a:ext cx="1508760" cy="365760"/>
          </a:xfrm>
          <a:prstGeom prst="rect">
            <a:avLst/>
          </a:prstGeom>
          <a:solidFill>
            <a:schemeClr val="accent5"/>
          </a:solidFill>
          <a:ln w="12700">
            <a:solidFill>
              <a:schemeClr val="accent5"/>
            </a:solidFill>
            <a:prstDash val="solid"/>
          </a:ln>
          <a:effectLst>
            <a:outerShdw blurRad="50800" dist="25400" dir="5400000" algn="bl" rotWithShape="0">
              <a:srgbClr val="000000">
                <a:alpha val="15000"/>
              </a:srgbClr>
            </a:outerShdw>
          </a:effectLst>
        </p:spPr>
        <p:txBody>
          <a:bodyPr/>
          <a:lstStyle/>
          <a:p>
            <a:endParaRPr lang="en-DE"/>
          </a:p>
        </p:txBody>
      </p:sp>
      <p:sp>
        <p:nvSpPr>
          <p:cNvPr id="59" name="Text 57"/>
          <p:cNvSpPr txBox="1"/>
          <p:nvPr/>
        </p:nvSpPr>
        <p:spPr>
          <a:xfrm>
            <a:off x="8531352" y="3154680"/>
            <a:ext cx="1399032" cy="365760"/>
          </a:xfrm>
          <a:prstGeom prst="rect">
            <a:avLst/>
          </a:prstGeom>
          <a:noFill/>
          <a:ln/>
        </p:spPr>
        <p:txBody>
          <a:bodyPr wrap="square" lIns="0" tIns="0" rIns="0" bIns="0" rtlCol="0" anchor="ctr">
            <a:normAutofit/>
          </a:bodyPr>
          <a:lstStyle/>
          <a:p>
            <a:pPr marL="0" indent="0">
              <a:buNone/>
            </a:pPr>
            <a:r>
              <a:rPr lang="en-US" sz="950" dirty="0">
                <a:solidFill>
                  <a:schemeClr val="tx1"/>
                </a:solidFill>
                <a:latin typeface="Calibri" pitchFamily="34" charset="0"/>
                <a:ea typeface="Calibri" pitchFamily="34" charset="-122"/>
                <a:cs typeface="Calibri" pitchFamily="34" charset="-120"/>
              </a:rPr>
              <a:t>Token usage per agent</a:t>
            </a:r>
            <a:endParaRPr lang="en-US" sz="950" dirty="0"/>
          </a:p>
        </p:txBody>
      </p:sp>
      <p:sp>
        <p:nvSpPr>
          <p:cNvPr id="60" name="Shape 58"/>
          <p:cNvSpPr/>
          <p:nvPr/>
        </p:nvSpPr>
        <p:spPr>
          <a:xfrm>
            <a:off x="8476488" y="3566160"/>
            <a:ext cx="1508760" cy="365760"/>
          </a:xfrm>
          <a:prstGeom prst="rect">
            <a:avLst/>
          </a:prstGeom>
          <a:solidFill>
            <a:schemeClr val="accent5"/>
          </a:solidFill>
          <a:ln w="12700">
            <a:solidFill>
              <a:schemeClr val="accent5"/>
            </a:solidFill>
            <a:prstDash val="solid"/>
          </a:ln>
          <a:effectLst>
            <a:outerShdw blurRad="50800" dist="25400" dir="5400000" algn="bl" rotWithShape="0">
              <a:srgbClr val="000000">
                <a:alpha val="15000"/>
              </a:srgbClr>
            </a:outerShdw>
          </a:effectLst>
        </p:spPr>
        <p:txBody>
          <a:bodyPr/>
          <a:lstStyle/>
          <a:p>
            <a:endParaRPr lang="en-DE"/>
          </a:p>
        </p:txBody>
      </p:sp>
      <p:sp>
        <p:nvSpPr>
          <p:cNvPr id="61" name="Text 59"/>
          <p:cNvSpPr txBox="1"/>
          <p:nvPr/>
        </p:nvSpPr>
        <p:spPr>
          <a:xfrm>
            <a:off x="8531352" y="3566160"/>
            <a:ext cx="1399032" cy="365760"/>
          </a:xfrm>
          <a:prstGeom prst="rect">
            <a:avLst/>
          </a:prstGeom>
          <a:noFill/>
          <a:ln/>
        </p:spPr>
        <p:txBody>
          <a:bodyPr wrap="square" lIns="0" tIns="0" rIns="0" bIns="0" rtlCol="0" anchor="ctr">
            <a:normAutofit/>
          </a:bodyPr>
          <a:lstStyle/>
          <a:p>
            <a:pPr marL="0" indent="0">
              <a:buNone/>
            </a:pPr>
            <a:r>
              <a:rPr lang="en-US" sz="950" dirty="0">
                <a:solidFill>
                  <a:schemeClr val="tx1"/>
                </a:solidFill>
                <a:latin typeface="Calibri" pitchFamily="34" charset="0"/>
                <a:ea typeface="Calibri" pitchFamily="34" charset="-122"/>
                <a:cs typeface="Calibri" pitchFamily="34" charset="-120"/>
              </a:rPr>
              <a:t>Same-path share per agent</a:t>
            </a:r>
            <a:endParaRPr lang="en-US" sz="950" dirty="0"/>
          </a:p>
        </p:txBody>
      </p:sp>
      <p:sp>
        <p:nvSpPr>
          <p:cNvPr id="62" name="Shape 60"/>
          <p:cNvSpPr/>
          <p:nvPr/>
        </p:nvSpPr>
        <p:spPr>
          <a:xfrm>
            <a:off x="10058400" y="3154680"/>
            <a:ext cx="1508760" cy="365760"/>
          </a:xfrm>
          <a:prstGeom prst="rect">
            <a:avLst/>
          </a:prstGeom>
          <a:solidFill>
            <a:schemeClr val="accent5"/>
          </a:solidFill>
          <a:ln w="12700">
            <a:solidFill>
              <a:schemeClr val="accent5"/>
            </a:solidFill>
            <a:prstDash val="solid"/>
          </a:ln>
          <a:effectLst>
            <a:outerShdw blurRad="50800" dist="25400" dir="5400000" algn="bl" rotWithShape="0">
              <a:srgbClr val="000000">
                <a:alpha val="15000"/>
              </a:srgbClr>
            </a:outerShdw>
          </a:effectLst>
        </p:spPr>
        <p:txBody>
          <a:bodyPr/>
          <a:lstStyle/>
          <a:p>
            <a:endParaRPr lang="en-DE"/>
          </a:p>
        </p:txBody>
      </p:sp>
      <p:sp>
        <p:nvSpPr>
          <p:cNvPr id="63" name="Text 61"/>
          <p:cNvSpPr txBox="1"/>
          <p:nvPr/>
        </p:nvSpPr>
        <p:spPr>
          <a:xfrm>
            <a:off x="10113264" y="3154680"/>
            <a:ext cx="1399032" cy="365760"/>
          </a:xfrm>
          <a:prstGeom prst="rect">
            <a:avLst/>
          </a:prstGeom>
          <a:noFill/>
          <a:ln/>
        </p:spPr>
        <p:txBody>
          <a:bodyPr wrap="square" lIns="0" tIns="0" rIns="0" bIns="0" rtlCol="0" anchor="ctr">
            <a:normAutofit/>
          </a:bodyPr>
          <a:lstStyle/>
          <a:p>
            <a:pPr marL="0" indent="0">
              <a:buNone/>
            </a:pPr>
            <a:r>
              <a:rPr lang="en-US" sz="950" dirty="0">
                <a:solidFill>
                  <a:schemeClr val="tx1"/>
                </a:solidFill>
                <a:latin typeface="Calibri" pitchFamily="34" charset="0"/>
                <a:ea typeface="Calibri" pitchFamily="34" charset="-122"/>
                <a:cs typeface="Calibri" pitchFamily="34" charset="-120"/>
              </a:rPr>
              <a:t>Retire an unused agent</a:t>
            </a:r>
            <a:endParaRPr lang="en-US" sz="950" dirty="0"/>
          </a:p>
        </p:txBody>
      </p:sp>
      <p:sp>
        <p:nvSpPr>
          <p:cNvPr id="64" name="Shape 62"/>
          <p:cNvSpPr/>
          <p:nvPr/>
        </p:nvSpPr>
        <p:spPr>
          <a:xfrm>
            <a:off x="548640" y="4160520"/>
            <a:ext cx="11091672" cy="0"/>
          </a:xfrm>
          <a:prstGeom prst="line">
            <a:avLst/>
          </a:prstGeom>
          <a:noFill/>
          <a:ln w="15875">
            <a:solidFill>
              <a:srgbClr val="4E8C7C"/>
            </a:solidFill>
            <a:prstDash val="dash"/>
          </a:ln>
        </p:spPr>
        <p:txBody>
          <a:bodyPr/>
          <a:lstStyle/>
          <a:p>
            <a:endParaRPr lang="en-DE"/>
          </a:p>
        </p:txBody>
      </p:sp>
      <p:sp>
        <p:nvSpPr>
          <p:cNvPr id="65" name="Text 63"/>
          <p:cNvSpPr txBox="1"/>
          <p:nvPr/>
        </p:nvSpPr>
        <p:spPr>
          <a:xfrm>
            <a:off x="548640" y="4224528"/>
            <a:ext cx="1554480" cy="896112"/>
          </a:xfrm>
          <a:prstGeom prst="rect">
            <a:avLst/>
          </a:prstGeom>
          <a:noFill/>
          <a:ln/>
        </p:spPr>
        <p:txBody>
          <a:bodyPr wrap="square" lIns="0" tIns="0" rIns="0" bIns="0" rtlCol="0" anchor="t"/>
          <a:lstStyle/>
          <a:p>
            <a:pPr marL="0" indent="0">
              <a:buNone/>
            </a:pPr>
            <a:r>
              <a:rPr lang="en-US" sz="1300" b="1" dirty="0">
                <a:solidFill>
                  <a:srgbClr val="4E8C7C"/>
                </a:solidFill>
                <a:latin typeface="Calibri" pitchFamily="34" charset="0"/>
                <a:ea typeface="Calibri" pitchFamily="34" charset="-122"/>
                <a:cs typeface="Calibri" pitchFamily="34" charset="-120"/>
              </a:rPr>
              <a:t>R2  </a:t>
            </a:r>
            <a:r>
              <a:rPr lang="en-US" sz="1050" b="1" dirty="0">
                <a:solidFill>
                  <a:schemeClr val="tx1"/>
                </a:solidFill>
                <a:latin typeface="Calibri" pitchFamily="34" charset="0"/>
                <a:ea typeface="Calibri" pitchFamily="34" charset="-122"/>
                <a:cs typeface="Calibri" pitchFamily="34" charset="-120"/>
              </a:rPr>
              <a:t>Act</a:t>
            </a:r>
            <a:endParaRPr lang="en-US" sz="1300" dirty="0"/>
          </a:p>
          <a:p>
            <a:pPr marL="0" indent="0">
              <a:buNone/>
            </a:pPr>
            <a:r>
              <a:rPr lang="en-US" sz="950" dirty="0">
                <a:solidFill>
                  <a:srgbClr val="5E6E6A"/>
                </a:solidFill>
                <a:latin typeface="Calibri" pitchFamily="34" charset="0"/>
                <a:ea typeface="Calibri" pitchFamily="34" charset="-122"/>
                <a:cs typeface="Calibri" pitchFamily="34" charset="-120"/>
              </a:rPr>
              <a:t>Convert with help</a:t>
            </a:r>
            <a:endParaRPr lang="en-US" sz="1300" dirty="0"/>
          </a:p>
        </p:txBody>
      </p:sp>
      <p:sp>
        <p:nvSpPr>
          <p:cNvPr id="66" name="Shape 64"/>
          <p:cNvSpPr/>
          <p:nvPr/>
        </p:nvSpPr>
        <p:spPr>
          <a:xfrm>
            <a:off x="3730752" y="4224528"/>
            <a:ext cx="1508760" cy="365760"/>
          </a:xfrm>
          <a:prstGeom prst="rect">
            <a:avLst/>
          </a:prstGeom>
          <a:solidFill>
            <a:schemeClr val="accent5"/>
          </a:solidFill>
          <a:ln w="12700">
            <a:solidFill>
              <a:schemeClr val="accent5"/>
            </a:solidFill>
            <a:prstDash val="solid"/>
          </a:ln>
          <a:effectLst>
            <a:outerShdw blurRad="50800" dist="25400" dir="5400000" algn="bl" rotWithShape="0">
              <a:srgbClr val="000000">
                <a:alpha val="15000"/>
              </a:srgbClr>
            </a:outerShdw>
          </a:effectLst>
        </p:spPr>
        <p:txBody>
          <a:bodyPr/>
          <a:lstStyle/>
          <a:p>
            <a:endParaRPr lang="en-DE"/>
          </a:p>
        </p:txBody>
      </p:sp>
      <p:sp>
        <p:nvSpPr>
          <p:cNvPr id="67" name="Text 65"/>
          <p:cNvSpPr txBox="1"/>
          <p:nvPr/>
        </p:nvSpPr>
        <p:spPr>
          <a:xfrm>
            <a:off x="3785616" y="4224528"/>
            <a:ext cx="1399032" cy="365760"/>
          </a:xfrm>
          <a:prstGeom prst="rect">
            <a:avLst/>
          </a:prstGeom>
          <a:noFill/>
          <a:ln/>
        </p:spPr>
        <p:txBody>
          <a:bodyPr wrap="square" lIns="0" tIns="0" rIns="0" bIns="0" rtlCol="0" anchor="ctr">
            <a:normAutofit/>
          </a:bodyPr>
          <a:lstStyle/>
          <a:p>
            <a:pPr marL="0" indent="0">
              <a:buNone/>
            </a:pPr>
            <a:r>
              <a:rPr lang="en-US" sz="950" dirty="0">
                <a:solidFill>
                  <a:schemeClr val="tx1"/>
                </a:solidFill>
                <a:latin typeface="Calibri" pitchFamily="34" charset="0"/>
                <a:ea typeface="Calibri" pitchFamily="34" charset="-122"/>
                <a:cs typeface="Calibri" pitchFamily="34" charset="-120"/>
              </a:rPr>
              <a:t>Triage built into the build tool</a:t>
            </a:r>
            <a:endParaRPr lang="en-US" sz="950" dirty="0"/>
          </a:p>
        </p:txBody>
      </p:sp>
      <p:sp>
        <p:nvSpPr>
          <p:cNvPr id="68" name="Shape 66"/>
          <p:cNvSpPr/>
          <p:nvPr/>
        </p:nvSpPr>
        <p:spPr>
          <a:xfrm>
            <a:off x="3730752" y="4636008"/>
            <a:ext cx="1508760" cy="365760"/>
          </a:xfrm>
          <a:prstGeom prst="rect">
            <a:avLst/>
          </a:prstGeom>
          <a:solidFill>
            <a:schemeClr val="accent5"/>
          </a:solidFill>
          <a:ln w="12700">
            <a:solidFill>
              <a:schemeClr val="accent5"/>
            </a:solidFill>
            <a:prstDash val="solid"/>
          </a:ln>
          <a:effectLst>
            <a:outerShdw blurRad="50800" dist="25400" dir="5400000" algn="bl" rotWithShape="0">
              <a:srgbClr val="000000">
                <a:alpha val="15000"/>
              </a:srgbClr>
            </a:outerShdw>
          </a:effectLst>
        </p:spPr>
        <p:txBody>
          <a:bodyPr/>
          <a:lstStyle/>
          <a:p>
            <a:endParaRPr lang="en-DE"/>
          </a:p>
        </p:txBody>
      </p:sp>
      <p:sp>
        <p:nvSpPr>
          <p:cNvPr id="69" name="Text 67"/>
          <p:cNvSpPr txBox="1"/>
          <p:nvPr/>
        </p:nvSpPr>
        <p:spPr>
          <a:xfrm>
            <a:off x="3785616" y="4636008"/>
            <a:ext cx="1399032" cy="365760"/>
          </a:xfrm>
          <a:prstGeom prst="rect">
            <a:avLst/>
          </a:prstGeom>
          <a:noFill/>
          <a:ln/>
        </p:spPr>
        <p:txBody>
          <a:bodyPr wrap="square" lIns="0" tIns="0" rIns="0" bIns="0" rtlCol="0" anchor="ctr">
            <a:normAutofit/>
          </a:bodyPr>
          <a:lstStyle/>
          <a:p>
            <a:pPr marL="0" indent="0">
              <a:buNone/>
            </a:pPr>
            <a:r>
              <a:rPr lang="en-US" sz="950" dirty="0">
                <a:solidFill>
                  <a:schemeClr val="tx1"/>
                </a:solidFill>
                <a:latin typeface="Calibri" pitchFamily="34" charset="0"/>
                <a:ea typeface="Calibri" pitchFamily="34" charset="-122"/>
                <a:cs typeface="Calibri" pitchFamily="34" charset="-120"/>
              </a:rPr>
              <a:t>Find similar automations to reuse</a:t>
            </a:r>
            <a:endParaRPr lang="en-US" sz="950" dirty="0"/>
          </a:p>
        </p:txBody>
      </p:sp>
      <p:sp>
        <p:nvSpPr>
          <p:cNvPr id="70" name="Shape 68"/>
          <p:cNvSpPr/>
          <p:nvPr/>
        </p:nvSpPr>
        <p:spPr>
          <a:xfrm>
            <a:off x="5312664" y="4224528"/>
            <a:ext cx="1508760" cy="365760"/>
          </a:xfrm>
          <a:prstGeom prst="rect">
            <a:avLst/>
          </a:prstGeom>
          <a:solidFill>
            <a:schemeClr val="accent5"/>
          </a:solidFill>
          <a:ln w="12700">
            <a:solidFill>
              <a:schemeClr val="accent5"/>
            </a:solidFill>
            <a:prstDash val="solid"/>
          </a:ln>
          <a:effectLst>
            <a:outerShdw blurRad="50800" dist="25400" dir="5400000" algn="bl" rotWithShape="0">
              <a:srgbClr val="000000">
                <a:alpha val="15000"/>
              </a:srgbClr>
            </a:outerShdw>
          </a:effectLst>
        </p:spPr>
        <p:txBody>
          <a:bodyPr/>
          <a:lstStyle/>
          <a:p>
            <a:endParaRPr lang="en-DE"/>
          </a:p>
        </p:txBody>
      </p:sp>
      <p:sp>
        <p:nvSpPr>
          <p:cNvPr id="71" name="Text 69"/>
          <p:cNvSpPr txBox="1"/>
          <p:nvPr/>
        </p:nvSpPr>
        <p:spPr>
          <a:xfrm>
            <a:off x="5367528" y="4224528"/>
            <a:ext cx="1399032" cy="365760"/>
          </a:xfrm>
          <a:prstGeom prst="rect">
            <a:avLst/>
          </a:prstGeom>
          <a:noFill/>
          <a:ln/>
        </p:spPr>
        <p:txBody>
          <a:bodyPr wrap="square" lIns="0" tIns="0" rIns="0" bIns="0" rtlCol="0" anchor="ctr">
            <a:normAutofit/>
          </a:bodyPr>
          <a:lstStyle/>
          <a:p>
            <a:pPr marL="0" indent="0">
              <a:buNone/>
            </a:pPr>
            <a:r>
              <a:rPr lang="en-US" sz="950" dirty="0">
                <a:solidFill>
                  <a:schemeClr val="tx1"/>
                </a:solidFill>
                <a:latin typeface="Calibri" pitchFamily="34" charset="0"/>
                <a:ea typeface="Calibri" pitchFamily="34" charset="-122"/>
                <a:cs typeface="Calibri" pitchFamily="34" charset="-120"/>
              </a:rPr>
              <a:t>Start from a workflow template</a:t>
            </a:r>
            <a:endParaRPr lang="en-US" sz="950" dirty="0"/>
          </a:p>
        </p:txBody>
      </p:sp>
      <p:sp>
        <p:nvSpPr>
          <p:cNvPr id="72" name="Shape 70"/>
          <p:cNvSpPr/>
          <p:nvPr/>
        </p:nvSpPr>
        <p:spPr>
          <a:xfrm>
            <a:off x="8476488" y="4224528"/>
            <a:ext cx="1508760" cy="365760"/>
          </a:xfrm>
          <a:prstGeom prst="rect">
            <a:avLst/>
          </a:prstGeom>
          <a:solidFill>
            <a:schemeClr val="accent5"/>
          </a:solidFill>
          <a:ln w="12700">
            <a:solidFill>
              <a:schemeClr val="accent5"/>
            </a:solidFill>
            <a:prstDash val="solid"/>
          </a:ln>
          <a:effectLst>
            <a:outerShdw blurRad="50800" dist="25400" dir="5400000" algn="bl" rotWithShape="0">
              <a:srgbClr val="000000">
                <a:alpha val="15000"/>
              </a:srgbClr>
            </a:outerShdw>
          </a:effectLst>
        </p:spPr>
        <p:txBody>
          <a:bodyPr/>
          <a:lstStyle/>
          <a:p>
            <a:endParaRPr lang="en-DE"/>
          </a:p>
        </p:txBody>
      </p:sp>
      <p:sp>
        <p:nvSpPr>
          <p:cNvPr id="73" name="Text 71"/>
          <p:cNvSpPr txBox="1"/>
          <p:nvPr/>
        </p:nvSpPr>
        <p:spPr>
          <a:xfrm>
            <a:off x="8531352" y="4224528"/>
            <a:ext cx="1399032" cy="365760"/>
          </a:xfrm>
          <a:prstGeom prst="rect">
            <a:avLst/>
          </a:prstGeom>
          <a:noFill/>
          <a:ln/>
        </p:spPr>
        <p:txBody>
          <a:bodyPr wrap="square" lIns="0" tIns="0" rIns="0" bIns="0" rtlCol="0" anchor="ctr">
            <a:normAutofit/>
          </a:bodyPr>
          <a:lstStyle/>
          <a:p>
            <a:pPr marL="0" indent="0">
              <a:buNone/>
            </a:pPr>
            <a:r>
              <a:rPr lang="en-US" sz="950" dirty="0">
                <a:solidFill>
                  <a:schemeClr val="tx1"/>
                </a:solidFill>
                <a:latin typeface="Calibri" pitchFamily="34" charset="0"/>
                <a:ea typeface="Calibri" pitchFamily="34" charset="-122"/>
                <a:cs typeface="Calibri" pitchFamily="34" charset="-120"/>
              </a:rPr>
              <a:t>Nudge when an agent is flagged</a:t>
            </a:r>
            <a:endParaRPr lang="en-US" sz="950" dirty="0"/>
          </a:p>
        </p:txBody>
      </p:sp>
      <p:sp>
        <p:nvSpPr>
          <p:cNvPr id="74" name="Shape 72"/>
          <p:cNvSpPr/>
          <p:nvPr/>
        </p:nvSpPr>
        <p:spPr>
          <a:xfrm>
            <a:off x="10058400" y="4224528"/>
            <a:ext cx="1508760" cy="365760"/>
          </a:xfrm>
          <a:prstGeom prst="rect">
            <a:avLst/>
          </a:prstGeom>
          <a:solidFill>
            <a:schemeClr val="accent5"/>
          </a:solidFill>
          <a:ln w="12700">
            <a:solidFill>
              <a:schemeClr val="accent5"/>
            </a:solidFill>
            <a:prstDash val="solid"/>
          </a:ln>
          <a:effectLst>
            <a:outerShdw blurRad="50800" dist="25400" dir="5400000" algn="bl" rotWithShape="0">
              <a:srgbClr val="000000">
                <a:alpha val="15000"/>
              </a:srgbClr>
            </a:outerShdw>
          </a:effectLst>
        </p:spPr>
        <p:txBody>
          <a:bodyPr/>
          <a:lstStyle/>
          <a:p>
            <a:endParaRPr lang="en-DE"/>
          </a:p>
        </p:txBody>
      </p:sp>
      <p:sp>
        <p:nvSpPr>
          <p:cNvPr id="75" name="Text 73"/>
          <p:cNvSpPr txBox="1"/>
          <p:nvPr/>
        </p:nvSpPr>
        <p:spPr>
          <a:xfrm>
            <a:off x="10113264" y="4224528"/>
            <a:ext cx="1399032" cy="365760"/>
          </a:xfrm>
          <a:prstGeom prst="rect">
            <a:avLst/>
          </a:prstGeom>
          <a:noFill/>
          <a:ln/>
        </p:spPr>
        <p:txBody>
          <a:bodyPr wrap="square" lIns="0" tIns="0" rIns="0" bIns="0" rtlCol="0" anchor="ctr">
            <a:normAutofit/>
          </a:bodyPr>
          <a:lstStyle/>
          <a:p>
            <a:pPr marL="0" indent="0">
              <a:buNone/>
            </a:pPr>
            <a:r>
              <a:rPr lang="en-US" sz="950" dirty="0">
                <a:solidFill>
                  <a:schemeClr val="tx1"/>
                </a:solidFill>
                <a:latin typeface="Calibri" pitchFamily="34" charset="0"/>
                <a:ea typeface="Calibri" pitchFamily="34" charset="-122"/>
                <a:cs typeface="Calibri" pitchFamily="34" charset="-120"/>
              </a:rPr>
              <a:t>Draft workflow from frequent paths</a:t>
            </a:r>
            <a:endParaRPr lang="en-US" sz="950" dirty="0"/>
          </a:p>
        </p:txBody>
      </p:sp>
      <p:sp>
        <p:nvSpPr>
          <p:cNvPr id="76" name="Shape 74"/>
          <p:cNvSpPr/>
          <p:nvPr/>
        </p:nvSpPr>
        <p:spPr>
          <a:xfrm>
            <a:off x="10058400" y="4636008"/>
            <a:ext cx="1508760" cy="365760"/>
          </a:xfrm>
          <a:prstGeom prst="rect">
            <a:avLst/>
          </a:prstGeom>
          <a:solidFill>
            <a:schemeClr val="accent5"/>
          </a:solidFill>
          <a:ln w="12700">
            <a:solidFill>
              <a:schemeClr val="accent5"/>
            </a:solidFill>
            <a:prstDash val="solid"/>
          </a:ln>
          <a:effectLst>
            <a:outerShdw blurRad="50800" dist="25400" dir="5400000" algn="bl" rotWithShape="0">
              <a:srgbClr val="000000">
                <a:alpha val="15000"/>
              </a:srgbClr>
            </a:outerShdw>
          </a:effectLst>
        </p:spPr>
        <p:txBody>
          <a:bodyPr/>
          <a:lstStyle/>
          <a:p>
            <a:endParaRPr lang="en-DE"/>
          </a:p>
        </p:txBody>
      </p:sp>
      <p:sp>
        <p:nvSpPr>
          <p:cNvPr id="77" name="Text 75"/>
          <p:cNvSpPr txBox="1"/>
          <p:nvPr/>
        </p:nvSpPr>
        <p:spPr>
          <a:xfrm>
            <a:off x="10113264" y="4636008"/>
            <a:ext cx="1399032" cy="365760"/>
          </a:xfrm>
          <a:prstGeom prst="rect">
            <a:avLst/>
          </a:prstGeom>
          <a:noFill/>
          <a:ln/>
        </p:spPr>
        <p:txBody>
          <a:bodyPr wrap="square" lIns="0" tIns="0" rIns="0" bIns="0" rtlCol="0" anchor="ctr">
            <a:normAutofit/>
          </a:bodyPr>
          <a:lstStyle/>
          <a:p>
            <a:pPr marL="0" indent="0">
              <a:buNone/>
            </a:pPr>
            <a:r>
              <a:rPr lang="en-US" sz="950" dirty="0">
                <a:solidFill>
                  <a:schemeClr val="tx1"/>
                </a:solidFill>
                <a:latin typeface="Calibri" pitchFamily="34" charset="0"/>
                <a:ea typeface="Calibri" pitchFamily="34" charset="-122"/>
                <a:cs typeface="Calibri" pitchFamily="34" charset="-120"/>
              </a:rPr>
              <a:t>Route standard cases to the workflow</a:t>
            </a:r>
            <a:endParaRPr lang="en-US" sz="950" dirty="0"/>
          </a:p>
        </p:txBody>
      </p:sp>
      <p:sp>
        <p:nvSpPr>
          <p:cNvPr id="78" name="Shape 76"/>
          <p:cNvSpPr/>
          <p:nvPr/>
        </p:nvSpPr>
        <p:spPr>
          <a:xfrm>
            <a:off x="548640" y="5230368"/>
            <a:ext cx="11091672" cy="0"/>
          </a:xfrm>
          <a:prstGeom prst="line">
            <a:avLst/>
          </a:prstGeom>
          <a:noFill/>
          <a:ln w="15875">
            <a:solidFill>
              <a:srgbClr val="9FB8AF"/>
            </a:solidFill>
            <a:prstDash val="dash"/>
          </a:ln>
        </p:spPr>
        <p:txBody>
          <a:bodyPr/>
          <a:lstStyle/>
          <a:p>
            <a:endParaRPr lang="en-DE"/>
          </a:p>
        </p:txBody>
      </p:sp>
      <p:sp>
        <p:nvSpPr>
          <p:cNvPr id="79" name="Text 77"/>
          <p:cNvSpPr txBox="1"/>
          <p:nvPr/>
        </p:nvSpPr>
        <p:spPr>
          <a:xfrm>
            <a:off x="548640" y="5294376"/>
            <a:ext cx="1554480" cy="484632"/>
          </a:xfrm>
          <a:prstGeom prst="rect">
            <a:avLst/>
          </a:prstGeom>
          <a:noFill/>
          <a:ln/>
        </p:spPr>
        <p:txBody>
          <a:bodyPr wrap="square" lIns="0" tIns="0" rIns="0" bIns="0" rtlCol="0" anchor="t"/>
          <a:lstStyle/>
          <a:p>
            <a:pPr marL="0" indent="0">
              <a:buNone/>
            </a:pPr>
            <a:r>
              <a:rPr lang="en-US" sz="1300" b="1" dirty="0">
                <a:solidFill>
                  <a:srgbClr val="9FB8AF"/>
                </a:solidFill>
                <a:latin typeface="Calibri" pitchFamily="34" charset="0"/>
                <a:ea typeface="Calibri" pitchFamily="34" charset="-122"/>
                <a:cs typeface="Calibri" pitchFamily="34" charset="-120"/>
              </a:rPr>
              <a:t>R3  </a:t>
            </a:r>
            <a:r>
              <a:rPr lang="en-US" sz="1050" b="1" dirty="0">
                <a:solidFill>
                  <a:schemeClr val="tx1"/>
                </a:solidFill>
                <a:latin typeface="Calibri" pitchFamily="34" charset="0"/>
                <a:ea typeface="Calibri" pitchFamily="34" charset="-122"/>
                <a:cs typeface="Calibri" pitchFamily="34" charset="-120"/>
              </a:rPr>
              <a:t>Steer</a:t>
            </a:r>
            <a:endParaRPr lang="en-US" sz="1300" dirty="0"/>
          </a:p>
          <a:p>
            <a:pPr marL="0" indent="0">
              <a:buNone/>
            </a:pPr>
            <a:r>
              <a:rPr lang="en-US" sz="950" dirty="0">
                <a:solidFill>
                  <a:srgbClr val="5E6E6A"/>
                </a:solidFill>
                <a:latin typeface="Calibri" pitchFamily="34" charset="0"/>
                <a:ea typeface="Calibri" pitchFamily="34" charset="-122"/>
                <a:cs typeface="Calibri" pitchFamily="34" charset="-120"/>
              </a:rPr>
              <a:t>Budgets &amp; sharing</a:t>
            </a:r>
            <a:endParaRPr lang="en-US" sz="1300" dirty="0"/>
          </a:p>
        </p:txBody>
      </p:sp>
      <p:sp>
        <p:nvSpPr>
          <p:cNvPr id="80" name="Shape 78"/>
          <p:cNvSpPr/>
          <p:nvPr/>
        </p:nvSpPr>
        <p:spPr>
          <a:xfrm>
            <a:off x="2148840" y="5294376"/>
            <a:ext cx="1508760" cy="365760"/>
          </a:xfrm>
          <a:prstGeom prst="rect">
            <a:avLst/>
          </a:prstGeom>
          <a:solidFill>
            <a:schemeClr val="accent5"/>
          </a:solidFill>
          <a:ln w="12700">
            <a:solidFill>
              <a:schemeClr val="accent5"/>
            </a:solidFill>
            <a:prstDash val="solid"/>
          </a:ln>
          <a:effectLst>
            <a:outerShdw blurRad="50800" dist="25400" dir="5400000" algn="bl" rotWithShape="0">
              <a:srgbClr val="000000">
                <a:alpha val="15000"/>
              </a:srgbClr>
            </a:outerShdw>
          </a:effectLst>
        </p:spPr>
        <p:txBody>
          <a:bodyPr/>
          <a:lstStyle/>
          <a:p>
            <a:endParaRPr lang="en-DE"/>
          </a:p>
        </p:txBody>
      </p:sp>
      <p:sp>
        <p:nvSpPr>
          <p:cNvPr id="81" name="Text 79"/>
          <p:cNvSpPr txBox="1"/>
          <p:nvPr/>
        </p:nvSpPr>
        <p:spPr>
          <a:xfrm>
            <a:off x="2203704" y="5294376"/>
            <a:ext cx="1399032" cy="365760"/>
          </a:xfrm>
          <a:prstGeom prst="rect">
            <a:avLst/>
          </a:prstGeom>
          <a:noFill/>
          <a:ln/>
        </p:spPr>
        <p:txBody>
          <a:bodyPr wrap="square" lIns="0" tIns="0" rIns="0" bIns="0" rtlCol="0" anchor="ctr">
            <a:normAutofit/>
          </a:bodyPr>
          <a:lstStyle/>
          <a:p>
            <a:pPr marL="0" indent="0">
              <a:buNone/>
            </a:pPr>
            <a:r>
              <a:rPr lang="en-US" sz="950" dirty="0">
                <a:solidFill>
                  <a:schemeClr val="tx1"/>
                </a:solidFill>
                <a:latin typeface="Calibri" pitchFamily="34" charset="0"/>
                <a:ea typeface="Calibri" pitchFamily="34" charset="-122"/>
                <a:cs typeface="Calibri" pitchFamily="34" charset="-120"/>
              </a:rPr>
              <a:t>Refresher from real conversions</a:t>
            </a:r>
            <a:endParaRPr lang="en-US" sz="950" dirty="0"/>
          </a:p>
        </p:txBody>
      </p:sp>
      <p:sp>
        <p:nvSpPr>
          <p:cNvPr id="82" name="Shape 80"/>
          <p:cNvSpPr/>
          <p:nvPr/>
        </p:nvSpPr>
        <p:spPr>
          <a:xfrm>
            <a:off x="8476488" y="5294376"/>
            <a:ext cx="1508760" cy="365760"/>
          </a:xfrm>
          <a:prstGeom prst="rect">
            <a:avLst/>
          </a:prstGeom>
          <a:solidFill>
            <a:schemeClr val="accent5"/>
          </a:solidFill>
          <a:ln w="12700">
            <a:solidFill>
              <a:schemeClr val="accent5"/>
            </a:solidFill>
            <a:prstDash val="solid"/>
          </a:ln>
          <a:effectLst>
            <a:outerShdw blurRad="50800" dist="25400" dir="5400000" algn="bl" rotWithShape="0">
              <a:srgbClr val="000000">
                <a:alpha val="15000"/>
              </a:srgbClr>
            </a:outerShdw>
          </a:effectLst>
        </p:spPr>
        <p:txBody>
          <a:bodyPr/>
          <a:lstStyle/>
          <a:p>
            <a:endParaRPr lang="en-DE"/>
          </a:p>
        </p:txBody>
      </p:sp>
      <p:sp>
        <p:nvSpPr>
          <p:cNvPr id="83" name="Text 81"/>
          <p:cNvSpPr txBox="1"/>
          <p:nvPr/>
        </p:nvSpPr>
        <p:spPr>
          <a:xfrm>
            <a:off x="8531352" y="5294376"/>
            <a:ext cx="1399032" cy="365760"/>
          </a:xfrm>
          <a:prstGeom prst="rect">
            <a:avLst/>
          </a:prstGeom>
          <a:noFill/>
          <a:ln/>
        </p:spPr>
        <p:txBody>
          <a:bodyPr wrap="square" lIns="0" tIns="0" rIns="0" bIns="0" rtlCol="0" anchor="ctr">
            <a:normAutofit/>
          </a:bodyPr>
          <a:lstStyle/>
          <a:p>
            <a:pPr marL="0" indent="0">
              <a:buNone/>
            </a:pPr>
            <a:r>
              <a:rPr lang="en-US" sz="950" dirty="0">
                <a:solidFill>
                  <a:schemeClr val="tx1"/>
                </a:solidFill>
                <a:latin typeface="Calibri" pitchFamily="34" charset="0"/>
                <a:ea typeface="Calibri" pitchFamily="34" charset="-122"/>
                <a:cs typeface="Calibri" pitchFamily="34" charset="-120"/>
              </a:rPr>
              <a:t>Usage vs my unit’s carbon budget</a:t>
            </a:r>
            <a:endParaRPr lang="en-US" sz="950" dirty="0"/>
          </a:p>
        </p:txBody>
      </p:sp>
      <p:sp>
        <p:nvSpPr>
          <p:cNvPr id="84" name="Shape 82"/>
          <p:cNvSpPr/>
          <p:nvPr/>
        </p:nvSpPr>
        <p:spPr>
          <a:xfrm>
            <a:off x="10058400" y="5294376"/>
            <a:ext cx="1508760" cy="365760"/>
          </a:xfrm>
          <a:prstGeom prst="rect">
            <a:avLst/>
          </a:prstGeom>
          <a:solidFill>
            <a:schemeClr val="accent5"/>
          </a:solidFill>
          <a:ln w="12700">
            <a:solidFill>
              <a:schemeClr val="accent5"/>
            </a:solidFill>
            <a:prstDash val="solid"/>
          </a:ln>
          <a:effectLst>
            <a:outerShdw blurRad="50800" dist="25400" dir="5400000" algn="bl" rotWithShape="0">
              <a:srgbClr val="000000">
                <a:alpha val="15000"/>
              </a:srgbClr>
            </a:outerShdw>
          </a:effectLst>
        </p:spPr>
        <p:txBody>
          <a:bodyPr/>
          <a:lstStyle/>
          <a:p>
            <a:endParaRPr lang="en-DE"/>
          </a:p>
        </p:txBody>
      </p:sp>
      <p:sp>
        <p:nvSpPr>
          <p:cNvPr id="85" name="Text 83"/>
          <p:cNvSpPr txBox="1"/>
          <p:nvPr/>
        </p:nvSpPr>
        <p:spPr>
          <a:xfrm>
            <a:off x="10113264" y="5294376"/>
            <a:ext cx="1399032" cy="365760"/>
          </a:xfrm>
          <a:prstGeom prst="rect">
            <a:avLst/>
          </a:prstGeom>
          <a:noFill/>
          <a:ln/>
        </p:spPr>
        <p:txBody>
          <a:bodyPr wrap="square" lIns="0" tIns="0" rIns="0" bIns="0" rtlCol="0" anchor="ctr">
            <a:normAutofit/>
          </a:bodyPr>
          <a:lstStyle/>
          <a:p>
            <a:pPr marL="0" indent="0">
              <a:buNone/>
            </a:pPr>
            <a:r>
              <a:rPr lang="en-US" sz="950" dirty="0">
                <a:solidFill>
                  <a:schemeClr val="tx1"/>
                </a:solidFill>
                <a:latin typeface="Calibri" pitchFamily="34" charset="0"/>
                <a:ea typeface="Calibri" pitchFamily="34" charset="-122"/>
                <a:cs typeface="Calibri" pitchFamily="34" charset="-120"/>
              </a:rPr>
              <a:t>Share my conversion as a training case</a:t>
            </a:r>
            <a:endParaRPr lang="en-US" sz="950" dirty="0"/>
          </a:p>
        </p:txBody>
      </p:sp>
      <p:sp>
        <p:nvSpPr>
          <p:cNvPr id="86" name="Text 84"/>
          <p:cNvSpPr txBox="1"/>
          <p:nvPr/>
        </p:nvSpPr>
        <p:spPr>
          <a:xfrm>
            <a:off x="548640" y="6053328"/>
            <a:ext cx="11064240" cy="274320"/>
          </a:xfrm>
          <a:prstGeom prst="rect">
            <a:avLst/>
          </a:prstGeom>
          <a:noFill/>
          <a:ln/>
        </p:spPr>
        <p:txBody>
          <a:bodyPr wrap="square" lIns="0" tIns="0" rIns="0" bIns="0" rtlCol="0" anchor="ctr"/>
          <a:lstStyle/>
          <a:p>
            <a:pPr marL="0" indent="0">
              <a:buNone/>
            </a:pPr>
            <a:r>
              <a:rPr lang="en-US" sz="1050" i="1" dirty="0">
                <a:solidFill>
                  <a:schemeClr val="accent1"/>
                </a:solidFill>
                <a:latin typeface="Calibri" pitchFamily="34" charset="0"/>
                <a:ea typeface="Calibri" pitchFamily="34" charset="-122"/>
                <a:cs typeface="Calibri" pitchFamily="34" charset="-120"/>
              </a:rPr>
              <a:t>Feasible because release 1 needs no new data: training, the run logs Lena’s agents already write, and a simple dashboard on top.</a:t>
            </a:r>
            <a:endParaRPr lang="en-US" sz="1050" dirty="0"/>
          </a:p>
        </p:txBody>
      </p:sp>
      <p:sp>
        <p:nvSpPr>
          <p:cNvPr id="87"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E6A"/>
                </a:solidFill>
                <a:latin typeface="Calibri"/>
                <a:ea typeface="Calibri"/>
                <a:cs typeface="Calibri"/>
              </a:defRPr>
            </a:lvl1pPr>
          </a:lstStyle>
          <a:p>
            <a:pPr algn="r"/>
            <a:fld id="{F7021451-1387-4CA6-816F-3879F97B5CBC}" type="slidenum">
              <a:rPr lang="en-US" b="0"/>
              <a:t>6</a:t>
            </a:fld>
            <a:endParaRPr lang="en-US"/>
          </a:p>
        </p:txBody>
      </p:sp>
      <p:grpSp>
        <p:nvGrpSpPr>
          <p:cNvPr id="90" name="Group 89">
            <a:extLst>
              <a:ext uri="{FF2B5EF4-FFF2-40B4-BE49-F238E27FC236}">
                <a16:creationId xmlns:a16="http://schemas.microsoft.com/office/drawing/2014/main" id="{1C06996B-7799-55F5-DA95-BE21EFA2F99F}"/>
              </a:ext>
            </a:extLst>
          </p:cNvPr>
          <p:cNvGrpSpPr/>
          <p:nvPr/>
        </p:nvGrpSpPr>
        <p:grpSpPr>
          <a:xfrm>
            <a:off x="493776" y="2104354"/>
            <a:ext cx="889374" cy="780574"/>
            <a:chOff x="612514" y="1554480"/>
            <a:chExt cx="1198131" cy="1051560"/>
          </a:xfrm>
        </p:grpSpPr>
        <p:sp>
          <p:nvSpPr>
            <p:cNvPr id="88" name="Shape 3">
              <a:extLst>
                <a:ext uri="{FF2B5EF4-FFF2-40B4-BE49-F238E27FC236}">
                  <a16:creationId xmlns:a16="http://schemas.microsoft.com/office/drawing/2014/main" id="{2C8CC620-B4A7-3C2B-6362-1FAB6E297D24}"/>
                </a:ext>
              </a:extLst>
            </p:cNvPr>
            <p:cNvSpPr/>
            <p:nvPr/>
          </p:nvSpPr>
          <p:spPr>
            <a:xfrm>
              <a:off x="777240" y="1737360"/>
              <a:ext cx="868680" cy="868680"/>
            </a:xfrm>
            <a:prstGeom prst="ellipse">
              <a:avLst/>
            </a:prstGeom>
            <a:solidFill>
              <a:schemeClr val="accent1"/>
            </a:solidFill>
            <a:ln w="25400">
              <a:solidFill>
                <a:schemeClr val="accent2"/>
              </a:solidFill>
              <a:prstDash val="solid"/>
            </a:ln>
          </p:spPr>
          <p:txBody>
            <a:bodyPr/>
            <a:lstStyle/>
            <a:p>
              <a:endParaRPr lang="en-DE"/>
            </a:p>
          </p:txBody>
        </p:sp>
        <p:pic>
          <p:nvPicPr>
            <p:cNvPr id="89" name="Picture 88" descr="Daisy Duck – Duckipedia">
              <a:extLst>
                <a:ext uri="{FF2B5EF4-FFF2-40B4-BE49-F238E27FC236}">
                  <a16:creationId xmlns:a16="http://schemas.microsoft.com/office/drawing/2014/main" id="{EE75ABE5-CB61-8BB8-191C-5AAA81C221E3}"/>
                </a:ext>
              </a:extLst>
            </p:cNvPr>
            <p:cNvPicPr>
              <a:picLocks noChangeAspect="1"/>
            </p:cNvPicPr>
            <p:nvPr/>
          </p:nvPicPr>
          <p:blipFill>
            <a:blip r:embed="rId3"/>
            <a:srcRect l="21758" b="60156"/>
            <a:stretch>
              <a:fillRect/>
            </a:stretch>
          </p:blipFill>
          <p:spPr>
            <a:xfrm>
              <a:off x="612514" y="1554480"/>
              <a:ext cx="1198131" cy="1039255"/>
            </a:xfrm>
            <a:custGeom>
              <a:avLst/>
              <a:gdLst>
                <a:gd name="csX0" fmla="*/ 195564 w 1198131"/>
                <a:gd name="csY0" fmla="*/ 0 h 1039255"/>
                <a:gd name="csX1" fmla="*/ 1002568 w 1198131"/>
                <a:gd name="csY1" fmla="*/ 0 h 1039255"/>
                <a:gd name="csX2" fmla="*/ 1022670 w 1198131"/>
                <a:gd name="csY2" fmla="*/ 16585 h 1039255"/>
                <a:gd name="csX3" fmla="*/ 1185961 w 1198131"/>
                <a:gd name="csY3" fmla="*/ 319456 h 1039255"/>
                <a:gd name="csX4" fmla="*/ 1198131 w 1198131"/>
                <a:gd name="csY4" fmla="*/ 440179 h 1039255"/>
                <a:gd name="csX5" fmla="*/ 1198131 w 1198131"/>
                <a:gd name="csY5" fmla="*/ 440199 h 1039255"/>
                <a:gd name="csX6" fmla="*/ 1185961 w 1198131"/>
                <a:gd name="csY6" fmla="*/ 560922 h 1039255"/>
                <a:gd name="csX7" fmla="*/ 599066 w 1198131"/>
                <a:gd name="csY7" fmla="*/ 1039255 h 1039255"/>
                <a:gd name="csX8" fmla="*/ 0 w 1198131"/>
                <a:gd name="csY8" fmla="*/ 440189 h 1039255"/>
                <a:gd name="csX9" fmla="*/ 175462 w 1198131"/>
                <a:gd name="csY9" fmla="*/ 16585 h 10392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98131" h="1039255">
                  <a:moveTo>
                    <a:pt x="195564" y="0"/>
                  </a:moveTo>
                  <a:lnTo>
                    <a:pt x="1002568" y="0"/>
                  </a:lnTo>
                  <a:lnTo>
                    <a:pt x="1022670" y="16585"/>
                  </a:lnTo>
                  <a:cubicBezTo>
                    <a:pt x="1103977" y="97893"/>
                    <a:pt x="1162021" y="202463"/>
                    <a:pt x="1185961" y="319456"/>
                  </a:cubicBezTo>
                  <a:lnTo>
                    <a:pt x="1198131" y="440179"/>
                  </a:lnTo>
                  <a:lnTo>
                    <a:pt x="1198131" y="440199"/>
                  </a:lnTo>
                  <a:lnTo>
                    <a:pt x="1185961" y="560922"/>
                  </a:lnTo>
                  <a:cubicBezTo>
                    <a:pt x="1130100" y="833906"/>
                    <a:pt x="888564" y="1039255"/>
                    <a:pt x="599066" y="1039255"/>
                  </a:cubicBezTo>
                  <a:cubicBezTo>
                    <a:pt x="268211" y="1039255"/>
                    <a:pt x="0" y="771044"/>
                    <a:pt x="0" y="440189"/>
                  </a:cubicBezTo>
                  <a:cubicBezTo>
                    <a:pt x="0" y="274762"/>
                    <a:pt x="67053" y="124995"/>
                    <a:pt x="175462" y="16585"/>
                  </a:cubicBezTo>
                  <a:close/>
                </a:path>
              </a:pathLst>
            </a:custGeom>
          </p:spPr>
        </p:pic>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10058400" cy="274320"/>
          </a:xfrm>
          <a:prstGeom prst="rect">
            <a:avLst/>
          </a:prstGeom>
          <a:noFill/>
          <a:ln/>
        </p:spPr>
        <p:txBody>
          <a:bodyPr wrap="square" lIns="0" tIns="0" rIns="0" bIns="0" rtlCol="0"/>
          <a:lstStyle/>
          <a:p>
            <a:pPr marL="0" indent="0">
              <a:buNone/>
            </a:pPr>
            <a:r>
              <a:rPr lang="en-US" sz="1100" b="1" kern="0" spc="200" dirty="0">
                <a:solidFill>
                  <a:schemeClr val="accent1"/>
                </a:solidFill>
                <a:latin typeface="Arial" pitchFamily="34" charset="0"/>
                <a:ea typeface="Arial" pitchFamily="34" charset="-122"/>
                <a:cs typeface="Arial" pitchFamily="34" charset="-120"/>
              </a:rPr>
              <a:t>INNOVATION SWEET SPOT</a:t>
            </a:r>
            <a:endParaRPr lang="en-US" sz="1100" dirty="0"/>
          </a:p>
        </p:txBody>
      </p:sp>
      <p:sp>
        <p:nvSpPr>
          <p:cNvPr id="3" name="Text 0"/>
          <p:cNvSpPr>
            <a:spLocks noGrp="1"/>
          </p:cNvSpPr>
          <p:nvPr>
            <p:ph type="title" idx="101" hasCustomPrompt="1"/>
          </p:nvPr>
        </p:nvSpPr>
        <p:spPr>
          <a:xfrm>
            <a:off x="548640" y="640080"/>
            <a:ext cx="11064240" cy="685800"/>
          </a:xfrm>
          <a:prstGeom prst="rect">
            <a:avLst/>
          </a:prstGeom>
          <a:noFill/>
          <a:ln/>
        </p:spPr>
        <p:txBody>
          <a:bodyPr wrap="square" lIns="0" tIns="0" rIns="0" bIns="0" rtlCol="0" anchor="t"/>
          <a:lstStyle/>
          <a:p>
            <a:pPr marL="0" indent="0" algn="l">
              <a:buNone/>
            </a:pPr>
            <a:r>
              <a:rPr lang="en-US" sz="2600" b="1" dirty="0">
                <a:solidFill>
                  <a:schemeClr val="tx1"/>
                </a:solidFill>
                <a:latin typeface="Arial" pitchFamily="34" charset="0"/>
                <a:ea typeface="Arial" pitchFamily="34" charset="-122"/>
                <a:cs typeface="Arial" pitchFamily="34" charset="-120"/>
              </a:rPr>
              <a:t>rAIght sits where all three meet</a:t>
            </a:r>
            <a:endParaRPr lang="en-US" sz="2600" dirty="0"/>
          </a:p>
        </p:txBody>
      </p:sp>
      <p:sp>
        <p:nvSpPr>
          <p:cNvPr id="4" name="circle Desirability"/>
          <p:cNvSpPr/>
          <p:nvPr/>
        </p:nvSpPr>
        <p:spPr>
          <a:xfrm>
            <a:off x="2377440" y="1737360"/>
            <a:ext cx="2834640" cy="2834640"/>
          </a:xfrm>
          <a:prstGeom prst="ellipse">
            <a:avLst/>
          </a:prstGeom>
          <a:solidFill>
            <a:schemeClr val="accent1">
              <a:alpha val="28000"/>
            </a:schemeClr>
          </a:solidFill>
          <a:ln w="19050">
            <a:solidFill>
              <a:schemeClr val="accent1"/>
            </a:solidFill>
            <a:prstDash val="solid"/>
          </a:ln>
        </p:spPr>
        <p:txBody>
          <a:bodyPr/>
          <a:lstStyle/>
          <a:p>
            <a:endParaRPr lang="en-DE"/>
          </a:p>
        </p:txBody>
      </p:sp>
      <p:sp>
        <p:nvSpPr>
          <p:cNvPr id="5" name="circle Viability"/>
          <p:cNvSpPr/>
          <p:nvPr/>
        </p:nvSpPr>
        <p:spPr>
          <a:xfrm>
            <a:off x="3291840" y="3291840"/>
            <a:ext cx="2834640" cy="2834640"/>
          </a:xfrm>
          <a:prstGeom prst="ellipse">
            <a:avLst/>
          </a:prstGeom>
          <a:solidFill>
            <a:schemeClr val="accent3">
              <a:alpha val="28000"/>
            </a:schemeClr>
          </a:solidFill>
          <a:ln w="19050">
            <a:solidFill>
              <a:srgbClr val="D98A3A"/>
            </a:solidFill>
            <a:prstDash val="solid"/>
          </a:ln>
        </p:spPr>
        <p:txBody>
          <a:bodyPr/>
          <a:lstStyle/>
          <a:p>
            <a:endParaRPr lang="en-DE"/>
          </a:p>
        </p:txBody>
      </p:sp>
      <p:sp>
        <p:nvSpPr>
          <p:cNvPr id="6" name="circle Feasibility"/>
          <p:cNvSpPr/>
          <p:nvPr/>
        </p:nvSpPr>
        <p:spPr>
          <a:xfrm>
            <a:off x="1463040" y="3291840"/>
            <a:ext cx="2834640" cy="2834640"/>
          </a:xfrm>
          <a:prstGeom prst="ellipse">
            <a:avLst/>
          </a:prstGeom>
          <a:solidFill>
            <a:schemeClr val="accent2">
              <a:alpha val="28000"/>
            </a:schemeClr>
          </a:solidFill>
          <a:ln w="19050">
            <a:solidFill>
              <a:srgbClr val="7FA22F"/>
            </a:solidFill>
            <a:prstDash val="solid"/>
          </a:ln>
        </p:spPr>
        <p:txBody>
          <a:bodyPr/>
          <a:lstStyle/>
          <a:p>
            <a:endParaRPr lang="en-DE"/>
          </a:p>
        </p:txBody>
      </p:sp>
      <p:sp>
        <p:nvSpPr>
          <p:cNvPr id="7" name="Text 5"/>
          <p:cNvSpPr txBox="1"/>
          <p:nvPr/>
        </p:nvSpPr>
        <p:spPr>
          <a:xfrm>
            <a:off x="2697480" y="2513397"/>
            <a:ext cx="2103120" cy="320040"/>
          </a:xfrm>
          <a:prstGeom prst="rect">
            <a:avLst/>
          </a:prstGeom>
          <a:noFill/>
          <a:ln/>
        </p:spPr>
        <p:txBody>
          <a:bodyPr wrap="square" lIns="0" tIns="0" rIns="0" bIns="0" rtlCol="0" anchor="ctr"/>
          <a:lstStyle/>
          <a:p>
            <a:pPr marL="0" indent="0" algn="ctr">
              <a:buNone/>
            </a:pPr>
            <a:r>
              <a:rPr lang="en-US" sz="2400" b="1" dirty="0">
                <a:solidFill>
                  <a:schemeClr val="tx1"/>
                </a:solidFill>
                <a:latin typeface="Arial" pitchFamily="34" charset="0"/>
                <a:ea typeface="Arial" pitchFamily="34" charset="-122"/>
                <a:cs typeface="Arial" pitchFamily="34" charset="-120"/>
              </a:rPr>
              <a:t>①</a:t>
            </a:r>
          </a:p>
          <a:p>
            <a:pPr marL="0" indent="0" algn="ctr">
              <a:buNone/>
            </a:pPr>
            <a:r>
              <a:rPr lang="en-US" sz="2400" b="1" dirty="0">
                <a:solidFill>
                  <a:schemeClr val="tx1"/>
                </a:solidFill>
                <a:latin typeface="Arial" pitchFamily="34" charset="0"/>
                <a:ea typeface="Arial" pitchFamily="34" charset="-122"/>
                <a:cs typeface="Arial" pitchFamily="34" charset="-120"/>
              </a:rPr>
              <a:t>Desirability</a:t>
            </a:r>
            <a:endParaRPr lang="en-US" sz="2400" dirty="0"/>
          </a:p>
        </p:txBody>
      </p:sp>
      <p:sp>
        <p:nvSpPr>
          <p:cNvPr id="8" name="Text 6"/>
          <p:cNvSpPr txBox="1"/>
          <p:nvPr/>
        </p:nvSpPr>
        <p:spPr>
          <a:xfrm>
            <a:off x="4251960" y="4709160"/>
            <a:ext cx="2011680" cy="320040"/>
          </a:xfrm>
          <a:prstGeom prst="rect">
            <a:avLst/>
          </a:prstGeom>
          <a:noFill/>
          <a:ln/>
        </p:spPr>
        <p:txBody>
          <a:bodyPr wrap="square" lIns="0" tIns="0" rIns="0" bIns="0" rtlCol="0" anchor="ctr"/>
          <a:lstStyle/>
          <a:p>
            <a:pPr marL="0" indent="0" algn="ctr">
              <a:buNone/>
            </a:pPr>
            <a:r>
              <a:rPr lang="en-US" sz="2400" b="1" dirty="0">
                <a:solidFill>
                  <a:schemeClr val="tx1"/>
                </a:solidFill>
                <a:latin typeface="Arial" pitchFamily="34" charset="0"/>
                <a:ea typeface="Arial" pitchFamily="34" charset="-122"/>
                <a:cs typeface="Arial" pitchFamily="34" charset="-120"/>
              </a:rPr>
              <a:t>②</a:t>
            </a:r>
          </a:p>
          <a:p>
            <a:pPr marL="0" indent="0" algn="ctr">
              <a:buNone/>
            </a:pPr>
            <a:r>
              <a:rPr lang="en-US" sz="2400" b="1" dirty="0">
                <a:solidFill>
                  <a:schemeClr val="tx1"/>
                </a:solidFill>
                <a:latin typeface="Arial" pitchFamily="34" charset="0"/>
                <a:ea typeface="Arial" pitchFamily="34" charset="-122"/>
                <a:cs typeface="Arial" pitchFamily="34" charset="-120"/>
              </a:rPr>
              <a:t>Viability</a:t>
            </a:r>
            <a:endParaRPr lang="en-US" sz="2400" dirty="0"/>
          </a:p>
        </p:txBody>
      </p:sp>
      <p:sp>
        <p:nvSpPr>
          <p:cNvPr id="9" name="Text 7"/>
          <p:cNvSpPr txBox="1"/>
          <p:nvPr/>
        </p:nvSpPr>
        <p:spPr>
          <a:xfrm>
            <a:off x="1417320" y="4759693"/>
            <a:ext cx="2194560" cy="320040"/>
          </a:xfrm>
          <a:prstGeom prst="rect">
            <a:avLst/>
          </a:prstGeom>
          <a:noFill/>
          <a:ln/>
        </p:spPr>
        <p:txBody>
          <a:bodyPr wrap="square" lIns="0" tIns="0" rIns="0" bIns="0" rtlCol="0" anchor="ctr"/>
          <a:lstStyle/>
          <a:p>
            <a:pPr marL="0" indent="0" algn="ctr">
              <a:buNone/>
            </a:pPr>
            <a:r>
              <a:rPr lang="en-US" sz="2400" b="1" dirty="0">
                <a:solidFill>
                  <a:schemeClr val="tx1"/>
                </a:solidFill>
                <a:latin typeface="Arial" pitchFamily="34" charset="0"/>
                <a:ea typeface="Arial" pitchFamily="34" charset="-122"/>
                <a:cs typeface="Arial" pitchFamily="34" charset="-120"/>
              </a:rPr>
              <a:t>③</a:t>
            </a:r>
          </a:p>
          <a:p>
            <a:pPr marL="0" indent="0" algn="ctr">
              <a:buNone/>
            </a:pPr>
            <a:r>
              <a:rPr lang="en-US" sz="2400" b="1" dirty="0">
                <a:solidFill>
                  <a:schemeClr val="tx1"/>
                </a:solidFill>
                <a:latin typeface="Arial" pitchFamily="34" charset="0"/>
                <a:ea typeface="Arial" pitchFamily="34" charset="-122"/>
                <a:cs typeface="Arial" pitchFamily="34" charset="-120"/>
              </a:rPr>
              <a:t>Feasibility</a:t>
            </a:r>
            <a:endParaRPr lang="en-US" sz="2400" dirty="0"/>
          </a:p>
        </p:txBody>
      </p:sp>
      <p:sp>
        <p:nvSpPr>
          <p:cNvPr id="10" name="Text 8"/>
          <p:cNvSpPr txBox="1"/>
          <p:nvPr/>
        </p:nvSpPr>
        <p:spPr>
          <a:xfrm>
            <a:off x="2880360" y="3888606"/>
            <a:ext cx="1828800" cy="548640"/>
          </a:xfrm>
          <a:prstGeom prst="rect">
            <a:avLst/>
          </a:prstGeom>
          <a:noFill/>
          <a:ln/>
        </p:spPr>
        <p:txBody>
          <a:bodyPr wrap="square" lIns="0" tIns="0" rIns="0" bIns="0" rtlCol="0" anchor="ctr"/>
          <a:lstStyle/>
          <a:p>
            <a:pPr marL="0" indent="0" algn="ctr">
              <a:buNone/>
            </a:pPr>
            <a:r>
              <a:rPr lang="en-US" sz="2600" b="1" dirty="0">
                <a:solidFill>
                  <a:schemeClr val="tx1"/>
                </a:solidFill>
                <a:latin typeface="Arial" pitchFamily="34" charset="0"/>
                <a:ea typeface="Arial" pitchFamily="34" charset="-122"/>
                <a:cs typeface="Arial" pitchFamily="34" charset="-120"/>
              </a:rPr>
              <a:t>r</a:t>
            </a:r>
            <a:r>
              <a:rPr lang="en-US" sz="2600" b="1" dirty="0">
                <a:solidFill>
                  <a:schemeClr val="accent1"/>
                </a:solidFill>
                <a:latin typeface="Arial" pitchFamily="34" charset="0"/>
                <a:ea typeface="Arial" pitchFamily="34" charset="-122"/>
                <a:cs typeface="Arial" pitchFamily="34" charset="-120"/>
              </a:rPr>
              <a:t>AI</a:t>
            </a:r>
            <a:r>
              <a:rPr lang="en-US" sz="2600" b="1" dirty="0">
                <a:solidFill>
                  <a:schemeClr val="tx1"/>
                </a:solidFill>
                <a:latin typeface="Arial" pitchFamily="34" charset="0"/>
                <a:ea typeface="Arial" pitchFamily="34" charset="-122"/>
                <a:cs typeface="Arial" pitchFamily="34" charset="-120"/>
              </a:rPr>
              <a:t>ght</a:t>
            </a:r>
            <a:endParaRPr lang="en-US" sz="2600" dirty="0"/>
          </a:p>
        </p:txBody>
      </p:sp>
      <p:sp>
        <p:nvSpPr>
          <p:cNvPr id="11" name="Shape 9"/>
          <p:cNvSpPr/>
          <p:nvPr/>
        </p:nvSpPr>
        <p:spPr>
          <a:xfrm>
            <a:off x="6720840" y="1636776"/>
            <a:ext cx="347472" cy="347472"/>
          </a:xfrm>
          <a:prstGeom prst="ellipse">
            <a:avLst/>
          </a:prstGeom>
          <a:solidFill>
            <a:schemeClr val="accent1"/>
          </a:solidFill>
          <a:ln w="12700">
            <a:solidFill>
              <a:schemeClr val="accent1"/>
            </a:solidFill>
            <a:prstDash val="solid"/>
          </a:ln>
        </p:spPr>
        <p:txBody>
          <a:bodyPr/>
          <a:lstStyle/>
          <a:p>
            <a:endParaRPr lang="en-DE"/>
          </a:p>
        </p:txBody>
      </p:sp>
      <p:sp>
        <p:nvSpPr>
          <p:cNvPr id="12" name="Text 10"/>
          <p:cNvSpPr txBox="1"/>
          <p:nvPr/>
        </p:nvSpPr>
        <p:spPr>
          <a:xfrm>
            <a:off x="6720840" y="1636776"/>
            <a:ext cx="347472" cy="347472"/>
          </a:xfrm>
          <a:prstGeom prst="rect">
            <a:avLst/>
          </a:prstGeom>
          <a:noFill/>
          <a:ln/>
        </p:spPr>
        <p:txBody>
          <a:bodyPr wrap="square" lIns="0" tIns="0" rIns="0" bIns="0" rtlCol="0" anchor="ctr"/>
          <a:lstStyle/>
          <a:p>
            <a:pPr marL="0" indent="0" algn="ctr">
              <a:buNone/>
            </a:pPr>
            <a:r>
              <a:rPr lang="en-US" sz="1200" b="1" dirty="0">
                <a:solidFill>
                  <a:schemeClr val="bg1"/>
                </a:solidFill>
                <a:latin typeface="Arial" pitchFamily="34" charset="0"/>
                <a:ea typeface="Arial" pitchFamily="34" charset="-122"/>
                <a:cs typeface="Arial" pitchFamily="34" charset="-120"/>
              </a:rPr>
              <a:t>1</a:t>
            </a:r>
            <a:endParaRPr lang="en-US" sz="1200" dirty="0"/>
          </a:p>
        </p:txBody>
      </p:sp>
      <p:sp>
        <p:nvSpPr>
          <p:cNvPr id="13" name="Text 11"/>
          <p:cNvSpPr txBox="1"/>
          <p:nvPr/>
        </p:nvSpPr>
        <p:spPr>
          <a:xfrm>
            <a:off x="7223760" y="1600200"/>
            <a:ext cx="4416552" cy="685800"/>
          </a:xfrm>
          <a:prstGeom prst="rect">
            <a:avLst/>
          </a:prstGeom>
          <a:noFill/>
          <a:ln/>
        </p:spPr>
        <p:txBody>
          <a:bodyPr wrap="square" lIns="0" tIns="0" rIns="0" bIns="0" rtlCol="0" anchor="t"/>
          <a:lstStyle/>
          <a:p>
            <a:pPr marL="0" indent="0">
              <a:buNone/>
            </a:pPr>
            <a:r>
              <a:rPr lang="en-US" sz="1250" b="1" dirty="0">
                <a:solidFill>
                  <a:schemeClr val="tx1"/>
                </a:solidFill>
                <a:latin typeface="Calibri" pitchFamily="34" charset="0"/>
                <a:ea typeface="Calibri" pitchFamily="34" charset="-122"/>
                <a:cs typeface="Calibri" pitchFamily="34" charset="-120"/>
              </a:rPr>
              <a:t>Desirability: </a:t>
            </a:r>
            <a:r>
              <a:rPr lang="en-US" sz="1250" dirty="0">
                <a:solidFill>
                  <a:schemeClr val="tx1"/>
                </a:solidFill>
                <a:latin typeface="Calibri" pitchFamily="34" charset="0"/>
                <a:ea typeface="Calibri" pitchFamily="34" charset="-122"/>
                <a:cs typeface="Calibri" pitchFamily="34" charset="-120"/>
              </a:rPr>
              <a:t>Lena keeps control and gets guidance instead of rules from above</a:t>
            </a:r>
            <a:endParaRPr lang="en-US" sz="1250" dirty="0"/>
          </a:p>
        </p:txBody>
      </p:sp>
      <p:sp>
        <p:nvSpPr>
          <p:cNvPr id="14" name="Shape 12"/>
          <p:cNvSpPr/>
          <p:nvPr/>
        </p:nvSpPr>
        <p:spPr>
          <a:xfrm>
            <a:off x="6720840" y="2414016"/>
            <a:ext cx="347472" cy="347472"/>
          </a:xfrm>
          <a:prstGeom prst="ellipse">
            <a:avLst/>
          </a:prstGeom>
          <a:solidFill>
            <a:schemeClr val="accent1"/>
          </a:solidFill>
          <a:ln w="12700">
            <a:solidFill>
              <a:schemeClr val="accent1"/>
            </a:solidFill>
            <a:prstDash val="solid"/>
          </a:ln>
        </p:spPr>
        <p:txBody>
          <a:bodyPr/>
          <a:lstStyle/>
          <a:p>
            <a:endParaRPr lang="en-DE"/>
          </a:p>
        </p:txBody>
      </p:sp>
      <p:sp>
        <p:nvSpPr>
          <p:cNvPr id="15" name="Text 13"/>
          <p:cNvSpPr txBox="1"/>
          <p:nvPr/>
        </p:nvSpPr>
        <p:spPr>
          <a:xfrm>
            <a:off x="6720840" y="2414016"/>
            <a:ext cx="347472" cy="347472"/>
          </a:xfrm>
          <a:prstGeom prst="rect">
            <a:avLst/>
          </a:prstGeom>
          <a:noFill/>
          <a:ln/>
        </p:spPr>
        <p:txBody>
          <a:bodyPr wrap="square" lIns="0" tIns="0" rIns="0" bIns="0" rtlCol="0" anchor="ctr"/>
          <a:lstStyle/>
          <a:p>
            <a:pPr marL="0" indent="0" algn="ctr">
              <a:buNone/>
            </a:pPr>
            <a:r>
              <a:rPr lang="en-US" sz="1200" b="1" dirty="0">
                <a:solidFill>
                  <a:schemeClr val="bg1"/>
                </a:solidFill>
                <a:latin typeface="Arial" pitchFamily="34" charset="0"/>
                <a:ea typeface="Arial" pitchFamily="34" charset="-122"/>
                <a:cs typeface="Arial" pitchFamily="34" charset="-120"/>
              </a:rPr>
              <a:t>2</a:t>
            </a:r>
            <a:endParaRPr lang="en-US" sz="1200" dirty="0"/>
          </a:p>
        </p:txBody>
      </p:sp>
      <p:sp>
        <p:nvSpPr>
          <p:cNvPr id="16" name="Text 14"/>
          <p:cNvSpPr txBox="1"/>
          <p:nvPr/>
        </p:nvSpPr>
        <p:spPr>
          <a:xfrm>
            <a:off x="7223760" y="2377440"/>
            <a:ext cx="4416552" cy="685800"/>
          </a:xfrm>
          <a:prstGeom prst="rect">
            <a:avLst/>
          </a:prstGeom>
          <a:noFill/>
          <a:ln/>
        </p:spPr>
        <p:txBody>
          <a:bodyPr wrap="square" lIns="0" tIns="0" rIns="0" bIns="0" rtlCol="0" anchor="t"/>
          <a:lstStyle/>
          <a:p>
            <a:pPr marL="0" indent="0">
              <a:buNone/>
            </a:pPr>
            <a:r>
              <a:rPr lang="en-US" sz="1250" b="1" dirty="0">
                <a:solidFill>
                  <a:schemeClr val="tx1"/>
                </a:solidFill>
                <a:latin typeface="Calibri" pitchFamily="34" charset="0"/>
                <a:ea typeface="Calibri" pitchFamily="34" charset="-122"/>
                <a:cs typeface="Calibri" pitchFamily="34" charset="-120"/>
              </a:rPr>
              <a:t>Viability: </a:t>
            </a:r>
            <a:r>
              <a:rPr lang="en-US" sz="1250" dirty="0">
                <a:solidFill>
                  <a:schemeClr val="tx1"/>
                </a:solidFill>
                <a:latin typeface="Calibri" pitchFamily="34" charset="0"/>
                <a:ea typeface="Calibri" pitchFamily="34" charset="-122"/>
                <a:cs typeface="Calibri" pitchFamily="34" charset="-120"/>
              </a:rPr>
              <a:t>The CIO office </a:t>
            </a:r>
            <a:r>
              <a:rPr lang="en-US" sz="1250" dirty="0">
                <a:latin typeface="Calibri" pitchFamily="34" charset="0"/>
                <a:ea typeface="Calibri" pitchFamily="34" charset="-122"/>
                <a:cs typeface="Calibri" pitchFamily="34" charset="-120"/>
              </a:rPr>
              <a:t>creates an Autonomous Enterprise </a:t>
            </a:r>
            <a:r>
              <a:rPr lang="en-US" sz="1250" dirty="0">
                <a:solidFill>
                  <a:schemeClr val="tx1"/>
                </a:solidFill>
                <a:latin typeface="Calibri" pitchFamily="34" charset="0"/>
                <a:ea typeface="Calibri" pitchFamily="34" charset="-122"/>
                <a:cs typeface="Calibri" pitchFamily="34" charset="-120"/>
              </a:rPr>
              <a:t>without footprint (energy &amp; CO</a:t>
            </a:r>
            <a:r>
              <a:rPr lang="en-US" sz="1250" baseline="-25000" dirty="0">
                <a:solidFill>
                  <a:schemeClr val="tx1"/>
                </a:solidFill>
                <a:latin typeface="Calibri" pitchFamily="34" charset="0"/>
                <a:ea typeface="Calibri" pitchFamily="34" charset="-122"/>
                <a:cs typeface="Calibri" pitchFamily="34" charset="-120"/>
              </a:rPr>
              <a:t>2</a:t>
            </a:r>
            <a:r>
              <a:rPr lang="en-US" sz="1250" dirty="0">
                <a:solidFill>
                  <a:schemeClr val="tx1"/>
                </a:solidFill>
                <a:latin typeface="Calibri" pitchFamily="34" charset="0"/>
                <a:ea typeface="Calibri" pitchFamily="34" charset="-122"/>
                <a:cs typeface="Calibri" pitchFamily="34" charset="-120"/>
              </a:rPr>
              <a:t>) growth – and lower cost</a:t>
            </a:r>
            <a:endParaRPr lang="en-US" sz="1250" dirty="0"/>
          </a:p>
        </p:txBody>
      </p:sp>
      <p:sp>
        <p:nvSpPr>
          <p:cNvPr id="17" name="Shape 15"/>
          <p:cNvSpPr/>
          <p:nvPr/>
        </p:nvSpPr>
        <p:spPr>
          <a:xfrm>
            <a:off x="6720840" y="3191256"/>
            <a:ext cx="347472" cy="347472"/>
          </a:xfrm>
          <a:prstGeom prst="ellipse">
            <a:avLst/>
          </a:prstGeom>
          <a:solidFill>
            <a:schemeClr val="accent1"/>
          </a:solidFill>
          <a:ln w="12700">
            <a:solidFill>
              <a:schemeClr val="accent1"/>
            </a:solidFill>
            <a:prstDash val="solid"/>
          </a:ln>
        </p:spPr>
        <p:txBody>
          <a:bodyPr/>
          <a:lstStyle/>
          <a:p>
            <a:endParaRPr lang="en-DE"/>
          </a:p>
        </p:txBody>
      </p:sp>
      <p:sp>
        <p:nvSpPr>
          <p:cNvPr id="18" name="Text 16"/>
          <p:cNvSpPr txBox="1"/>
          <p:nvPr/>
        </p:nvSpPr>
        <p:spPr>
          <a:xfrm>
            <a:off x="6720840" y="3191256"/>
            <a:ext cx="347472" cy="347472"/>
          </a:xfrm>
          <a:prstGeom prst="rect">
            <a:avLst/>
          </a:prstGeom>
          <a:noFill/>
          <a:ln/>
        </p:spPr>
        <p:txBody>
          <a:bodyPr wrap="square" lIns="0" tIns="0" rIns="0" bIns="0" rtlCol="0" anchor="ctr"/>
          <a:lstStyle/>
          <a:p>
            <a:pPr marL="0" indent="0" algn="ctr">
              <a:buNone/>
            </a:pPr>
            <a:r>
              <a:rPr lang="en-US" sz="1200" b="1" dirty="0">
                <a:solidFill>
                  <a:schemeClr val="bg1"/>
                </a:solidFill>
                <a:latin typeface="Arial" pitchFamily="34" charset="0"/>
                <a:ea typeface="Arial" pitchFamily="34" charset="-122"/>
                <a:cs typeface="Arial" pitchFamily="34" charset="-120"/>
              </a:rPr>
              <a:t>3</a:t>
            </a:r>
            <a:endParaRPr lang="en-US" sz="1200" dirty="0"/>
          </a:p>
        </p:txBody>
      </p:sp>
      <p:sp>
        <p:nvSpPr>
          <p:cNvPr id="19" name="Text 17"/>
          <p:cNvSpPr txBox="1"/>
          <p:nvPr/>
        </p:nvSpPr>
        <p:spPr>
          <a:xfrm>
            <a:off x="7223760" y="3154680"/>
            <a:ext cx="4416552" cy="685800"/>
          </a:xfrm>
          <a:prstGeom prst="rect">
            <a:avLst/>
          </a:prstGeom>
          <a:noFill/>
          <a:ln/>
        </p:spPr>
        <p:txBody>
          <a:bodyPr wrap="square" lIns="0" tIns="0" rIns="0" bIns="0" rtlCol="0" anchor="t"/>
          <a:lstStyle/>
          <a:p>
            <a:pPr marL="0" indent="0">
              <a:buNone/>
            </a:pPr>
            <a:r>
              <a:rPr lang="en-US" sz="1250" b="1" dirty="0">
                <a:solidFill>
                  <a:schemeClr val="tx1"/>
                </a:solidFill>
                <a:latin typeface="Calibri" pitchFamily="34" charset="0"/>
                <a:ea typeface="Calibri" pitchFamily="34" charset="-122"/>
                <a:cs typeface="Calibri" pitchFamily="34" charset="-120"/>
              </a:rPr>
              <a:t>Feasibility: </a:t>
            </a:r>
            <a:r>
              <a:rPr lang="en-US" sz="1250" dirty="0">
                <a:solidFill>
                  <a:schemeClr val="tx1"/>
                </a:solidFill>
                <a:latin typeface="Calibri" pitchFamily="34" charset="0"/>
                <a:ea typeface="Calibri" pitchFamily="34" charset="-122"/>
                <a:cs typeface="Calibri" pitchFamily="34" charset="-120"/>
              </a:rPr>
              <a:t>Built on logs and low-code tools SAP already has – release 1 needs no new data</a:t>
            </a:r>
            <a:endParaRPr lang="en-US" sz="1250" dirty="0"/>
          </a:p>
        </p:txBody>
      </p:sp>
      <p:sp>
        <p:nvSpPr>
          <p:cNvPr id="20" name="feedback questions"/>
          <p:cNvSpPr/>
          <p:nvPr/>
        </p:nvSpPr>
        <p:spPr>
          <a:xfrm>
            <a:off x="6720840" y="4023360"/>
            <a:ext cx="4919472" cy="1600200"/>
          </a:xfrm>
          <a:prstGeom prst="rect">
            <a:avLst/>
          </a:prstGeom>
          <a:solidFill>
            <a:schemeClr val="bg2"/>
          </a:solidFill>
          <a:ln w="12700">
            <a:solidFill>
              <a:schemeClr val="bg2"/>
            </a:solidFill>
            <a:prstDash val="solid"/>
          </a:ln>
        </p:spPr>
        <p:txBody>
          <a:bodyPr/>
          <a:lstStyle/>
          <a:p>
            <a:endParaRPr lang="en-DE"/>
          </a:p>
        </p:txBody>
      </p:sp>
      <p:sp>
        <p:nvSpPr>
          <p:cNvPr id="21" name="Text 19"/>
          <p:cNvSpPr txBox="1"/>
          <p:nvPr/>
        </p:nvSpPr>
        <p:spPr>
          <a:xfrm>
            <a:off x="6903720" y="4133088"/>
            <a:ext cx="4572000" cy="228600"/>
          </a:xfrm>
          <a:prstGeom prst="rect">
            <a:avLst/>
          </a:prstGeom>
          <a:noFill/>
          <a:ln/>
        </p:spPr>
        <p:txBody>
          <a:bodyPr wrap="square" lIns="0" tIns="0" rIns="0" bIns="0" rtlCol="0" anchor="ctr"/>
          <a:lstStyle/>
          <a:p>
            <a:pPr marL="0" indent="0">
              <a:buNone/>
            </a:pPr>
            <a:r>
              <a:rPr lang="en-US" sz="900" b="1" kern="0" spc="200" dirty="0">
                <a:solidFill>
                  <a:schemeClr val="accent1"/>
                </a:solidFill>
                <a:latin typeface="Arial" pitchFamily="34" charset="0"/>
                <a:ea typeface="Arial" pitchFamily="34" charset="-122"/>
                <a:cs typeface="Arial" pitchFamily="34" charset="-120"/>
              </a:rPr>
              <a:t>WE WOULD LIKE YOUR FEEDBACK ON</a:t>
            </a:r>
            <a:endParaRPr lang="en-US" sz="900" dirty="0"/>
          </a:p>
        </p:txBody>
      </p:sp>
      <p:sp>
        <p:nvSpPr>
          <p:cNvPr id="22" name="Text 20"/>
          <p:cNvSpPr txBox="1"/>
          <p:nvPr/>
        </p:nvSpPr>
        <p:spPr>
          <a:xfrm>
            <a:off x="6903720" y="4434840"/>
            <a:ext cx="4572000" cy="1097280"/>
          </a:xfrm>
          <a:prstGeom prst="rect">
            <a:avLst/>
          </a:prstGeom>
          <a:noFill/>
          <a:ln/>
        </p:spPr>
        <p:txBody>
          <a:bodyPr wrap="square" lIns="0" tIns="0" rIns="0" bIns="0" rtlCol="0" anchor="t"/>
          <a:lstStyle/>
          <a:p>
            <a:pPr marL="342900" indent="-342900">
              <a:spcAft>
                <a:spcPts val="600"/>
              </a:spcAft>
              <a:buSzPct val="100000"/>
              <a:buFont typeface="+mj-lt"/>
              <a:buAutoNum type="arabicPeriod"/>
            </a:pPr>
            <a:r>
              <a:rPr lang="en-US" sz="1250" dirty="0">
                <a:solidFill>
                  <a:schemeClr val="tx1"/>
                </a:solidFill>
                <a:latin typeface="Calibri" pitchFamily="34" charset="0"/>
                <a:ea typeface="Calibri" pitchFamily="34" charset="-122"/>
                <a:cs typeface="Calibri" pitchFamily="34" charset="-120"/>
              </a:rPr>
              <a:t>Is self-applied triage enough, or does Lena need a light check?</a:t>
            </a:r>
            <a:endParaRPr lang="en-US" sz="1250" dirty="0"/>
          </a:p>
          <a:p>
            <a:pPr marL="342900" indent="-342900">
              <a:buSzPct val="100000"/>
              <a:buFont typeface="+mj-lt"/>
              <a:buAutoNum type="arabicPeriod"/>
            </a:pPr>
            <a:r>
              <a:rPr lang="en-US" sz="1250" dirty="0">
                <a:solidFill>
                  <a:schemeClr val="tx1"/>
                </a:solidFill>
                <a:latin typeface="Calibri" pitchFamily="34" charset="0"/>
                <a:ea typeface="Calibri" pitchFamily="34" charset="-122"/>
                <a:cs typeface="Calibri" pitchFamily="34" charset="-120"/>
              </a:rPr>
              <a:t>Which incentive would really make process owners convert their agents?</a:t>
            </a:r>
            <a:endParaRPr lang="en-US" sz="1250" dirty="0"/>
          </a:p>
        </p:txBody>
      </p:sp>
      <p:sp>
        <p:nvSpPr>
          <p:cNvPr id="23" name="Text 21"/>
          <p:cNvSpPr txBox="1"/>
          <p:nvPr/>
        </p:nvSpPr>
        <p:spPr>
          <a:xfrm>
            <a:off x="6720840" y="5760720"/>
            <a:ext cx="4919472" cy="411480"/>
          </a:xfrm>
          <a:prstGeom prst="rect">
            <a:avLst/>
          </a:prstGeom>
          <a:noFill/>
          <a:ln/>
        </p:spPr>
        <p:txBody>
          <a:bodyPr wrap="square" lIns="0" tIns="0" rIns="0" bIns="0" rtlCol="0" anchor="ctr"/>
          <a:lstStyle/>
          <a:p>
            <a:pPr marL="0" indent="0">
              <a:buNone/>
            </a:pPr>
            <a:r>
              <a:rPr lang="en-US" sz="1800" b="1" i="1" dirty="0">
                <a:solidFill>
                  <a:schemeClr val="accent1"/>
                </a:solidFill>
                <a:latin typeface="Arial" pitchFamily="34" charset="0"/>
                <a:ea typeface="Arial" pitchFamily="34" charset="-122"/>
                <a:cs typeface="Arial" pitchFamily="34" charset="-120"/>
              </a:rPr>
              <a:t>Agents explore. Workflows execute.</a:t>
            </a:r>
            <a:endParaRPr lang="en-US" sz="1800" dirty="0"/>
          </a:p>
        </p:txBody>
      </p:sp>
      <p:sp>
        <p:nvSpPr>
          <p:cNvPr id="25"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E6A"/>
                </a:solidFill>
                <a:latin typeface="Calibri"/>
                <a:ea typeface="Calibri"/>
                <a:cs typeface="Calibri"/>
              </a:defRPr>
            </a:lvl1pPr>
          </a:lstStyle>
          <a:p>
            <a:pPr algn="r"/>
            <a:fld id="{F7021451-1387-4CA6-816F-3879F97B5CBC}" type="slidenum">
              <a:rPr lang="en-US" b="0"/>
              <a:t>7</a:t>
            </a:fld>
            <a:endParaRPr lang="en-US"/>
          </a:p>
        </p:txBody>
      </p:sp>
      <p:pic>
        <p:nvPicPr>
          <p:cNvPr id="24" name="Picture 23" descr="▷ Daisy Duck: Animierte Bilder, Gifs, Animationen ...">
            <a:extLst>
              <a:ext uri="{FF2B5EF4-FFF2-40B4-BE49-F238E27FC236}">
                <a16:creationId xmlns:a16="http://schemas.microsoft.com/office/drawing/2014/main" id="{D7C75617-BE3D-B06F-E009-ABA4691392C1}"/>
              </a:ext>
            </a:extLst>
          </p:cNvPr>
          <p:cNvPicPr>
            <a:picLocks noChangeAspect="1"/>
          </p:cNvPicPr>
          <p:nvPr/>
        </p:nvPicPr>
        <p:blipFill>
          <a:blip r:embed="rId3"/>
          <a:stretch>
            <a:fillRect/>
          </a:stretch>
        </p:blipFill>
        <p:spPr>
          <a:xfrm>
            <a:off x="10546080" y="5443220"/>
            <a:ext cx="1066800" cy="12319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10058400" cy="274320"/>
          </a:xfrm>
          <a:prstGeom prst="rect">
            <a:avLst/>
          </a:prstGeom>
          <a:noFill/>
          <a:ln/>
        </p:spPr>
        <p:txBody>
          <a:bodyPr wrap="square" lIns="0" tIns="0" rIns="0" bIns="0" rtlCol="0"/>
          <a:lstStyle/>
          <a:p>
            <a:pPr marL="0" indent="0">
              <a:buNone/>
            </a:pPr>
            <a:r>
              <a:rPr lang="en-US" sz="1100" b="1" kern="0" spc="200" dirty="0">
                <a:solidFill>
                  <a:schemeClr val="accent1"/>
                </a:solidFill>
                <a:latin typeface="Arial" pitchFamily="34" charset="0"/>
                <a:ea typeface="Arial" pitchFamily="34" charset="-122"/>
                <a:cs typeface="Arial" pitchFamily="34" charset="-120"/>
              </a:rPr>
              <a:t>APPENDIX A1  ·  USER STORIES</a:t>
            </a:r>
            <a:endParaRPr lang="en-US" sz="1100" dirty="0"/>
          </a:p>
        </p:txBody>
      </p:sp>
      <p:sp>
        <p:nvSpPr>
          <p:cNvPr id="3" name="Text 0"/>
          <p:cNvSpPr>
            <a:spLocks noGrp="1"/>
          </p:cNvSpPr>
          <p:nvPr>
            <p:ph type="title" idx="101" hasCustomPrompt="1"/>
          </p:nvPr>
        </p:nvSpPr>
        <p:spPr>
          <a:xfrm>
            <a:off x="548640" y="640080"/>
            <a:ext cx="11064240" cy="685800"/>
          </a:xfrm>
          <a:prstGeom prst="rect">
            <a:avLst/>
          </a:prstGeom>
          <a:noFill/>
          <a:ln/>
        </p:spPr>
        <p:txBody>
          <a:bodyPr wrap="square" lIns="0" tIns="0" rIns="0" bIns="0" rtlCol="0" anchor="t"/>
          <a:lstStyle/>
          <a:p>
            <a:pPr marL="0" indent="0" algn="l">
              <a:buNone/>
            </a:pPr>
            <a:r>
              <a:rPr lang="en-US" sz="2600" b="1" dirty="0">
                <a:solidFill>
                  <a:schemeClr val="tx1"/>
                </a:solidFill>
                <a:latin typeface="Arial" pitchFamily="34" charset="0"/>
                <a:ea typeface="Arial" pitchFamily="34" charset="-122"/>
                <a:cs typeface="Arial" pitchFamily="34" charset="-120"/>
              </a:rPr>
              <a:t>User stories behind the map</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4224528"/>
        </p:xfrm>
        <a:graphic>
          <a:graphicData uri="http://schemas.openxmlformats.org/drawingml/2006/table">
            <a:tbl>
              <a:tblPr/>
              <a:tblGrid>
                <a:gridCol w="8229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4233672">
                  <a:extLst>
                    <a:ext uri="{9D8B030D-6E8A-4147-A177-3AD203B41FA5}">
                      <a16:colId xmlns:a16="http://schemas.microsoft.com/office/drawing/2014/main" val="20003"/>
                    </a:ext>
                  </a:extLst>
                </a:gridCol>
              </a:tblGrid>
              <a:tr h="384048">
                <a:tc>
                  <a:txBody>
                    <a:bodyPr/>
                    <a:lstStyle/>
                    <a:p>
                      <a:pPr marL="0" indent="0">
                        <a:buNone/>
                      </a:pPr>
                      <a:r>
                        <a:rPr lang="en-US" sz="1000" b="1" dirty="0">
                          <a:solidFill>
                            <a:schemeClr val="bg1"/>
                          </a:solidFill>
                          <a:latin typeface="Arial" pitchFamily="34" charset="0"/>
                          <a:ea typeface="Arial" pitchFamily="34" charset="-122"/>
                          <a:cs typeface="Arial" pitchFamily="34" charset="-120"/>
                        </a:rPr>
                        <a:t>Release</a:t>
                      </a:r>
                      <a:endParaRPr lang="en-US" sz="1000" dirty="0">
                        <a:latin typeface="Arial" charset="0"/>
                        <a:ea typeface="Arial" charset="0"/>
                        <a:cs typeface="Arial"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chemeClr val="accent1"/>
                    </a:solidFill>
                  </a:tcPr>
                </a:tc>
                <a:tc>
                  <a:txBody>
                    <a:bodyPr/>
                    <a:lstStyle/>
                    <a:p>
                      <a:pPr marL="0" indent="0">
                        <a:buNone/>
                      </a:pPr>
                      <a:r>
                        <a:rPr lang="en-US" sz="1000" b="1" dirty="0">
                          <a:solidFill>
                            <a:schemeClr val="bg1"/>
                          </a:solidFill>
                          <a:latin typeface="Arial" pitchFamily="34" charset="0"/>
                          <a:ea typeface="Arial" pitchFamily="34" charset="-122"/>
                          <a:cs typeface="Arial" pitchFamily="34" charset="-120"/>
                        </a:rPr>
                        <a:t>Activity</a:t>
                      </a:r>
                      <a:endParaRPr lang="en-US" sz="1000" dirty="0">
                        <a:latin typeface="Arial" charset="0"/>
                        <a:ea typeface="Arial" charset="0"/>
                        <a:cs typeface="Arial"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chemeClr val="accent1"/>
                    </a:solidFill>
                  </a:tcPr>
                </a:tc>
                <a:tc>
                  <a:txBody>
                    <a:bodyPr/>
                    <a:lstStyle/>
                    <a:p>
                      <a:pPr marL="0" indent="0">
                        <a:buNone/>
                      </a:pPr>
                      <a:r>
                        <a:rPr lang="en-US" sz="1000" b="1" dirty="0">
                          <a:solidFill>
                            <a:schemeClr val="bg1"/>
                          </a:solidFill>
                          <a:latin typeface="Arial" pitchFamily="34" charset="0"/>
                          <a:ea typeface="Arial" pitchFamily="34" charset="-122"/>
                          <a:cs typeface="Arial" pitchFamily="34" charset="-120"/>
                        </a:rPr>
                        <a:t>As Lena, I want …</a:t>
                      </a:r>
                      <a:endParaRPr lang="en-US" sz="1000" dirty="0">
                        <a:latin typeface="Arial" charset="0"/>
                        <a:ea typeface="Arial" charset="0"/>
                        <a:cs typeface="Arial"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chemeClr val="accent1"/>
                    </a:solidFill>
                  </a:tcPr>
                </a:tc>
                <a:tc>
                  <a:txBody>
                    <a:bodyPr/>
                    <a:lstStyle/>
                    <a:p>
                      <a:pPr marL="0" indent="0">
                        <a:buNone/>
                      </a:pPr>
                      <a:r>
                        <a:rPr lang="en-US" sz="1000" b="1" dirty="0">
                          <a:solidFill>
                            <a:schemeClr val="bg1"/>
                          </a:solidFill>
                          <a:latin typeface="Arial" pitchFamily="34" charset="0"/>
                          <a:ea typeface="Arial" pitchFamily="34" charset="-122"/>
                          <a:cs typeface="Arial" pitchFamily="34" charset="-120"/>
                        </a:rPr>
                        <a:t>… so that</a:t>
                      </a:r>
                      <a:endParaRPr lang="en-US" sz="1000" dirty="0">
                        <a:latin typeface="Arial" charset="0"/>
                        <a:ea typeface="Arial" charset="0"/>
                        <a:cs typeface="Arial"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84048">
                <a:tc>
                  <a:txBody>
                    <a:bodyPr/>
                    <a:lstStyle/>
                    <a:p>
                      <a:pPr marL="0" indent="0">
                        <a:buNone/>
                      </a:pPr>
                      <a:r>
                        <a:rPr lang="en-US" sz="1050" b="1" dirty="0">
                          <a:solidFill>
                            <a:schemeClr val="tx1"/>
                          </a:solidFill>
                          <a:latin typeface="Calibri" pitchFamily="34" charset="0"/>
                          <a:ea typeface="Calibri" pitchFamily="34" charset="-122"/>
                          <a:cs typeface="Calibri" pitchFamily="34" charset="-120"/>
                        </a:rPr>
                        <a:t>R1</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Get started</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a short ladder module with recruiting cases</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I recognise when a workflow is enough</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extLst>
                  <a:ext uri="{0D108BD9-81ED-4DB2-BD59-A6C34878D82A}">
                    <a16:rowId xmlns:a16="http://schemas.microsoft.com/office/drawing/2014/main" val="10001"/>
                  </a:ext>
                </a:extLst>
              </a:tr>
              <a:tr h="384048">
                <a:tc>
                  <a:txBody>
                    <a:bodyPr/>
                    <a:lstStyle/>
                    <a:p>
                      <a:pPr marL="0" indent="0">
                        <a:buNone/>
                      </a:pPr>
                      <a:r>
                        <a:rPr lang="en-US" sz="1050" b="1" dirty="0">
                          <a:solidFill>
                            <a:schemeClr val="tx1"/>
                          </a:solidFill>
                          <a:latin typeface="Calibri" pitchFamily="34" charset="0"/>
                          <a:ea typeface="Calibri" pitchFamily="34" charset="-122"/>
                          <a:cs typeface="Calibri" pitchFamily="34" charset="-120"/>
                        </a:rPr>
                        <a:t>R1</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Plan</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the triage questions on one page</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I can apply them without help</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050" b="1" dirty="0">
                          <a:solidFill>
                            <a:schemeClr val="tx1"/>
                          </a:solidFill>
                          <a:latin typeface="Calibri" pitchFamily="34" charset="0"/>
                          <a:ea typeface="Calibri" pitchFamily="34" charset="-122"/>
                          <a:cs typeface="Calibri" pitchFamily="34" charset="-120"/>
                        </a:rPr>
                        <a:t>R1</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Build</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to note in one line why I chose an agent</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I can revisit the choice later</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extLst>
                  <a:ext uri="{0D108BD9-81ED-4DB2-BD59-A6C34878D82A}">
                    <a16:rowId xmlns:a16="http://schemas.microsoft.com/office/drawing/2014/main" val="10003"/>
                  </a:ext>
                </a:extLst>
              </a:tr>
              <a:tr h="384048">
                <a:tc>
                  <a:txBody>
                    <a:bodyPr/>
                    <a:lstStyle/>
                    <a:p>
                      <a:pPr marL="0" indent="0">
                        <a:buNone/>
                      </a:pPr>
                      <a:r>
                        <a:rPr lang="en-US" sz="1050" b="1" dirty="0">
                          <a:solidFill>
                            <a:schemeClr val="tx1"/>
                          </a:solidFill>
                          <a:latin typeface="Calibri" pitchFamily="34" charset="0"/>
                          <a:ea typeface="Calibri" pitchFamily="34" charset="-122"/>
                          <a:cs typeface="Calibri" pitchFamily="34" charset="-120"/>
                        </a:rPr>
                        <a:t>R1</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Run</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every run to be logged automatically</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I can see what my automations do</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050" b="1" dirty="0">
                          <a:solidFill>
                            <a:schemeClr val="tx1"/>
                          </a:solidFill>
                          <a:latin typeface="Calibri" pitchFamily="34" charset="0"/>
                          <a:ea typeface="Calibri" pitchFamily="34" charset="-122"/>
                          <a:cs typeface="Calibri" pitchFamily="34" charset="-120"/>
                        </a:rPr>
                        <a:t>R1</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Review</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token usage and same-path share per agent</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I see which agents act like workflows</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extLst>
                  <a:ext uri="{0D108BD9-81ED-4DB2-BD59-A6C34878D82A}">
                    <a16:rowId xmlns:a16="http://schemas.microsoft.com/office/drawing/2014/main" val="10005"/>
                  </a:ext>
                </a:extLst>
              </a:tr>
              <a:tr h="384048">
                <a:tc>
                  <a:txBody>
                    <a:bodyPr/>
                    <a:lstStyle/>
                    <a:p>
                      <a:pPr marL="0" indent="0">
                        <a:buNone/>
                      </a:pPr>
                      <a:r>
                        <a:rPr lang="en-US" sz="1050" b="1" dirty="0">
                          <a:solidFill>
                            <a:schemeClr val="tx1"/>
                          </a:solidFill>
                          <a:latin typeface="Calibri" pitchFamily="34" charset="0"/>
                          <a:ea typeface="Calibri" pitchFamily="34" charset="-122"/>
                          <a:cs typeface="Calibri" pitchFamily="34" charset="-120"/>
                        </a:rPr>
                        <a:t>R1</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Improve</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to retire an unused agent</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it stops consuming resources</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050" b="1" dirty="0">
                          <a:solidFill>
                            <a:schemeClr val="tx1"/>
                          </a:solidFill>
                          <a:latin typeface="Calibri" pitchFamily="34" charset="0"/>
                          <a:ea typeface="Calibri" pitchFamily="34" charset="-122"/>
                          <a:cs typeface="Calibri" pitchFamily="34" charset="-120"/>
                        </a:rPr>
                        <a:t>R2</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Plan / Build</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the triage inside the build tool and workflow templates</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the lean option is the easy option</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extLst>
                  <a:ext uri="{0D108BD9-81ED-4DB2-BD59-A6C34878D82A}">
                    <a16:rowId xmlns:a16="http://schemas.microsoft.com/office/drawing/2014/main" val="10007"/>
                  </a:ext>
                </a:extLst>
              </a:tr>
              <a:tr h="384048">
                <a:tc>
                  <a:txBody>
                    <a:bodyPr/>
                    <a:lstStyle/>
                    <a:p>
                      <a:pPr marL="0" indent="0">
                        <a:buNone/>
                      </a:pPr>
                      <a:r>
                        <a:rPr lang="en-US" sz="1050" b="1" dirty="0">
                          <a:solidFill>
                            <a:schemeClr val="tx1"/>
                          </a:solidFill>
                          <a:latin typeface="Calibri" pitchFamily="34" charset="0"/>
                          <a:ea typeface="Calibri" pitchFamily="34" charset="-122"/>
                          <a:cs typeface="Calibri" pitchFamily="34" charset="-120"/>
                        </a:rPr>
                        <a:t>R2</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Review</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a nudge when an agent is flagged</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I don’t have to check the dashboard all the time</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84048">
                <a:tc>
                  <a:txBody>
                    <a:bodyPr/>
                    <a:lstStyle/>
                    <a:p>
                      <a:pPr marL="0" indent="0">
                        <a:buNone/>
                      </a:pPr>
                      <a:r>
                        <a:rPr lang="en-US" sz="1050" b="1" dirty="0">
                          <a:solidFill>
                            <a:schemeClr val="tx1"/>
                          </a:solidFill>
                          <a:latin typeface="Calibri" pitchFamily="34" charset="0"/>
                          <a:ea typeface="Calibri" pitchFamily="34" charset="-122"/>
                          <a:cs typeface="Calibri" pitchFamily="34" charset="-120"/>
                        </a:rPr>
                        <a:t>R2</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Improve</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a draft workflow from my agent’s frequent paths</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I can convert it without a developer</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extLst>
                  <a:ext uri="{0D108BD9-81ED-4DB2-BD59-A6C34878D82A}">
                    <a16:rowId xmlns:a16="http://schemas.microsoft.com/office/drawing/2014/main" val="10009"/>
                  </a:ext>
                </a:extLst>
              </a:tr>
              <a:tr h="384048">
                <a:tc>
                  <a:txBody>
                    <a:bodyPr/>
                    <a:lstStyle/>
                    <a:p>
                      <a:pPr marL="0" indent="0">
                        <a:buNone/>
                      </a:pPr>
                      <a:r>
                        <a:rPr lang="en-US" sz="1050" b="1" dirty="0">
                          <a:solidFill>
                            <a:schemeClr val="tx1"/>
                          </a:solidFill>
                          <a:latin typeface="Calibri" pitchFamily="34" charset="0"/>
                          <a:ea typeface="Calibri" pitchFamily="34" charset="-122"/>
                          <a:cs typeface="Calibri" pitchFamily="34" charset="-120"/>
                        </a:rPr>
                        <a:t>R3</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Review / Improve</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usage against my unit’s carbon budget, and to share conversions</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my unit stays within budget and others learn from it</a:t>
                      </a:r>
                      <a:endParaRPr lang="en-US" sz="105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25"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E6A"/>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10058400" cy="274320"/>
          </a:xfrm>
          <a:prstGeom prst="rect">
            <a:avLst/>
          </a:prstGeom>
          <a:noFill/>
          <a:ln/>
        </p:spPr>
        <p:txBody>
          <a:bodyPr wrap="square" lIns="0" tIns="0" rIns="0" bIns="0" rtlCol="0"/>
          <a:lstStyle/>
          <a:p>
            <a:pPr marL="0" indent="0">
              <a:buNone/>
            </a:pPr>
            <a:r>
              <a:rPr lang="en-US" sz="1100" b="1" kern="0" spc="200" dirty="0">
                <a:solidFill>
                  <a:schemeClr val="accent1"/>
                </a:solidFill>
                <a:latin typeface="Arial" pitchFamily="34" charset="0"/>
                <a:ea typeface="Arial" pitchFamily="34" charset="-122"/>
                <a:cs typeface="Arial" pitchFamily="34" charset="-120"/>
              </a:rPr>
              <a:t>APPENDIX A2  ·  ASSUMPTIONS &amp; RISKS</a:t>
            </a:r>
            <a:endParaRPr lang="en-US" sz="1100" dirty="0"/>
          </a:p>
        </p:txBody>
      </p:sp>
      <p:sp>
        <p:nvSpPr>
          <p:cNvPr id="3" name="Text 0"/>
          <p:cNvSpPr>
            <a:spLocks noGrp="1"/>
          </p:cNvSpPr>
          <p:nvPr>
            <p:ph type="title" idx="101" hasCustomPrompt="1"/>
          </p:nvPr>
        </p:nvSpPr>
        <p:spPr>
          <a:xfrm>
            <a:off x="548640" y="640080"/>
            <a:ext cx="11064240" cy="685800"/>
          </a:xfrm>
          <a:prstGeom prst="rect">
            <a:avLst/>
          </a:prstGeom>
          <a:noFill/>
          <a:ln/>
        </p:spPr>
        <p:txBody>
          <a:bodyPr wrap="square" lIns="0" tIns="0" rIns="0" bIns="0" rtlCol="0" anchor="t"/>
          <a:lstStyle/>
          <a:p>
            <a:pPr marL="0" indent="0" algn="l">
              <a:buNone/>
            </a:pPr>
            <a:r>
              <a:rPr lang="en-US" sz="2600" b="1" dirty="0">
                <a:solidFill>
                  <a:schemeClr val="tx1"/>
                </a:solidFill>
                <a:latin typeface="Arial" pitchFamily="34" charset="0"/>
                <a:ea typeface="Arial" pitchFamily="34" charset="-122"/>
                <a:cs typeface="Arial" pitchFamily="34" charset="-120"/>
              </a:rPr>
              <a:t>What has to be true – and how we handle it if it isn’t</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3401568"/>
        </p:xfrm>
        <a:graphic>
          <a:graphicData uri="http://schemas.openxmlformats.org/drawingml/2006/table">
            <a:tbl>
              <a:tblPr/>
              <a:tblGrid>
                <a:gridCol w="411480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tblGrid>
              <a:tr h="566928">
                <a:tc>
                  <a:txBody>
                    <a:bodyPr/>
                    <a:lstStyle/>
                    <a:p>
                      <a:pPr marL="0" indent="0">
                        <a:buNone/>
                      </a:pPr>
                      <a:r>
                        <a:rPr lang="en-US" sz="1000" b="1" dirty="0">
                          <a:solidFill>
                            <a:schemeClr val="bg1"/>
                          </a:solidFill>
                          <a:latin typeface="Arial" pitchFamily="34" charset="0"/>
                          <a:ea typeface="Arial" pitchFamily="34" charset="-122"/>
                          <a:cs typeface="Arial" pitchFamily="34" charset="-120"/>
                        </a:rPr>
                        <a:t>Assumption / risk</a:t>
                      </a:r>
                      <a:endParaRPr lang="en-US" sz="1000" dirty="0">
                        <a:latin typeface="Arial" charset="0"/>
                        <a:ea typeface="Arial" charset="0"/>
                        <a:cs typeface="Arial" charset="0"/>
                      </a:endParaRPr>
                    </a:p>
                  </a:txBody>
                  <a:tcPr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chemeClr val="accent1"/>
                    </a:solidFill>
                  </a:tcPr>
                </a:tc>
                <a:tc>
                  <a:txBody>
                    <a:bodyPr/>
                    <a:lstStyle/>
                    <a:p>
                      <a:pPr marL="0" indent="0">
                        <a:buNone/>
                      </a:pPr>
                      <a:r>
                        <a:rPr lang="en-US" sz="1000" b="1" dirty="0">
                          <a:solidFill>
                            <a:schemeClr val="bg1"/>
                          </a:solidFill>
                          <a:latin typeface="Arial" pitchFamily="34" charset="0"/>
                          <a:ea typeface="Arial" pitchFamily="34" charset="-122"/>
                          <a:cs typeface="Arial" pitchFamily="34" charset="-120"/>
                        </a:rPr>
                        <a:t>How rAIght handles it</a:t>
                      </a:r>
                      <a:endParaRPr lang="en-US" sz="1000" dirty="0">
                        <a:latin typeface="Arial" charset="0"/>
                        <a:ea typeface="Arial" charset="0"/>
                        <a:cs typeface="Arial" charset="0"/>
                      </a:endParaRPr>
                    </a:p>
                  </a:txBody>
                  <a:tcPr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66928">
                <a:tc>
                  <a:txBody>
                    <a:bodyPr/>
                    <a:lstStyle/>
                    <a:p>
                      <a:pPr marL="0" indent="0">
                        <a:buNone/>
                      </a:pPr>
                      <a:r>
                        <a:rPr lang="en-US" sz="1150" b="1" dirty="0">
                          <a:solidFill>
                            <a:schemeClr val="tx1"/>
                          </a:solidFill>
                          <a:latin typeface="Calibri" pitchFamily="34" charset="0"/>
                          <a:ea typeface="Calibri" pitchFamily="34" charset="-122"/>
                          <a:cs typeface="Calibri" pitchFamily="34" charset="-120"/>
                        </a:rPr>
                        <a:t>Lena applies the triage correctly on her own</a:t>
                      </a:r>
                      <a:endParaRPr lang="en-US" sz="1150" dirty="0">
                        <a:latin typeface="Calibri" charset="0"/>
                        <a:ea typeface="Calibri" charset="0"/>
                        <a:cs typeface="Calibri" charset="0"/>
                      </a:endParaRPr>
                    </a:p>
                  </a:txBody>
                  <a:tcPr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c>
                  <a:txBody>
                    <a:bodyPr/>
                    <a:lstStyle/>
                    <a:p>
                      <a:pPr marL="0" indent="0">
                        <a:buNone/>
                      </a:pPr>
                      <a:r>
                        <a:rPr lang="en-US" sz="1150" dirty="0">
                          <a:solidFill>
                            <a:schemeClr val="tx1"/>
                          </a:solidFill>
                          <a:latin typeface="Calibri" pitchFamily="34" charset="0"/>
                          <a:ea typeface="Calibri" pitchFamily="34" charset="-122"/>
                          <a:cs typeface="Calibri" pitchFamily="34" charset="-120"/>
                        </a:rPr>
                        <a:t>The dashboard is the check after the fact: a wrong choice shows up as a uniform agent</a:t>
                      </a:r>
                      <a:endParaRPr lang="en-US" sz="1150" dirty="0">
                        <a:latin typeface="Calibri" charset="0"/>
                        <a:ea typeface="Calibri" charset="0"/>
                        <a:cs typeface="Calibri" charset="0"/>
                      </a:endParaRPr>
                    </a:p>
                  </a:txBody>
                  <a:tcPr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extLst>
                  <a:ext uri="{0D108BD9-81ED-4DB2-BD59-A6C34878D82A}">
                    <a16:rowId xmlns:a16="http://schemas.microsoft.com/office/drawing/2014/main" val="10001"/>
                  </a:ext>
                </a:extLst>
              </a:tr>
              <a:tr h="566928">
                <a:tc>
                  <a:txBody>
                    <a:bodyPr/>
                    <a:lstStyle/>
                    <a:p>
                      <a:pPr marL="0" indent="0">
                        <a:buNone/>
                      </a:pPr>
                      <a:r>
                        <a:rPr lang="en-US" sz="1150" b="1" dirty="0">
                          <a:solidFill>
                            <a:schemeClr val="tx1"/>
                          </a:solidFill>
                          <a:latin typeface="Calibri" pitchFamily="34" charset="0"/>
                          <a:ea typeface="Calibri" pitchFamily="34" charset="-122"/>
                          <a:cs typeface="Calibri" pitchFamily="34" charset="-120"/>
                        </a:rPr>
                        <a:t>Process owners have time to convert</a:t>
                      </a:r>
                      <a:endParaRPr lang="en-US" sz="1150" dirty="0">
                        <a:latin typeface="Calibri" charset="0"/>
                        <a:ea typeface="Calibri" charset="0"/>
                        <a:cs typeface="Calibri" charset="0"/>
                      </a:endParaRPr>
                    </a:p>
                  </a:txBody>
                  <a:tcPr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c>
                  <a:txBody>
                    <a:bodyPr/>
                    <a:lstStyle/>
                    <a:p>
                      <a:pPr marL="0" indent="0">
                        <a:buNone/>
                      </a:pPr>
                      <a:r>
                        <a:rPr lang="en-US" sz="1150" dirty="0">
                          <a:solidFill>
                            <a:schemeClr val="tx1"/>
                          </a:solidFill>
                          <a:latin typeface="Calibri" pitchFamily="34" charset="0"/>
                          <a:ea typeface="Calibri" pitchFamily="34" charset="-122"/>
                          <a:cs typeface="Calibri" pitchFamily="34" charset="-120"/>
                        </a:rPr>
                        <a:t>Guided conversion drafts the workflow from the logs; unit carbon budgets give a reason to spend the time</a:t>
                      </a:r>
                      <a:endParaRPr lang="en-US" sz="1150" dirty="0">
                        <a:latin typeface="Calibri" charset="0"/>
                        <a:ea typeface="Calibri" charset="0"/>
                        <a:cs typeface="Calibri" charset="0"/>
                      </a:endParaRPr>
                    </a:p>
                  </a:txBody>
                  <a:tcPr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150" b="1" dirty="0">
                          <a:solidFill>
                            <a:schemeClr val="tx1"/>
                          </a:solidFill>
                          <a:latin typeface="Calibri" pitchFamily="34" charset="0"/>
                          <a:ea typeface="Calibri" pitchFamily="34" charset="-122"/>
                          <a:cs typeface="Calibri" pitchFamily="34" charset="-120"/>
                        </a:rPr>
                        <a:t>Run logs contain tokens and steps</a:t>
                      </a:r>
                      <a:endParaRPr lang="en-US" sz="1150" dirty="0">
                        <a:latin typeface="Calibri" charset="0"/>
                        <a:ea typeface="Calibri" charset="0"/>
                        <a:cs typeface="Calibri" charset="0"/>
                      </a:endParaRPr>
                    </a:p>
                  </a:txBody>
                  <a:tcPr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c>
                  <a:txBody>
                    <a:bodyPr/>
                    <a:lstStyle/>
                    <a:p>
                      <a:pPr marL="0" indent="0">
                        <a:buNone/>
                      </a:pPr>
                      <a:r>
                        <a:rPr lang="en-US" sz="1150" dirty="0">
                          <a:solidFill>
                            <a:schemeClr val="tx1"/>
                          </a:solidFill>
                          <a:latin typeface="Calibri" pitchFamily="34" charset="0"/>
                          <a:ea typeface="Calibri" pitchFamily="34" charset="-122"/>
                          <a:cs typeface="Calibri" pitchFamily="34" charset="-120"/>
                        </a:rPr>
                        <a:t>Pilot on the agent platform first; tokens are a proxy for energy until hyperscalers provide energy data</a:t>
                      </a:r>
                      <a:endParaRPr lang="en-US" sz="1150" dirty="0">
                        <a:latin typeface="Calibri" charset="0"/>
                        <a:ea typeface="Calibri" charset="0"/>
                        <a:cs typeface="Calibri" charset="0"/>
                      </a:endParaRPr>
                    </a:p>
                  </a:txBody>
                  <a:tcPr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extLst>
                  <a:ext uri="{0D108BD9-81ED-4DB2-BD59-A6C34878D82A}">
                    <a16:rowId xmlns:a16="http://schemas.microsoft.com/office/drawing/2014/main" val="10003"/>
                  </a:ext>
                </a:extLst>
              </a:tr>
              <a:tr h="566928">
                <a:tc>
                  <a:txBody>
                    <a:bodyPr/>
                    <a:lstStyle/>
                    <a:p>
                      <a:pPr marL="0" indent="0">
                        <a:buNone/>
                      </a:pPr>
                      <a:r>
                        <a:rPr lang="en-US" sz="1150" b="1" dirty="0">
                          <a:solidFill>
                            <a:schemeClr val="tx1"/>
                          </a:solidFill>
                          <a:latin typeface="Calibri" pitchFamily="34" charset="0"/>
                          <a:ea typeface="Calibri" pitchFamily="34" charset="-122"/>
                          <a:cs typeface="Calibri" pitchFamily="34" charset="-120"/>
                        </a:rPr>
                        <a:t>Logs may contain personal data</a:t>
                      </a:r>
                      <a:endParaRPr lang="en-US" sz="1150" dirty="0">
                        <a:latin typeface="Calibri" charset="0"/>
                        <a:ea typeface="Calibri" charset="0"/>
                        <a:cs typeface="Calibri" charset="0"/>
                      </a:endParaRPr>
                    </a:p>
                  </a:txBody>
                  <a:tcPr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c>
                  <a:txBody>
                    <a:bodyPr/>
                    <a:lstStyle/>
                    <a:p>
                      <a:pPr marL="0" indent="0">
                        <a:buNone/>
                      </a:pPr>
                      <a:r>
                        <a:rPr lang="en-US" sz="1150" dirty="0">
                          <a:solidFill>
                            <a:schemeClr val="tx1"/>
                          </a:solidFill>
                          <a:latin typeface="Calibri" pitchFamily="34" charset="0"/>
                          <a:ea typeface="Calibri" pitchFamily="34" charset="-122"/>
                          <a:cs typeface="Calibri" pitchFamily="34" charset="-120"/>
                        </a:rPr>
                        <a:t>Pseudonymised logs; data protection and works council involved before the pilot (§ 87 BetrVG)</a:t>
                      </a:r>
                      <a:endParaRPr lang="en-US" sz="1150" dirty="0">
                        <a:latin typeface="Calibri" charset="0"/>
                        <a:ea typeface="Calibri" charset="0"/>
                        <a:cs typeface="Calibri" charset="0"/>
                      </a:endParaRPr>
                    </a:p>
                  </a:txBody>
                  <a:tcPr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150" b="1" dirty="0">
                          <a:solidFill>
                            <a:schemeClr val="tx1"/>
                          </a:solidFill>
                          <a:latin typeface="Calibri" pitchFamily="34" charset="0"/>
                          <a:ea typeface="Calibri" pitchFamily="34" charset="-122"/>
                          <a:cs typeface="Calibri" pitchFamily="34" charset="-120"/>
                        </a:rPr>
                        <a:t>Cheaper AI leads to more AI (rebound)</a:t>
                      </a:r>
                      <a:endParaRPr lang="en-US" sz="1150" dirty="0">
                        <a:latin typeface="Calibri" charset="0"/>
                        <a:ea typeface="Calibri" charset="0"/>
                        <a:cs typeface="Calibri" charset="0"/>
                      </a:endParaRPr>
                    </a:p>
                  </a:txBody>
                  <a:tcPr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c>
                  <a:txBody>
                    <a:bodyPr/>
                    <a:lstStyle/>
                    <a:p>
                      <a:pPr marL="0" indent="0">
                        <a:buNone/>
                      </a:pPr>
                      <a:r>
                        <a:rPr lang="en-US" sz="1150" dirty="0">
                          <a:solidFill>
                            <a:schemeClr val="tx1"/>
                          </a:solidFill>
                          <a:latin typeface="Calibri" pitchFamily="34" charset="0"/>
                          <a:ea typeface="Calibri" pitchFamily="34" charset="-122"/>
                          <a:cs typeface="Calibri" pitchFamily="34" charset="-120"/>
                        </a:rPr>
                        <a:t>Carbon budget per business unit keeps total use capped</a:t>
                      </a:r>
                      <a:endParaRPr lang="en-US" sz="1150" dirty="0">
                        <a:latin typeface="Calibri" charset="0"/>
                        <a:ea typeface="Calibri" charset="0"/>
                        <a:cs typeface="Calibri" charset="0"/>
                      </a:endParaRPr>
                    </a:p>
                  </a:txBody>
                  <a:tcPr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E6A"/>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crumsterz rAIght">
  <a:themeElements>
    <a:clrScheme name="Scrumsterz rAIght">
      <a:dk1>
        <a:srgbClr val="1C2B28"/>
      </a:dk1>
      <a:lt1>
        <a:srgbClr val="FFFFFF"/>
      </a:lt1>
      <a:dk2>
        <a:srgbClr val="0B2B26"/>
      </a:dk2>
      <a:lt2>
        <a:srgbClr val="EAF4EF"/>
      </a:lt2>
      <a:accent1>
        <a:srgbClr val="11604F"/>
      </a:accent1>
      <a:accent2>
        <a:srgbClr val="B8E04A"/>
      </a:accent2>
      <a:accent3>
        <a:srgbClr val="F7A54E"/>
      </a:accent3>
      <a:accent4>
        <a:srgbClr val="8FD18A"/>
      </a:accent4>
      <a:accent5>
        <a:srgbClr val="FCE27A"/>
      </a:accent5>
      <a:accent6>
        <a:srgbClr val="E5484D"/>
      </a:accent6>
      <a:hlink>
        <a:srgbClr val="11604F"/>
      </a:hlink>
      <a:folHlink>
        <a:srgbClr val="5E6E6A"/>
      </a:folHlink>
    </a:clrScheme>
    <a:fontScheme name="Scrumsterz rAIgh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TotalTime>
  <Words>2843</Words>
  <Application>Microsoft Macintosh PowerPoint</Application>
  <PresentationFormat>Widescreen</PresentationFormat>
  <Paragraphs>381</Paragraphs>
  <Slides>9</Slides>
  <Notes>9</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13" baseType="lpstr">
      <vt:lpstr>Arial</vt:lpstr>
      <vt:lpstr>Calibri</vt:lpstr>
      <vt:lpstr>Scrumsterz rAIght</vt:lpstr>
      <vt:lpstr>thinkcell Slide</vt:lpstr>
      <vt:lpstr>PowerPoint Presentation</vt:lpstr>
      <vt:lpstr>Meet Lena: she builds her own automations</vt:lpstr>
      <vt:lpstr>rAIght supports Lena from her first choice to the conversion</vt:lpstr>
      <vt:lpstr>The CIO office gets autonomy without footprint growth</vt:lpstr>
      <vt:lpstr>rAIght in a box: what Lena gets and what it needs</vt:lpstr>
      <vt:lpstr>Lena’s journey as the backbone – release 1 already works end to end</vt:lpstr>
      <vt:lpstr>rAIght sits where all three meet</vt:lpstr>
      <vt:lpstr>User stories behind the map</vt:lpstr>
      <vt:lpstr>What has to be true – and how we handle it if it isn’t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rAIght – final pitch</dc:title>
  <dc:subject>PptxGenJS Presentation</dc:subject>
  <dc:creator>Scrumsterz</dc:creator>
  <cp:lastModifiedBy>Tim Stolba</cp:lastModifiedBy>
  <cp:revision>2</cp:revision>
  <dcterms:created xsi:type="dcterms:W3CDTF">2026-10-02T13:31:34Z</dcterms:created>
  <dcterms:modified xsi:type="dcterms:W3CDTF">2026-10-02T14:54:08Z</dcterms:modified>
</cp:coreProperties>
</file>