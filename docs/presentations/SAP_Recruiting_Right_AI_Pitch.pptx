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angle: SAP does not need more AI to become an Autonomous Enterprise, it needs the right AI per task. Agentic AI uses much more compute than a workflow, while SAP must cut value-chain emissions by at least 90% by 2030. We make this tangible with Lena, who runs recruiting operations: her team built agents for many admin tasks, but nobody checks whether they still need to be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recruiting admin processes – illustrative scenarios, not known SAP implementations. In each case an agent was built, but the standard case follows the same steps every time: status updates, completeness checks, slot booking, template-based offers. These belong in a workflow or a simple rule. The agent stays only for genuine exceptions. We deliberately exclude candidate selection: that is a human decision and high-risk under the EU AI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Train: recruiters understand when a workflow is enough. Triage: a short decision tree before anything is built. Monitor: a dashboard shows what each agent consumes and whether its replies have become uniform. Replace: those agents are converted into workflows, and the agent only handles exceptions. The first two prevent new over-engineering, the last two fix what already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heart of the approach. For each agent Lena sees token usage and how similar its replies and steps have become – both from existing logs, no extra AI needed. High similarity means the agent is a workflow in disguise. In our example, three of four agents should be replaced; interview scheduling is split: a scheduling tool for standard interviews, the agent only for complex panels. The values shown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E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CHALLENGE  ·  PRELIMINARY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more AI,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B8E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right AI.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9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SAP’s Autonomous Enterprise net zero compatible – starting with recruiting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4434840"/>
            <a:ext cx="6035040" cy="1417320"/>
          </a:xfrm>
          <a:prstGeom prst="roundRect">
            <a:avLst>
              <a:gd name="adj" fmla="val 7742"/>
            </a:avLst>
          </a:prstGeom>
          <a:solidFill>
            <a:srgbClr val="133D36"/>
          </a:solidFill>
          <a:ln w="9525">
            <a:solidFill>
              <a:srgbClr val="133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6634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7841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45262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E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tension: </a:t>
            </a:r>
            <a:pPr indent="0" marL="0">
              <a:buNone/>
            </a:pPr>
            <a:r>
              <a:rPr lang="en-US" sz="14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plan, call tools and loop, so they need far more compute than a fixed workflow. SAP has committed to cut value-chain emissions by at least 90% by 2030.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6640" y="731520"/>
            <a:ext cx="4050792" cy="5120640"/>
          </a:xfrm>
          <a:prstGeom prst="roundRect">
            <a:avLst>
              <a:gd name="adj" fmla="val 2709"/>
            </a:avLst>
          </a:prstGeom>
          <a:solidFill>
            <a:srgbClr val="11604F"/>
          </a:solidFill>
          <a:ln w="9525">
            <a:solidFill>
              <a:srgbClr val="1160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26680" y="1051560"/>
            <a:ext cx="1005840" cy="1005840"/>
          </a:xfrm>
          <a:prstGeom prst="ellipse">
            <a:avLst/>
          </a:prstGeom>
          <a:solidFill>
            <a:srgbClr val="0B2B26"/>
          </a:solidFill>
          <a:ln w="25400">
            <a:solidFill>
              <a:srgbClr val="B8E0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29844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91540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Lena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891540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Operations Lead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3774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B8E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built agents for everything. Nobody checks whether they still need to be agents.”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726680" y="39319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high-volume recruiting admin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view of what her agents consume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guidance on agent vs workflow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persona – hypothesis to validate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6172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SAP Integrated Report 2024/2025, Environmental Performance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USE CASES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recruiting processes – most of the work needs no 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15184" cy="4160520"/>
          </a:xfrm>
          <a:prstGeom prst="roundRect">
            <a:avLst>
              <a:gd name="adj" fmla="val 4196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status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answers every “where is my application?” message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75104" y="39319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75104" y="39319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434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notifications at each stage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001768"/>
            <a:ext cx="2157984" cy="0"/>
          </a:xfrm>
          <a:prstGeom prst="line">
            <a:avLst/>
          </a:prstGeom>
          <a:noFill/>
          <a:ln w="12700">
            <a:solidFill>
              <a:srgbClr val="D5EA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074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only for: </a:t>
            </a:r>
            <a:pPr indent="0" marL="0">
              <a:buNone/>
            </a:pPr>
            <a:r>
              <a:rPr lang="en-US" sz="12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questions, complaints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74136" y="1645920"/>
            <a:ext cx="2615184" cy="4160520"/>
          </a:xfrm>
          <a:prstGeom prst="roundRect">
            <a:avLst>
              <a:gd name="adj" fmla="val 4196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02736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10" y="200619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02736" y="25603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check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602736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3602736" y="3291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every application to find what is missing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602736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800600" y="39319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00600" y="39319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3602736" y="43434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checks required fields and uploads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602736" y="5001768"/>
            <a:ext cx="2157984" cy="0"/>
          </a:xfrm>
          <a:prstGeom prst="line">
            <a:avLst/>
          </a:prstGeom>
          <a:noFill/>
          <a:ln w="12700">
            <a:solidFill>
              <a:srgbClr val="D5EAD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602736" y="5074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only for: </a:t>
            </a:r>
            <a:pPr indent="0" marL="0">
              <a:buNone/>
            </a:pPr>
            <a:r>
              <a:rPr lang="en-US" sz="12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or foreign certificates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199632" y="1645920"/>
            <a:ext cx="2615184" cy="4160520"/>
          </a:xfrm>
          <a:prstGeom prst="roundRect">
            <a:avLst>
              <a:gd name="adj" fmla="val 4196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28232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06" y="2006194"/>
            <a:ext cx="285293" cy="28529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28232" y="25603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scheduling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6428232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428232" y="3291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emails people, compares calendars, books rooms</a:t>
            </a:r>
            <a:endParaRPr lang="en-US" sz="1200" dirty="0"/>
          </a:p>
        </p:txBody>
      </p:sp>
      <p:sp>
        <p:nvSpPr>
          <p:cNvPr id="34" name="Text 29"/>
          <p:cNvSpPr txBox="1"/>
          <p:nvPr/>
        </p:nvSpPr>
        <p:spPr>
          <a:xfrm>
            <a:off x="6428232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7626096" y="39319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626096" y="39319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6428232" y="43434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picks a free slot in a scheduling tool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28232" y="5001768"/>
            <a:ext cx="2157984" cy="0"/>
          </a:xfrm>
          <a:prstGeom prst="line">
            <a:avLst/>
          </a:prstGeom>
          <a:noFill/>
          <a:ln w="12700">
            <a:solidFill>
              <a:srgbClr val="D5EAD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28232" y="5074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only for: </a:t>
            </a:r>
            <a:pPr indent="0" marL="0">
              <a:buNone/>
            </a:pPr>
            <a:r>
              <a:rPr lang="en-US" sz="12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Multi-round panels across time zones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9025128" y="1645920"/>
            <a:ext cx="2615184" cy="4160520"/>
          </a:xfrm>
          <a:prstGeom prst="roundRect">
            <a:avLst>
              <a:gd name="adj" fmla="val 4196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253728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02" y="2006194"/>
            <a:ext cx="285293" cy="285293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253728" y="256032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letters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9253728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9253728" y="329184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each offer from scratch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9253728" y="3977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10451592" y="393192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0451592" y="39319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9" name="Text 43"/>
          <p:cNvSpPr txBox="1"/>
          <p:nvPr/>
        </p:nvSpPr>
        <p:spPr>
          <a:xfrm>
            <a:off x="9253728" y="434340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filled from approved offer data; human signs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9253728" y="5001768"/>
            <a:ext cx="2157984" cy="0"/>
          </a:xfrm>
          <a:prstGeom prst="line">
            <a:avLst/>
          </a:prstGeom>
          <a:noFill/>
          <a:ln w="12700">
            <a:solidFill>
              <a:srgbClr val="D5EAD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9253728" y="507492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6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only for: </a:t>
            </a:r>
            <a:pPr indent="0" marL="0">
              <a:buNone/>
            </a:pPr>
            <a:r>
              <a:rPr lang="en-US" sz="12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packages</a:t>
            </a:r>
            <a:endParaRPr lang="en-US" sz="1200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035040"/>
            <a:ext cx="274320" cy="274320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914400" y="6016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candidates stays a human decision – deliberately out of scope.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OUR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right when building – and keep checking what runs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24912" cy="640080"/>
          </a:xfrm>
          <a:prstGeom prst="chevron">
            <a:avLst/>
          </a:prstGeom>
          <a:solidFill>
            <a:srgbClr val="1160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Train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9553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7472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learn the automation ladder: rule → workflow → GenAI call → agent. Use the lowest step that does the job.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1691640"/>
            <a:ext cx="2724912" cy="640080"/>
          </a:xfrm>
          <a:prstGeom prst="chevron">
            <a:avLst/>
          </a:prstGeom>
          <a:solidFill>
            <a:srgbClr val="1160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94176" y="16916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Triage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374136" y="260604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02736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437" y="295534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02736" y="347472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decision tree before anything is built: “Are the steps always the same?” → workflow. Agents need a reason.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99632" y="1691640"/>
            <a:ext cx="2724912" cy="640080"/>
          </a:xfrm>
          <a:prstGeom prst="chevron">
            <a:avLst/>
          </a:prstGeom>
          <a:solidFill>
            <a:srgbClr val="B8E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19672" y="16916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Monitor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199632" y="260604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28232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933" y="295534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28232" y="347472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all agents: token usage, and whether their replies and steps have become the same.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25128" y="1691640"/>
            <a:ext cx="2724912" cy="640080"/>
          </a:xfrm>
          <a:prstGeom prst="chevron">
            <a:avLst/>
          </a:prstGeom>
          <a:solidFill>
            <a:srgbClr val="B8E0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345168" y="169164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Replace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9025128" y="2606040"/>
            <a:ext cx="2615184" cy="20574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9525">
            <a:solidFill>
              <a:srgbClr val="EAF4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53728" y="2834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429" y="2955341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53728" y="347472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uniform replies become workflows. The agent keeps only the exceptions.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prevent new over-engineered agents. Steps 3–4 fix the ones already running.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0B2B26"/>
          </a:solidFill>
          <a:ln w="9525">
            <a:solidFill>
              <a:srgbClr val="0B2B26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6868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E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explore. Workflows execute.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an agent keeps solving a case the same way, it becomes a workflow.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6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MONITORING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dashboard shows Lena where to 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875">
            <a:solidFill>
              <a:srgbClr val="D5EA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Recruiting agents – overview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USAGE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SIMILARITY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292608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926080"/>
            <a:ext cx="1152144" cy="182880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92608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926080"/>
            <a:ext cx="1216152" cy="182880"/>
          </a:xfrm>
          <a:prstGeom prst="roundRect">
            <a:avLst>
              <a:gd name="adj" fmla="val 50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285292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28529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workflow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456432"/>
            <a:ext cx="6766560" cy="0"/>
          </a:xfrm>
          <a:prstGeom prst="line">
            <a:avLst/>
          </a:prstGeom>
          <a:noFill/>
          <a:ln w="12700">
            <a:solidFill>
              <a:srgbClr val="EAF4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80360" y="374904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3749040"/>
            <a:ext cx="768096" cy="182880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74904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749040"/>
            <a:ext cx="1152144" cy="182880"/>
          </a:xfrm>
          <a:prstGeom prst="roundRect">
            <a:avLst>
              <a:gd name="adj" fmla="val 50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367588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36758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rule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279392"/>
            <a:ext cx="6766560" cy="0"/>
          </a:xfrm>
          <a:prstGeom prst="line">
            <a:avLst/>
          </a:prstGeom>
          <a:noFill/>
          <a:ln w="12700">
            <a:solidFill>
              <a:srgbClr val="EAF4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389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80360" y="457200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0360" y="4572000"/>
            <a:ext cx="704088" cy="182880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457200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4572000"/>
            <a:ext cx="1024128" cy="182880"/>
          </a:xfrm>
          <a:prstGeom prst="roundRect">
            <a:avLst>
              <a:gd name="adj" fmla="val 50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44988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B8E04A"/>
          </a:solidFill>
          <a:ln w="12700">
            <a:solidFill>
              <a:srgbClr val="B8E0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4498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Replace: template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5102352"/>
            <a:ext cx="6766560" cy="0"/>
          </a:xfrm>
          <a:prstGeom prst="line">
            <a:avLst/>
          </a:prstGeom>
          <a:noFill/>
          <a:ln w="12700">
            <a:solidFill>
              <a:srgbClr val="EAF4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212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880360" y="539496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0360" y="5394960"/>
            <a:ext cx="1024128" cy="182880"/>
          </a:xfrm>
          <a:prstGeom prst="roundRect">
            <a:avLst>
              <a:gd name="adj" fmla="val 50000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5394960"/>
            <a:ext cx="1280160" cy="18288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EAF4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4840" y="5394960"/>
            <a:ext cx="576072" cy="182880"/>
          </a:xfrm>
          <a:prstGeom prst="roundRect">
            <a:avLst>
              <a:gd name="adj" fmla="val 50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532180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5EADF"/>
          </a:solidFill>
          <a:ln w="12700">
            <a:solidFill>
              <a:srgbClr val="D5EA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989320" y="5321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workflow + agent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83880" y="1645920"/>
            <a:ext cx="3459175" cy="4526280"/>
          </a:xfrm>
          <a:prstGeom prst="roundRect">
            <a:avLst>
              <a:gd name="adj" fmla="val 3172"/>
            </a:avLst>
          </a:prstGeom>
          <a:solidFill>
            <a:srgbClr val="0B2B26"/>
          </a:solidFill>
          <a:ln w="9525">
            <a:solidFill>
              <a:srgbClr val="0B2B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5820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E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58200" y="23317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28" y="2441448"/>
            <a:ext cx="237744" cy="237744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9052560" y="2286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comes straight from the agent logs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458200" y="3291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3401568"/>
            <a:ext cx="237744" cy="237744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9052560" y="324612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replies and identical steps are detected with simple statistics, not another AI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8458200" y="42519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604F"/>
          </a:solidFill>
          <a:ln w="12700">
            <a:solidFill>
              <a:srgbClr val="11604F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4361688"/>
            <a:ext cx="237744" cy="237744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9052560" y="4206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agents are flagged; the process owner decides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8458200" y="5257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E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 costs once – an inefficient agent costs every day.</a:t>
            </a:r>
            <a:endParaRPr lang="en-US" sz="1400" dirty="0"/>
          </a:p>
        </p:txBody>
      </p:sp>
      <p:sp>
        <p:nvSpPr>
          <p:cNvPr id="54" name="Text 49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Right AI for recruiting – preliminary pitch</dc:title>
  <dc:subject>PptxGenJS Presentation</dc:subject>
  <dc:creator>PptxGenJS</dc:creator>
  <cp:lastModifiedBy>PptxGenJS</cp:lastModifiedBy>
  <cp:revision>1</cp:revision>
  <dcterms:created xsi:type="dcterms:W3CDTF">2026-10-01T10:43:07Z</dcterms:created>
  <dcterms:modified xsi:type="dcterms:W3CDTF">2026-10-01T10:43:07Z</dcterms:modified>
</cp:coreProperties>
</file>