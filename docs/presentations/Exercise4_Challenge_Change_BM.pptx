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version of Exercise 4. Step 1: we used Kill the Company, adapted as "kill our own Right AI programme", to find weak spots, flipped each threat into an idea, and complemented it with Pattern Cards to import proven business model logic. Ideas were clustered into A–D. Step 2: three dot votes each; top three are A, B and C, D is parked as out of scope. Step 3: the winning ideas extend the business model, split into the network view (partners and contributors) and the enterprise view (internal boxes). Vote counts are placeholders – fill in the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we deliberately combined a defensive and an offensive method. Kill the Company, adapted to "kill our own Right AI programme", exposed five ways our model could fail; each threat was flipped into an idea. Pattern Cards from the St. Gallen Business Model Navigator added proven logics such as pay per use and platform. The letters on the right show the cluster each idea fed into. Step 2: three dot votes per person; A, B and C made the cut, D (productising for SAP customers) is parked as out of scope. Vote counts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iteration of our business model canvas. Grey items are the first iteration; items marked 2 come from the three prioritised ideas: carbon budget and chargeback, the internal workflow marketplace and the hyperscaler energy-data partnership. Orange items form the network view – who we depend on and co-create with; everything else is the enterprise view. Customer segments stay unchanged: the CIO office remains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E5A3F"/>
                </a:solidFill>
                <a:latin typeface="Calibri" pitchFamily="34" charset="0"/>
                <a:ea typeface="Calibri" pitchFamily="34" charset="-122"/>
                <a:cs typeface="Calibri" pitchFamily="34" charset="-120"/>
              </a:rPr>
              <a:t>EXERCISE 4  ·  OPTION A: ONE SLIDE</a:t>
            </a:r>
            <a:endParaRPr lang="en-US" sz="1100" dirty="0"/>
          </a:p>
        </p:txBody>
      </p:sp>
      <p:sp>
        <p:nvSpPr>
          <p:cNvPr id="3" name="Text 1"/>
          <p:cNvSpPr txBox="1"/>
          <p:nvPr/>
        </p:nvSpPr>
        <p:spPr>
          <a:xfrm>
            <a:off x="457200" y="530352"/>
            <a:ext cx="11247120" cy="548640"/>
          </a:xfrm>
          <a:prstGeom prst="rect">
            <a:avLst/>
          </a:prstGeom>
          <a:noFill/>
          <a:ln/>
        </p:spPr>
        <p:txBody>
          <a:bodyPr wrap="square" lIns="0" tIns="0" rIns="0" bIns="0"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Challenge &amp; change: extending the Right AI business model</a:t>
            </a:r>
            <a:endParaRPr lang="en-US" sz="2800" dirty="0"/>
          </a:p>
        </p:txBody>
      </p:sp>
      <p:sp>
        <p:nvSpPr>
          <p:cNvPr id="4" name="Shape 2"/>
          <p:cNvSpPr/>
          <p:nvPr/>
        </p:nvSpPr>
        <p:spPr>
          <a:xfrm>
            <a:off x="457200" y="1207008"/>
            <a:ext cx="11277295" cy="457200"/>
          </a:xfrm>
          <a:prstGeom prst="roundRect">
            <a:avLst>
              <a:gd name="adj" fmla="val 16000"/>
            </a:avLst>
          </a:prstGeom>
          <a:solidFill>
            <a:srgbClr val="1F3D2B"/>
          </a:solidFill>
          <a:ln w="12700">
            <a:solidFill>
              <a:srgbClr val="1F3D2B"/>
            </a:solidFill>
            <a:prstDash val="solid"/>
          </a:ln>
        </p:spPr>
      </p:sp>
      <p:sp>
        <p:nvSpPr>
          <p:cNvPr id="5" name="Text 3"/>
          <p:cNvSpPr txBox="1"/>
          <p:nvPr/>
        </p:nvSpPr>
        <p:spPr>
          <a:xfrm>
            <a:off x="640080" y="1207008"/>
            <a:ext cx="10972800" cy="457200"/>
          </a:xfrm>
          <a:prstGeom prst="rect">
            <a:avLst/>
          </a:prstGeom>
          <a:noFill/>
          <a:ln/>
        </p:spPr>
        <p:txBody>
          <a:bodyPr wrap="square" lIns="0" tIns="0" rIns="0" bIns="0" rtlCol="0" anchor="ctr"/>
          <a:lstStyle/>
          <a:p>
            <a:pPr indent="0" marL="0">
              <a:buNone/>
            </a:pPr>
            <a:r>
              <a:rPr lang="en-US" sz="1000" b="1" spc="100" kern="0" dirty="0">
                <a:solidFill>
                  <a:srgbClr val="B5E61D"/>
                </a:solidFill>
                <a:latin typeface="Calibri" pitchFamily="34" charset="0"/>
                <a:ea typeface="Calibri" pitchFamily="34" charset="-122"/>
                <a:cs typeface="Calibri" pitchFamily="34" charset="-120"/>
              </a:rPr>
              <a:t>DESIGN CHALLENGE   </a:t>
            </a:r>
            <a:pPr indent="0" marL="0">
              <a:buNone/>
            </a:pPr>
            <a:r>
              <a:rPr lang="en-US" sz="1200" i="1" dirty="0">
                <a:solidFill>
                  <a:srgbClr val="FFFFFF"/>
                </a:solidFill>
                <a:latin typeface="Calibri" pitchFamily="34" charset="0"/>
                <a:ea typeface="Calibri" pitchFamily="34" charset="-122"/>
                <a:cs typeface="Calibri" pitchFamily="34" charset="-120"/>
              </a:rPr>
              <a:t>Design the way SAP can become an Autonomous Enterprise while remaining Net Zero compatible</a:t>
            </a:r>
            <a:pPr indent="0" marL="0">
              <a:buNone/>
            </a:pPr>
            <a:r>
              <a:rPr lang="en-US" sz="1000" dirty="0">
                <a:solidFill>
                  <a:srgbClr val="C9D6CD"/>
                </a:solidFill>
                <a:latin typeface="Calibri" pitchFamily="34" charset="0"/>
                <a:ea typeface="Calibri" pitchFamily="34" charset="-122"/>
                <a:cs typeface="Calibri" pitchFamily="34" charset="-120"/>
              </a:rPr>
              <a:t>     Customer: CIO office · User: process owners (Lena)</a:t>
            </a:r>
            <a:endParaRPr lang="en-US" sz="1000" dirty="0"/>
          </a:p>
        </p:txBody>
      </p:sp>
      <p:sp>
        <p:nvSpPr>
          <p:cNvPr id="6" name="Shape 4"/>
          <p:cNvSpPr/>
          <p:nvPr/>
        </p:nvSpPr>
        <p:spPr>
          <a:xfrm>
            <a:off x="457200" y="1828800"/>
            <a:ext cx="4572000" cy="4663440"/>
          </a:xfrm>
          <a:prstGeom prst="roundRect">
            <a:avLst>
              <a:gd name="adj" fmla="val 2000"/>
            </a:avLst>
          </a:prstGeom>
          <a:solidFill>
            <a:srgbClr val="EEF4EA"/>
          </a:solidFill>
          <a:ln w="12700">
            <a:solidFill>
              <a:srgbClr val="EEF4EA"/>
            </a:solidFill>
            <a:prstDash val="solid"/>
          </a:ln>
        </p:spPr>
      </p:sp>
      <p:sp>
        <p:nvSpPr>
          <p:cNvPr id="7" name="Shape 5"/>
          <p:cNvSpPr/>
          <p:nvPr/>
        </p:nvSpPr>
        <p:spPr>
          <a:xfrm>
            <a:off x="5303520" y="1828800"/>
            <a:ext cx="2926080" cy="4663440"/>
          </a:xfrm>
          <a:prstGeom prst="roundRect">
            <a:avLst>
              <a:gd name="adj" fmla="val 3125"/>
            </a:avLst>
          </a:prstGeom>
          <a:solidFill>
            <a:srgbClr val="EEF4EA"/>
          </a:solidFill>
          <a:ln w="12700">
            <a:solidFill>
              <a:srgbClr val="EEF4EA"/>
            </a:solidFill>
            <a:prstDash val="solid"/>
          </a:ln>
        </p:spPr>
      </p:sp>
      <p:sp>
        <p:nvSpPr>
          <p:cNvPr id="8" name="Shape 6"/>
          <p:cNvSpPr/>
          <p:nvPr/>
        </p:nvSpPr>
        <p:spPr>
          <a:xfrm>
            <a:off x="8503920" y="1828800"/>
            <a:ext cx="3230575" cy="4663440"/>
          </a:xfrm>
          <a:prstGeom prst="roundRect">
            <a:avLst>
              <a:gd name="adj" fmla="val 2830"/>
            </a:avLst>
          </a:prstGeom>
          <a:solidFill>
            <a:srgbClr val="EEF4EA"/>
          </a:solidFill>
          <a:ln w="12700">
            <a:solidFill>
              <a:srgbClr val="EEF4EA"/>
            </a:solidFill>
            <a:prstDash val="solid"/>
          </a:ln>
        </p:spPr>
      </p:sp>
      <p:sp>
        <p:nvSpPr>
          <p:cNvPr id="9" name="Shape 7"/>
          <p:cNvSpPr/>
          <p:nvPr/>
        </p:nvSpPr>
        <p:spPr>
          <a:xfrm>
            <a:off x="640080" y="1993392"/>
            <a:ext cx="384048" cy="384048"/>
          </a:xfrm>
          <a:prstGeom prst="ellipse">
            <a:avLst/>
          </a:prstGeom>
          <a:solidFill>
            <a:srgbClr val="1F3D2B"/>
          </a:solidFill>
          <a:ln w="12700">
            <a:solidFill>
              <a:srgbClr val="1F3D2B"/>
            </a:solidFill>
            <a:prstDash val="solid"/>
          </a:ln>
        </p:spPr>
      </p:sp>
      <p:sp>
        <p:nvSpPr>
          <p:cNvPr id="10" name="Text 8"/>
          <p:cNvSpPr txBox="1"/>
          <p:nvPr/>
        </p:nvSpPr>
        <p:spPr>
          <a:xfrm>
            <a:off x="640080" y="1993392"/>
            <a:ext cx="384048" cy="384048"/>
          </a:xfrm>
          <a:prstGeom prst="rect">
            <a:avLst/>
          </a:prstGeom>
          <a:noFill/>
          <a:ln/>
        </p:spPr>
        <p:txBody>
          <a:bodyPr wrap="square" lIns="0" tIns="0" rIns="0" bIns="0" rtlCol="0" anchor="ctr"/>
          <a:lstStyle/>
          <a:p>
            <a:pPr algn="ctr" indent="0" marL="0">
              <a:buNone/>
            </a:pPr>
            <a:r>
              <a:rPr lang="en-US" sz="1400" b="1" dirty="0">
                <a:solidFill>
                  <a:srgbClr val="B5E61D"/>
                </a:solidFill>
                <a:latin typeface="Cambria" pitchFamily="34" charset="0"/>
                <a:ea typeface="Cambria" pitchFamily="34" charset="-122"/>
                <a:cs typeface="Cambria" pitchFamily="34" charset="-120"/>
              </a:rPr>
              <a:t>1</a:t>
            </a:r>
            <a:endParaRPr lang="en-US" sz="1400" dirty="0"/>
          </a:p>
        </p:txBody>
      </p:sp>
      <p:sp>
        <p:nvSpPr>
          <p:cNvPr id="11" name="Text 9"/>
          <p:cNvSpPr txBox="1"/>
          <p:nvPr/>
        </p:nvSpPr>
        <p:spPr>
          <a:xfrm>
            <a:off x="1115568" y="1956816"/>
            <a:ext cx="3730752" cy="475488"/>
          </a:xfrm>
          <a:prstGeom prst="rect">
            <a:avLst/>
          </a:prstGeom>
          <a:noFill/>
          <a:ln/>
        </p:spPr>
        <p:txBody>
          <a:bodyPr wrap="square" lIns="0" tIns="0" rIns="0" bIns="0" rtlCol="0" anchor="ctr"/>
          <a:lstStyle/>
          <a:p>
            <a:pPr indent="0" marL="0">
              <a:buNone/>
            </a:pPr>
            <a:r>
              <a:rPr lang="en-US" sz="1400" b="1" dirty="0">
                <a:solidFill>
                  <a:srgbClr val="1F3D2B"/>
                </a:solidFill>
                <a:latin typeface="Calibri" pitchFamily="34" charset="0"/>
                <a:ea typeface="Calibri" pitchFamily="34" charset="-122"/>
                <a:cs typeface="Calibri" pitchFamily="34" charset="-120"/>
              </a:rPr>
              <a:t>Ideation</a:t>
            </a:r>
            <a:endParaRPr lang="en-US" sz="1400" dirty="0"/>
          </a:p>
          <a:p>
            <a:pPr indent="0" marL="0">
              <a:buNone/>
            </a:pPr>
            <a:r>
              <a:rPr lang="en-US" sz="950" dirty="0">
                <a:solidFill>
                  <a:srgbClr val="5D6B62"/>
                </a:solidFill>
                <a:latin typeface="Calibri" pitchFamily="34" charset="0"/>
                <a:ea typeface="Calibri" pitchFamily="34" charset="-122"/>
                <a:cs typeface="Calibri" pitchFamily="34" charset="-120"/>
              </a:rPr>
              <a:t>Kill the programme + Pattern Cards, clustered as we went</a:t>
            </a:r>
            <a:endParaRPr lang="en-US" sz="1400" dirty="0"/>
          </a:p>
        </p:txBody>
      </p:sp>
      <p:sp>
        <p:nvSpPr>
          <p:cNvPr id="12" name="Shape 10"/>
          <p:cNvSpPr/>
          <p:nvPr/>
        </p:nvSpPr>
        <p:spPr>
          <a:xfrm>
            <a:off x="640080" y="2578608"/>
            <a:ext cx="292608" cy="292608"/>
          </a:xfrm>
          <a:prstGeom prst="ellipse">
            <a:avLst/>
          </a:prstGeom>
          <a:solidFill>
            <a:srgbClr val="1F3D2B"/>
          </a:solidFill>
          <a:ln w="12700">
            <a:solidFill>
              <a:srgbClr val="1F3D2B"/>
            </a:solidFill>
            <a:prstDash val="solid"/>
          </a:ln>
        </p:spPr>
      </p:sp>
      <p:pic>
        <p:nvPicPr>
          <p:cNvPr id="13" name="Image 0" descr="preencoded.png">    </p:cNvPr>
          <p:cNvPicPr>
            <a:picLocks noChangeAspect="1"/>
          </p:cNvPicPr>
          <p:nvPr/>
        </p:nvPicPr>
        <p:blipFill>
          <a:blip r:embed="rId1"/>
          <a:stretch>
            <a:fillRect/>
          </a:stretch>
        </p:blipFill>
        <p:spPr>
          <a:xfrm>
            <a:off x="704454" y="2642982"/>
            <a:ext cx="163860" cy="163860"/>
          </a:xfrm>
          <a:prstGeom prst="rect">
            <a:avLst/>
          </a:prstGeom>
        </p:spPr>
      </p:pic>
      <p:sp>
        <p:nvSpPr>
          <p:cNvPr id="14" name="Text 11"/>
          <p:cNvSpPr txBox="1"/>
          <p:nvPr/>
        </p:nvSpPr>
        <p:spPr>
          <a:xfrm>
            <a:off x="1005840" y="2560320"/>
            <a:ext cx="3840480" cy="329184"/>
          </a:xfrm>
          <a:prstGeom prst="rect">
            <a:avLst/>
          </a:prstGeom>
          <a:noFill/>
          <a:ln/>
        </p:spPr>
        <p:txBody>
          <a:bodyPr wrap="square" lIns="0" tIns="0" rIns="0" bIns="0" rtlCol="0" anchor="ctr"/>
          <a:lstStyle/>
          <a:p>
            <a:pPr indent="0" marL="0">
              <a:buNone/>
            </a:pPr>
            <a:r>
              <a:rPr lang="en-US" sz="1100" b="1" dirty="0">
                <a:solidFill>
                  <a:srgbClr val="1F3D2B"/>
                </a:solidFill>
                <a:latin typeface="Calibri" pitchFamily="34" charset="0"/>
                <a:ea typeface="Calibri" pitchFamily="34" charset="-122"/>
                <a:cs typeface="Calibri" pitchFamily="34" charset="-120"/>
              </a:rPr>
              <a:t>Kill the Right AI programme  (threat → flip)</a:t>
            </a:r>
            <a:endParaRPr lang="en-US" sz="1100" dirty="0"/>
          </a:p>
        </p:txBody>
      </p:sp>
      <p:sp>
        <p:nvSpPr>
          <p:cNvPr id="15" name="Text 12"/>
          <p:cNvSpPr txBox="1"/>
          <p:nvPr/>
        </p:nvSpPr>
        <p:spPr>
          <a:xfrm>
            <a:off x="640080" y="2926080"/>
            <a:ext cx="4206240" cy="1188720"/>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1E2A22"/>
                </a:solidFill>
                <a:latin typeface="Calibri" pitchFamily="34" charset="0"/>
                <a:ea typeface="Calibri" pitchFamily="34" charset="-122"/>
                <a:cs typeface="Calibri" pitchFamily="34" charset="-120"/>
              </a:rPr>
              <a:t>Business units bypass the CIO office (shadow AI)</a:t>
            </a:r>
            <a:pPr indent="0" marL="0">
              <a:spcAft>
                <a:spcPts val="200"/>
              </a:spcAft>
              <a:buNone/>
            </a:pPr>
            <a:r>
              <a:rPr lang="en-US" sz="950" b="1" dirty="0">
                <a:solidFill>
                  <a:srgbClr val="2E5A3F"/>
                </a:solidFill>
                <a:latin typeface="Calibri" pitchFamily="34" charset="0"/>
                <a:ea typeface="Calibri" pitchFamily="34" charset="-122"/>
                <a:cs typeface="Calibri" pitchFamily="34" charset="-120"/>
              </a:rPr>
              <a:t>  →  self-service store of pre-approved templates</a:t>
            </a:r>
            <a:endParaRPr lang="en-US" sz="950" dirty="0"/>
          </a:p>
          <a:p>
            <a:pPr marL="127000" indent="-127000">
              <a:spcAft>
                <a:spcPts val="200"/>
              </a:spcAft>
              <a:buSzPct val="100000"/>
              <a:buChar char="•"/>
            </a:pPr>
            <a:r>
              <a:rPr lang="en-US" sz="950" dirty="0">
                <a:solidFill>
                  <a:srgbClr val="1E2A22"/>
                </a:solidFill>
                <a:latin typeface="Calibri" pitchFamily="34" charset="0"/>
                <a:ea typeface="Calibri" pitchFamily="34" charset="-122"/>
                <a:cs typeface="Calibri" pitchFamily="34" charset="-120"/>
              </a:rPr>
              <a:t>Efficiency gains lead to more total AI use (rebound effect)</a:t>
            </a:r>
            <a:pPr indent="0" marL="0">
              <a:spcAft>
                <a:spcPts val="200"/>
              </a:spcAft>
              <a:buNone/>
            </a:pPr>
            <a:r>
              <a:rPr lang="en-US" sz="950" b="1" dirty="0">
                <a:solidFill>
                  <a:srgbClr val="2E5A3F"/>
                </a:solidFill>
                <a:latin typeface="Calibri" pitchFamily="34" charset="0"/>
                <a:ea typeface="Calibri" pitchFamily="34" charset="-122"/>
                <a:cs typeface="Calibri" pitchFamily="34" charset="-120"/>
              </a:rPr>
              <a:t>  →  absolute carbon budget per business unit</a:t>
            </a:r>
            <a:endParaRPr lang="en-US" sz="950" dirty="0"/>
          </a:p>
          <a:p>
            <a:pPr marL="127000" indent="-127000">
              <a:spcAft>
                <a:spcPts val="200"/>
              </a:spcAft>
              <a:buSzPct val="100000"/>
              <a:buChar char="•"/>
            </a:pPr>
            <a:r>
              <a:rPr lang="en-US" sz="950" dirty="0">
                <a:solidFill>
                  <a:srgbClr val="1E2A22"/>
                </a:solidFill>
                <a:latin typeface="Calibri" pitchFamily="34" charset="0"/>
                <a:ea typeface="Calibri" pitchFamily="34" charset="-122"/>
                <a:cs typeface="Calibri" pitchFamily="34" charset="-120"/>
              </a:rPr>
              <a:t>Hyperscalers ship carbon-aware routing natively</a:t>
            </a:r>
            <a:pPr indent="0" marL="0">
              <a:spcAft>
                <a:spcPts val="200"/>
              </a:spcAft>
              <a:buNone/>
            </a:pPr>
            <a:r>
              <a:rPr lang="en-US" sz="950" b="1" dirty="0">
                <a:solidFill>
                  <a:srgbClr val="2E5A3F"/>
                </a:solidFill>
                <a:latin typeface="Calibri" pitchFamily="34" charset="0"/>
                <a:ea typeface="Calibri" pitchFamily="34" charset="-122"/>
                <a:cs typeface="Calibri" pitchFamily="34" charset="-120"/>
              </a:rPr>
              <a:t>  →  partner: consume their energy data, own the decision layer</a:t>
            </a:r>
            <a:endParaRPr lang="en-US" sz="950" dirty="0"/>
          </a:p>
        </p:txBody>
      </p:sp>
      <p:sp>
        <p:nvSpPr>
          <p:cNvPr id="16" name="Shape 13"/>
          <p:cNvSpPr/>
          <p:nvPr/>
        </p:nvSpPr>
        <p:spPr>
          <a:xfrm>
            <a:off x="640080" y="4187952"/>
            <a:ext cx="292608" cy="292608"/>
          </a:xfrm>
          <a:prstGeom prst="ellipse">
            <a:avLst/>
          </a:prstGeom>
          <a:solidFill>
            <a:srgbClr val="1F3D2B"/>
          </a:solidFill>
          <a:ln w="12700">
            <a:solidFill>
              <a:srgbClr val="1F3D2B"/>
            </a:solidFill>
            <a:prstDash val="solid"/>
          </a:ln>
        </p:spPr>
      </p:sp>
      <p:pic>
        <p:nvPicPr>
          <p:cNvPr id="17" name="Image 1" descr="preencoded.png">    </p:cNvPr>
          <p:cNvPicPr>
            <a:picLocks noChangeAspect="1"/>
          </p:cNvPicPr>
          <p:nvPr/>
        </p:nvPicPr>
        <p:blipFill>
          <a:blip r:embed="rId2"/>
          <a:stretch>
            <a:fillRect/>
          </a:stretch>
        </p:blipFill>
        <p:spPr>
          <a:xfrm>
            <a:off x="704454" y="4252326"/>
            <a:ext cx="163860" cy="163860"/>
          </a:xfrm>
          <a:prstGeom prst="rect">
            <a:avLst/>
          </a:prstGeom>
        </p:spPr>
      </p:pic>
      <p:sp>
        <p:nvSpPr>
          <p:cNvPr id="18" name="Text 14"/>
          <p:cNvSpPr txBox="1"/>
          <p:nvPr/>
        </p:nvSpPr>
        <p:spPr>
          <a:xfrm>
            <a:off x="1005840" y="4169664"/>
            <a:ext cx="3840480" cy="329184"/>
          </a:xfrm>
          <a:prstGeom prst="rect">
            <a:avLst/>
          </a:prstGeom>
          <a:noFill/>
          <a:ln/>
        </p:spPr>
        <p:txBody>
          <a:bodyPr wrap="square" lIns="0" tIns="0" rIns="0" bIns="0" rtlCol="0" anchor="ctr"/>
          <a:lstStyle/>
          <a:p>
            <a:pPr indent="0" marL="0">
              <a:buNone/>
            </a:pPr>
            <a:r>
              <a:rPr lang="en-US" sz="1100" b="1" dirty="0">
                <a:solidFill>
                  <a:srgbClr val="1F3D2B"/>
                </a:solidFill>
                <a:latin typeface="Calibri" pitchFamily="34" charset="0"/>
                <a:ea typeface="Calibri" pitchFamily="34" charset="-122"/>
                <a:cs typeface="Calibri" pitchFamily="34" charset="-120"/>
              </a:rPr>
              <a:t>Pattern Cards  (St. Gallen Business Model Navigator)</a:t>
            </a:r>
            <a:endParaRPr lang="en-US" sz="1100" dirty="0"/>
          </a:p>
        </p:txBody>
      </p:sp>
      <p:sp>
        <p:nvSpPr>
          <p:cNvPr id="19" name="Text 15"/>
          <p:cNvSpPr txBox="1"/>
          <p:nvPr/>
        </p:nvSpPr>
        <p:spPr>
          <a:xfrm>
            <a:off x="640080" y="4535424"/>
            <a:ext cx="4206240" cy="749808"/>
          </a:xfrm>
          <a:prstGeom prst="rect">
            <a:avLst/>
          </a:prstGeom>
          <a:noFill/>
          <a:ln/>
        </p:spPr>
        <p:txBody>
          <a:bodyPr wrap="square" lIns="0" tIns="0" rIns="0" bIns="0" rtlCol="0" anchor="t"/>
          <a:lstStyle/>
          <a:p>
            <a:pPr marL="127000" indent="-127000">
              <a:spcAft>
                <a:spcPts val="200"/>
              </a:spcAft>
              <a:buSzPct val="100000"/>
              <a:buChar char="•"/>
            </a:pPr>
            <a:r>
              <a:rPr lang="en-US" sz="950" b="1" dirty="0">
                <a:solidFill>
                  <a:srgbClr val="1E2A22"/>
                </a:solidFill>
                <a:latin typeface="Calibri" pitchFamily="34" charset="0"/>
                <a:ea typeface="Calibri" pitchFamily="34" charset="-122"/>
                <a:cs typeface="Calibri" pitchFamily="34" charset="-120"/>
              </a:rPr>
              <a:t>Pay per use</a:t>
            </a:r>
            <a:pPr indent="0" marL="0">
              <a:spcAft>
                <a:spcPts val="200"/>
              </a:spcAft>
              <a:buNone/>
            </a:pPr>
            <a:r>
              <a:rPr lang="en-US" sz="950" dirty="0">
                <a:solidFill>
                  <a:srgbClr val="1E2A22"/>
                </a:solidFill>
                <a:latin typeface="Calibri" pitchFamily="34" charset="0"/>
                <a:ea typeface="Calibri" pitchFamily="34" charset="-122"/>
                <a:cs typeface="Calibri" pitchFamily="34" charset="-120"/>
              </a:rPr>
              <a:t>: internal chargeback per agent run (cost + CO₂e)</a:t>
            </a:r>
            <a:endParaRPr lang="en-US" sz="950" dirty="0"/>
          </a:p>
          <a:p>
            <a:pPr marL="127000" indent="-127000">
              <a:spcAft>
                <a:spcPts val="200"/>
              </a:spcAft>
              <a:buSzPct val="100000"/>
              <a:buChar char="•"/>
            </a:pPr>
            <a:r>
              <a:rPr lang="en-US" sz="950" b="1" dirty="0">
                <a:solidFill>
                  <a:srgbClr val="1E2A22"/>
                </a:solidFill>
                <a:latin typeface="Calibri" pitchFamily="34" charset="0"/>
                <a:ea typeface="Calibri" pitchFamily="34" charset="-122"/>
                <a:cs typeface="Calibri" pitchFamily="34" charset="-120"/>
              </a:rPr>
              <a:t>Layer player / platform</a:t>
            </a:r>
            <a:pPr indent="0" marL="0">
              <a:spcAft>
                <a:spcPts val="200"/>
              </a:spcAft>
              <a:buNone/>
            </a:pPr>
            <a:r>
              <a:rPr lang="en-US" sz="950" dirty="0">
                <a:solidFill>
                  <a:srgbClr val="1E2A22"/>
                </a:solidFill>
                <a:latin typeface="Calibri" pitchFamily="34" charset="0"/>
                <a:ea typeface="Calibri" pitchFamily="34" charset="-122"/>
                <a:cs typeface="Calibri" pitchFamily="34" charset="-120"/>
              </a:rPr>
              <a:t>: internal marketplace of reusable workflows and distilled agents</a:t>
            </a:r>
            <a:endParaRPr lang="en-US" sz="950" dirty="0"/>
          </a:p>
          <a:p>
            <a:pPr marL="127000" indent="-127000">
              <a:spcAft>
                <a:spcPts val="200"/>
              </a:spcAft>
              <a:buSzPct val="100000"/>
              <a:buChar char="•"/>
            </a:pPr>
            <a:r>
              <a:rPr lang="en-US" sz="950" b="1" dirty="0">
                <a:solidFill>
                  <a:srgbClr val="1E2A22"/>
                </a:solidFill>
                <a:latin typeface="Calibri" pitchFamily="34" charset="0"/>
                <a:ea typeface="Calibri" pitchFamily="34" charset="-122"/>
                <a:cs typeface="Calibri" pitchFamily="34" charset="-120"/>
              </a:rPr>
              <a:t>Crowdsourcing</a:t>
            </a:r>
            <a:pPr indent="0" marL="0">
              <a:spcAft>
                <a:spcPts val="200"/>
              </a:spcAft>
              <a:buNone/>
            </a:pPr>
            <a:r>
              <a:rPr lang="en-US" sz="950" dirty="0">
                <a:solidFill>
                  <a:srgbClr val="1E2A22"/>
                </a:solidFill>
                <a:latin typeface="Calibri" pitchFamily="34" charset="0"/>
                <a:ea typeface="Calibri" pitchFamily="34" charset="-122"/>
                <a:cs typeface="Calibri" pitchFamily="34" charset="-120"/>
              </a:rPr>
              <a:t>: business units contribute distilled workflows and earn credit</a:t>
            </a:r>
            <a:endParaRPr lang="en-US" sz="950" dirty="0"/>
          </a:p>
        </p:txBody>
      </p:sp>
      <p:sp>
        <p:nvSpPr>
          <p:cNvPr id="20" name="Text 16"/>
          <p:cNvSpPr txBox="1"/>
          <p:nvPr/>
        </p:nvSpPr>
        <p:spPr>
          <a:xfrm>
            <a:off x="640080" y="5321808"/>
            <a:ext cx="1828800" cy="256032"/>
          </a:xfrm>
          <a:prstGeom prst="rect">
            <a:avLst/>
          </a:prstGeom>
          <a:noFill/>
          <a:ln/>
        </p:spPr>
        <p:txBody>
          <a:bodyPr wrap="square" lIns="0" tIns="0" rIns="0" bIns="0" rtlCol="0" anchor="ctr"/>
          <a:lstStyle/>
          <a:p>
            <a:pPr indent="0" marL="0">
              <a:buNone/>
            </a:pPr>
            <a:r>
              <a:rPr lang="en-US" sz="1100" b="1" dirty="0">
                <a:solidFill>
                  <a:srgbClr val="1F3D2B"/>
                </a:solidFill>
                <a:latin typeface="Calibri" pitchFamily="34" charset="0"/>
                <a:ea typeface="Calibri" pitchFamily="34" charset="-122"/>
                <a:cs typeface="Calibri" pitchFamily="34" charset="-120"/>
              </a:rPr>
              <a:t>Clusters</a:t>
            </a:r>
            <a:endParaRPr lang="en-US" sz="1100" dirty="0"/>
          </a:p>
        </p:txBody>
      </p:sp>
      <p:sp>
        <p:nvSpPr>
          <p:cNvPr id="21" name="Shape 17"/>
          <p:cNvSpPr/>
          <p:nvPr/>
        </p:nvSpPr>
        <p:spPr>
          <a:xfrm>
            <a:off x="640080" y="5632704"/>
            <a:ext cx="274320" cy="274320"/>
          </a:xfrm>
          <a:prstGeom prst="roundRect">
            <a:avLst>
              <a:gd name="adj" fmla="val 16667"/>
            </a:avLst>
          </a:prstGeom>
          <a:solidFill>
            <a:srgbClr val="1F3D2B"/>
          </a:solidFill>
          <a:ln w="12700">
            <a:solidFill>
              <a:srgbClr val="1F3D2B"/>
            </a:solidFill>
            <a:prstDash val="solid"/>
          </a:ln>
        </p:spPr>
      </p:sp>
      <p:sp>
        <p:nvSpPr>
          <p:cNvPr id="22" name="Text 18"/>
          <p:cNvSpPr txBox="1"/>
          <p:nvPr/>
        </p:nvSpPr>
        <p:spPr>
          <a:xfrm>
            <a:off x="640080" y="5632704"/>
            <a:ext cx="274320" cy="274320"/>
          </a:xfrm>
          <a:prstGeom prst="rect">
            <a:avLst/>
          </a:prstGeom>
          <a:noFill/>
          <a:ln/>
        </p:spPr>
        <p:txBody>
          <a:bodyPr wrap="square" lIns="0" tIns="0" rIns="0" bIns="0" rtlCol="0" anchor="ctr"/>
          <a:lstStyle/>
          <a:p>
            <a:pPr algn="ctr" indent="0" marL="0">
              <a:buNone/>
            </a:pPr>
            <a:r>
              <a:rPr lang="en-US" sz="1100" b="1" dirty="0">
                <a:solidFill>
                  <a:srgbClr val="B5E61D"/>
                </a:solidFill>
                <a:latin typeface="Cambria" pitchFamily="34" charset="0"/>
                <a:ea typeface="Cambria" pitchFamily="34" charset="-122"/>
                <a:cs typeface="Cambria" pitchFamily="34" charset="-120"/>
              </a:rPr>
              <a:t>A</a:t>
            </a:r>
            <a:endParaRPr lang="en-US" sz="1100" dirty="0"/>
          </a:p>
        </p:txBody>
      </p:sp>
      <p:sp>
        <p:nvSpPr>
          <p:cNvPr id="23" name="Text 19"/>
          <p:cNvSpPr txBox="1"/>
          <p:nvPr/>
        </p:nvSpPr>
        <p:spPr>
          <a:xfrm>
            <a:off x="987552" y="5632704"/>
            <a:ext cx="1719072" cy="274320"/>
          </a:xfrm>
          <a:prstGeom prst="rect">
            <a:avLst/>
          </a:prstGeom>
          <a:noFill/>
          <a:ln/>
        </p:spPr>
        <p:txBody>
          <a:bodyPr wrap="square" lIns="0" tIns="0" rIns="0" bIns="0" rtlCol="0" anchor="ctr"/>
          <a:lstStyle/>
          <a:p>
            <a:pPr indent="0" marL="0">
              <a:buNone/>
            </a:pPr>
            <a:r>
              <a:rPr lang="en-US" sz="950" dirty="0">
                <a:solidFill>
                  <a:srgbClr val="1E2A22"/>
                </a:solidFill>
                <a:latin typeface="Calibri" pitchFamily="34" charset="0"/>
                <a:ea typeface="Calibri" pitchFamily="34" charset="-122"/>
                <a:cs typeface="Calibri" pitchFamily="34" charset="-120"/>
              </a:rPr>
              <a:t>Incentives &amp; governance</a:t>
            </a:r>
            <a:endParaRPr lang="en-US" sz="950" dirty="0"/>
          </a:p>
        </p:txBody>
      </p:sp>
      <p:sp>
        <p:nvSpPr>
          <p:cNvPr id="24" name="Shape 20"/>
          <p:cNvSpPr/>
          <p:nvPr/>
        </p:nvSpPr>
        <p:spPr>
          <a:xfrm>
            <a:off x="2743200" y="5632704"/>
            <a:ext cx="274320" cy="274320"/>
          </a:xfrm>
          <a:prstGeom prst="roundRect">
            <a:avLst>
              <a:gd name="adj" fmla="val 16667"/>
            </a:avLst>
          </a:prstGeom>
          <a:solidFill>
            <a:srgbClr val="1F3D2B"/>
          </a:solidFill>
          <a:ln w="12700">
            <a:solidFill>
              <a:srgbClr val="1F3D2B"/>
            </a:solidFill>
            <a:prstDash val="solid"/>
          </a:ln>
        </p:spPr>
      </p:sp>
      <p:sp>
        <p:nvSpPr>
          <p:cNvPr id="25" name="Text 21"/>
          <p:cNvSpPr txBox="1"/>
          <p:nvPr/>
        </p:nvSpPr>
        <p:spPr>
          <a:xfrm>
            <a:off x="2743200" y="5632704"/>
            <a:ext cx="274320" cy="274320"/>
          </a:xfrm>
          <a:prstGeom prst="rect">
            <a:avLst/>
          </a:prstGeom>
          <a:noFill/>
          <a:ln/>
        </p:spPr>
        <p:txBody>
          <a:bodyPr wrap="square" lIns="0" tIns="0" rIns="0" bIns="0" rtlCol="0" anchor="ctr"/>
          <a:lstStyle/>
          <a:p>
            <a:pPr algn="ctr" indent="0" marL="0">
              <a:buNone/>
            </a:pPr>
            <a:r>
              <a:rPr lang="en-US" sz="1100" b="1" dirty="0">
                <a:solidFill>
                  <a:srgbClr val="B5E61D"/>
                </a:solidFill>
                <a:latin typeface="Cambria" pitchFamily="34" charset="0"/>
                <a:ea typeface="Cambria" pitchFamily="34" charset="-122"/>
                <a:cs typeface="Cambria" pitchFamily="34" charset="-120"/>
              </a:rPr>
              <a:t>B</a:t>
            </a:r>
            <a:endParaRPr lang="en-US" sz="1100" dirty="0"/>
          </a:p>
        </p:txBody>
      </p:sp>
      <p:sp>
        <p:nvSpPr>
          <p:cNvPr id="26" name="Text 22"/>
          <p:cNvSpPr txBox="1"/>
          <p:nvPr/>
        </p:nvSpPr>
        <p:spPr>
          <a:xfrm>
            <a:off x="3090672" y="5632704"/>
            <a:ext cx="1719072" cy="274320"/>
          </a:xfrm>
          <a:prstGeom prst="rect">
            <a:avLst/>
          </a:prstGeom>
          <a:noFill/>
          <a:ln/>
        </p:spPr>
        <p:txBody>
          <a:bodyPr wrap="square" lIns="0" tIns="0" rIns="0" bIns="0" rtlCol="0" anchor="ctr"/>
          <a:lstStyle/>
          <a:p>
            <a:pPr indent="0" marL="0">
              <a:buNone/>
            </a:pPr>
            <a:r>
              <a:rPr lang="en-US" sz="950" dirty="0">
                <a:solidFill>
                  <a:srgbClr val="1E2A22"/>
                </a:solidFill>
                <a:latin typeface="Calibri" pitchFamily="34" charset="0"/>
                <a:ea typeface="Calibri" pitchFamily="34" charset="-122"/>
                <a:cs typeface="Calibri" pitchFamily="34" charset="-120"/>
              </a:rPr>
              <a:t>Platform &amp; reuse</a:t>
            </a:r>
            <a:endParaRPr lang="en-US" sz="950" dirty="0"/>
          </a:p>
        </p:txBody>
      </p:sp>
      <p:sp>
        <p:nvSpPr>
          <p:cNvPr id="27" name="Shape 23"/>
          <p:cNvSpPr/>
          <p:nvPr/>
        </p:nvSpPr>
        <p:spPr>
          <a:xfrm>
            <a:off x="640080" y="6016752"/>
            <a:ext cx="274320" cy="274320"/>
          </a:xfrm>
          <a:prstGeom prst="roundRect">
            <a:avLst>
              <a:gd name="adj" fmla="val 16667"/>
            </a:avLst>
          </a:prstGeom>
          <a:solidFill>
            <a:srgbClr val="1F3D2B"/>
          </a:solidFill>
          <a:ln w="12700">
            <a:solidFill>
              <a:srgbClr val="1F3D2B"/>
            </a:solidFill>
            <a:prstDash val="solid"/>
          </a:ln>
        </p:spPr>
      </p:sp>
      <p:sp>
        <p:nvSpPr>
          <p:cNvPr id="28" name="Text 24"/>
          <p:cNvSpPr txBox="1"/>
          <p:nvPr/>
        </p:nvSpPr>
        <p:spPr>
          <a:xfrm>
            <a:off x="640080" y="6016752"/>
            <a:ext cx="274320" cy="274320"/>
          </a:xfrm>
          <a:prstGeom prst="rect">
            <a:avLst/>
          </a:prstGeom>
          <a:noFill/>
          <a:ln/>
        </p:spPr>
        <p:txBody>
          <a:bodyPr wrap="square" lIns="0" tIns="0" rIns="0" bIns="0" rtlCol="0" anchor="ctr"/>
          <a:lstStyle/>
          <a:p>
            <a:pPr algn="ctr" indent="0" marL="0">
              <a:buNone/>
            </a:pPr>
            <a:r>
              <a:rPr lang="en-US" sz="1100" b="1" dirty="0">
                <a:solidFill>
                  <a:srgbClr val="B5E61D"/>
                </a:solidFill>
                <a:latin typeface="Cambria" pitchFamily="34" charset="0"/>
                <a:ea typeface="Cambria" pitchFamily="34" charset="-122"/>
                <a:cs typeface="Cambria" pitchFamily="34" charset="-120"/>
              </a:rPr>
              <a:t>C</a:t>
            </a:r>
            <a:endParaRPr lang="en-US" sz="1100" dirty="0"/>
          </a:p>
        </p:txBody>
      </p:sp>
      <p:sp>
        <p:nvSpPr>
          <p:cNvPr id="29" name="Text 25"/>
          <p:cNvSpPr txBox="1"/>
          <p:nvPr/>
        </p:nvSpPr>
        <p:spPr>
          <a:xfrm>
            <a:off x="987552" y="6016752"/>
            <a:ext cx="1719072" cy="274320"/>
          </a:xfrm>
          <a:prstGeom prst="rect">
            <a:avLst/>
          </a:prstGeom>
          <a:noFill/>
          <a:ln/>
        </p:spPr>
        <p:txBody>
          <a:bodyPr wrap="square" lIns="0" tIns="0" rIns="0" bIns="0" rtlCol="0" anchor="ctr"/>
          <a:lstStyle/>
          <a:p>
            <a:pPr indent="0" marL="0">
              <a:buNone/>
            </a:pPr>
            <a:r>
              <a:rPr lang="en-US" sz="950" dirty="0">
                <a:solidFill>
                  <a:srgbClr val="1E2A22"/>
                </a:solidFill>
                <a:latin typeface="Calibri" pitchFamily="34" charset="0"/>
                <a:ea typeface="Calibri" pitchFamily="34" charset="-122"/>
                <a:cs typeface="Calibri" pitchFamily="34" charset="-120"/>
              </a:rPr>
              <a:t>Ecosystem</a:t>
            </a:r>
            <a:endParaRPr lang="en-US" sz="950" dirty="0"/>
          </a:p>
        </p:txBody>
      </p:sp>
      <p:sp>
        <p:nvSpPr>
          <p:cNvPr id="30" name="Shape 26"/>
          <p:cNvSpPr/>
          <p:nvPr/>
        </p:nvSpPr>
        <p:spPr>
          <a:xfrm>
            <a:off x="2743200" y="6016752"/>
            <a:ext cx="274320" cy="274320"/>
          </a:xfrm>
          <a:prstGeom prst="roundRect">
            <a:avLst>
              <a:gd name="adj" fmla="val 16667"/>
            </a:avLst>
          </a:prstGeom>
          <a:solidFill>
            <a:srgbClr val="B8C2BB"/>
          </a:solidFill>
          <a:ln w="12700">
            <a:solidFill>
              <a:srgbClr val="B8C2BB"/>
            </a:solidFill>
            <a:prstDash val="solid"/>
          </a:ln>
        </p:spPr>
      </p:sp>
      <p:sp>
        <p:nvSpPr>
          <p:cNvPr id="31" name="Text 27"/>
          <p:cNvSpPr txBox="1"/>
          <p:nvPr/>
        </p:nvSpPr>
        <p:spPr>
          <a:xfrm>
            <a:off x="2743200" y="60167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D</a:t>
            </a:r>
            <a:endParaRPr lang="en-US" sz="1100" dirty="0"/>
          </a:p>
        </p:txBody>
      </p:sp>
      <p:sp>
        <p:nvSpPr>
          <p:cNvPr id="32" name="Text 28"/>
          <p:cNvSpPr txBox="1"/>
          <p:nvPr/>
        </p:nvSpPr>
        <p:spPr>
          <a:xfrm>
            <a:off x="3090672" y="6016752"/>
            <a:ext cx="1719072" cy="274320"/>
          </a:xfrm>
          <a:prstGeom prst="rect">
            <a:avLst/>
          </a:prstGeom>
          <a:noFill/>
          <a:ln/>
        </p:spPr>
        <p:txBody>
          <a:bodyPr wrap="square" lIns="0" tIns="0" rIns="0" bIns="0" rtlCol="0" anchor="ctr"/>
          <a:lstStyle/>
          <a:p>
            <a:pPr indent="0" marL="0">
              <a:buNone/>
            </a:pPr>
            <a:r>
              <a:rPr lang="en-US" sz="950" dirty="0">
                <a:solidFill>
                  <a:srgbClr val="1E2A22"/>
                </a:solidFill>
                <a:latin typeface="Calibri" pitchFamily="34" charset="0"/>
                <a:ea typeface="Calibri" pitchFamily="34" charset="-122"/>
                <a:cs typeface="Calibri" pitchFamily="34" charset="-120"/>
              </a:rPr>
              <a:t>Future offering (parked)</a:t>
            </a:r>
            <a:endParaRPr lang="en-US" sz="950" dirty="0"/>
          </a:p>
        </p:txBody>
      </p:sp>
      <p:sp>
        <p:nvSpPr>
          <p:cNvPr id="33" name="Shape 29"/>
          <p:cNvSpPr/>
          <p:nvPr/>
        </p:nvSpPr>
        <p:spPr>
          <a:xfrm>
            <a:off x="5486400" y="1993392"/>
            <a:ext cx="384048" cy="384048"/>
          </a:xfrm>
          <a:prstGeom prst="ellipse">
            <a:avLst/>
          </a:prstGeom>
          <a:solidFill>
            <a:srgbClr val="1F3D2B"/>
          </a:solidFill>
          <a:ln w="12700">
            <a:solidFill>
              <a:srgbClr val="1F3D2B"/>
            </a:solidFill>
            <a:prstDash val="solid"/>
          </a:ln>
        </p:spPr>
      </p:sp>
      <p:sp>
        <p:nvSpPr>
          <p:cNvPr id="34" name="Text 30"/>
          <p:cNvSpPr txBox="1"/>
          <p:nvPr/>
        </p:nvSpPr>
        <p:spPr>
          <a:xfrm>
            <a:off x="5486400" y="1993392"/>
            <a:ext cx="384048" cy="384048"/>
          </a:xfrm>
          <a:prstGeom prst="rect">
            <a:avLst/>
          </a:prstGeom>
          <a:noFill/>
          <a:ln/>
        </p:spPr>
        <p:txBody>
          <a:bodyPr wrap="square" lIns="0" tIns="0" rIns="0" bIns="0" rtlCol="0" anchor="ctr"/>
          <a:lstStyle/>
          <a:p>
            <a:pPr algn="ctr" indent="0" marL="0">
              <a:buNone/>
            </a:pPr>
            <a:r>
              <a:rPr lang="en-US" sz="1400" b="1" dirty="0">
                <a:solidFill>
                  <a:srgbClr val="B5E61D"/>
                </a:solidFill>
                <a:latin typeface="Cambria" pitchFamily="34" charset="0"/>
                <a:ea typeface="Cambria" pitchFamily="34" charset="-122"/>
                <a:cs typeface="Cambria" pitchFamily="34" charset="-120"/>
              </a:rPr>
              <a:t>2</a:t>
            </a:r>
            <a:endParaRPr lang="en-US" sz="1400" dirty="0"/>
          </a:p>
        </p:txBody>
      </p:sp>
      <p:sp>
        <p:nvSpPr>
          <p:cNvPr id="35" name="Text 31"/>
          <p:cNvSpPr txBox="1"/>
          <p:nvPr/>
        </p:nvSpPr>
        <p:spPr>
          <a:xfrm>
            <a:off x="5961888" y="1956816"/>
            <a:ext cx="2084832" cy="475488"/>
          </a:xfrm>
          <a:prstGeom prst="rect">
            <a:avLst/>
          </a:prstGeom>
          <a:noFill/>
          <a:ln/>
        </p:spPr>
        <p:txBody>
          <a:bodyPr wrap="square" lIns="0" tIns="0" rIns="0" bIns="0" rtlCol="0" anchor="ctr"/>
          <a:lstStyle/>
          <a:p>
            <a:pPr indent="0" marL="0">
              <a:buNone/>
            </a:pPr>
            <a:r>
              <a:rPr lang="en-US" sz="1400" b="1" dirty="0">
                <a:solidFill>
                  <a:srgbClr val="1F3D2B"/>
                </a:solidFill>
                <a:latin typeface="Calibri" pitchFamily="34" charset="0"/>
                <a:ea typeface="Calibri" pitchFamily="34" charset="-122"/>
                <a:cs typeface="Calibri" pitchFamily="34" charset="-120"/>
              </a:rPr>
              <a:t>Prioritisation</a:t>
            </a:r>
            <a:endParaRPr lang="en-US" sz="1400" dirty="0"/>
          </a:p>
          <a:p>
            <a:pPr indent="0" marL="0">
              <a:buNone/>
            </a:pPr>
            <a:r>
              <a:rPr lang="en-US" sz="950" dirty="0">
                <a:solidFill>
                  <a:srgbClr val="5D6B62"/>
                </a:solidFill>
                <a:latin typeface="Calibri" pitchFamily="34" charset="0"/>
                <a:ea typeface="Calibri" pitchFamily="34" charset="-122"/>
                <a:cs typeface="Calibri" pitchFamily="34" charset="-120"/>
              </a:rPr>
              <a:t>3 dot votes per team member</a:t>
            </a:r>
            <a:endParaRPr lang="en-US" sz="1400" dirty="0"/>
          </a:p>
        </p:txBody>
      </p:sp>
      <p:sp>
        <p:nvSpPr>
          <p:cNvPr id="36" name="Shape 32"/>
          <p:cNvSpPr/>
          <p:nvPr/>
        </p:nvSpPr>
        <p:spPr>
          <a:xfrm>
            <a:off x="5486400" y="2578608"/>
            <a:ext cx="292608" cy="292608"/>
          </a:xfrm>
          <a:prstGeom prst="ellipse">
            <a:avLst/>
          </a:prstGeom>
          <a:solidFill>
            <a:srgbClr val="1F3D2B"/>
          </a:solidFill>
          <a:ln w="12700">
            <a:solidFill>
              <a:srgbClr val="1F3D2B"/>
            </a:solidFill>
            <a:prstDash val="solid"/>
          </a:ln>
        </p:spPr>
      </p:sp>
      <p:pic>
        <p:nvPicPr>
          <p:cNvPr id="37" name="Image 2" descr="preencoded.png">    </p:cNvPr>
          <p:cNvPicPr>
            <a:picLocks noChangeAspect="1"/>
          </p:cNvPicPr>
          <p:nvPr/>
        </p:nvPicPr>
        <p:blipFill>
          <a:blip r:embed="rId3"/>
          <a:stretch>
            <a:fillRect/>
          </a:stretch>
        </p:blipFill>
        <p:spPr>
          <a:xfrm>
            <a:off x="5550774" y="2642982"/>
            <a:ext cx="163860" cy="163860"/>
          </a:xfrm>
          <a:prstGeom prst="rect">
            <a:avLst/>
          </a:prstGeom>
        </p:spPr>
      </p:pic>
      <p:sp>
        <p:nvSpPr>
          <p:cNvPr id="38" name="Text 33"/>
          <p:cNvSpPr txBox="1"/>
          <p:nvPr/>
        </p:nvSpPr>
        <p:spPr>
          <a:xfrm>
            <a:off x="5852160" y="2560320"/>
            <a:ext cx="2194560" cy="329184"/>
          </a:xfrm>
          <a:prstGeom prst="rect">
            <a:avLst/>
          </a:prstGeom>
          <a:noFill/>
          <a:ln/>
        </p:spPr>
        <p:txBody>
          <a:bodyPr wrap="square" lIns="0" tIns="0" rIns="0" bIns="0" rtlCol="0" anchor="ctr"/>
          <a:lstStyle/>
          <a:p>
            <a:pPr indent="0" marL="0">
              <a:buNone/>
            </a:pPr>
            <a:r>
              <a:rPr lang="en-US" sz="1100" b="1" dirty="0">
                <a:solidFill>
                  <a:srgbClr val="1F3D2B"/>
                </a:solidFill>
                <a:latin typeface="Calibri" pitchFamily="34" charset="0"/>
                <a:ea typeface="Calibri" pitchFamily="34" charset="-122"/>
                <a:cs typeface="Calibri" pitchFamily="34" charset="-120"/>
              </a:rPr>
              <a:t>Top 3 for the extended model</a:t>
            </a:r>
            <a:endParaRPr lang="en-US" sz="1100" dirty="0"/>
          </a:p>
        </p:txBody>
      </p:sp>
      <p:sp>
        <p:nvSpPr>
          <p:cNvPr id="39" name="Text 34"/>
          <p:cNvSpPr txBox="1"/>
          <p:nvPr/>
        </p:nvSpPr>
        <p:spPr>
          <a:xfrm>
            <a:off x="5486400" y="3017520"/>
            <a:ext cx="365760" cy="777240"/>
          </a:xfrm>
          <a:prstGeom prst="rect">
            <a:avLst/>
          </a:prstGeom>
          <a:noFill/>
          <a:ln/>
        </p:spPr>
        <p:txBody>
          <a:bodyPr wrap="square" lIns="0" tIns="0" rIns="0" bIns="0" rtlCol="0" anchor="ctr"/>
          <a:lstStyle/>
          <a:p>
            <a:pPr indent="0" marL="0">
              <a:buNone/>
            </a:pPr>
            <a:r>
              <a:rPr lang="en-US" sz="2200" b="1" dirty="0">
                <a:solidFill>
                  <a:srgbClr val="1F3D2B"/>
                </a:solidFill>
                <a:latin typeface="Cambria" pitchFamily="34" charset="0"/>
                <a:ea typeface="Cambria" pitchFamily="34" charset="-122"/>
                <a:cs typeface="Cambria" pitchFamily="34" charset="-120"/>
              </a:rPr>
              <a:t>1</a:t>
            </a:r>
            <a:endParaRPr lang="en-US" sz="2200" dirty="0"/>
          </a:p>
        </p:txBody>
      </p:sp>
      <p:sp>
        <p:nvSpPr>
          <p:cNvPr id="40" name="Text 35"/>
          <p:cNvSpPr txBox="1"/>
          <p:nvPr/>
        </p:nvSpPr>
        <p:spPr>
          <a:xfrm>
            <a:off x="5897880" y="3017520"/>
            <a:ext cx="2148840" cy="777240"/>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Carbon budget + chargeback per business unit</a:t>
            </a:r>
            <a:endParaRPr lang="en-US" sz="1050" dirty="0"/>
          </a:p>
          <a:p>
            <a:pPr indent="0" marL="0">
              <a:buNone/>
            </a:pPr>
            <a:r>
              <a:rPr lang="en-US" sz="850" dirty="0">
                <a:solidFill>
                  <a:srgbClr val="5D6B62"/>
                </a:solidFill>
                <a:latin typeface="Calibri" pitchFamily="34" charset="0"/>
                <a:ea typeface="Calibri" pitchFamily="34" charset="-122"/>
                <a:cs typeface="Calibri" pitchFamily="34" charset="-120"/>
              </a:rPr>
              <a:t>Cluster A   </a:t>
            </a:r>
            <a:pPr indent="0" marL="0">
              <a:buNone/>
            </a:pPr>
            <a:r>
              <a:rPr lang="en-US" sz="850" b="1" dirty="0">
                <a:solidFill>
                  <a:srgbClr val="D9662B"/>
                </a:solidFill>
                <a:latin typeface="Calibri" pitchFamily="34" charset="0"/>
                <a:ea typeface="Calibri" pitchFamily="34" charset="-122"/>
                <a:cs typeface="Calibri" pitchFamily="34" charset="-120"/>
              </a:rPr>
              <a:t>●●● votes: __</a:t>
            </a:r>
            <a:endParaRPr lang="en-US" sz="1050" dirty="0"/>
          </a:p>
        </p:txBody>
      </p:sp>
      <p:sp>
        <p:nvSpPr>
          <p:cNvPr id="41" name="Text 36"/>
          <p:cNvSpPr txBox="1"/>
          <p:nvPr/>
        </p:nvSpPr>
        <p:spPr>
          <a:xfrm>
            <a:off x="5486400" y="3886200"/>
            <a:ext cx="365760" cy="777240"/>
          </a:xfrm>
          <a:prstGeom prst="rect">
            <a:avLst/>
          </a:prstGeom>
          <a:noFill/>
          <a:ln/>
        </p:spPr>
        <p:txBody>
          <a:bodyPr wrap="square" lIns="0" tIns="0" rIns="0" bIns="0" rtlCol="0" anchor="ctr"/>
          <a:lstStyle/>
          <a:p>
            <a:pPr indent="0" marL="0">
              <a:buNone/>
            </a:pPr>
            <a:r>
              <a:rPr lang="en-US" sz="2200" b="1" dirty="0">
                <a:solidFill>
                  <a:srgbClr val="1F3D2B"/>
                </a:solidFill>
                <a:latin typeface="Cambria" pitchFamily="34" charset="0"/>
                <a:ea typeface="Cambria" pitchFamily="34" charset="-122"/>
                <a:cs typeface="Cambria" pitchFamily="34" charset="-120"/>
              </a:rPr>
              <a:t>2</a:t>
            </a:r>
            <a:endParaRPr lang="en-US" sz="2200" dirty="0"/>
          </a:p>
        </p:txBody>
      </p:sp>
      <p:sp>
        <p:nvSpPr>
          <p:cNvPr id="42" name="Text 37"/>
          <p:cNvSpPr txBox="1"/>
          <p:nvPr/>
        </p:nvSpPr>
        <p:spPr>
          <a:xfrm>
            <a:off x="5897880" y="3886200"/>
            <a:ext cx="2148840" cy="777240"/>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Internal agent &amp; workflow marketplace</a:t>
            </a:r>
            <a:endParaRPr lang="en-US" sz="1050" dirty="0"/>
          </a:p>
          <a:p>
            <a:pPr indent="0" marL="0">
              <a:buNone/>
            </a:pPr>
            <a:r>
              <a:rPr lang="en-US" sz="850" dirty="0">
                <a:solidFill>
                  <a:srgbClr val="5D6B62"/>
                </a:solidFill>
                <a:latin typeface="Calibri" pitchFamily="34" charset="0"/>
                <a:ea typeface="Calibri" pitchFamily="34" charset="-122"/>
                <a:cs typeface="Calibri" pitchFamily="34" charset="-120"/>
              </a:rPr>
              <a:t>Cluster B   </a:t>
            </a:r>
            <a:pPr indent="0" marL="0">
              <a:buNone/>
            </a:pPr>
            <a:r>
              <a:rPr lang="en-US" sz="850" b="1" dirty="0">
                <a:solidFill>
                  <a:srgbClr val="D9662B"/>
                </a:solidFill>
                <a:latin typeface="Calibri" pitchFamily="34" charset="0"/>
                <a:ea typeface="Calibri" pitchFamily="34" charset="-122"/>
                <a:cs typeface="Calibri" pitchFamily="34" charset="-120"/>
              </a:rPr>
              <a:t>●●● votes: __</a:t>
            </a:r>
            <a:endParaRPr lang="en-US" sz="1050" dirty="0"/>
          </a:p>
        </p:txBody>
      </p:sp>
      <p:sp>
        <p:nvSpPr>
          <p:cNvPr id="43" name="Text 38"/>
          <p:cNvSpPr txBox="1"/>
          <p:nvPr/>
        </p:nvSpPr>
        <p:spPr>
          <a:xfrm>
            <a:off x="5486400" y="4754880"/>
            <a:ext cx="365760" cy="777240"/>
          </a:xfrm>
          <a:prstGeom prst="rect">
            <a:avLst/>
          </a:prstGeom>
          <a:noFill/>
          <a:ln/>
        </p:spPr>
        <p:txBody>
          <a:bodyPr wrap="square" lIns="0" tIns="0" rIns="0" bIns="0" rtlCol="0" anchor="ctr"/>
          <a:lstStyle/>
          <a:p>
            <a:pPr indent="0" marL="0">
              <a:buNone/>
            </a:pPr>
            <a:r>
              <a:rPr lang="en-US" sz="2200" b="1" dirty="0">
                <a:solidFill>
                  <a:srgbClr val="1F3D2B"/>
                </a:solidFill>
                <a:latin typeface="Cambria" pitchFamily="34" charset="0"/>
                <a:ea typeface="Cambria" pitchFamily="34" charset="-122"/>
                <a:cs typeface="Cambria" pitchFamily="34" charset="-120"/>
              </a:rPr>
              <a:t>3</a:t>
            </a:r>
            <a:endParaRPr lang="en-US" sz="2200" dirty="0"/>
          </a:p>
        </p:txBody>
      </p:sp>
      <p:sp>
        <p:nvSpPr>
          <p:cNvPr id="44" name="Text 39"/>
          <p:cNvSpPr txBox="1"/>
          <p:nvPr/>
        </p:nvSpPr>
        <p:spPr>
          <a:xfrm>
            <a:off x="5897880" y="4754880"/>
            <a:ext cx="2148840" cy="777240"/>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Hyperscaler energy-data partnership</a:t>
            </a:r>
            <a:endParaRPr lang="en-US" sz="1050" dirty="0"/>
          </a:p>
          <a:p>
            <a:pPr indent="0" marL="0">
              <a:buNone/>
            </a:pPr>
            <a:r>
              <a:rPr lang="en-US" sz="850" dirty="0">
                <a:solidFill>
                  <a:srgbClr val="5D6B62"/>
                </a:solidFill>
                <a:latin typeface="Calibri" pitchFamily="34" charset="0"/>
                <a:ea typeface="Calibri" pitchFamily="34" charset="-122"/>
                <a:cs typeface="Calibri" pitchFamily="34" charset="-120"/>
              </a:rPr>
              <a:t>Cluster C   </a:t>
            </a:r>
            <a:pPr indent="0" marL="0">
              <a:buNone/>
            </a:pPr>
            <a:r>
              <a:rPr lang="en-US" sz="850" b="1" dirty="0">
                <a:solidFill>
                  <a:srgbClr val="D9662B"/>
                </a:solidFill>
                <a:latin typeface="Calibri" pitchFamily="34" charset="0"/>
                <a:ea typeface="Calibri" pitchFamily="34" charset="-122"/>
                <a:cs typeface="Calibri" pitchFamily="34" charset="-120"/>
              </a:rPr>
              <a:t>●●● votes: __</a:t>
            </a:r>
            <a:endParaRPr lang="en-US" sz="1050" dirty="0"/>
          </a:p>
        </p:txBody>
      </p:sp>
      <p:sp>
        <p:nvSpPr>
          <p:cNvPr id="45" name="Text 40"/>
          <p:cNvSpPr txBox="1"/>
          <p:nvPr/>
        </p:nvSpPr>
        <p:spPr>
          <a:xfrm>
            <a:off x="5486400" y="5715000"/>
            <a:ext cx="2560320" cy="548640"/>
          </a:xfrm>
          <a:prstGeom prst="rect">
            <a:avLst/>
          </a:prstGeom>
          <a:noFill/>
          <a:ln/>
        </p:spPr>
        <p:txBody>
          <a:bodyPr wrap="square" lIns="0" tIns="0" rIns="0" bIns="0" rtlCol="0" anchor="t"/>
          <a:lstStyle/>
          <a:p>
            <a:pPr indent="0" marL="0">
              <a:buNone/>
            </a:pPr>
            <a:r>
              <a:rPr lang="en-US" sz="900" i="1" dirty="0">
                <a:solidFill>
                  <a:srgbClr val="5D6B62"/>
                </a:solidFill>
                <a:latin typeface="Calibri" pitchFamily="34" charset="0"/>
                <a:ea typeface="Calibri" pitchFamily="34" charset="-122"/>
                <a:cs typeface="Calibri" pitchFamily="34" charset="-120"/>
              </a:rPr>
              <a:t>Parked: D – productise for SAP customers (strong, but outside current scope)</a:t>
            </a:r>
            <a:endParaRPr lang="en-US" sz="900" dirty="0"/>
          </a:p>
        </p:txBody>
      </p:sp>
      <p:sp>
        <p:nvSpPr>
          <p:cNvPr id="46" name="Shape 41"/>
          <p:cNvSpPr/>
          <p:nvPr/>
        </p:nvSpPr>
        <p:spPr>
          <a:xfrm>
            <a:off x="8686800" y="1993392"/>
            <a:ext cx="384048" cy="384048"/>
          </a:xfrm>
          <a:prstGeom prst="ellipse">
            <a:avLst/>
          </a:prstGeom>
          <a:solidFill>
            <a:srgbClr val="1F3D2B"/>
          </a:solidFill>
          <a:ln w="12700">
            <a:solidFill>
              <a:srgbClr val="1F3D2B"/>
            </a:solidFill>
            <a:prstDash val="solid"/>
          </a:ln>
        </p:spPr>
      </p:sp>
      <p:sp>
        <p:nvSpPr>
          <p:cNvPr id="47" name="Text 42"/>
          <p:cNvSpPr txBox="1"/>
          <p:nvPr/>
        </p:nvSpPr>
        <p:spPr>
          <a:xfrm>
            <a:off x="8686800" y="1993392"/>
            <a:ext cx="384048" cy="384048"/>
          </a:xfrm>
          <a:prstGeom prst="rect">
            <a:avLst/>
          </a:prstGeom>
          <a:noFill/>
          <a:ln/>
        </p:spPr>
        <p:txBody>
          <a:bodyPr wrap="square" lIns="0" tIns="0" rIns="0" bIns="0" rtlCol="0" anchor="ctr"/>
          <a:lstStyle/>
          <a:p>
            <a:pPr algn="ctr" indent="0" marL="0">
              <a:buNone/>
            </a:pPr>
            <a:r>
              <a:rPr lang="en-US" sz="1400" b="1" dirty="0">
                <a:solidFill>
                  <a:srgbClr val="B5E61D"/>
                </a:solidFill>
                <a:latin typeface="Cambria" pitchFamily="34" charset="0"/>
                <a:ea typeface="Cambria" pitchFamily="34" charset="-122"/>
                <a:cs typeface="Cambria" pitchFamily="34" charset="-120"/>
              </a:rPr>
              <a:t>3</a:t>
            </a:r>
            <a:endParaRPr lang="en-US" sz="1400" dirty="0"/>
          </a:p>
        </p:txBody>
      </p:sp>
      <p:sp>
        <p:nvSpPr>
          <p:cNvPr id="48" name="Text 43"/>
          <p:cNvSpPr txBox="1"/>
          <p:nvPr/>
        </p:nvSpPr>
        <p:spPr>
          <a:xfrm>
            <a:off x="9162288" y="1956816"/>
            <a:ext cx="2389327" cy="475488"/>
          </a:xfrm>
          <a:prstGeom prst="rect">
            <a:avLst/>
          </a:prstGeom>
          <a:noFill/>
          <a:ln/>
        </p:spPr>
        <p:txBody>
          <a:bodyPr wrap="square" lIns="0" tIns="0" rIns="0" bIns="0" rtlCol="0" anchor="ctr"/>
          <a:lstStyle/>
          <a:p>
            <a:pPr indent="0" marL="0">
              <a:buNone/>
            </a:pPr>
            <a:r>
              <a:rPr lang="en-US" sz="1400" b="1" dirty="0">
                <a:solidFill>
                  <a:srgbClr val="1F3D2B"/>
                </a:solidFill>
                <a:latin typeface="Calibri" pitchFamily="34" charset="0"/>
                <a:ea typeface="Calibri" pitchFamily="34" charset="-122"/>
                <a:cs typeface="Calibri" pitchFamily="34" charset="-120"/>
              </a:rPr>
              <a:t>Extended business model</a:t>
            </a:r>
            <a:endParaRPr lang="en-US" sz="1400" dirty="0"/>
          </a:p>
          <a:p>
            <a:pPr indent="0" marL="0">
              <a:buNone/>
            </a:pPr>
            <a:r>
              <a:rPr lang="en-US" sz="950" dirty="0">
                <a:solidFill>
                  <a:srgbClr val="5D6B62"/>
                </a:solidFill>
                <a:latin typeface="Calibri" pitchFamily="34" charset="0"/>
                <a:ea typeface="Calibri" pitchFamily="34" charset="-122"/>
                <a:cs typeface="Calibri" pitchFamily="34" charset="-120"/>
              </a:rPr>
              <a:t>Additions marked 2 = 2nd iteration</a:t>
            </a:r>
            <a:endParaRPr lang="en-US" sz="1400" dirty="0"/>
          </a:p>
        </p:txBody>
      </p:sp>
      <p:sp>
        <p:nvSpPr>
          <p:cNvPr id="49" name="Shape 44"/>
          <p:cNvSpPr/>
          <p:nvPr/>
        </p:nvSpPr>
        <p:spPr>
          <a:xfrm>
            <a:off x="8686800" y="2578608"/>
            <a:ext cx="292608" cy="292608"/>
          </a:xfrm>
          <a:prstGeom prst="ellipse">
            <a:avLst/>
          </a:prstGeom>
          <a:solidFill>
            <a:srgbClr val="1F3D2B"/>
          </a:solidFill>
          <a:ln w="12700">
            <a:solidFill>
              <a:srgbClr val="1F3D2B"/>
            </a:solidFill>
            <a:prstDash val="solid"/>
          </a:ln>
        </p:spPr>
      </p:sp>
      <p:pic>
        <p:nvPicPr>
          <p:cNvPr id="50" name="Image 3" descr="preencoded.png">    </p:cNvPr>
          <p:cNvPicPr>
            <a:picLocks noChangeAspect="1"/>
          </p:cNvPicPr>
          <p:nvPr/>
        </p:nvPicPr>
        <p:blipFill>
          <a:blip r:embed="rId4"/>
          <a:stretch>
            <a:fillRect/>
          </a:stretch>
        </p:blipFill>
        <p:spPr>
          <a:xfrm>
            <a:off x="8751174" y="2642982"/>
            <a:ext cx="163860" cy="163860"/>
          </a:xfrm>
          <a:prstGeom prst="rect">
            <a:avLst/>
          </a:prstGeom>
        </p:spPr>
      </p:pic>
      <p:sp>
        <p:nvSpPr>
          <p:cNvPr id="51" name="Text 45"/>
          <p:cNvSpPr txBox="1"/>
          <p:nvPr/>
        </p:nvSpPr>
        <p:spPr>
          <a:xfrm>
            <a:off x="9052560" y="2560320"/>
            <a:ext cx="2499055" cy="329184"/>
          </a:xfrm>
          <a:prstGeom prst="rect">
            <a:avLst/>
          </a:prstGeom>
          <a:noFill/>
          <a:ln/>
        </p:spPr>
        <p:txBody>
          <a:bodyPr wrap="square" lIns="0" tIns="0" rIns="0" bIns="0" rtlCol="0" anchor="ctr"/>
          <a:lstStyle/>
          <a:p>
            <a:pPr indent="0" marL="0">
              <a:buNone/>
            </a:pPr>
            <a:r>
              <a:rPr lang="en-US" sz="1100" b="1" dirty="0">
                <a:solidFill>
                  <a:srgbClr val="1F3D2B"/>
                </a:solidFill>
                <a:latin typeface="Calibri" pitchFamily="34" charset="0"/>
                <a:ea typeface="Calibri" pitchFamily="34" charset="-122"/>
                <a:cs typeface="Calibri" pitchFamily="34" charset="-120"/>
              </a:rPr>
              <a:t>Network view</a:t>
            </a:r>
            <a:endParaRPr lang="en-US" sz="1100" dirty="0"/>
          </a:p>
        </p:txBody>
      </p:sp>
      <p:sp>
        <p:nvSpPr>
          <p:cNvPr id="52" name="Text 46"/>
          <p:cNvSpPr txBox="1"/>
          <p:nvPr/>
        </p:nvSpPr>
        <p:spPr>
          <a:xfrm>
            <a:off x="8686800" y="2944368"/>
            <a:ext cx="2864815" cy="1143000"/>
          </a:xfrm>
          <a:prstGeom prst="rect">
            <a:avLst/>
          </a:prstGeom>
          <a:noFill/>
          <a:ln/>
        </p:spPr>
        <p:txBody>
          <a:bodyPr wrap="square" lIns="0" tIns="0" rIns="0" bIns="0" rtlCol="0" anchor="t"/>
          <a:lstStyle/>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Key partners: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hyperscalers / cloud ops as energy-data partners</a:t>
            </a:r>
            <a:endParaRPr lang="en-US" sz="950" dirty="0"/>
          </a:p>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Key partners: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business units as workflow contributors</a:t>
            </a:r>
            <a:endParaRPr lang="en-US" sz="950" dirty="0"/>
          </a:p>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Customer relationships: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credits for contributed workflows</a:t>
            </a:r>
            <a:endParaRPr lang="en-US" sz="950" dirty="0"/>
          </a:p>
        </p:txBody>
      </p:sp>
      <p:sp>
        <p:nvSpPr>
          <p:cNvPr id="53" name="Shape 47"/>
          <p:cNvSpPr/>
          <p:nvPr/>
        </p:nvSpPr>
        <p:spPr>
          <a:xfrm>
            <a:off x="8686800" y="4187952"/>
            <a:ext cx="292608" cy="292608"/>
          </a:xfrm>
          <a:prstGeom prst="ellipse">
            <a:avLst/>
          </a:prstGeom>
          <a:solidFill>
            <a:srgbClr val="1F3D2B"/>
          </a:solidFill>
          <a:ln w="12700">
            <a:solidFill>
              <a:srgbClr val="1F3D2B"/>
            </a:solidFill>
            <a:prstDash val="solid"/>
          </a:ln>
        </p:spPr>
      </p:sp>
      <p:pic>
        <p:nvPicPr>
          <p:cNvPr id="54" name="Image 4" descr="preencoded.png">    </p:cNvPr>
          <p:cNvPicPr>
            <a:picLocks noChangeAspect="1"/>
          </p:cNvPicPr>
          <p:nvPr/>
        </p:nvPicPr>
        <p:blipFill>
          <a:blip r:embed="rId5"/>
          <a:stretch>
            <a:fillRect/>
          </a:stretch>
        </p:blipFill>
        <p:spPr>
          <a:xfrm>
            <a:off x="8751174" y="4252326"/>
            <a:ext cx="163860" cy="163860"/>
          </a:xfrm>
          <a:prstGeom prst="rect">
            <a:avLst/>
          </a:prstGeom>
        </p:spPr>
      </p:pic>
      <p:sp>
        <p:nvSpPr>
          <p:cNvPr id="55" name="Text 48"/>
          <p:cNvSpPr txBox="1"/>
          <p:nvPr/>
        </p:nvSpPr>
        <p:spPr>
          <a:xfrm>
            <a:off x="9052560" y="4169664"/>
            <a:ext cx="2499055" cy="329184"/>
          </a:xfrm>
          <a:prstGeom prst="rect">
            <a:avLst/>
          </a:prstGeom>
          <a:noFill/>
          <a:ln/>
        </p:spPr>
        <p:txBody>
          <a:bodyPr wrap="square" lIns="0" tIns="0" rIns="0" bIns="0" rtlCol="0" anchor="ctr"/>
          <a:lstStyle/>
          <a:p>
            <a:pPr indent="0" marL="0">
              <a:buNone/>
            </a:pPr>
            <a:r>
              <a:rPr lang="en-US" sz="1100" b="1" dirty="0">
                <a:solidFill>
                  <a:srgbClr val="1F3D2B"/>
                </a:solidFill>
                <a:latin typeface="Calibri" pitchFamily="34" charset="0"/>
                <a:ea typeface="Calibri" pitchFamily="34" charset="-122"/>
                <a:cs typeface="Calibri" pitchFamily="34" charset="-120"/>
              </a:rPr>
              <a:t>Enterprise view</a:t>
            </a:r>
            <a:endParaRPr lang="en-US" sz="1100" dirty="0"/>
          </a:p>
        </p:txBody>
      </p:sp>
      <p:sp>
        <p:nvSpPr>
          <p:cNvPr id="56" name="Text 49"/>
          <p:cNvSpPr txBox="1"/>
          <p:nvPr/>
        </p:nvSpPr>
        <p:spPr>
          <a:xfrm>
            <a:off x="8686800" y="4553712"/>
            <a:ext cx="2864815" cy="1783080"/>
          </a:xfrm>
          <a:prstGeom prst="rect">
            <a:avLst/>
          </a:prstGeom>
          <a:noFill/>
          <a:ln/>
        </p:spPr>
        <p:txBody>
          <a:bodyPr wrap="square" lIns="0" tIns="0" rIns="0" bIns="0" rtlCol="0" anchor="t"/>
          <a:lstStyle/>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Value proposition: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absolute emissions control; reuse, not rebuild</a:t>
            </a:r>
            <a:endParaRPr lang="en-US" sz="950" dirty="0"/>
          </a:p>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Key activities: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run marketplace; allocate carbon budgets</a:t>
            </a:r>
            <a:endParaRPr lang="en-US" sz="950" dirty="0"/>
          </a:p>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Key resources: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marketplace; carbon accounting per run</a:t>
            </a:r>
            <a:endParaRPr lang="en-US" sz="950" dirty="0"/>
          </a:p>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Channels: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marketplace as default entry point</a:t>
            </a:r>
            <a:endParaRPr lang="en-US" sz="950" dirty="0"/>
          </a:p>
          <a:p>
            <a:pPr indent="0" marL="0">
              <a:spcAft>
                <a:spcPts val="400"/>
              </a:spcAft>
              <a:buNone/>
            </a:pPr>
            <a:r>
              <a:rPr lang="en-US" sz="95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400"/>
              </a:spcAft>
              <a:buNone/>
            </a:pPr>
            <a:r>
              <a:rPr lang="en-US" sz="950" b="1" dirty="0">
                <a:solidFill>
                  <a:srgbClr val="1E2A22"/>
                </a:solidFill>
                <a:latin typeface="Calibri" pitchFamily="34" charset="0"/>
                <a:ea typeface="Calibri" pitchFamily="34" charset="-122"/>
                <a:cs typeface="Calibri" pitchFamily="34" charset="-120"/>
              </a:rPr>
              <a:t> Cost / revenue: </a:t>
            </a:r>
            <a:pPr indent="0" marL="0">
              <a:spcAft>
                <a:spcPts val="400"/>
              </a:spcAft>
              <a:buNone/>
            </a:pPr>
            <a:r>
              <a:rPr lang="en-US" sz="950" dirty="0">
                <a:solidFill>
                  <a:srgbClr val="1E2A22"/>
                </a:solidFill>
                <a:latin typeface="Calibri" pitchFamily="34" charset="0"/>
                <a:ea typeface="Calibri" pitchFamily="34" charset="-122"/>
                <a:cs typeface="Calibri" pitchFamily="34" charset="-120"/>
              </a:rPr>
              <a:t>marketplace ops ↔ chargeback, avoided builds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E5A3F"/>
                </a:solidFill>
                <a:latin typeface="Calibri" pitchFamily="34" charset="0"/>
                <a:ea typeface="Calibri" pitchFamily="34" charset="-122"/>
                <a:cs typeface="Calibri" pitchFamily="34" charset="-120"/>
              </a:rPr>
              <a:t>EXERCISE 4  ·  OPTION B (1/2): IDEATION &amp; PRIORITISATION</a:t>
            </a:r>
            <a:endParaRPr lang="en-US" sz="1100" dirty="0"/>
          </a:p>
        </p:txBody>
      </p:sp>
      <p:sp>
        <p:nvSpPr>
          <p:cNvPr id="3" name="Text 1"/>
          <p:cNvSpPr txBox="1"/>
          <p:nvPr/>
        </p:nvSpPr>
        <p:spPr>
          <a:xfrm>
            <a:off x="457200" y="530352"/>
            <a:ext cx="11247120" cy="548640"/>
          </a:xfrm>
          <a:prstGeom prst="rect">
            <a:avLst/>
          </a:prstGeom>
          <a:noFill/>
          <a:ln/>
        </p:spPr>
        <p:txBody>
          <a:bodyPr wrap="square" lIns="0" tIns="0" rIns="0" bIns="0"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Challenging our own model: from threats to ideas</a:t>
            </a:r>
            <a:endParaRPr lang="en-US" sz="2800" dirty="0"/>
          </a:p>
        </p:txBody>
      </p:sp>
      <p:sp>
        <p:nvSpPr>
          <p:cNvPr id="4" name="Shape 2"/>
          <p:cNvSpPr/>
          <p:nvPr/>
        </p:nvSpPr>
        <p:spPr>
          <a:xfrm>
            <a:off x="457200" y="1207008"/>
            <a:ext cx="11277295" cy="457200"/>
          </a:xfrm>
          <a:prstGeom prst="roundRect">
            <a:avLst>
              <a:gd name="adj" fmla="val 16000"/>
            </a:avLst>
          </a:prstGeom>
          <a:solidFill>
            <a:srgbClr val="1F3D2B"/>
          </a:solidFill>
          <a:ln w="12700">
            <a:solidFill>
              <a:srgbClr val="1F3D2B"/>
            </a:solidFill>
            <a:prstDash val="solid"/>
          </a:ln>
        </p:spPr>
      </p:sp>
      <p:sp>
        <p:nvSpPr>
          <p:cNvPr id="5" name="Text 3"/>
          <p:cNvSpPr txBox="1"/>
          <p:nvPr/>
        </p:nvSpPr>
        <p:spPr>
          <a:xfrm>
            <a:off x="640080" y="1207008"/>
            <a:ext cx="10972800" cy="457200"/>
          </a:xfrm>
          <a:prstGeom prst="rect">
            <a:avLst/>
          </a:prstGeom>
          <a:noFill/>
          <a:ln/>
        </p:spPr>
        <p:txBody>
          <a:bodyPr wrap="square" lIns="0" tIns="0" rIns="0" bIns="0" rtlCol="0" anchor="ctr"/>
          <a:lstStyle/>
          <a:p>
            <a:pPr indent="0" marL="0">
              <a:buNone/>
            </a:pPr>
            <a:r>
              <a:rPr lang="en-US" sz="1000" b="1" spc="100" kern="0" dirty="0">
                <a:solidFill>
                  <a:srgbClr val="B5E61D"/>
                </a:solidFill>
                <a:latin typeface="Calibri" pitchFamily="34" charset="0"/>
                <a:ea typeface="Calibri" pitchFamily="34" charset="-122"/>
                <a:cs typeface="Calibri" pitchFamily="34" charset="-120"/>
              </a:rPr>
              <a:t>DESIGN CHALLENGE   </a:t>
            </a:r>
            <a:pPr indent="0" marL="0">
              <a:buNone/>
            </a:pPr>
            <a:r>
              <a:rPr lang="en-US" sz="1200" i="1" dirty="0">
                <a:solidFill>
                  <a:srgbClr val="FFFFFF"/>
                </a:solidFill>
                <a:latin typeface="Calibri" pitchFamily="34" charset="0"/>
                <a:ea typeface="Calibri" pitchFamily="34" charset="-122"/>
                <a:cs typeface="Calibri" pitchFamily="34" charset="-120"/>
              </a:rPr>
              <a:t>Design the way SAP can become an Autonomous Enterprise while remaining Net Zero compatible</a:t>
            </a:r>
            <a:pPr indent="0" marL="0">
              <a:buNone/>
            </a:pPr>
            <a:r>
              <a:rPr lang="en-US" sz="1000" dirty="0">
                <a:solidFill>
                  <a:srgbClr val="C9D6CD"/>
                </a:solidFill>
                <a:latin typeface="Calibri" pitchFamily="34" charset="0"/>
                <a:ea typeface="Calibri" pitchFamily="34" charset="-122"/>
                <a:cs typeface="Calibri" pitchFamily="34" charset="-120"/>
              </a:rPr>
              <a:t>     Customer: CIO office · User: process owners (Lena)</a:t>
            </a:r>
            <a:endParaRPr lang="en-US" sz="1000" dirty="0"/>
          </a:p>
        </p:txBody>
      </p:sp>
      <p:sp>
        <p:nvSpPr>
          <p:cNvPr id="6" name="Shape 4"/>
          <p:cNvSpPr/>
          <p:nvPr/>
        </p:nvSpPr>
        <p:spPr>
          <a:xfrm>
            <a:off x="457200" y="1828800"/>
            <a:ext cx="7498080" cy="4663440"/>
          </a:xfrm>
          <a:prstGeom prst="roundRect">
            <a:avLst>
              <a:gd name="adj" fmla="val 1961"/>
            </a:avLst>
          </a:prstGeom>
          <a:solidFill>
            <a:srgbClr val="EEF4EA"/>
          </a:solidFill>
          <a:ln w="12700">
            <a:solidFill>
              <a:srgbClr val="EEF4EA"/>
            </a:solidFill>
            <a:prstDash val="solid"/>
          </a:ln>
        </p:spPr>
      </p:sp>
      <p:sp>
        <p:nvSpPr>
          <p:cNvPr id="7" name="Shape 5"/>
          <p:cNvSpPr/>
          <p:nvPr/>
        </p:nvSpPr>
        <p:spPr>
          <a:xfrm>
            <a:off x="8229600" y="1828800"/>
            <a:ext cx="3504895" cy="4663440"/>
          </a:xfrm>
          <a:prstGeom prst="roundRect">
            <a:avLst>
              <a:gd name="adj" fmla="val 2609"/>
            </a:avLst>
          </a:prstGeom>
          <a:solidFill>
            <a:srgbClr val="EEF4EA"/>
          </a:solidFill>
          <a:ln w="12700">
            <a:solidFill>
              <a:srgbClr val="EEF4EA"/>
            </a:solidFill>
            <a:prstDash val="solid"/>
          </a:ln>
        </p:spPr>
      </p:sp>
      <p:sp>
        <p:nvSpPr>
          <p:cNvPr id="8" name="Shape 6"/>
          <p:cNvSpPr/>
          <p:nvPr/>
        </p:nvSpPr>
        <p:spPr>
          <a:xfrm>
            <a:off x="640080" y="1993392"/>
            <a:ext cx="384048" cy="384048"/>
          </a:xfrm>
          <a:prstGeom prst="ellipse">
            <a:avLst/>
          </a:prstGeom>
          <a:solidFill>
            <a:srgbClr val="1F3D2B"/>
          </a:solidFill>
          <a:ln w="12700">
            <a:solidFill>
              <a:srgbClr val="1F3D2B"/>
            </a:solidFill>
            <a:prstDash val="solid"/>
          </a:ln>
        </p:spPr>
      </p:sp>
      <p:sp>
        <p:nvSpPr>
          <p:cNvPr id="9" name="Text 7"/>
          <p:cNvSpPr txBox="1"/>
          <p:nvPr/>
        </p:nvSpPr>
        <p:spPr>
          <a:xfrm>
            <a:off x="640080" y="1993392"/>
            <a:ext cx="384048" cy="384048"/>
          </a:xfrm>
          <a:prstGeom prst="rect">
            <a:avLst/>
          </a:prstGeom>
          <a:noFill/>
          <a:ln/>
        </p:spPr>
        <p:txBody>
          <a:bodyPr wrap="square" lIns="0" tIns="0" rIns="0" bIns="0" rtlCol="0" anchor="ctr"/>
          <a:lstStyle/>
          <a:p>
            <a:pPr algn="ctr" indent="0" marL="0">
              <a:buNone/>
            </a:pPr>
            <a:r>
              <a:rPr lang="en-US" sz="1400" b="1" dirty="0">
                <a:solidFill>
                  <a:srgbClr val="B5E61D"/>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115568" y="1956816"/>
            <a:ext cx="6656832" cy="475488"/>
          </a:xfrm>
          <a:prstGeom prst="rect">
            <a:avLst/>
          </a:prstGeom>
          <a:noFill/>
          <a:ln/>
        </p:spPr>
        <p:txBody>
          <a:bodyPr wrap="square" lIns="0" tIns="0" rIns="0" bIns="0" rtlCol="0" anchor="ctr"/>
          <a:lstStyle/>
          <a:p>
            <a:pPr indent="0" marL="0">
              <a:buNone/>
            </a:pPr>
            <a:r>
              <a:rPr lang="en-US" sz="1400" b="1" dirty="0">
                <a:solidFill>
                  <a:srgbClr val="1F3D2B"/>
                </a:solidFill>
                <a:latin typeface="Calibri" pitchFamily="34" charset="0"/>
                <a:ea typeface="Calibri" pitchFamily="34" charset="-122"/>
                <a:cs typeface="Calibri" pitchFamily="34" charset="-120"/>
              </a:rPr>
              <a:t>Ideation with two methods</a:t>
            </a:r>
            <a:endParaRPr lang="en-US" sz="1400" dirty="0"/>
          </a:p>
          <a:p>
            <a:pPr indent="0" marL="0">
              <a:buNone/>
            </a:pPr>
            <a:r>
              <a:rPr lang="en-US" sz="950" dirty="0">
                <a:solidFill>
                  <a:srgbClr val="5D6B62"/>
                </a:solidFill>
                <a:latin typeface="Calibri" pitchFamily="34" charset="0"/>
                <a:ea typeface="Calibri" pitchFamily="34" charset="-122"/>
                <a:cs typeface="Calibri" pitchFamily="34" charset="-120"/>
              </a:rPr>
              <a:t>Defensive (Kill the Company) + offensive (Pattern Cards), clustered as we went</a:t>
            </a:r>
            <a:endParaRPr lang="en-US" sz="1400" dirty="0"/>
          </a:p>
        </p:txBody>
      </p:sp>
      <p:sp>
        <p:nvSpPr>
          <p:cNvPr id="11" name="Shape 9"/>
          <p:cNvSpPr/>
          <p:nvPr/>
        </p:nvSpPr>
        <p:spPr>
          <a:xfrm>
            <a:off x="640080" y="2560320"/>
            <a:ext cx="292608" cy="292608"/>
          </a:xfrm>
          <a:prstGeom prst="ellipse">
            <a:avLst/>
          </a:prstGeom>
          <a:solidFill>
            <a:srgbClr val="1F3D2B"/>
          </a:solidFill>
          <a:ln w="12700">
            <a:solidFill>
              <a:srgbClr val="1F3D2B"/>
            </a:solidFill>
            <a:prstDash val="solid"/>
          </a:ln>
        </p:spPr>
      </p:sp>
      <p:pic>
        <p:nvPicPr>
          <p:cNvPr id="12" name="Image 0" descr="preencoded.png">    </p:cNvPr>
          <p:cNvPicPr>
            <a:picLocks noChangeAspect="1"/>
          </p:cNvPicPr>
          <p:nvPr/>
        </p:nvPicPr>
        <p:blipFill>
          <a:blip r:embed="rId1"/>
          <a:stretch>
            <a:fillRect/>
          </a:stretch>
        </p:blipFill>
        <p:spPr>
          <a:xfrm>
            <a:off x="704454" y="2624694"/>
            <a:ext cx="163860" cy="163860"/>
          </a:xfrm>
          <a:prstGeom prst="rect">
            <a:avLst/>
          </a:prstGeom>
        </p:spPr>
      </p:pic>
      <p:sp>
        <p:nvSpPr>
          <p:cNvPr id="13" name="Text 10"/>
          <p:cNvSpPr txBox="1"/>
          <p:nvPr/>
        </p:nvSpPr>
        <p:spPr>
          <a:xfrm>
            <a:off x="1005840" y="2542032"/>
            <a:ext cx="4572000" cy="329184"/>
          </a:xfrm>
          <a:prstGeom prst="rect">
            <a:avLst/>
          </a:prstGeom>
          <a:noFill/>
          <a:ln/>
        </p:spPr>
        <p:txBody>
          <a:bodyPr wrap="square" lIns="0" tIns="0" rIns="0" bIns="0" rtlCol="0" anchor="ctr"/>
          <a:lstStyle/>
          <a:p>
            <a:pPr indent="0" marL="0">
              <a:buNone/>
            </a:pPr>
            <a:r>
              <a:rPr lang="en-US" sz="1200" b="1" dirty="0">
                <a:solidFill>
                  <a:srgbClr val="1F3D2B"/>
                </a:solidFill>
                <a:latin typeface="Calibri" pitchFamily="34" charset="0"/>
                <a:ea typeface="Calibri" pitchFamily="34" charset="-122"/>
                <a:cs typeface="Calibri" pitchFamily="34" charset="-120"/>
              </a:rPr>
              <a:t>Kill the Right AI programme</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926080"/>
          <a:ext cx="7132320" cy="914400"/>
        </p:xfrm>
        <a:graphic>
          <a:graphicData uri="http://schemas.openxmlformats.org/drawingml/2006/table">
            <a:tbl>
              <a:tblPr/>
              <a:tblGrid>
                <a:gridCol w="3657600"/>
                <a:gridCol w="2880360"/>
                <a:gridCol w="41148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could our programme die?</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2E5A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Flipped idea</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2E5A3F"/>
                    </a:solidFill>
                  </a:tcPr>
                </a:tc>
                <a:tc>
                  <a:txBody>
                    <a:bodyPr/>
                    <a:lstStyle/>
                    <a:p>
                      <a:pPr indent="0" marL="0">
                        <a:buNone/>
                      </a:pP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2E5A3F"/>
                    </a:solidFill>
                  </a:tcPr>
                </a:tc>
              </a:tr>
              <a:tr h="274320">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Business units bypass the CIO office and buy SaaS agents (shadow AI)</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b="1" dirty="0">
                          <a:solidFill>
                            <a:srgbClr val="2E5A3F"/>
                          </a:solidFill>
                          <a:latin typeface="Calibri" pitchFamily="34" charset="0"/>
                          <a:ea typeface="Calibri" pitchFamily="34" charset="-122"/>
                          <a:cs typeface="Calibri" pitchFamily="34" charset="-120"/>
                        </a:rPr>
                        <a:t>self-service store of pre-approved templates</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Hyperscalers ship carbon-aware routing natively; our dashboard becomes redundant</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b="1" dirty="0">
                          <a:solidFill>
                            <a:srgbClr val="2E5A3F"/>
                          </a:solidFill>
                          <a:latin typeface="Calibri" pitchFamily="34" charset="0"/>
                          <a:ea typeface="Calibri" pitchFamily="34" charset="-122"/>
                          <a:cs typeface="Calibri" pitchFamily="34" charset="-120"/>
                        </a:rPr>
                        <a:t>partner: consume their energy data, own the decision layer</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Efficiency gains lead to more total AI use (rebound effect)</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b="1" dirty="0">
                          <a:solidFill>
                            <a:srgbClr val="2E5A3F"/>
                          </a:solidFill>
                          <a:latin typeface="Calibri" pitchFamily="34" charset="0"/>
                          <a:ea typeface="Calibri" pitchFamily="34" charset="-122"/>
                          <a:cs typeface="Calibri" pitchFamily="34" charset="-120"/>
                        </a:rPr>
                        <a:t>absolute carbon budget per business unit</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AI costs fall, so nobody cares about efficiency</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b="1" dirty="0">
                          <a:solidFill>
                            <a:srgbClr val="2E5A3F"/>
                          </a:solidFill>
                          <a:latin typeface="Calibri" pitchFamily="34" charset="0"/>
                          <a:ea typeface="Calibri" pitchFamily="34" charset="-122"/>
                          <a:cs typeface="Calibri" pitchFamily="34" charset="-120"/>
                        </a:rPr>
                        <a:t>anchor the case in emissions and reporting duties</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Process owners skip triage</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b="1" dirty="0">
                          <a:solidFill>
                            <a:srgbClr val="2E5A3F"/>
                          </a:solidFill>
                          <a:latin typeface="Calibri" pitchFamily="34" charset="0"/>
                          <a:ea typeface="Calibri" pitchFamily="34" charset="-122"/>
                          <a:cs typeface="Calibri" pitchFamily="34" charset="-120"/>
                        </a:rPr>
                        <a:t>tie triage to funding gates; charge back actual usage</a:t>
                      </a:r>
                      <a:endParaRPr lang="en-US" sz="95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63500" marR="63500" marT="38100" marB="381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bl>
          </a:graphicData>
        </a:graphic>
      </p:graphicFrame>
      <p:sp>
        <p:nvSpPr>
          <p:cNvPr id="15" name="Shape 11"/>
          <p:cNvSpPr/>
          <p:nvPr/>
        </p:nvSpPr>
        <p:spPr>
          <a:xfrm>
            <a:off x="640080" y="4956048"/>
            <a:ext cx="292608" cy="292608"/>
          </a:xfrm>
          <a:prstGeom prst="ellipse">
            <a:avLst/>
          </a:prstGeom>
          <a:solidFill>
            <a:srgbClr val="1F3D2B"/>
          </a:solidFill>
          <a:ln w="12700">
            <a:solidFill>
              <a:srgbClr val="1F3D2B"/>
            </a:solidFill>
            <a:prstDash val="solid"/>
          </a:ln>
        </p:spPr>
      </p:sp>
      <p:pic>
        <p:nvPicPr>
          <p:cNvPr id="16" name="Image 1" descr="preencoded.png">    </p:cNvPr>
          <p:cNvPicPr>
            <a:picLocks noChangeAspect="1"/>
          </p:cNvPicPr>
          <p:nvPr/>
        </p:nvPicPr>
        <p:blipFill>
          <a:blip r:embed="rId2"/>
          <a:stretch>
            <a:fillRect/>
          </a:stretch>
        </p:blipFill>
        <p:spPr>
          <a:xfrm>
            <a:off x="704454" y="5020422"/>
            <a:ext cx="163860" cy="163860"/>
          </a:xfrm>
          <a:prstGeom prst="rect">
            <a:avLst/>
          </a:prstGeom>
        </p:spPr>
      </p:pic>
      <p:sp>
        <p:nvSpPr>
          <p:cNvPr id="17" name="Text 12"/>
          <p:cNvSpPr txBox="1"/>
          <p:nvPr/>
        </p:nvSpPr>
        <p:spPr>
          <a:xfrm>
            <a:off x="1005840" y="4937760"/>
            <a:ext cx="5486400" cy="329184"/>
          </a:xfrm>
          <a:prstGeom prst="rect">
            <a:avLst/>
          </a:prstGeom>
          <a:noFill/>
          <a:ln/>
        </p:spPr>
        <p:txBody>
          <a:bodyPr wrap="square" lIns="0" tIns="0" rIns="0" bIns="0" rtlCol="0" anchor="ctr"/>
          <a:lstStyle/>
          <a:p>
            <a:pPr indent="0" marL="0">
              <a:buNone/>
            </a:pPr>
            <a:r>
              <a:rPr lang="en-US" sz="1200" b="1" dirty="0">
                <a:solidFill>
                  <a:srgbClr val="1F3D2B"/>
                </a:solidFill>
                <a:latin typeface="Calibri" pitchFamily="34" charset="0"/>
                <a:ea typeface="Calibri" pitchFamily="34" charset="-122"/>
                <a:cs typeface="Calibri" pitchFamily="34" charset="-120"/>
              </a:rPr>
              <a:t>Pattern Cards (St. Gallen Business Model Navigator)</a:t>
            </a:r>
            <a:endParaRPr lang="en-US" sz="12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40080" y="5321808"/>
          <a:ext cx="7132320" cy="914400"/>
        </p:xfrm>
        <a:graphic>
          <a:graphicData uri="http://schemas.openxmlformats.org/drawingml/2006/table">
            <a:tbl>
              <a:tblPr/>
              <a:tblGrid>
                <a:gridCol w="1920240"/>
                <a:gridCol w="4617720"/>
                <a:gridCol w="411480"/>
              </a:tblGrid>
              <a:tr h="21031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2E5A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Applied to us</a:t>
                      </a: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2E5A3F"/>
                    </a:solidFill>
                  </a:tcPr>
                </a:tc>
                <a:tc>
                  <a:txBody>
                    <a:bodyPr/>
                    <a:lstStyle/>
                    <a:p>
                      <a:pPr indent="0" marL="0">
                        <a:buNone/>
                      </a:pP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2E5A3F"/>
                    </a:solidFill>
                  </a:tcPr>
                </a:tc>
              </a:tr>
              <a:tr h="210312">
                <a:tc>
                  <a:txBody>
                    <a:bodyPr/>
                    <a:lstStyle/>
                    <a:p>
                      <a:pPr indent="0" marL="0">
                        <a:buNone/>
                      </a:pPr>
                      <a:r>
                        <a:rPr lang="en-US" sz="950" b="1" dirty="0">
                          <a:solidFill>
                            <a:srgbClr val="1E2A22"/>
                          </a:solidFill>
                          <a:latin typeface="Calibri" pitchFamily="34" charset="0"/>
                          <a:ea typeface="Calibri" pitchFamily="34" charset="-122"/>
                          <a:cs typeface="Calibri" pitchFamily="34" charset="-120"/>
                        </a:rPr>
                        <a:t>Pay per use</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internal chargeback per agent run (cost + CO₂e)</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10312">
                <a:tc>
                  <a:txBody>
                    <a:bodyPr/>
                    <a:lstStyle/>
                    <a:p>
                      <a:pPr indent="0" marL="0">
                        <a:buNone/>
                      </a:pPr>
                      <a:r>
                        <a:rPr lang="en-US" sz="950" b="1" dirty="0">
                          <a:solidFill>
                            <a:srgbClr val="1E2A22"/>
                          </a:solidFill>
                          <a:latin typeface="Calibri" pitchFamily="34" charset="0"/>
                          <a:ea typeface="Calibri" pitchFamily="34" charset="-122"/>
                          <a:cs typeface="Calibri" pitchFamily="34" charset="-120"/>
                        </a:rPr>
                        <a:t>Layer player / platform</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internal marketplace of reusable workflows and distilled agents</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10312">
                <a:tc>
                  <a:txBody>
                    <a:bodyPr/>
                    <a:lstStyle/>
                    <a:p>
                      <a:pPr indent="0" marL="0">
                        <a:buNone/>
                      </a:pPr>
                      <a:r>
                        <a:rPr lang="en-US" sz="950" b="1" dirty="0">
                          <a:solidFill>
                            <a:srgbClr val="1E2A22"/>
                          </a:solidFill>
                          <a:latin typeface="Calibri" pitchFamily="34" charset="0"/>
                          <a:ea typeface="Calibri" pitchFamily="34" charset="-122"/>
                          <a:cs typeface="Calibri" pitchFamily="34" charset="-120"/>
                        </a:rPr>
                        <a:t>Crowdsourcing</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business units contribute distilled workflows and earn credit</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E61D"/>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1F3D2B"/>
                    </a:solidFill>
                  </a:tcPr>
                </a:tc>
              </a:tr>
              <a:tr h="210312">
                <a:tc>
                  <a:txBody>
                    <a:bodyPr/>
                    <a:lstStyle/>
                    <a:p>
                      <a:pPr indent="0" marL="0">
                        <a:buNone/>
                      </a:pPr>
                      <a:r>
                        <a:rPr lang="en-US" sz="950" b="1" dirty="0">
                          <a:solidFill>
                            <a:srgbClr val="1E2A22"/>
                          </a:solidFill>
                          <a:latin typeface="Calibri" pitchFamily="34" charset="0"/>
                          <a:ea typeface="Calibri" pitchFamily="34" charset="-122"/>
                          <a:cs typeface="Calibri" pitchFamily="34" charset="-120"/>
                        </a:rPr>
                        <a:t>Licensing</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indent="0" marL="0">
                        <a:buNone/>
                      </a:pPr>
                      <a:r>
                        <a:rPr lang="en-US" sz="950" dirty="0">
                          <a:solidFill>
                            <a:srgbClr val="1E2A22"/>
                          </a:solidFill>
                          <a:latin typeface="Calibri" pitchFamily="34" charset="0"/>
                          <a:ea typeface="Calibri" pitchFamily="34" charset="-122"/>
                          <a:cs typeface="Calibri" pitchFamily="34" charset="-120"/>
                        </a:rPr>
                        <a:t>later: offer the Right AI method to SAP customers</a:t>
                      </a:r>
                      <a:endParaRPr lang="en-US" sz="95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a:t>
                      </a:r>
                      <a:endParaRPr lang="en-US" sz="1000" dirty="0">
                        <a:latin typeface="Calibri" charset="0"/>
                        <a:ea typeface="Calibri" charset="0"/>
                        <a:cs typeface="Calibri" charset="0"/>
                      </a:endParaRPr>
                    </a:p>
                  </a:txBody>
                  <a:tcPr marL="63500" marR="63500" marT="25400" marB="25400" anchor="ctr">
                    <a:lnL w="9525" cap="flat" cmpd="sng" algn="ctr">
                      <a:solidFill>
                        <a:srgbClr val="D5E0D7"/>
                      </a:solidFill>
                      <a:prstDash val="solid"/>
                      <a:round/>
                      <a:headEnd type="none" w="med" len="med"/>
                      <a:tailEnd type="none" w="med" len="med"/>
                    </a:lnL>
                    <a:lnR w="9525" cap="flat" cmpd="sng" algn="ctr">
                      <a:solidFill>
                        <a:srgbClr val="D5E0D7"/>
                      </a:solidFill>
                      <a:prstDash val="solid"/>
                      <a:round/>
                      <a:headEnd type="none" w="med" len="med"/>
                      <a:tailEnd type="none" w="med" len="med"/>
                    </a:lnR>
                    <a:lnT w="9525" cap="flat" cmpd="sng" algn="ctr">
                      <a:solidFill>
                        <a:srgbClr val="D5E0D7"/>
                      </a:solidFill>
                      <a:prstDash val="solid"/>
                      <a:round/>
                      <a:headEnd type="none" w="med" len="med"/>
                      <a:tailEnd type="none" w="med" len="med"/>
                    </a:lnT>
                    <a:lnB w="9525" cap="flat" cmpd="sng" algn="ctr">
                      <a:solidFill>
                        <a:srgbClr val="D5E0D7"/>
                      </a:solidFill>
                      <a:prstDash val="solid"/>
                      <a:round/>
                      <a:headEnd type="none" w="med" len="med"/>
                      <a:tailEnd type="none" w="med" len="med"/>
                    </a:lnB>
                    <a:solidFill>
                      <a:srgbClr val="B8C2BB"/>
                    </a:solidFill>
                  </a:tcPr>
                </a:tc>
              </a:tr>
            </a:tbl>
          </a:graphicData>
        </a:graphic>
      </p:graphicFrame>
      <p:sp>
        <p:nvSpPr>
          <p:cNvPr id="19" name="Shape 13"/>
          <p:cNvSpPr/>
          <p:nvPr/>
        </p:nvSpPr>
        <p:spPr>
          <a:xfrm>
            <a:off x="8412480" y="2011680"/>
            <a:ext cx="329184" cy="329184"/>
          </a:xfrm>
          <a:prstGeom prst="ellipse">
            <a:avLst/>
          </a:prstGeom>
          <a:solidFill>
            <a:srgbClr val="1F3D2B"/>
          </a:solidFill>
          <a:ln w="12700">
            <a:solidFill>
              <a:srgbClr val="1F3D2B"/>
            </a:solidFill>
            <a:prstDash val="solid"/>
          </a:ln>
        </p:spPr>
      </p:sp>
      <p:pic>
        <p:nvPicPr>
          <p:cNvPr id="20" name="Image 2" descr="preencoded.png">    </p:cNvPr>
          <p:cNvPicPr>
            <a:picLocks noChangeAspect="1"/>
          </p:cNvPicPr>
          <p:nvPr/>
        </p:nvPicPr>
        <p:blipFill>
          <a:blip r:embed="rId3"/>
          <a:stretch>
            <a:fillRect/>
          </a:stretch>
        </p:blipFill>
        <p:spPr>
          <a:xfrm>
            <a:off x="8484900" y="2084100"/>
            <a:ext cx="184343" cy="184343"/>
          </a:xfrm>
          <a:prstGeom prst="rect">
            <a:avLst/>
          </a:prstGeom>
        </p:spPr>
      </p:pic>
      <p:sp>
        <p:nvSpPr>
          <p:cNvPr id="21" name="Text 14"/>
          <p:cNvSpPr txBox="1"/>
          <p:nvPr/>
        </p:nvSpPr>
        <p:spPr>
          <a:xfrm>
            <a:off x="8833104" y="2011680"/>
            <a:ext cx="2743200" cy="329184"/>
          </a:xfrm>
          <a:prstGeom prst="rect">
            <a:avLst/>
          </a:prstGeom>
          <a:noFill/>
          <a:ln/>
        </p:spPr>
        <p:txBody>
          <a:bodyPr wrap="square" lIns="0" tIns="0" rIns="0" bIns="0" rtlCol="0" anchor="ctr"/>
          <a:lstStyle/>
          <a:p>
            <a:pPr indent="0" marL="0">
              <a:buNone/>
            </a:pPr>
            <a:r>
              <a:rPr lang="en-US" sz="1300" b="1" dirty="0">
                <a:solidFill>
                  <a:srgbClr val="1F3D2B"/>
                </a:solidFill>
                <a:latin typeface="Calibri" pitchFamily="34" charset="0"/>
                <a:ea typeface="Calibri" pitchFamily="34" charset="-122"/>
                <a:cs typeface="Calibri" pitchFamily="34" charset="-120"/>
              </a:rPr>
              <a:t>Clusters</a:t>
            </a:r>
            <a:endParaRPr lang="en-US" sz="1300" dirty="0"/>
          </a:p>
        </p:txBody>
      </p:sp>
      <p:sp>
        <p:nvSpPr>
          <p:cNvPr id="22" name="Shape 15"/>
          <p:cNvSpPr/>
          <p:nvPr/>
        </p:nvSpPr>
        <p:spPr>
          <a:xfrm>
            <a:off x="8412480" y="2487168"/>
            <a:ext cx="310896" cy="310896"/>
          </a:xfrm>
          <a:prstGeom prst="roundRect">
            <a:avLst>
              <a:gd name="adj" fmla="val 17647"/>
            </a:avLst>
          </a:prstGeom>
          <a:solidFill>
            <a:srgbClr val="1F3D2B"/>
          </a:solidFill>
          <a:ln w="12700">
            <a:solidFill>
              <a:srgbClr val="1F3D2B"/>
            </a:solidFill>
            <a:prstDash val="solid"/>
          </a:ln>
        </p:spPr>
      </p:sp>
      <p:sp>
        <p:nvSpPr>
          <p:cNvPr id="23" name="Text 16"/>
          <p:cNvSpPr txBox="1"/>
          <p:nvPr/>
        </p:nvSpPr>
        <p:spPr>
          <a:xfrm>
            <a:off x="8412480" y="2487168"/>
            <a:ext cx="310896" cy="310896"/>
          </a:xfrm>
          <a:prstGeom prst="rect">
            <a:avLst/>
          </a:prstGeom>
          <a:noFill/>
          <a:ln/>
        </p:spPr>
        <p:txBody>
          <a:bodyPr wrap="square" lIns="0" tIns="0" rIns="0" bIns="0" rtlCol="0" anchor="ctr"/>
          <a:lstStyle/>
          <a:p>
            <a:pPr algn="ctr" indent="0" marL="0">
              <a:buNone/>
            </a:pPr>
            <a:r>
              <a:rPr lang="en-US" sz="1200" b="1" dirty="0">
                <a:solidFill>
                  <a:srgbClr val="B5E61D"/>
                </a:solidFill>
                <a:latin typeface="Cambria" pitchFamily="34" charset="0"/>
                <a:ea typeface="Cambria" pitchFamily="34" charset="-122"/>
                <a:cs typeface="Cambria" pitchFamily="34" charset="-120"/>
              </a:rPr>
              <a:t>A</a:t>
            </a:r>
            <a:endParaRPr lang="en-US" sz="1200" dirty="0"/>
          </a:p>
        </p:txBody>
      </p:sp>
      <p:sp>
        <p:nvSpPr>
          <p:cNvPr id="24" name="Text 17"/>
          <p:cNvSpPr txBox="1"/>
          <p:nvPr/>
        </p:nvSpPr>
        <p:spPr>
          <a:xfrm>
            <a:off x="8814816" y="2450592"/>
            <a:ext cx="2736799" cy="420624"/>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Incentives &amp; governance</a:t>
            </a:r>
            <a:endParaRPr lang="en-US" sz="1050" dirty="0"/>
          </a:p>
          <a:p>
            <a:pPr indent="0" marL="0">
              <a:buNone/>
            </a:pPr>
            <a:r>
              <a:rPr lang="en-US" sz="900" dirty="0">
                <a:solidFill>
                  <a:srgbClr val="5D6B62"/>
                </a:solidFill>
                <a:latin typeface="Calibri" pitchFamily="34" charset="0"/>
                <a:ea typeface="Calibri" pitchFamily="34" charset="-122"/>
                <a:cs typeface="Calibri" pitchFamily="34" charset="-120"/>
              </a:rPr>
              <a:t>carbon budget · chargeback · funding gates</a:t>
            </a:r>
            <a:endParaRPr lang="en-US" sz="1050" dirty="0"/>
          </a:p>
        </p:txBody>
      </p:sp>
      <p:sp>
        <p:nvSpPr>
          <p:cNvPr id="25" name="Shape 18"/>
          <p:cNvSpPr/>
          <p:nvPr/>
        </p:nvSpPr>
        <p:spPr>
          <a:xfrm>
            <a:off x="8412480" y="2944368"/>
            <a:ext cx="310896" cy="310896"/>
          </a:xfrm>
          <a:prstGeom prst="roundRect">
            <a:avLst>
              <a:gd name="adj" fmla="val 17647"/>
            </a:avLst>
          </a:prstGeom>
          <a:solidFill>
            <a:srgbClr val="1F3D2B"/>
          </a:solidFill>
          <a:ln w="12700">
            <a:solidFill>
              <a:srgbClr val="1F3D2B"/>
            </a:solidFill>
            <a:prstDash val="solid"/>
          </a:ln>
        </p:spPr>
      </p:sp>
      <p:sp>
        <p:nvSpPr>
          <p:cNvPr id="26" name="Text 19"/>
          <p:cNvSpPr txBox="1"/>
          <p:nvPr/>
        </p:nvSpPr>
        <p:spPr>
          <a:xfrm>
            <a:off x="8412480" y="2944368"/>
            <a:ext cx="310896" cy="310896"/>
          </a:xfrm>
          <a:prstGeom prst="rect">
            <a:avLst/>
          </a:prstGeom>
          <a:noFill/>
          <a:ln/>
        </p:spPr>
        <p:txBody>
          <a:bodyPr wrap="square" lIns="0" tIns="0" rIns="0" bIns="0" rtlCol="0" anchor="ctr"/>
          <a:lstStyle/>
          <a:p>
            <a:pPr algn="ctr" indent="0" marL="0">
              <a:buNone/>
            </a:pPr>
            <a:r>
              <a:rPr lang="en-US" sz="1200" b="1" dirty="0">
                <a:solidFill>
                  <a:srgbClr val="B5E61D"/>
                </a:solidFill>
                <a:latin typeface="Cambria" pitchFamily="34" charset="0"/>
                <a:ea typeface="Cambria" pitchFamily="34" charset="-122"/>
                <a:cs typeface="Cambria" pitchFamily="34" charset="-120"/>
              </a:rPr>
              <a:t>B</a:t>
            </a:r>
            <a:endParaRPr lang="en-US" sz="1200" dirty="0"/>
          </a:p>
        </p:txBody>
      </p:sp>
      <p:sp>
        <p:nvSpPr>
          <p:cNvPr id="27" name="Text 20"/>
          <p:cNvSpPr txBox="1"/>
          <p:nvPr/>
        </p:nvSpPr>
        <p:spPr>
          <a:xfrm>
            <a:off x="8814816" y="2907792"/>
            <a:ext cx="2736799" cy="420624"/>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Platform &amp; reuse</a:t>
            </a:r>
            <a:endParaRPr lang="en-US" sz="1050" dirty="0"/>
          </a:p>
          <a:p>
            <a:pPr indent="0" marL="0">
              <a:buNone/>
            </a:pPr>
            <a:r>
              <a:rPr lang="en-US" sz="900" dirty="0">
                <a:solidFill>
                  <a:srgbClr val="5D6B62"/>
                </a:solidFill>
                <a:latin typeface="Calibri" pitchFamily="34" charset="0"/>
                <a:ea typeface="Calibri" pitchFamily="34" charset="-122"/>
                <a:cs typeface="Calibri" pitchFamily="34" charset="-120"/>
              </a:rPr>
              <a:t>template store · workflow marketplace · crowdsourcing</a:t>
            </a:r>
            <a:endParaRPr lang="en-US" sz="1050" dirty="0"/>
          </a:p>
        </p:txBody>
      </p:sp>
      <p:sp>
        <p:nvSpPr>
          <p:cNvPr id="28" name="Shape 21"/>
          <p:cNvSpPr/>
          <p:nvPr/>
        </p:nvSpPr>
        <p:spPr>
          <a:xfrm>
            <a:off x="8412480" y="3401568"/>
            <a:ext cx="310896" cy="310896"/>
          </a:xfrm>
          <a:prstGeom prst="roundRect">
            <a:avLst>
              <a:gd name="adj" fmla="val 17647"/>
            </a:avLst>
          </a:prstGeom>
          <a:solidFill>
            <a:srgbClr val="1F3D2B"/>
          </a:solidFill>
          <a:ln w="12700">
            <a:solidFill>
              <a:srgbClr val="1F3D2B"/>
            </a:solidFill>
            <a:prstDash val="solid"/>
          </a:ln>
        </p:spPr>
      </p:sp>
      <p:sp>
        <p:nvSpPr>
          <p:cNvPr id="29" name="Text 22"/>
          <p:cNvSpPr txBox="1"/>
          <p:nvPr/>
        </p:nvSpPr>
        <p:spPr>
          <a:xfrm>
            <a:off x="8412480" y="3401568"/>
            <a:ext cx="310896" cy="310896"/>
          </a:xfrm>
          <a:prstGeom prst="rect">
            <a:avLst/>
          </a:prstGeom>
          <a:noFill/>
          <a:ln/>
        </p:spPr>
        <p:txBody>
          <a:bodyPr wrap="square" lIns="0" tIns="0" rIns="0" bIns="0" rtlCol="0" anchor="ctr"/>
          <a:lstStyle/>
          <a:p>
            <a:pPr algn="ctr" indent="0" marL="0">
              <a:buNone/>
            </a:pPr>
            <a:r>
              <a:rPr lang="en-US" sz="1200" b="1" dirty="0">
                <a:solidFill>
                  <a:srgbClr val="B5E61D"/>
                </a:solidFill>
                <a:latin typeface="Cambria" pitchFamily="34" charset="0"/>
                <a:ea typeface="Cambria" pitchFamily="34" charset="-122"/>
                <a:cs typeface="Cambria" pitchFamily="34" charset="-120"/>
              </a:rPr>
              <a:t>C</a:t>
            </a:r>
            <a:endParaRPr lang="en-US" sz="1200" dirty="0"/>
          </a:p>
        </p:txBody>
      </p:sp>
      <p:sp>
        <p:nvSpPr>
          <p:cNvPr id="30" name="Text 23"/>
          <p:cNvSpPr txBox="1"/>
          <p:nvPr/>
        </p:nvSpPr>
        <p:spPr>
          <a:xfrm>
            <a:off x="8814816" y="3364992"/>
            <a:ext cx="2736799" cy="420624"/>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Ecosystem</a:t>
            </a:r>
            <a:endParaRPr lang="en-US" sz="1050" dirty="0"/>
          </a:p>
          <a:p>
            <a:pPr indent="0" marL="0">
              <a:buNone/>
            </a:pPr>
            <a:r>
              <a:rPr lang="en-US" sz="900" dirty="0">
                <a:solidFill>
                  <a:srgbClr val="5D6B62"/>
                </a:solidFill>
                <a:latin typeface="Calibri" pitchFamily="34" charset="0"/>
                <a:ea typeface="Calibri" pitchFamily="34" charset="-122"/>
                <a:cs typeface="Calibri" pitchFamily="34" charset="-120"/>
              </a:rPr>
              <a:t>hyperscaler energy-data partnership</a:t>
            </a:r>
            <a:endParaRPr lang="en-US" sz="1050" dirty="0"/>
          </a:p>
        </p:txBody>
      </p:sp>
      <p:sp>
        <p:nvSpPr>
          <p:cNvPr id="31" name="Shape 24"/>
          <p:cNvSpPr/>
          <p:nvPr/>
        </p:nvSpPr>
        <p:spPr>
          <a:xfrm>
            <a:off x="8412480" y="3858768"/>
            <a:ext cx="310896" cy="310896"/>
          </a:xfrm>
          <a:prstGeom prst="roundRect">
            <a:avLst>
              <a:gd name="adj" fmla="val 17647"/>
            </a:avLst>
          </a:prstGeom>
          <a:solidFill>
            <a:srgbClr val="B8C2BB"/>
          </a:solidFill>
          <a:ln w="12700">
            <a:solidFill>
              <a:srgbClr val="B8C2BB"/>
            </a:solidFill>
            <a:prstDash val="solid"/>
          </a:ln>
        </p:spPr>
      </p:sp>
      <p:sp>
        <p:nvSpPr>
          <p:cNvPr id="32" name="Text 25"/>
          <p:cNvSpPr txBox="1"/>
          <p:nvPr/>
        </p:nvSpPr>
        <p:spPr>
          <a:xfrm>
            <a:off x="8412480" y="3858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a:t>
            </a:r>
            <a:endParaRPr lang="en-US" sz="1200" dirty="0"/>
          </a:p>
        </p:txBody>
      </p:sp>
      <p:sp>
        <p:nvSpPr>
          <p:cNvPr id="33" name="Text 26"/>
          <p:cNvSpPr txBox="1"/>
          <p:nvPr/>
        </p:nvSpPr>
        <p:spPr>
          <a:xfrm>
            <a:off x="8814816" y="3822192"/>
            <a:ext cx="2736799" cy="420624"/>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Future offering</a:t>
            </a:r>
            <a:endParaRPr lang="en-US" sz="1050" dirty="0"/>
          </a:p>
          <a:p>
            <a:pPr indent="0" marL="0">
              <a:buNone/>
            </a:pPr>
            <a:r>
              <a:rPr lang="en-US" sz="900" dirty="0">
                <a:solidFill>
                  <a:srgbClr val="5D6B62"/>
                </a:solidFill>
                <a:latin typeface="Calibri" pitchFamily="34" charset="0"/>
                <a:ea typeface="Calibri" pitchFamily="34" charset="-122"/>
                <a:cs typeface="Calibri" pitchFamily="34" charset="-120"/>
              </a:rPr>
              <a:t>productise Right AI for SAP customers (parked)</a:t>
            </a:r>
            <a:endParaRPr lang="en-US" sz="1050" dirty="0"/>
          </a:p>
        </p:txBody>
      </p:sp>
      <p:sp>
        <p:nvSpPr>
          <p:cNvPr id="34" name="Shape 27"/>
          <p:cNvSpPr/>
          <p:nvPr/>
        </p:nvSpPr>
        <p:spPr>
          <a:xfrm>
            <a:off x="8412480" y="4434840"/>
            <a:ext cx="384048" cy="384048"/>
          </a:xfrm>
          <a:prstGeom prst="ellipse">
            <a:avLst/>
          </a:prstGeom>
          <a:solidFill>
            <a:srgbClr val="1F3D2B"/>
          </a:solidFill>
          <a:ln w="12700">
            <a:solidFill>
              <a:srgbClr val="1F3D2B"/>
            </a:solidFill>
            <a:prstDash val="solid"/>
          </a:ln>
        </p:spPr>
      </p:sp>
      <p:sp>
        <p:nvSpPr>
          <p:cNvPr id="35" name="Text 28"/>
          <p:cNvSpPr txBox="1"/>
          <p:nvPr/>
        </p:nvSpPr>
        <p:spPr>
          <a:xfrm>
            <a:off x="8412480" y="4434840"/>
            <a:ext cx="384048" cy="384048"/>
          </a:xfrm>
          <a:prstGeom prst="rect">
            <a:avLst/>
          </a:prstGeom>
          <a:noFill/>
          <a:ln/>
        </p:spPr>
        <p:txBody>
          <a:bodyPr wrap="square" lIns="0" tIns="0" rIns="0" bIns="0" rtlCol="0" anchor="ctr"/>
          <a:lstStyle/>
          <a:p>
            <a:pPr algn="ctr" indent="0" marL="0">
              <a:buNone/>
            </a:pPr>
            <a:r>
              <a:rPr lang="en-US" sz="1400" b="1" dirty="0">
                <a:solidFill>
                  <a:srgbClr val="B5E61D"/>
                </a:solidFill>
                <a:latin typeface="Cambria" pitchFamily="34" charset="0"/>
                <a:ea typeface="Cambria" pitchFamily="34" charset="-122"/>
                <a:cs typeface="Cambria" pitchFamily="34" charset="-120"/>
              </a:rPr>
              <a:t>2</a:t>
            </a:r>
            <a:endParaRPr lang="en-US" sz="1400" dirty="0"/>
          </a:p>
        </p:txBody>
      </p:sp>
      <p:sp>
        <p:nvSpPr>
          <p:cNvPr id="36" name="Text 29"/>
          <p:cNvSpPr txBox="1"/>
          <p:nvPr/>
        </p:nvSpPr>
        <p:spPr>
          <a:xfrm>
            <a:off x="8887968" y="4398264"/>
            <a:ext cx="2663647" cy="475488"/>
          </a:xfrm>
          <a:prstGeom prst="rect">
            <a:avLst/>
          </a:prstGeom>
          <a:noFill/>
          <a:ln/>
        </p:spPr>
        <p:txBody>
          <a:bodyPr wrap="square" lIns="0" tIns="0" rIns="0" bIns="0" rtlCol="0" anchor="ctr"/>
          <a:lstStyle/>
          <a:p>
            <a:pPr indent="0" marL="0">
              <a:buNone/>
            </a:pPr>
            <a:r>
              <a:rPr lang="en-US" sz="1400" b="1" dirty="0">
                <a:solidFill>
                  <a:srgbClr val="1F3D2B"/>
                </a:solidFill>
                <a:latin typeface="Calibri" pitchFamily="34" charset="0"/>
                <a:ea typeface="Calibri" pitchFamily="34" charset="-122"/>
                <a:cs typeface="Calibri" pitchFamily="34" charset="-120"/>
              </a:rPr>
              <a:t>Prioritisation</a:t>
            </a:r>
            <a:endParaRPr lang="en-US" sz="1400" dirty="0"/>
          </a:p>
          <a:p>
            <a:pPr indent="0" marL="0">
              <a:buNone/>
            </a:pPr>
            <a:r>
              <a:rPr lang="en-US" sz="950" dirty="0">
                <a:solidFill>
                  <a:srgbClr val="5D6B62"/>
                </a:solidFill>
                <a:latin typeface="Calibri" pitchFamily="34" charset="0"/>
                <a:ea typeface="Calibri" pitchFamily="34" charset="-122"/>
                <a:cs typeface="Calibri" pitchFamily="34" charset="-120"/>
              </a:rPr>
              <a:t>3 dot votes per team member</a:t>
            </a:r>
            <a:endParaRPr lang="en-US" sz="1400" dirty="0"/>
          </a:p>
        </p:txBody>
      </p:sp>
      <p:sp>
        <p:nvSpPr>
          <p:cNvPr id="37" name="Text 30"/>
          <p:cNvSpPr txBox="1"/>
          <p:nvPr/>
        </p:nvSpPr>
        <p:spPr>
          <a:xfrm>
            <a:off x="8412480" y="4956048"/>
            <a:ext cx="365760" cy="411480"/>
          </a:xfrm>
          <a:prstGeom prst="rect">
            <a:avLst/>
          </a:prstGeom>
          <a:noFill/>
          <a:ln/>
        </p:spPr>
        <p:txBody>
          <a:bodyPr wrap="square" lIns="0" tIns="0" rIns="0" bIns="0" rtlCol="0" anchor="ctr"/>
          <a:lstStyle/>
          <a:p>
            <a:pPr indent="0" marL="0">
              <a:buNone/>
            </a:pPr>
            <a:r>
              <a:rPr lang="en-US" sz="2200" b="1" dirty="0">
                <a:solidFill>
                  <a:srgbClr val="1F3D2B"/>
                </a:solidFill>
                <a:latin typeface="Cambria" pitchFamily="34" charset="0"/>
                <a:ea typeface="Cambria" pitchFamily="34" charset="-122"/>
                <a:cs typeface="Cambria" pitchFamily="34" charset="-120"/>
              </a:rPr>
              <a:t>1</a:t>
            </a:r>
            <a:endParaRPr lang="en-US" sz="2200" dirty="0"/>
          </a:p>
        </p:txBody>
      </p:sp>
      <p:sp>
        <p:nvSpPr>
          <p:cNvPr id="38" name="Text 31"/>
          <p:cNvSpPr txBox="1"/>
          <p:nvPr/>
        </p:nvSpPr>
        <p:spPr>
          <a:xfrm>
            <a:off x="8823960" y="4956048"/>
            <a:ext cx="2727655" cy="411480"/>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Carbon budget + chargeback per business unit</a:t>
            </a:r>
            <a:endParaRPr lang="en-US" sz="1050" dirty="0"/>
          </a:p>
          <a:p>
            <a:pPr indent="0" marL="0">
              <a:buNone/>
            </a:pPr>
            <a:r>
              <a:rPr lang="en-US" sz="850" dirty="0">
                <a:solidFill>
                  <a:srgbClr val="5D6B62"/>
                </a:solidFill>
                <a:latin typeface="Calibri" pitchFamily="34" charset="0"/>
                <a:ea typeface="Calibri" pitchFamily="34" charset="-122"/>
                <a:cs typeface="Calibri" pitchFamily="34" charset="-120"/>
              </a:rPr>
              <a:t>Cluster A   </a:t>
            </a:r>
            <a:pPr indent="0" marL="0">
              <a:buNone/>
            </a:pPr>
            <a:r>
              <a:rPr lang="en-US" sz="850" b="1" dirty="0">
                <a:solidFill>
                  <a:srgbClr val="D9662B"/>
                </a:solidFill>
                <a:latin typeface="Calibri" pitchFamily="34" charset="0"/>
                <a:ea typeface="Calibri" pitchFamily="34" charset="-122"/>
                <a:cs typeface="Calibri" pitchFamily="34" charset="-120"/>
              </a:rPr>
              <a:t>●●● votes: __</a:t>
            </a:r>
            <a:endParaRPr lang="en-US" sz="1050" dirty="0"/>
          </a:p>
        </p:txBody>
      </p:sp>
      <p:sp>
        <p:nvSpPr>
          <p:cNvPr id="39" name="Text 32"/>
          <p:cNvSpPr txBox="1"/>
          <p:nvPr/>
        </p:nvSpPr>
        <p:spPr>
          <a:xfrm>
            <a:off x="8412480" y="5458968"/>
            <a:ext cx="365760" cy="411480"/>
          </a:xfrm>
          <a:prstGeom prst="rect">
            <a:avLst/>
          </a:prstGeom>
          <a:noFill/>
          <a:ln/>
        </p:spPr>
        <p:txBody>
          <a:bodyPr wrap="square" lIns="0" tIns="0" rIns="0" bIns="0" rtlCol="0" anchor="ctr"/>
          <a:lstStyle/>
          <a:p>
            <a:pPr indent="0" marL="0">
              <a:buNone/>
            </a:pPr>
            <a:r>
              <a:rPr lang="en-US" sz="2200" b="1" dirty="0">
                <a:solidFill>
                  <a:srgbClr val="1F3D2B"/>
                </a:solidFill>
                <a:latin typeface="Cambria" pitchFamily="34" charset="0"/>
                <a:ea typeface="Cambria" pitchFamily="34" charset="-122"/>
                <a:cs typeface="Cambria" pitchFamily="34" charset="-120"/>
              </a:rPr>
              <a:t>2</a:t>
            </a:r>
            <a:endParaRPr lang="en-US" sz="2200" dirty="0"/>
          </a:p>
        </p:txBody>
      </p:sp>
      <p:sp>
        <p:nvSpPr>
          <p:cNvPr id="40" name="Text 33"/>
          <p:cNvSpPr txBox="1"/>
          <p:nvPr/>
        </p:nvSpPr>
        <p:spPr>
          <a:xfrm>
            <a:off x="8823960" y="5458968"/>
            <a:ext cx="2727655" cy="411480"/>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Internal agent &amp; workflow marketplace</a:t>
            </a:r>
            <a:endParaRPr lang="en-US" sz="1050" dirty="0"/>
          </a:p>
          <a:p>
            <a:pPr indent="0" marL="0">
              <a:buNone/>
            </a:pPr>
            <a:r>
              <a:rPr lang="en-US" sz="850" dirty="0">
                <a:solidFill>
                  <a:srgbClr val="5D6B62"/>
                </a:solidFill>
                <a:latin typeface="Calibri" pitchFamily="34" charset="0"/>
                <a:ea typeface="Calibri" pitchFamily="34" charset="-122"/>
                <a:cs typeface="Calibri" pitchFamily="34" charset="-120"/>
              </a:rPr>
              <a:t>Cluster B   </a:t>
            </a:r>
            <a:pPr indent="0" marL="0">
              <a:buNone/>
            </a:pPr>
            <a:r>
              <a:rPr lang="en-US" sz="850" b="1" dirty="0">
                <a:solidFill>
                  <a:srgbClr val="D9662B"/>
                </a:solidFill>
                <a:latin typeface="Calibri" pitchFamily="34" charset="0"/>
                <a:ea typeface="Calibri" pitchFamily="34" charset="-122"/>
                <a:cs typeface="Calibri" pitchFamily="34" charset="-120"/>
              </a:rPr>
              <a:t>●●● votes: __</a:t>
            </a:r>
            <a:endParaRPr lang="en-US" sz="1050" dirty="0"/>
          </a:p>
        </p:txBody>
      </p:sp>
      <p:sp>
        <p:nvSpPr>
          <p:cNvPr id="41" name="Text 34"/>
          <p:cNvSpPr txBox="1"/>
          <p:nvPr/>
        </p:nvSpPr>
        <p:spPr>
          <a:xfrm>
            <a:off x="8412480" y="5961888"/>
            <a:ext cx="365760" cy="411480"/>
          </a:xfrm>
          <a:prstGeom prst="rect">
            <a:avLst/>
          </a:prstGeom>
          <a:noFill/>
          <a:ln/>
        </p:spPr>
        <p:txBody>
          <a:bodyPr wrap="square" lIns="0" tIns="0" rIns="0" bIns="0" rtlCol="0" anchor="ctr"/>
          <a:lstStyle/>
          <a:p>
            <a:pPr indent="0" marL="0">
              <a:buNone/>
            </a:pPr>
            <a:r>
              <a:rPr lang="en-US" sz="2200" b="1" dirty="0">
                <a:solidFill>
                  <a:srgbClr val="1F3D2B"/>
                </a:solidFill>
                <a:latin typeface="Cambria" pitchFamily="34" charset="0"/>
                <a:ea typeface="Cambria" pitchFamily="34" charset="-122"/>
                <a:cs typeface="Cambria" pitchFamily="34" charset="-120"/>
              </a:rPr>
              <a:t>3</a:t>
            </a:r>
            <a:endParaRPr lang="en-US" sz="2200" dirty="0"/>
          </a:p>
        </p:txBody>
      </p:sp>
      <p:sp>
        <p:nvSpPr>
          <p:cNvPr id="42" name="Text 35"/>
          <p:cNvSpPr txBox="1"/>
          <p:nvPr/>
        </p:nvSpPr>
        <p:spPr>
          <a:xfrm>
            <a:off x="8823960" y="5961888"/>
            <a:ext cx="2727655" cy="411480"/>
          </a:xfrm>
          <a:prstGeom prst="rect">
            <a:avLst/>
          </a:prstGeom>
          <a:noFill/>
          <a:ln/>
        </p:spPr>
        <p:txBody>
          <a:bodyPr wrap="square" lIns="0" tIns="0" rIns="0" bIns="0" rtlCol="0" anchor="ctr"/>
          <a:lstStyle/>
          <a:p>
            <a:pPr indent="0" marL="0">
              <a:buNone/>
            </a:pPr>
            <a:r>
              <a:rPr lang="en-US" sz="1050" b="1" dirty="0">
                <a:solidFill>
                  <a:srgbClr val="1E2A22"/>
                </a:solidFill>
                <a:latin typeface="Calibri" pitchFamily="34" charset="0"/>
                <a:ea typeface="Calibri" pitchFamily="34" charset="-122"/>
                <a:cs typeface="Calibri" pitchFamily="34" charset="-120"/>
              </a:rPr>
              <a:t>Hyperscaler energy-data partnership</a:t>
            </a:r>
            <a:endParaRPr lang="en-US" sz="1050" dirty="0"/>
          </a:p>
          <a:p>
            <a:pPr indent="0" marL="0">
              <a:buNone/>
            </a:pPr>
            <a:r>
              <a:rPr lang="en-US" sz="850" dirty="0">
                <a:solidFill>
                  <a:srgbClr val="5D6B62"/>
                </a:solidFill>
                <a:latin typeface="Calibri" pitchFamily="34" charset="0"/>
                <a:ea typeface="Calibri" pitchFamily="34" charset="-122"/>
                <a:cs typeface="Calibri" pitchFamily="34" charset="-120"/>
              </a:rPr>
              <a:t>Cluster C   </a:t>
            </a:r>
            <a:pPr indent="0" marL="0">
              <a:buNone/>
            </a:pPr>
            <a:r>
              <a:rPr lang="en-US" sz="850" b="1" dirty="0">
                <a:solidFill>
                  <a:srgbClr val="D9662B"/>
                </a:solidFill>
                <a:latin typeface="Calibri" pitchFamily="34" charset="0"/>
                <a:ea typeface="Calibri" pitchFamily="34" charset="-122"/>
                <a:cs typeface="Calibri" pitchFamily="34" charset="-120"/>
              </a:rPr>
              <a:t>●●● votes: __</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E5A3F"/>
                </a:solidFill>
                <a:latin typeface="Calibri" pitchFamily="34" charset="0"/>
                <a:ea typeface="Calibri" pitchFamily="34" charset="-122"/>
                <a:cs typeface="Calibri" pitchFamily="34" charset="-120"/>
              </a:rPr>
              <a:t>EXERCISE 4  ·  OPTION B (2/2): EXTENDED BUSINESS MODEL</a:t>
            </a:r>
            <a:endParaRPr lang="en-US" sz="1100" dirty="0"/>
          </a:p>
        </p:txBody>
      </p:sp>
      <p:sp>
        <p:nvSpPr>
          <p:cNvPr id="3" name="Text 1"/>
          <p:cNvSpPr txBox="1"/>
          <p:nvPr/>
        </p:nvSpPr>
        <p:spPr>
          <a:xfrm>
            <a:off x="457200" y="530352"/>
            <a:ext cx="7772400" cy="548640"/>
          </a:xfrm>
          <a:prstGeom prst="rect">
            <a:avLst/>
          </a:prstGeom>
          <a:noFill/>
          <a:ln/>
        </p:spPr>
        <p:txBody>
          <a:bodyPr wrap="square" lIns="0" tIns="0" rIns="0" bIns="0"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Right AI business model – 2nd iteration</a:t>
            </a:r>
            <a:endParaRPr lang="en-US" sz="2800" dirty="0"/>
          </a:p>
        </p:txBody>
      </p:sp>
      <p:sp>
        <p:nvSpPr>
          <p:cNvPr id="4" name="Text 2"/>
          <p:cNvSpPr txBox="1"/>
          <p:nvPr/>
        </p:nvSpPr>
        <p:spPr>
          <a:xfrm>
            <a:off x="7315200" y="640080"/>
            <a:ext cx="4416552" cy="365760"/>
          </a:xfrm>
          <a:prstGeom prst="rect">
            <a:avLst/>
          </a:prstGeom>
          <a:noFill/>
          <a:ln/>
        </p:spPr>
        <p:txBody>
          <a:bodyPr wrap="square" lIns="0" tIns="0" rIns="0" bIns="0" rtlCol="0" anchor="ctr"/>
          <a:lstStyle/>
          <a:p>
            <a:pPr algn="r" indent="0" marL="0">
              <a:buNone/>
            </a:pPr>
            <a:r>
              <a:rPr lang="en-US" sz="1000" dirty="0">
                <a:solidFill>
                  <a:srgbClr val="5D6B62"/>
                </a:solidFill>
                <a:latin typeface="Calibri" pitchFamily="34" charset="0"/>
                <a:ea typeface="Calibri" pitchFamily="34" charset="-122"/>
                <a:cs typeface="Calibri" pitchFamily="34" charset="-120"/>
              </a:rPr>
              <a:t>Existing   </a:t>
            </a:r>
            <a:pPr algn="r" indent="0" marL="0">
              <a:buNone/>
            </a:pPr>
            <a:r>
              <a:rPr lang="en-US" sz="1000" b="1" dirty="0">
                <a:solidFill>
                  <a:srgbClr val="1F3D2B"/>
                </a:solidFill>
                <a:highlight>
                  <a:srgbClr val="B5E61D"/>
                </a:highlight>
                <a:latin typeface="Calibri" pitchFamily="34" charset="0"/>
                <a:ea typeface="Calibri" pitchFamily="34" charset="-122"/>
                <a:cs typeface="Calibri" pitchFamily="34" charset="-120"/>
              </a:rPr>
              <a:t> 2 </a:t>
            </a:r>
            <a:pPr algn="r" indent="0" marL="0">
              <a:buNone/>
            </a:pPr>
            <a:r>
              <a:rPr lang="en-US" sz="1000" b="1" dirty="0">
                <a:solidFill>
                  <a:srgbClr val="1E2A22"/>
                </a:solidFill>
                <a:latin typeface="Calibri" pitchFamily="34" charset="0"/>
                <a:ea typeface="Calibri" pitchFamily="34" charset="-122"/>
                <a:cs typeface="Calibri" pitchFamily="34" charset="-120"/>
              </a:rPr>
              <a:t> Added in 2nd iteration   </a:t>
            </a:r>
            <a:pPr algn="r" indent="0" marL="0">
              <a:buNone/>
            </a:pPr>
            <a:r>
              <a:rPr lang="en-US" sz="1000" b="1" dirty="0">
                <a:solidFill>
                  <a:srgbClr val="D9662B"/>
                </a:solidFill>
                <a:latin typeface="Calibri" pitchFamily="34" charset="0"/>
                <a:ea typeface="Calibri" pitchFamily="34" charset="-122"/>
                <a:cs typeface="Calibri" pitchFamily="34" charset="-120"/>
              </a:rPr>
              <a:t>Network view</a:t>
            </a:r>
            <a:pPr algn="r" indent="0" marL="0">
              <a:buNone/>
            </a:pPr>
            <a:r>
              <a:rPr lang="en-US" sz="1000" dirty="0">
                <a:solidFill>
                  <a:srgbClr val="5D6B62"/>
                </a:solidFill>
                <a:latin typeface="Calibri" pitchFamily="34" charset="0"/>
                <a:ea typeface="Calibri" pitchFamily="34" charset="-122"/>
                <a:cs typeface="Calibri" pitchFamily="34" charset="-120"/>
              </a:rPr>
              <a:t> = partners &amp; contributors</a:t>
            </a:r>
            <a:endParaRPr lang="en-US" sz="1000" dirty="0"/>
          </a:p>
        </p:txBody>
      </p:sp>
      <p:sp>
        <p:nvSpPr>
          <p:cNvPr id="5" name="Shape 3"/>
          <p:cNvSpPr/>
          <p:nvPr/>
        </p:nvSpPr>
        <p:spPr>
          <a:xfrm>
            <a:off x="457200" y="1234440"/>
            <a:ext cx="2167677" cy="3657600"/>
          </a:xfrm>
          <a:prstGeom prst="roundRect">
            <a:avLst>
              <a:gd name="adj" fmla="val 2531"/>
            </a:avLst>
          </a:prstGeom>
          <a:solidFill>
            <a:srgbClr val="F6F9F3"/>
          </a:solidFill>
          <a:ln w="9525">
            <a:solidFill>
              <a:srgbClr val="D5E0D7"/>
            </a:solidFill>
            <a:prstDash val="solid"/>
          </a:ln>
        </p:spPr>
      </p:sp>
      <p:sp>
        <p:nvSpPr>
          <p:cNvPr id="6" name="Shape 4"/>
          <p:cNvSpPr/>
          <p:nvPr/>
        </p:nvSpPr>
        <p:spPr>
          <a:xfrm>
            <a:off x="548640" y="1325880"/>
            <a:ext cx="274320" cy="274320"/>
          </a:xfrm>
          <a:prstGeom prst="ellipse">
            <a:avLst/>
          </a:prstGeom>
          <a:solidFill>
            <a:srgbClr val="1F3D2B"/>
          </a:solidFill>
          <a:ln w="12700">
            <a:solidFill>
              <a:srgbClr val="1F3D2B"/>
            </a:solidFill>
            <a:prstDash val="solid"/>
          </a:ln>
        </p:spPr>
      </p:sp>
      <p:pic>
        <p:nvPicPr>
          <p:cNvPr id="7" name="Image 0" descr="preencoded.png">    </p:cNvPr>
          <p:cNvPicPr>
            <a:picLocks noChangeAspect="1"/>
          </p:cNvPicPr>
          <p:nvPr/>
        </p:nvPicPr>
        <p:blipFill>
          <a:blip r:embed="rId1"/>
          <a:stretch>
            <a:fillRect/>
          </a:stretch>
        </p:blipFill>
        <p:spPr>
          <a:xfrm>
            <a:off x="608990" y="1386230"/>
            <a:ext cx="153619" cy="153619"/>
          </a:xfrm>
          <a:prstGeom prst="rect">
            <a:avLst/>
          </a:prstGeom>
        </p:spPr>
      </p:pic>
      <p:sp>
        <p:nvSpPr>
          <p:cNvPr id="8" name="Text 5"/>
          <p:cNvSpPr txBox="1"/>
          <p:nvPr/>
        </p:nvSpPr>
        <p:spPr>
          <a:xfrm>
            <a:off x="877824" y="1307592"/>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Key partners</a:t>
            </a:r>
            <a:endParaRPr lang="en-US" sz="1050" dirty="0"/>
          </a:p>
        </p:txBody>
      </p:sp>
      <p:sp>
        <p:nvSpPr>
          <p:cNvPr id="9" name="Text 6"/>
          <p:cNvSpPr txBox="1"/>
          <p:nvPr/>
        </p:nvSpPr>
        <p:spPr>
          <a:xfrm>
            <a:off x="566928" y="1673352"/>
            <a:ext cx="1948221" cy="3145536"/>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AI platform team</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Sustainability office (CSO)</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Business units (HR pilot)</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Works council, compliance</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D9662B"/>
                </a:solidFill>
                <a:latin typeface="Calibri" pitchFamily="34" charset="0"/>
                <a:ea typeface="Calibri" pitchFamily="34" charset="-122"/>
                <a:cs typeface="Calibri" pitchFamily="34" charset="-120"/>
              </a:rPr>
              <a:t> Hyperscalers / cloud ops: real-time energy &amp; carbon data</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D9662B"/>
                </a:solidFill>
                <a:latin typeface="Calibri" pitchFamily="34" charset="0"/>
                <a:ea typeface="Calibri" pitchFamily="34" charset="-122"/>
                <a:cs typeface="Calibri" pitchFamily="34" charset="-120"/>
              </a:rPr>
              <a:t> Business units as workflow contributors</a:t>
            </a:r>
            <a:endParaRPr lang="en-US" sz="900" dirty="0"/>
          </a:p>
        </p:txBody>
      </p:sp>
      <p:sp>
        <p:nvSpPr>
          <p:cNvPr id="10" name="Shape 7"/>
          <p:cNvSpPr/>
          <p:nvPr/>
        </p:nvSpPr>
        <p:spPr>
          <a:xfrm>
            <a:off x="2734605" y="1234440"/>
            <a:ext cx="2167677" cy="1773936"/>
          </a:xfrm>
          <a:prstGeom prst="roundRect">
            <a:avLst>
              <a:gd name="adj" fmla="val 3093"/>
            </a:avLst>
          </a:prstGeom>
          <a:solidFill>
            <a:srgbClr val="F6F9F3"/>
          </a:solidFill>
          <a:ln w="9525">
            <a:solidFill>
              <a:srgbClr val="D5E0D7"/>
            </a:solidFill>
            <a:prstDash val="solid"/>
          </a:ln>
        </p:spPr>
      </p:sp>
      <p:sp>
        <p:nvSpPr>
          <p:cNvPr id="11" name="Shape 8"/>
          <p:cNvSpPr/>
          <p:nvPr/>
        </p:nvSpPr>
        <p:spPr>
          <a:xfrm>
            <a:off x="2826045" y="1325880"/>
            <a:ext cx="274320" cy="274320"/>
          </a:xfrm>
          <a:prstGeom prst="ellipse">
            <a:avLst/>
          </a:prstGeom>
          <a:solidFill>
            <a:srgbClr val="1F3D2B"/>
          </a:solidFill>
          <a:ln w="12700">
            <a:solidFill>
              <a:srgbClr val="1F3D2B"/>
            </a:solidFill>
            <a:prstDash val="solid"/>
          </a:ln>
        </p:spPr>
      </p:sp>
      <p:pic>
        <p:nvPicPr>
          <p:cNvPr id="12" name="Image 1" descr="preencoded.png">    </p:cNvPr>
          <p:cNvPicPr>
            <a:picLocks noChangeAspect="1"/>
          </p:cNvPicPr>
          <p:nvPr/>
        </p:nvPicPr>
        <p:blipFill>
          <a:blip r:embed="rId2"/>
          <a:stretch>
            <a:fillRect/>
          </a:stretch>
        </p:blipFill>
        <p:spPr>
          <a:xfrm>
            <a:off x="2886395" y="1386230"/>
            <a:ext cx="153619" cy="153619"/>
          </a:xfrm>
          <a:prstGeom prst="rect">
            <a:avLst/>
          </a:prstGeom>
        </p:spPr>
      </p:pic>
      <p:sp>
        <p:nvSpPr>
          <p:cNvPr id="13" name="Text 9"/>
          <p:cNvSpPr txBox="1"/>
          <p:nvPr/>
        </p:nvSpPr>
        <p:spPr>
          <a:xfrm>
            <a:off x="3155229" y="1307592"/>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Key activities</a:t>
            </a:r>
            <a:endParaRPr lang="en-US" sz="1050" dirty="0"/>
          </a:p>
        </p:txBody>
      </p:sp>
      <p:sp>
        <p:nvSpPr>
          <p:cNvPr id="14" name="Text 10"/>
          <p:cNvSpPr txBox="1"/>
          <p:nvPr/>
        </p:nvSpPr>
        <p:spPr>
          <a:xfrm>
            <a:off x="2844333" y="1673352"/>
            <a:ext cx="1948221" cy="1261872"/>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Triage · monitor · distil agents</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Train process owners</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Curate the marketplace</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Allocate &amp; track carbon budgets</a:t>
            </a:r>
            <a:endParaRPr lang="en-US" sz="900" dirty="0"/>
          </a:p>
        </p:txBody>
      </p:sp>
      <p:sp>
        <p:nvSpPr>
          <p:cNvPr id="15" name="Shape 11"/>
          <p:cNvSpPr/>
          <p:nvPr/>
        </p:nvSpPr>
        <p:spPr>
          <a:xfrm>
            <a:off x="2734605" y="3118104"/>
            <a:ext cx="2167677" cy="1773936"/>
          </a:xfrm>
          <a:prstGeom prst="roundRect">
            <a:avLst>
              <a:gd name="adj" fmla="val 3093"/>
            </a:avLst>
          </a:prstGeom>
          <a:solidFill>
            <a:srgbClr val="F6F9F3"/>
          </a:solidFill>
          <a:ln w="9525">
            <a:solidFill>
              <a:srgbClr val="D5E0D7"/>
            </a:solidFill>
            <a:prstDash val="solid"/>
          </a:ln>
        </p:spPr>
      </p:sp>
      <p:sp>
        <p:nvSpPr>
          <p:cNvPr id="16" name="Shape 12"/>
          <p:cNvSpPr/>
          <p:nvPr/>
        </p:nvSpPr>
        <p:spPr>
          <a:xfrm>
            <a:off x="2826045" y="3209544"/>
            <a:ext cx="274320" cy="274320"/>
          </a:xfrm>
          <a:prstGeom prst="ellipse">
            <a:avLst/>
          </a:prstGeom>
          <a:solidFill>
            <a:srgbClr val="1F3D2B"/>
          </a:solidFill>
          <a:ln w="12700">
            <a:solidFill>
              <a:srgbClr val="1F3D2B"/>
            </a:solidFill>
            <a:prstDash val="solid"/>
          </a:ln>
        </p:spPr>
      </p:sp>
      <p:pic>
        <p:nvPicPr>
          <p:cNvPr id="17" name="Image 2" descr="preencoded.png">    </p:cNvPr>
          <p:cNvPicPr>
            <a:picLocks noChangeAspect="1"/>
          </p:cNvPicPr>
          <p:nvPr/>
        </p:nvPicPr>
        <p:blipFill>
          <a:blip r:embed="rId3"/>
          <a:stretch>
            <a:fillRect/>
          </a:stretch>
        </p:blipFill>
        <p:spPr>
          <a:xfrm>
            <a:off x="2886395" y="3269894"/>
            <a:ext cx="153619" cy="153619"/>
          </a:xfrm>
          <a:prstGeom prst="rect">
            <a:avLst/>
          </a:prstGeom>
        </p:spPr>
      </p:pic>
      <p:sp>
        <p:nvSpPr>
          <p:cNvPr id="18" name="Text 13"/>
          <p:cNvSpPr txBox="1"/>
          <p:nvPr/>
        </p:nvSpPr>
        <p:spPr>
          <a:xfrm>
            <a:off x="3155229" y="3191256"/>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Key resources</a:t>
            </a:r>
            <a:endParaRPr lang="en-US" sz="1050" dirty="0"/>
          </a:p>
        </p:txBody>
      </p:sp>
      <p:sp>
        <p:nvSpPr>
          <p:cNvPr id="19" name="Text 14"/>
          <p:cNvSpPr txBox="1"/>
          <p:nvPr/>
        </p:nvSpPr>
        <p:spPr>
          <a:xfrm>
            <a:off x="2844333" y="3557016"/>
            <a:ext cx="1948221" cy="1261872"/>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Agent dashboard on logs</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Ladder &amp; triage tree</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Workflow marketplace</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Carbon accounting per run</a:t>
            </a:r>
            <a:endParaRPr lang="en-US" sz="900" dirty="0"/>
          </a:p>
        </p:txBody>
      </p:sp>
      <p:sp>
        <p:nvSpPr>
          <p:cNvPr id="20" name="Shape 15"/>
          <p:cNvSpPr/>
          <p:nvPr/>
        </p:nvSpPr>
        <p:spPr>
          <a:xfrm>
            <a:off x="5012009" y="1234440"/>
            <a:ext cx="2167677" cy="3657600"/>
          </a:xfrm>
          <a:prstGeom prst="roundRect">
            <a:avLst>
              <a:gd name="adj" fmla="val 2531"/>
            </a:avLst>
          </a:prstGeom>
          <a:solidFill>
            <a:srgbClr val="EEF4EA"/>
          </a:solidFill>
          <a:ln w="15875">
            <a:solidFill>
              <a:srgbClr val="9CC08A"/>
            </a:solidFill>
            <a:prstDash val="solid"/>
          </a:ln>
        </p:spPr>
      </p:sp>
      <p:sp>
        <p:nvSpPr>
          <p:cNvPr id="21" name="Shape 16"/>
          <p:cNvSpPr/>
          <p:nvPr/>
        </p:nvSpPr>
        <p:spPr>
          <a:xfrm>
            <a:off x="5103449" y="1325880"/>
            <a:ext cx="274320" cy="274320"/>
          </a:xfrm>
          <a:prstGeom prst="ellipse">
            <a:avLst/>
          </a:prstGeom>
          <a:solidFill>
            <a:srgbClr val="1F3D2B"/>
          </a:solidFill>
          <a:ln w="12700">
            <a:solidFill>
              <a:srgbClr val="1F3D2B"/>
            </a:solidFill>
            <a:prstDash val="solid"/>
          </a:ln>
        </p:spPr>
      </p:sp>
      <p:pic>
        <p:nvPicPr>
          <p:cNvPr id="22" name="Image 3" descr="preencoded.png">    </p:cNvPr>
          <p:cNvPicPr>
            <a:picLocks noChangeAspect="1"/>
          </p:cNvPicPr>
          <p:nvPr/>
        </p:nvPicPr>
        <p:blipFill>
          <a:blip r:embed="rId4"/>
          <a:stretch>
            <a:fillRect/>
          </a:stretch>
        </p:blipFill>
        <p:spPr>
          <a:xfrm>
            <a:off x="5163800" y="1386230"/>
            <a:ext cx="153619" cy="153619"/>
          </a:xfrm>
          <a:prstGeom prst="rect">
            <a:avLst/>
          </a:prstGeom>
        </p:spPr>
      </p:pic>
      <p:sp>
        <p:nvSpPr>
          <p:cNvPr id="23" name="Text 17"/>
          <p:cNvSpPr txBox="1"/>
          <p:nvPr/>
        </p:nvSpPr>
        <p:spPr>
          <a:xfrm>
            <a:off x="5432633" y="1307592"/>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Value propositions</a:t>
            </a:r>
            <a:endParaRPr lang="en-US" sz="1050" dirty="0"/>
          </a:p>
        </p:txBody>
      </p:sp>
      <p:sp>
        <p:nvSpPr>
          <p:cNvPr id="24" name="Text 18"/>
          <p:cNvSpPr txBox="1"/>
          <p:nvPr/>
        </p:nvSpPr>
        <p:spPr>
          <a:xfrm>
            <a:off x="5121737" y="1673352"/>
            <a:ext cx="1948221" cy="3145536"/>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Autonomous Enterprise without runaway compute &amp; emissions</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Full transparency, lower AI running cost</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Not more AI, but the right AI</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Absolute emissions control, not just efficiency</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Reuse instead of rebuild</a:t>
            </a:r>
            <a:endParaRPr lang="en-US" sz="900" dirty="0"/>
          </a:p>
        </p:txBody>
      </p:sp>
      <p:sp>
        <p:nvSpPr>
          <p:cNvPr id="25" name="Shape 19"/>
          <p:cNvSpPr/>
          <p:nvPr/>
        </p:nvSpPr>
        <p:spPr>
          <a:xfrm>
            <a:off x="7289414" y="1234440"/>
            <a:ext cx="2167677" cy="1773936"/>
          </a:xfrm>
          <a:prstGeom prst="roundRect">
            <a:avLst>
              <a:gd name="adj" fmla="val 3093"/>
            </a:avLst>
          </a:prstGeom>
          <a:solidFill>
            <a:srgbClr val="F6F9F3"/>
          </a:solidFill>
          <a:ln w="9525">
            <a:solidFill>
              <a:srgbClr val="D5E0D7"/>
            </a:solidFill>
            <a:prstDash val="solid"/>
          </a:ln>
        </p:spPr>
      </p:sp>
      <p:sp>
        <p:nvSpPr>
          <p:cNvPr id="26" name="Shape 20"/>
          <p:cNvSpPr/>
          <p:nvPr/>
        </p:nvSpPr>
        <p:spPr>
          <a:xfrm>
            <a:off x="7380854" y="1325880"/>
            <a:ext cx="274320" cy="274320"/>
          </a:xfrm>
          <a:prstGeom prst="ellipse">
            <a:avLst/>
          </a:prstGeom>
          <a:solidFill>
            <a:srgbClr val="1F3D2B"/>
          </a:solidFill>
          <a:ln w="12700">
            <a:solidFill>
              <a:srgbClr val="1F3D2B"/>
            </a:solidFill>
            <a:prstDash val="solid"/>
          </a:ln>
        </p:spPr>
      </p:sp>
      <p:pic>
        <p:nvPicPr>
          <p:cNvPr id="27" name="Image 4" descr="preencoded.png">    </p:cNvPr>
          <p:cNvPicPr>
            <a:picLocks noChangeAspect="1"/>
          </p:cNvPicPr>
          <p:nvPr/>
        </p:nvPicPr>
        <p:blipFill>
          <a:blip r:embed="rId5"/>
          <a:stretch>
            <a:fillRect/>
          </a:stretch>
        </p:blipFill>
        <p:spPr>
          <a:xfrm>
            <a:off x="7441204" y="1386230"/>
            <a:ext cx="153619" cy="153619"/>
          </a:xfrm>
          <a:prstGeom prst="rect">
            <a:avLst/>
          </a:prstGeom>
        </p:spPr>
      </p:pic>
      <p:sp>
        <p:nvSpPr>
          <p:cNvPr id="28" name="Text 21"/>
          <p:cNvSpPr txBox="1"/>
          <p:nvPr/>
        </p:nvSpPr>
        <p:spPr>
          <a:xfrm>
            <a:off x="7710038" y="1307592"/>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Customer relationships</a:t>
            </a:r>
            <a:endParaRPr lang="en-US" sz="1050" dirty="0"/>
          </a:p>
        </p:txBody>
      </p:sp>
      <p:sp>
        <p:nvSpPr>
          <p:cNvPr id="29" name="Text 22"/>
          <p:cNvSpPr txBox="1"/>
          <p:nvPr/>
        </p:nvSpPr>
        <p:spPr>
          <a:xfrm>
            <a:off x="7399142" y="1673352"/>
            <a:ext cx="1948221" cy="1261872"/>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Self-service · expert support</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Community of practice</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D9662B"/>
                </a:solidFill>
                <a:latin typeface="Calibri" pitchFamily="34" charset="0"/>
                <a:ea typeface="Calibri" pitchFamily="34" charset="-122"/>
                <a:cs typeface="Calibri" pitchFamily="34" charset="-120"/>
              </a:rPr>
              <a:t> Credits for contributed workflows</a:t>
            </a:r>
            <a:endParaRPr lang="en-US" sz="900" dirty="0"/>
          </a:p>
        </p:txBody>
      </p:sp>
      <p:sp>
        <p:nvSpPr>
          <p:cNvPr id="30" name="Shape 23"/>
          <p:cNvSpPr/>
          <p:nvPr/>
        </p:nvSpPr>
        <p:spPr>
          <a:xfrm>
            <a:off x="7289414" y="3118104"/>
            <a:ext cx="2167677" cy="1773936"/>
          </a:xfrm>
          <a:prstGeom prst="roundRect">
            <a:avLst>
              <a:gd name="adj" fmla="val 3093"/>
            </a:avLst>
          </a:prstGeom>
          <a:solidFill>
            <a:srgbClr val="F6F9F3"/>
          </a:solidFill>
          <a:ln w="9525">
            <a:solidFill>
              <a:srgbClr val="D5E0D7"/>
            </a:solidFill>
            <a:prstDash val="solid"/>
          </a:ln>
        </p:spPr>
      </p:sp>
      <p:sp>
        <p:nvSpPr>
          <p:cNvPr id="31" name="Shape 24"/>
          <p:cNvSpPr/>
          <p:nvPr/>
        </p:nvSpPr>
        <p:spPr>
          <a:xfrm>
            <a:off x="7380854" y="3209544"/>
            <a:ext cx="274320" cy="274320"/>
          </a:xfrm>
          <a:prstGeom prst="ellipse">
            <a:avLst/>
          </a:prstGeom>
          <a:solidFill>
            <a:srgbClr val="1F3D2B"/>
          </a:solidFill>
          <a:ln w="12700">
            <a:solidFill>
              <a:srgbClr val="1F3D2B"/>
            </a:solidFill>
            <a:prstDash val="solid"/>
          </a:ln>
        </p:spPr>
      </p:sp>
      <p:pic>
        <p:nvPicPr>
          <p:cNvPr id="32" name="Image 5" descr="preencoded.png">    </p:cNvPr>
          <p:cNvPicPr>
            <a:picLocks noChangeAspect="1"/>
          </p:cNvPicPr>
          <p:nvPr/>
        </p:nvPicPr>
        <p:blipFill>
          <a:blip r:embed="rId6"/>
          <a:stretch>
            <a:fillRect/>
          </a:stretch>
        </p:blipFill>
        <p:spPr>
          <a:xfrm>
            <a:off x="7441204" y="3269894"/>
            <a:ext cx="153619" cy="153619"/>
          </a:xfrm>
          <a:prstGeom prst="rect">
            <a:avLst/>
          </a:prstGeom>
        </p:spPr>
      </p:pic>
      <p:sp>
        <p:nvSpPr>
          <p:cNvPr id="33" name="Text 25"/>
          <p:cNvSpPr txBox="1"/>
          <p:nvPr/>
        </p:nvSpPr>
        <p:spPr>
          <a:xfrm>
            <a:off x="7710038" y="3191256"/>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Channels</a:t>
            </a:r>
            <a:endParaRPr lang="en-US" sz="1050" dirty="0"/>
          </a:p>
        </p:txBody>
      </p:sp>
      <p:sp>
        <p:nvSpPr>
          <p:cNvPr id="34" name="Text 26"/>
          <p:cNvSpPr txBox="1"/>
          <p:nvPr/>
        </p:nvSpPr>
        <p:spPr>
          <a:xfrm>
            <a:off x="7399142" y="3557016"/>
            <a:ext cx="1948221" cy="1261872"/>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CIO governance · agent platform</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Pilot in HR, then unit by unit</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Marketplace as default entry point</a:t>
            </a:r>
            <a:endParaRPr lang="en-US" sz="900" dirty="0"/>
          </a:p>
        </p:txBody>
      </p:sp>
      <p:sp>
        <p:nvSpPr>
          <p:cNvPr id="35" name="Shape 27"/>
          <p:cNvSpPr/>
          <p:nvPr/>
        </p:nvSpPr>
        <p:spPr>
          <a:xfrm>
            <a:off x="9566819" y="1234440"/>
            <a:ext cx="2167677" cy="3657600"/>
          </a:xfrm>
          <a:prstGeom prst="roundRect">
            <a:avLst>
              <a:gd name="adj" fmla="val 2531"/>
            </a:avLst>
          </a:prstGeom>
          <a:solidFill>
            <a:srgbClr val="F6F9F3"/>
          </a:solidFill>
          <a:ln w="9525">
            <a:solidFill>
              <a:srgbClr val="D5E0D7"/>
            </a:solidFill>
            <a:prstDash val="solid"/>
          </a:ln>
        </p:spPr>
      </p:sp>
      <p:sp>
        <p:nvSpPr>
          <p:cNvPr id="36" name="Shape 28"/>
          <p:cNvSpPr/>
          <p:nvPr/>
        </p:nvSpPr>
        <p:spPr>
          <a:xfrm>
            <a:off x="9658259" y="1325880"/>
            <a:ext cx="274320" cy="274320"/>
          </a:xfrm>
          <a:prstGeom prst="ellipse">
            <a:avLst/>
          </a:prstGeom>
          <a:solidFill>
            <a:srgbClr val="1F3D2B"/>
          </a:solidFill>
          <a:ln w="12700">
            <a:solidFill>
              <a:srgbClr val="1F3D2B"/>
            </a:solidFill>
            <a:prstDash val="solid"/>
          </a:ln>
        </p:spPr>
      </p:sp>
      <p:pic>
        <p:nvPicPr>
          <p:cNvPr id="37" name="Image 6" descr="preencoded.png">    </p:cNvPr>
          <p:cNvPicPr>
            <a:picLocks noChangeAspect="1"/>
          </p:cNvPicPr>
          <p:nvPr/>
        </p:nvPicPr>
        <p:blipFill>
          <a:blip r:embed="rId7"/>
          <a:stretch>
            <a:fillRect/>
          </a:stretch>
        </p:blipFill>
        <p:spPr>
          <a:xfrm>
            <a:off x="9718609" y="1386230"/>
            <a:ext cx="153619" cy="153619"/>
          </a:xfrm>
          <a:prstGeom prst="rect">
            <a:avLst/>
          </a:prstGeom>
        </p:spPr>
      </p:pic>
      <p:sp>
        <p:nvSpPr>
          <p:cNvPr id="38" name="Text 29"/>
          <p:cNvSpPr txBox="1"/>
          <p:nvPr/>
        </p:nvSpPr>
        <p:spPr>
          <a:xfrm>
            <a:off x="9987443" y="1307592"/>
            <a:ext cx="1692189"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Customer segments</a:t>
            </a:r>
            <a:endParaRPr lang="en-US" sz="1050" dirty="0"/>
          </a:p>
        </p:txBody>
      </p:sp>
      <p:sp>
        <p:nvSpPr>
          <p:cNvPr id="39" name="Text 30"/>
          <p:cNvSpPr txBox="1"/>
          <p:nvPr/>
        </p:nvSpPr>
        <p:spPr>
          <a:xfrm>
            <a:off x="9676547" y="1673352"/>
            <a:ext cx="1948221" cy="3145536"/>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Primary: CIO office</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Users: process owners (Lena)</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Secondary: AI engineers</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Stakeholder: CSO</a:t>
            </a:r>
            <a:endParaRPr lang="en-US" sz="900" dirty="0"/>
          </a:p>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unchanged in 2nd iteration</a:t>
            </a:r>
            <a:endParaRPr lang="en-US" sz="900" dirty="0"/>
          </a:p>
        </p:txBody>
      </p:sp>
      <p:sp>
        <p:nvSpPr>
          <p:cNvPr id="40" name="Shape 31"/>
          <p:cNvSpPr/>
          <p:nvPr/>
        </p:nvSpPr>
        <p:spPr>
          <a:xfrm>
            <a:off x="457200" y="5001768"/>
            <a:ext cx="5583784" cy="1490472"/>
          </a:xfrm>
          <a:prstGeom prst="roundRect">
            <a:avLst>
              <a:gd name="adj" fmla="val 3681"/>
            </a:avLst>
          </a:prstGeom>
          <a:solidFill>
            <a:srgbClr val="F6F9F3"/>
          </a:solidFill>
          <a:ln w="9525">
            <a:solidFill>
              <a:srgbClr val="D5E0D7"/>
            </a:solidFill>
            <a:prstDash val="solid"/>
          </a:ln>
        </p:spPr>
      </p:sp>
      <p:sp>
        <p:nvSpPr>
          <p:cNvPr id="41" name="Shape 32"/>
          <p:cNvSpPr/>
          <p:nvPr/>
        </p:nvSpPr>
        <p:spPr>
          <a:xfrm>
            <a:off x="548640" y="5093208"/>
            <a:ext cx="274320" cy="274320"/>
          </a:xfrm>
          <a:prstGeom prst="ellipse">
            <a:avLst/>
          </a:prstGeom>
          <a:solidFill>
            <a:srgbClr val="1F3D2B"/>
          </a:solidFill>
          <a:ln w="12700">
            <a:solidFill>
              <a:srgbClr val="1F3D2B"/>
            </a:solidFill>
            <a:prstDash val="solid"/>
          </a:ln>
        </p:spPr>
      </p:sp>
      <p:pic>
        <p:nvPicPr>
          <p:cNvPr id="42" name="Image 7" descr="preencoded.png">    </p:cNvPr>
          <p:cNvPicPr>
            <a:picLocks noChangeAspect="1"/>
          </p:cNvPicPr>
          <p:nvPr/>
        </p:nvPicPr>
        <p:blipFill>
          <a:blip r:embed="rId8"/>
          <a:stretch>
            <a:fillRect/>
          </a:stretch>
        </p:blipFill>
        <p:spPr>
          <a:xfrm>
            <a:off x="608990" y="5153558"/>
            <a:ext cx="153619" cy="153619"/>
          </a:xfrm>
          <a:prstGeom prst="rect">
            <a:avLst/>
          </a:prstGeom>
        </p:spPr>
      </p:pic>
      <p:sp>
        <p:nvSpPr>
          <p:cNvPr id="43" name="Text 33"/>
          <p:cNvSpPr txBox="1"/>
          <p:nvPr/>
        </p:nvSpPr>
        <p:spPr>
          <a:xfrm>
            <a:off x="877824" y="5074920"/>
            <a:ext cx="5108296"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Cost structure</a:t>
            </a:r>
            <a:endParaRPr lang="en-US" sz="1050" dirty="0"/>
          </a:p>
        </p:txBody>
      </p:sp>
      <p:sp>
        <p:nvSpPr>
          <p:cNvPr id="44" name="Text 34"/>
          <p:cNvSpPr txBox="1"/>
          <p:nvPr/>
        </p:nvSpPr>
        <p:spPr>
          <a:xfrm>
            <a:off x="566928" y="5440680"/>
            <a:ext cx="5364328" cy="978408"/>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Dashboard build · conversions · training · expert team · change management</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Marketplace operation  ·  carbon accounting setup</a:t>
            </a:r>
            <a:endParaRPr lang="en-US" sz="900" dirty="0"/>
          </a:p>
        </p:txBody>
      </p:sp>
      <p:sp>
        <p:nvSpPr>
          <p:cNvPr id="45" name="Shape 35"/>
          <p:cNvSpPr/>
          <p:nvPr/>
        </p:nvSpPr>
        <p:spPr>
          <a:xfrm>
            <a:off x="6150712" y="5001768"/>
            <a:ext cx="5583784" cy="1490472"/>
          </a:xfrm>
          <a:prstGeom prst="roundRect">
            <a:avLst>
              <a:gd name="adj" fmla="val 3681"/>
            </a:avLst>
          </a:prstGeom>
          <a:solidFill>
            <a:srgbClr val="F6F9F3"/>
          </a:solidFill>
          <a:ln w="9525">
            <a:solidFill>
              <a:srgbClr val="D5E0D7"/>
            </a:solidFill>
            <a:prstDash val="solid"/>
          </a:ln>
        </p:spPr>
      </p:sp>
      <p:sp>
        <p:nvSpPr>
          <p:cNvPr id="46" name="Shape 36"/>
          <p:cNvSpPr/>
          <p:nvPr/>
        </p:nvSpPr>
        <p:spPr>
          <a:xfrm>
            <a:off x="6242152" y="5093208"/>
            <a:ext cx="274320" cy="274320"/>
          </a:xfrm>
          <a:prstGeom prst="ellipse">
            <a:avLst/>
          </a:prstGeom>
          <a:solidFill>
            <a:srgbClr val="1F3D2B"/>
          </a:solidFill>
          <a:ln w="12700">
            <a:solidFill>
              <a:srgbClr val="1F3D2B"/>
            </a:solidFill>
            <a:prstDash val="solid"/>
          </a:ln>
        </p:spPr>
      </p:sp>
      <p:pic>
        <p:nvPicPr>
          <p:cNvPr id="47" name="Image 8" descr="preencoded.png">    </p:cNvPr>
          <p:cNvPicPr>
            <a:picLocks noChangeAspect="1"/>
          </p:cNvPicPr>
          <p:nvPr/>
        </p:nvPicPr>
        <p:blipFill>
          <a:blip r:embed="rId9"/>
          <a:stretch>
            <a:fillRect/>
          </a:stretch>
        </p:blipFill>
        <p:spPr>
          <a:xfrm>
            <a:off x="6302502" y="5153558"/>
            <a:ext cx="153619" cy="153619"/>
          </a:xfrm>
          <a:prstGeom prst="rect">
            <a:avLst/>
          </a:prstGeom>
        </p:spPr>
      </p:pic>
      <p:sp>
        <p:nvSpPr>
          <p:cNvPr id="48" name="Text 37"/>
          <p:cNvSpPr txBox="1"/>
          <p:nvPr/>
        </p:nvSpPr>
        <p:spPr>
          <a:xfrm>
            <a:off x="6571336" y="5074920"/>
            <a:ext cx="5108296" cy="310896"/>
          </a:xfrm>
          <a:prstGeom prst="rect">
            <a:avLst/>
          </a:prstGeom>
          <a:noFill/>
          <a:ln/>
        </p:spPr>
        <p:txBody>
          <a:bodyPr wrap="square" lIns="0" tIns="0" rIns="0" bIns="0" rtlCol="0" anchor="ctr"/>
          <a:lstStyle/>
          <a:p>
            <a:pPr indent="0" marL="0">
              <a:buNone/>
            </a:pPr>
            <a:r>
              <a:rPr lang="en-US" sz="1050" b="1" dirty="0">
                <a:solidFill>
                  <a:srgbClr val="1F3D2B"/>
                </a:solidFill>
                <a:latin typeface="Calibri" pitchFamily="34" charset="0"/>
                <a:ea typeface="Calibri" pitchFamily="34" charset="-122"/>
                <a:cs typeface="Calibri" pitchFamily="34" charset="-120"/>
              </a:rPr>
              <a:t>Revenue streams  (value captured internally)</a:t>
            </a:r>
            <a:endParaRPr lang="en-US" sz="1050" dirty="0"/>
          </a:p>
        </p:txBody>
      </p:sp>
      <p:sp>
        <p:nvSpPr>
          <p:cNvPr id="49" name="Text 38"/>
          <p:cNvSpPr txBox="1"/>
          <p:nvPr/>
        </p:nvSpPr>
        <p:spPr>
          <a:xfrm>
            <a:off x="6260440" y="5440680"/>
            <a:ext cx="5364328" cy="978408"/>
          </a:xfrm>
          <a:prstGeom prst="rect">
            <a:avLst/>
          </a:prstGeom>
          <a:noFill/>
          <a:ln/>
        </p:spPr>
        <p:txBody>
          <a:bodyPr wrap="square" lIns="0" tIns="0" rIns="0" bIns="0" rtlCol="0" anchor="t"/>
          <a:lstStyle/>
          <a:p>
            <a:pPr indent="0" marL="0">
              <a:spcAft>
                <a:spcPts val="300"/>
              </a:spcAft>
              <a:buNone/>
            </a:pPr>
            <a:r>
              <a:rPr lang="en-US" sz="900" dirty="0">
                <a:solidFill>
                  <a:srgbClr val="5D6B62"/>
                </a:solidFill>
                <a:latin typeface="Calibri" pitchFamily="34" charset="0"/>
                <a:ea typeface="Calibri" pitchFamily="34" charset="-122"/>
                <a:cs typeface="Calibri" pitchFamily="34" charset="-120"/>
              </a:rPr>
              <a:t>Lower compute &amp; AI running cost · lower emissions · freed budget</a:t>
            </a:r>
            <a:endParaRPr lang="en-US" sz="900" dirty="0"/>
          </a:p>
          <a:p>
            <a:pPr indent="0" marL="0">
              <a:spcAft>
                <a:spcPts val="300"/>
              </a:spcAft>
              <a:buNone/>
            </a:pPr>
            <a:r>
              <a:rPr lang="en-US" sz="900" b="1" dirty="0">
                <a:solidFill>
                  <a:srgbClr val="1F3D2B"/>
                </a:solidFill>
                <a:highlight>
                  <a:srgbClr val="B5E61D"/>
                </a:highlight>
                <a:latin typeface="Calibri" pitchFamily="34" charset="0"/>
                <a:ea typeface="Calibri" pitchFamily="34" charset="-122"/>
                <a:cs typeface="Calibri" pitchFamily="34" charset="-120"/>
              </a:rPr>
              <a:t> 2 </a:t>
            </a:r>
            <a:pPr indent="0" marL="0">
              <a:spcAft>
                <a:spcPts val="300"/>
              </a:spcAft>
              <a:buNone/>
            </a:pPr>
            <a:r>
              <a:rPr lang="en-US" sz="900" b="1" dirty="0">
                <a:solidFill>
                  <a:srgbClr val="1E2A22"/>
                </a:solidFill>
                <a:latin typeface="Calibri" pitchFamily="34" charset="0"/>
                <a:ea typeface="Calibri" pitchFamily="34" charset="-122"/>
                <a:cs typeface="Calibri" pitchFamily="34" charset="-120"/>
              </a:rPr>
              <a:t> Internal chargeback recovers platform cost  ·  avoided duplicate builds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4 – Challenge &amp; change business model</dc:title>
  <dc:subject>PptxGenJS Presentation</dc:subject>
  <dc:creator>PptxGenJS</dc:creator>
  <cp:lastModifiedBy>PptxGenJS</cp:lastModifiedBy>
  <cp:revision>1</cp:revision>
  <dcterms:created xsi:type="dcterms:W3CDTF">2026-10-01T14:40:28Z</dcterms:created>
  <dcterms:modified xsi:type="dcterms:W3CDTF">2026-10-01T14:40:28Z</dcterms:modified>
</cp:coreProperties>
</file>