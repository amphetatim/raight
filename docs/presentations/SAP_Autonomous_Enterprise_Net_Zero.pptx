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(≈45 s). Our answer to the challenge in one line: SAP does not need more AI to become an Autonomous Enterprise, it needs the right AI for each task. The bars on the right are our core idea: an automation ladder where the lowest step that solves the problem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Set up the tension: the AE strategy means agents everywhere, and agentic AI is more resource-intensive than single GenAI calls because agents plan, call tools and loop. At the same time SAP committed to cut gross emissions by at least 90% across its value chain by 2030 – and under SBTi rules you cannot offset your way out. The insight from the briefing: everyone has the same AI tools, so efficiency becomes the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We looked for the person at the point where the inefficient choice happens. That is not the CIO or the sustainability officer, but the process owner who requests automation. Lena wants results fast, has no guidance, follows the hype – and never sees what her automation consumes. Be transparent: this is a working persona based on our assumptions and project experience, to be validated with SAP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The POV statement: the insight is not that AI uses energy – that is obvious. The insight is that Lena has no guidance, no visibility and no incentive, so the powerful option becomes the default. Each How-might-we question maps to one part of our solution, which we walk through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 Core framework. Six steps from a simple rule to a multi-agent system, each with Lena’s invoice process as example. Most of her process sits on steps 1–3; only the messy exceptions such as price disputes need an agent. A workflow runs fixed steps, an agent reasons, plans and loops – so moving one step down usually saves a lot of compute. Rule of thumb: start at the bottom and only climb when the lower step cannot solve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The solution is not one tool but touchpoints along Lena’s journey. The decisive moment is “Decide” (highlighted): this is where triage and efficient defaults steer her to the right step. Build and Run are mainly for the developer – our secondary persona. Review closes the loop: we check whether solutions are still the right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Training matters, but people forget and the agent feels easier. So we build the right choice into the process: triage, efficient defaults and visible footprint for Lena. Once an agent is justified, the developer runs it lean: right-sized models, capped loops, shared components, green infrastructure and clear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This is our most distinctive idea. Agents are great at exploring new, messy problems. But once they keep solving a case the same way, they are effectively an expensive workflow. We detect that in the logs and freeze the path into a deterministic workflow. Agents become the R&amp;D for automation, workflows do the daily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The obvious objection: checking efficiency with AI costs tokens too. Our answer: most of what we need is already logged – model calls, steps, runtime, escalations. Rules and statistics on these logs cost almost nothing. AI review is the last resort, used only for flagged high-consumption cases – and even then it pays off, because the review happens once while an inefficient agent consumes resources continuously.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 We measure categories, not target numbers: efficiency per outcome, value, right-sizing, hygiene and behaviour – a mix of early and late signals. Key rule: never measure efficiency alone, otherwise teams stop using AI where it creates value. Incentives: SAP already links net zero to the Executive Board’s long-term incentive – we cascade that down to the teams who actually choose automation methods, combined with showback, budgets, recognition and a sandbox so innovation is not punished.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We start small: one unit – Lena’s Accounts Payable team – with training, triage, showback and measurement. Phase 2 scales it SAP-wide via the platform, the agent library, the distillation cycle and budgets. Phase 3 turns impact positive: agents that reduce SAP’s own emissions, for example in cloud capacity, travel and procurement. Important: these savings come on top of efficient AI, not as a licence for more – under SBTi rules, real reductions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Close with the persona: we do not ask Lena to be a climate hero, we make the lean option the easy one. Three takeaways: right tool, right incentives, right proof. Then the tagline. Hand over to Q&amp;A – appendix slides cover the prioritisation matrix and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Each use case is placed by business value and resource intensity. Scale the sweet spot, optimise heavy-but-valuable cases before scaling, simplify low-value ones, and stop heavy low-value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the main downsides of our approach and how we address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26"/>
        </a:solidFill>
      </p:bgPr>
    </p:bg>
    <p:spTree>
      <p:nvGrpSpPr>
        <p:cNvPr id="1" name=""/>
        <p:cNvGrpSpPr/>
        <p:nvPr/>
      </p:nvGrpSpPr>
      <p:grpSpPr>
        <a:xfrm>
          <a:off x="0" y="0"/>
          <a:ext cx="0" cy="0"/>
          <a:chOff x="0" y="0"/>
          <a:chExt cx="0" cy="0"/>
        </a:xfrm>
      </p:grpSpPr>
      <p:sp>
        <p:nvSpPr>
          <p:cNvPr id="2" name="Text 0"/>
          <p:cNvSpPr txBox="1"/>
          <p:nvPr/>
        </p:nvSpPr>
        <p:spPr>
          <a:xfrm>
            <a:off x="731520" y="914400"/>
            <a:ext cx="9144000" cy="320040"/>
          </a:xfrm>
          <a:prstGeom prst="rect">
            <a:avLst/>
          </a:prstGeom>
          <a:noFill/>
          <a:ln/>
        </p:spPr>
        <p:txBody>
          <a:bodyPr wrap="square" lIns="0" tIns="0" rIns="0" bIns="0" rtlCol="0" anchor="ctr"/>
          <a:lstStyle/>
          <a:p>
            <a:pPr indent="0" marL="0">
              <a:buNone/>
            </a:pPr>
            <a:r>
              <a:rPr lang="en-US" sz="1200" b="1" spc="200" kern="0" dirty="0">
                <a:solidFill>
                  <a:srgbClr val="B8E04A"/>
                </a:solidFill>
                <a:latin typeface="Arial" pitchFamily="34" charset="0"/>
                <a:ea typeface="Arial" pitchFamily="34" charset="-122"/>
                <a:cs typeface="Arial" pitchFamily="34" charset="-120"/>
              </a:rPr>
              <a:t>SAP CHALLENGE  ·  AUTONOMOUS ENTERPRISE × NET ZERO</a:t>
            </a:r>
            <a:endParaRPr lang="en-US" sz="1200" dirty="0"/>
          </a:p>
        </p:txBody>
      </p:sp>
      <p:sp>
        <p:nvSpPr>
          <p:cNvPr id="3" name="Text 1"/>
          <p:cNvSpPr txBox="1"/>
          <p:nvPr/>
        </p:nvSpPr>
        <p:spPr>
          <a:xfrm>
            <a:off x="731520" y="1737360"/>
            <a:ext cx="7772400" cy="2194560"/>
          </a:xfrm>
          <a:prstGeom prst="rect">
            <a:avLst/>
          </a:prstGeom>
          <a:noFill/>
          <a:ln/>
        </p:spPr>
        <p:txBody>
          <a:bodyPr wrap="square" lIns="0" tIns="0" rIns="0" bIns="0" rtlCol="0" anchor="t"/>
          <a:lstStyle/>
          <a:p>
            <a:pPr indent="0" marL="0">
              <a:buNone/>
            </a:pPr>
            <a:r>
              <a:rPr lang="en-US" sz="5400" b="1" dirty="0">
                <a:solidFill>
                  <a:srgbClr val="FFFFFF"/>
                </a:solidFill>
                <a:latin typeface="Arial" pitchFamily="34" charset="0"/>
                <a:ea typeface="Arial" pitchFamily="34" charset="-122"/>
                <a:cs typeface="Arial" pitchFamily="34" charset="-120"/>
              </a:rPr>
              <a:t>Not more AI,</a:t>
            </a:r>
            <a:endParaRPr lang="en-US" sz="5400" dirty="0"/>
          </a:p>
          <a:p>
            <a:pPr indent="0" marL="0">
              <a:buNone/>
            </a:pPr>
            <a:r>
              <a:rPr lang="en-US" sz="5400" b="1" dirty="0">
                <a:solidFill>
                  <a:srgbClr val="B8E04A"/>
                </a:solidFill>
                <a:latin typeface="Arial" pitchFamily="34" charset="0"/>
                <a:ea typeface="Arial" pitchFamily="34" charset="-122"/>
                <a:cs typeface="Arial" pitchFamily="34" charset="-120"/>
              </a:rPr>
              <a:t>but the right AI.</a:t>
            </a:r>
            <a:endParaRPr lang="en-US" sz="5400" dirty="0"/>
          </a:p>
        </p:txBody>
      </p:sp>
      <p:sp>
        <p:nvSpPr>
          <p:cNvPr id="4" name="Text 2"/>
          <p:cNvSpPr txBox="1"/>
          <p:nvPr/>
        </p:nvSpPr>
        <p:spPr>
          <a:xfrm>
            <a:off x="731520" y="4069080"/>
            <a:ext cx="6949440" cy="822960"/>
          </a:xfrm>
          <a:prstGeom prst="rect">
            <a:avLst/>
          </a:prstGeom>
          <a:noFill/>
          <a:ln/>
        </p:spPr>
        <p:txBody>
          <a:bodyPr wrap="square" lIns="0" tIns="0" rIns="0" bIns="0" rtlCol="0" anchor="t"/>
          <a:lstStyle/>
          <a:p>
            <a:pPr indent="0" marL="0">
              <a:buNone/>
            </a:pPr>
            <a:r>
              <a:rPr lang="en-US" sz="2000" dirty="0">
                <a:solidFill>
                  <a:srgbClr val="C9DCD5"/>
                </a:solidFill>
                <a:latin typeface="Calibri" pitchFamily="34" charset="0"/>
                <a:ea typeface="Calibri" pitchFamily="34" charset="-122"/>
                <a:cs typeface="Calibri" pitchFamily="34" charset="-120"/>
              </a:rPr>
              <a:t>How SAP can become an Autonomous Enterprise while staying on its net zero path</a:t>
            </a:r>
            <a:endParaRPr lang="en-US" sz="2000" dirty="0"/>
          </a:p>
        </p:txBody>
      </p:sp>
      <p:sp>
        <p:nvSpPr>
          <p:cNvPr id="5" name="Text 3"/>
          <p:cNvSpPr txBox="1"/>
          <p:nvPr/>
        </p:nvSpPr>
        <p:spPr>
          <a:xfrm>
            <a:off x="731520" y="5852160"/>
            <a:ext cx="6400800" cy="320040"/>
          </a:xfrm>
          <a:prstGeom prst="rect">
            <a:avLst/>
          </a:prstGeom>
          <a:noFill/>
          <a:ln/>
        </p:spPr>
        <p:txBody>
          <a:bodyPr wrap="square" lIns="0" tIns="0" rIns="0" bIns="0" rtlCol="0" anchor="ctr"/>
          <a:lstStyle/>
          <a:p>
            <a:pPr indent="0" marL="0">
              <a:buNone/>
            </a:pPr>
            <a:r>
              <a:rPr lang="en-US" sz="1300" dirty="0">
                <a:solidFill>
                  <a:srgbClr val="8FA8A0"/>
                </a:solidFill>
                <a:latin typeface="Calibri" pitchFamily="34" charset="0"/>
                <a:ea typeface="Calibri" pitchFamily="34" charset="-122"/>
                <a:cs typeface="Calibri" pitchFamily="34" charset="-120"/>
              </a:rPr>
              <a:t>Team: [names]  ·  October 2026</a:t>
            </a:r>
            <a:endParaRPr lang="en-US" sz="1300" dirty="0"/>
          </a:p>
        </p:txBody>
      </p:sp>
      <p:sp>
        <p:nvSpPr>
          <p:cNvPr id="6" name="Shape 4"/>
          <p:cNvSpPr/>
          <p:nvPr/>
        </p:nvSpPr>
        <p:spPr>
          <a:xfrm>
            <a:off x="8412480" y="4937760"/>
            <a:ext cx="438912" cy="640080"/>
          </a:xfrm>
          <a:prstGeom prst="roundRect">
            <a:avLst>
              <a:gd name="adj" fmla="val 16667"/>
            </a:avLst>
          </a:prstGeom>
          <a:solidFill>
            <a:srgbClr val="B8E04A"/>
          </a:solidFill>
          <a:ln w="12700">
            <a:solidFill>
              <a:srgbClr val="B8E04A"/>
            </a:solidFill>
            <a:prstDash val="solid"/>
          </a:ln>
        </p:spPr>
      </p:sp>
      <p:sp>
        <p:nvSpPr>
          <p:cNvPr id="7" name="Shape 5"/>
          <p:cNvSpPr/>
          <p:nvPr/>
        </p:nvSpPr>
        <p:spPr>
          <a:xfrm>
            <a:off x="8961120" y="4434840"/>
            <a:ext cx="438912" cy="1143000"/>
          </a:xfrm>
          <a:prstGeom prst="roundRect">
            <a:avLst>
              <a:gd name="adj" fmla="val 16667"/>
            </a:avLst>
          </a:prstGeom>
          <a:solidFill>
            <a:srgbClr val="B8E04A"/>
          </a:solidFill>
          <a:ln w="12700">
            <a:solidFill>
              <a:srgbClr val="B8E04A"/>
            </a:solidFill>
            <a:prstDash val="solid"/>
          </a:ln>
        </p:spPr>
      </p:sp>
      <p:sp>
        <p:nvSpPr>
          <p:cNvPr id="8" name="Shape 6"/>
          <p:cNvSpPr/>
          <p:nvPr/>
        </p:nvSpPr>
        <p:spPr>
          <a:xfrm>
            <a:off x="9509760" y="3931920"/>
            <a:ext cx="438912" cy="1645920"/>
          </a:xfrm>
          <a:prstGeom prst="roundRect">
            <a:avLst>
              <a:gd name="adj" fmla="val 16667"/>
            </a:avLst>
          </a:prstGeom>
          <a:solidFill>
            <a:srgbClr val="11604F"/>
          </a:solidFill>
          <a:ln w="12700">
            <a:solidFill>
              <a:srgbClr val="11604F"/>
            </a:solidFill>
            <a:prstDash val="solid"/>
          </a:ln>
        </p:spPr>
      </p:sp>
      <p:sp>
        <p:nvSpPr>
          <p:cNvPr id="9" name="Shape 7"/>
          <p:cNvSpPr/>
          <p:nvPr/>
        </p:nvSpPr>
        <p:spPr>
          <a:xfrm>
            <a:off x="10058400" y="3429000"/>
            <a:ext cx="438912" cy="2148840"/>
          </a:xfrm>
          <a:prstGeom prst="roundRect">
            <a:avLst>
              <a:gd name="adj" fmla="val 16667"/>
            </a:avLst>
          </a:prstGeom>
          <a:solidFill>
            <a:srgbClr val="11604F"/>
          </a:solidFill>
          <a:ln w="12700">
            <a:solidFill>
              <a:srgbClr val="11604F"/>
            </a:solidFill>
            <a:prstDash val="solid"/>
          </a:ln>
        </p:spPr>
      </p:sp>
      <p:sp>
        <p:nvSpPr>
          <p:cNvPr id="10" name="Shape 8"/>
          <p:cNvSpPr/>
          <p:nvPr/>
        </p:nvSpPr>
        <p:spPr>
          <a:xfrm>
            <a:off x="10607040" y="2926080"/>
            <a:ext cx="438912" cy="2651760"/>
          </a:xfrm>
          <a:prstGeom prst="roundRect">
            <a:avLst>
              <a:gd name="adj" fmla="val 16667"/>
            </a:avLst>
          </a:prstGeom>
          <a:solidFill>
            <a:srgbClr val="11604F"/>
          </a:solidFill>
          <a:ln w="12700">
            <a:solidFill>
              <a:srgbClr val="11604F"/>
            </a:solidFill>
            <a:prstDash val="solid"/>
          </a:ln>
        </p:spPr>
      </p:sp>
      <p:sp>
        <p:nvSpPr>
          <p:cNvPr id="11" name="Shape 9"/>
          <p:cNvSpPr/>
          <p:nvPr/>
        </p:nvSpPr>
        <p:spPr>
          <a:xfrm>
            <a:off x="11155680" y="2423160"/>
            <a:ext cx="438912" cy="3154680"/>
          </a:xfrm>
          <a:prstGeom prst="roundRect">
            <a:avLst>
              <a:gd name="adj" fmla="val 16667"/>
            </a:avLst>
          </a:prstGeom>
          <a:solidFill>
            <a:srgbClr val="11604F"/>
          </a:solidFill>
          <a:ln w="12700">
            <a:solidFill>
              <a:srgbClr val="11604F"/>
            </a:solidFill>
            <a:prstDash val="solid"/>
          </a:ln>
        </p:spPr>
      </p:sp>
      <p:sp>
        <p:nvSpPr>
          <p:cNvPr id="12" name="Text 10"/>
          <p:cNvSpPr txBox="1"/>
          <p:nvPr/>
        </p:nvSpPr>
        <p:spPr>
          <a:xfrm>
            <a:off x="8412480" y="5715000"/>
            <a:ext cx="3200400" cy="274320"/>
          </a:xfrm>
          <a:prstGeom prst="rect">
            <a:avLst/>
          </a:prstGeom>
          <a:noFill/>
          <a:ln/>
        </p:spPr>
        <p:txBody>
          <a:bodyPr wrap="square" lIns="0" tIns="0" rIns="0" bIns="0" rtlCol="0" anchor="ctr"/>
          <a:lstStyle/>
          <a:p>
            <a:pPr indent="0" marL="0">
              <a:buNone/>
            </a:pPr>
            <a:r>
              <a:rPr lang="en-US" sz="1100" i="1" dirty="0">
                <a:solidFill>
                  <a:srgbClr val="8FA8A0"/>
                </a:solidFill>
                <a:latin typeface="Calibri" pitchFamily="34" charset="0"/>
                <a:ea typeface="Calibri" pitchFamily="34" charset="-122"/>
                <a:cs typeface="Calibri" pitchFamily="34" charset="-120"/>
              </a:rPr>
              <a:t>use the lowest step that does the job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01  ·  THE CHALLENGE</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Autonomy and net zero pull in opposite directions</a:t>
            </a:r>
            <a:endParaRPr lang="en-US" sz="3000" dirty="0"/>
          </a:p>
        </p:txBody>
      </p:sp>
      <p:sp>
        <p:nvSpPr>
          <p:cNvPr id="4" name="Shape 2"/>
          <p:cNvSpPr/>
          <p:nvPr/>
        </p:nvSpPr>
        <p:spPr>
          <a:xfrm>
            <a:off x="548640" y="1691640"/>
            <a:ext cx="5029200" cy="2377440"/>
          </a:xfrm>
          <a:prstGeom prst="roundRect">
            <a:avLst>
              <a:gd name="adj" fmla="val 4615"/>
            </a:avLst>
          </a:prstGeom>
          <a:solidFill>
            <a:srgbClr val="EAF4EF"/>
          </a:solidFill>
          <a:ln w="12700">
            <a:solidFill>
              <a:srgbClr val="EAF4EF"/>
            </a:solidFill>
            <a:prstDash val="solid"/>
          </a:ln>
        </p:spPr>
      </p:sp>
      <p:sp>
        <p:nvSpPr>
          <p:cNvPr id="5" name="Shape 3"/>
          <p:cNvSpPr/>
          <p:nvPr/>
        </p:nvSpPr>
        <p:spPr>
          <a:xfrm>
            <a:off x="822960" y="1965960"/>
            <a:ext cx="640080" cy="640080"/>
          </a:xfrm>
          <a:prstGeom prst="roundRect">
            <a:avLst>
              <a:gd name="adj" fmla="val 22000"/>
            </a:avLst>
          </a:prstGeom>
          <a:solidFill>
            <a:srgbClr val="11604F"/>
          </a:solidFill>
          <a:ln w="12700">
            <a:solidFill>
              <a:srgbClr val="11604F"/>
            </a:solidFill>
            <a:prstDash val="solid"/>
          </a:ln>
        </p:spPr>
      </p:sp>
      <p:pic>
        <p:nvPicPr>
          <p:cNvPr id="6" name="Image 0" descr="preencoded.png">    </p:cNvPr>
          <p:cNvPicPr>
            <a:picLocks noChangeAspect="1"/>
          </p:cNvPicPr>
          <p:nvPr/>
        </p:nvPicPr>
        <p:blipFill>
          <a:blip r:embed="rId1"/>
          <a:stretch>
            <a:fillRect/>
          </a:stretch>
        </p:blipFill>
        <p:spPr>
          <a:xfrm>
            <a:off x="976579" y="2119579"/>
            <a:ext cx="332842" cy="332842"/>
          </a:xfrm>
          <a:prstGeom prst="rect">
            <a:avLst/>
          </a:prstGeom>
        </p:spPr>
      </p:pic>
      <p:sp>
        <p:nvSpPr>
          <p:cNvPr id="7" name="Text 4"/>
          <p:cNvSpPr txBox="1"/>
          <p:nvPr/>
        </p:nvSpPr>
        <p:spPr>
          <a:xfrm>
            <a:off x="1645920" y="2011680"/>
            <a:ext cx="3749040" cy="457200"/>
          </a:xfrm>
          <a:prstGeom prst="rect">
            <a:avLst/>
          </a:prstGeom>
          <a:noFill/>
          <a:ln/>
        </p:spPr>
        <p:txBody>
          <a:bodyPr wrap="square" lIns="0" tIns="0" rIns="0" bIns="0" rtlCol="0" anchor="ctr"/>
          <a:lstStyle/>
          <a:p>
            <a:pPr indent="0" marL="0">
              <a:buNone/>
            </a:pPr>
            <a:r>
              <a:rPr lang="en-US" sz="1800" b="1" dirty="0">
                <a:solidFill>
                  <a:srgbClr val="1C2B28"/>
                </a:solidFill>
                <a:latin typeface="Arial" pitchFamily="34" charset="0"/>
                <a:ea typeface="Arial" pitchFamily="34" charset="-122"/>
                <a:cs typeface="Arial" pitchFamily="34" charset="-120"/>
              </a:rPr>
              <a:t>Autonomous Enterprise</a:t>
            </a:r>
            <a:endParaRPr lang="en-US" sz="1800" dirty="0"/>
          </a:p>
        </p:txBody>
      </p:sp>
      <p:sp>
        <p:nvSpPr>
          <p:cNvPr id="8" name="Text 5"/>
          <p:cNvSpPr txBox="1"/>
          <p:nvPr/>
        </p:nvSpPr>
        <p:spPr>
          <a:xfrm>
            <a:off x="822960" y="2743200"/>
            <a:ext cx="457200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C2B28"/>
                </a:solidFill>
                <a:latin typeface="Calibri" pitchFamily="34" charset="0"/>
                <a:ea typeface="Calibri" pitchFamily="34" charset="-122"/>
                <a:cs typeface="Calibri" pitchFamily="34" charset="-120"/>
              </a:rPr>
              <a:t>Agents and AI in every process</a:t>
            </a:r>
            <a:endParaRPr lang="en-US" sz="1400" dirty="0"/>
          </a:p>
          <a:p>
            <a:pPr marL="342900" indent="-342900">
              <a:spcAft>
                <a:spcPts val="400"/>
              </a:spcAft>
              <a:buSzPct val="100000"/>
              <a:buChar char="•"/>
            </a:pPr>
            <a:r>
              <a:rPr lang="en-US" sz="1400" dirty="0">
                <a:solidFill>
                  <a:srgbClr val="1C2B28"/>
                </a:solidFill>
                <a:latin typeface="Calibri" pitchFamily="34" charset="0"/>
                <a:ea typeface="Calibri" pitchFamily="34" charset="-122"/>
                <a:cs typeface="Calibri" pitchFamily="34" charset="-120"/>
              </a:rPr>
              <a:t>Each agent plans, calls tools, checks and retries</a:t>
            </a:r>
            <a:endParaRPr lang="en-US" sz="1400" dirty="0"/>
          </a:p>
          <a:p>
            <a:pPr marL="342900" indent="-342900">
              <a:spcAft>
                <a:spcPts val="400"/>
              </a:spcAft>
              <a:buSzPct val="100000"/>
              <a:buChar char="•"/>
            </a:pPr>
            <a:r>
              <a:rPr lang="en-US" sz="1400" dirty="0">
                <a:solidFill>
                  <a:srgbClr val="1C2B28"/>
                </a:solidFill>
                <a:latin typeface="Calibri" pitchFamily="34" charset="0"/>
                <a:ea typeface="Calibri" pitchFamily="34" charset="-122"/>
                <a:cs typeface="Calibri" pitchFamily="34" charset="-120"/>
              </a:rPr>
              <a:t>More autonomy → more compute → more energy</a:t>
            </a:r>
            <a:endParaRPr lang="en-US" sz="1400" dirty="0"/>
          </a:p>
        </p:txBody>
      </p:sp>
      <p:sp>
        <p:nvSpPr>
          <p:cNvPr id="9" name="Shape 6"/>
          <p:cNvSpPr/>
          <p:nvPr/>
        </p:nvSpPr>
        <p:spPr>
          <a:xfrm>
            <a:off x="6613855" y="1691640"/>
            <a:ext cx="5029200" cy="2377440"/>
          </a:xfrm>
          <a:prstGeom prst="roundRect">
            <a:avLst>
              <a:gd name="adj" fmla="val 4615"/>
            </a:avLst>
          </a:prstGeom>
          <a:solidFill>
            <a:srgbClr val="EAF4EF"/>
          </a:solidFill>
          <a:ln w="12700">
            <a:solidFill>
              <a:srgbClr val="EAF4EF"/>
            </a:solidFill>
            <a:prstDash val="solid"/>
          </a:ln>
        </p:spPr>
      </p:sp>
      <p:sp>
        <p:nvSpPr>
          <p:cNvPr id="10" name="Shape 7"/>
          <p:cNvSpPr/>
          <p:nvPr/>
        </p:nvSpPr>
        <p:spPr>
          <a:xfrm>
            <a:off x="6885432" y="1965960"/>
            <a:ext cx="640080" cy="640080"/>
          </a:xfrm>
          <a:prstGeom prst="roundRect">
            <a:avLst>
              <a:gd name="adj" fmla="val 22000"/>
            </a:avLst>
          </a:prstGeom>
          <a:solidFill>
            <a:srgbClr val="11604F"/>
          </a:solidFill>
          <a:ln w="12700">
            <a:solidFill>
              <a:srgbClr val="11604F"/>
            </a:solidFill>
            <a:prstDash val="solid"/>
          </a:ln>
        </p:spPr>
      </p:sp>
      <p:pic>
        <p:nvPicPr>
          <p:cNvPr id="11" name="Image 1" descr="preencoded.png">    </p:cNvPr>
          <p:cNvPicPr>
            <a:picLocks noChangeAspect="1"/>
          </p:cNvPicPr>
          <p:nvPr/>
        </p:nvPicPr>
        <p:blipFill>
          <a:blip r:embed="rId2"/>
          <a:stretch>
            <a:fillRect/>
          </a:stretch>
        </p:blipFill>
        <p:spPr>
          <a:xfrm>
            <a:off x="7039051" y="2119579"/>
            <a:ext cx="332842" cy="332842"/>
          </a:xfrm>
          <a:prstGeom prst="rect">
            <a:avLst/>
          </a:prstGeom>
        </p:spPr>
      </p:pic>
      <p:sp>
        <p:nvSpPr>
          <p:cNvPr id="12" name="Text 8"/>
          <p:cNvSpPr txBox="1"/>
          <p:nvPr/>
        </p:nvSpPr>
        <p:spPr>
          <a:xfrm>
            <a:off x="7708392" y="2011680"/>
            <a:ext cx="3749040" cy="457200"/>
          </a:xfrm>
          <a:prstGeom prst="rect">
            <a:avLst/>
          </a:prstGeom>
          <a:noFill/>
          <a:ln/>
        </p:spPr>
        <p:txBody>
          <a:bodyPr wrap="square" lIns="0" tIns="0" rIns="0" bIns="0" rtlCol="0" anchor="ctr"/>
          <a:lstStyle/>
          <a:p>
            <a:pPr indent="0" marL="0">
              <a:buNone/>
            </a:pPr>
            <a:r>
              <a:rPr lang="en-US" sz="1800" b="1" dirty="0">
                <a:solidFill>
                  <a:srgbClr val="1C2B28"/>
                </a:solidFill>
                <a:latin typeface="Arial" pitchFamily="34" charset="0"/>
                <a:ea typeface="Arial" pitchFamily="34" charset="-122"/>
                <a:cs typeface="Arial" pitchFamily="34" charset="-120"/>
              </a:rPr>
              <a:t>Net zero by 2030</a:t>
            </a:r>
            <a:endParaRPr lang="en-US" sz="1800" dirty="0"/>
          </a:p>
        </p:txBody>
      </p:sp>
      <p:sp>
        <p:nvSpPr>
          <p:cNvPr id="13" name="Text 9"/>
          <p:cNvSpPr txBox="1"/>
          <p:nvPr/>
        </p:nvSpPr>
        <p:spPr>
          <a:xfrm>
            <a:off x="6885432" y="2743200"/>
            <a:ext cx="457200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C2B28"/>
                </a:solidFill>
                <a:latin typeface="Calibri" pitchFamily="34" charset="0"/>
                <a:ea typeface="Calibri" pitchFamily="34" charset="-122"/>
                <a:cs typeface="Calibri" pitchFamily="34" charset="-120"/>
              </a:rPr>
              <a:t>At least 90% gross emission cut across the value chain (2023 baseline)</a:t>
            </a:r>
            <a:endParaRPr lang="en-US" sz="1400" dirty="0"/>
          </a:p>
          <a:p>
            <a:pPr marL="342900" indent="-342900">
              <a:spcAft>
                <a:spcPts val="400"/>
              </a:spcAft>
              <a:buSzPct val="100000"/>
              <a:buChar char="•"/>
            </a:pPr>
            <a:r>
              <a:rPr lang="en-US" sz="1400" dirty="0">
                <a:solidFill>
                  <a:srgbClr val="1C2B28"/>
                </a:solidFill>
                <a:latin typeface="Calibri" pitchFamily="34" charset="0"/>
                <a:ea typeface="Calibri" pitchFamily="34" charset="-122"/>
                <a:cs typeface="Calibri" pitchFamily="34" charset="-120"/>
              </a:rPr>
              <a:t>Validated by SBTi, tied to executive pay</a:t>
            </a:r>
            <a:endParaRPr lang="en-US" sz="1400" dirty="0"/>
          </a:p>
          <a:p>
            <a:pPr marL="342900" indent="-342900">
              <a:spcAft>
                <a:spcPts val="400"/>
              </a:spcAft>
              <a:buSzPct val="100000"/>
              <a:buChar char="•"/>
            </a:pPr>
            <a:r>
              <a:rPr lang="en-US" sz="1400" dirty="0">
                <a:solidFill>
                  <a:srgbClr val="1C2B28"/>
                </a:solidFill>
                <a:latin typeface="Calibri" pitchFamily="34" charset="0"/>
                <a:ea typeface="Calibri" pitchFamily="34" charset="-122"/>
                <a:cs typeface="Calibri" pitchFamily="34" charset="-120"/>
              </a:rPr>
              <a:t>Offsets cannot absorb growth in AI energy</a:t>
            </a:r>
            <a:endParaRPr lang="en-US" sz="1400" dirty="0"/>
          </a:p>
        </p:txBody>
      </p:sp>
      <p:sp>
        <p:nvSpPr>
          <p:cNvPr id="14" name="Shape 10"/>
          <p:cNvSpPr/>
          <p:nvPr/>
        </p:nvSpPr>
        <p:spPr>
          <a:xfrm>
            <a:off x="5733288" y="2514600"/>
            <a:ext cx="731520" cy="731520"/>
          </a:xfrm>
          <a:prstGeom prst="ellipse">
            <a:avLst/>
          </a:prstGeom>
          <a:solidFill>
            <a:srgbClr val="E07A3F"/>
          </a:solidFill>
          <a:ln w="38100">
            <a:solidFill>
              <a:srgbClr val="FFFFFF"/>
            </a:solidFill>
            <a:prstDash val="solid"/>
          </a:ln>
        </p:spPr>
      </p:sp>
      <p:sp>
        <p:nvSpPr>
          <p:cNvPr id="15" name="Text 11"/>
          <p:cNvSpPr txBox="1"/>
          <p:nvPr/>
        </p:nvSpPr>
        <p:spPr>
          <a:xfrm>
            <a:off x="5733288" y="251460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vs</a:t>
            </a:r>
            <a:endParaRPr lang="en-US" sz="1800" dirty="0"/>
          </a:p>
        </p:txBody>
      </p:sp>
      <p:sp>
        <p:nvSpPr>
          <p:cNvPr id="16" name="Shape 12"/>
          <p:cNvSpPr/>
          <p:nvPr/>
        </p:nvSpPr>
        <p:spPr>
          <a:xfrm>
            <a:off x="548640" y="4389120"/>
            <a:ext cx="11094415" cy="1600200"/>
          </a:xfrm>
          <a:prstGeom prst="roundRect">
            <a:avLst>
              <a:gd name="adj" fmla="val 6857"/>
            </a:avLst>
          </a:prstGeom>
          <a:solidFill>
            <a:srgbClr val="0B2B26"/>
          </a:solidFill>
          <a:ln w="12700">
            <a:solidFill>
              <a:srgbClr val="0B2B26"/>
            </a:solidFill>
            <a:prstDash val="solid"/>
          </a:ln>
        </p:spPr>
      </p:sp>
      <p:pic>
        <p:nvPicPr>
          <p:cNvPr id="17" name="Image 2" descr="preencoded.png">    </p:cNvPr>
          <p:cNvPicPr>
            <a:picLocks noChangeAspect="1"/>
          </p:cNvPicPr>
          <p:nvPr/>
        </p:nvPicPr>
        <p:blipFill>
          <a:blip r:embed="rId3"/>
          <a:stretch>
            <a:fillRect/>
          </a:stretch>
        </p:blipFill>
        <p:spPr>
          <a:xfrm>
            <a:off x="868680" y="4709160"/>
            <a:ext cx="457200" cy="457200"/>
          </a:xfrm>
          <a:prstGeom prst="rect">
            <a:avLst/>
          </a:prstGeom>
        </p:spPr>
      </p:pic>
      <p:sp>
        <p:nvSpPr>
          <p:cNvPr id="18" name="Text 13"/>
          <p:cNvSpPr txBox="1"/>
          <p:nvPr/>
        </p:nvSpPr>
        <p:spPr>
          <a:xfrm>
            <a:off x="1600200" y="4572000"/>
            <a:ext cx="9692640" cy="8686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If everyone is building agents, everyone has the same tools. The difference is how efficiently they use them.</a:t>
            </a:r>
            <a:endParaRPr lang="en-US" sz="2000" dirty="0"/>
          </a:p>
        </p:txBody>
      </p:sp>
      <p:sp>
        <p:nvSpPr>
          <p:cNvPr id="19" name="Text 14"/>
          <p:cNvSpPr txBox="1"/>
          <p:nvPr/>
        </p:nvSpPr>
        <p:spPr>
          <a:xfrm>
            <a:off x="1600200" y="5440680"/>
            <a:ext cx="9692640" cy="365760"/>
          </a:xfrm>
          <a:prstGeom prst="rect">
            <a:avLst/>
          </a:prstGeom>
          <a:noFill/>
          <a:ln/>
        </p:spPr>
        <p:txBody>
          <a:bodyPr wrap="square" lIns="0" tIns="0" rIns="0" bIns="0" rtlCol="0" anchor="ctr"/>
          <a:lstStyle/>
          <a:p>
            <a:pPr indent="0" marL="0">
              <a:buNone/>
            </a:pPr>
            <a:r>
              <a:rPr lang="en-US" sz="1400" i="1" dirty="0">
                <a:solidFill>
                  <a:srgbClr val="B8E04A"/>
                </a:solidFill>
                <a:latin typeface="Calibri" pitchFamily="34" charset="0"/>
                <a:ea typeface="Calibri" pitchFamily="34" charset="-122"/>
                <a:cs typeface="Calibri" pitchFamily="34" charset="-120"/>
              </a:rPr>
              <a:t>Efficiency is not only a climate constraint. It is the competitive edge.</a:t>
            </a:r>
            <a:endParaRPr lang="en-US" sz="1400" dirty="0"/>
          </a:p>
        </p:txBody>
      </p:sp>
      <p:sp>
        <p:nvSpPr>
          <p:cNvPr id="20" name="Text 1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5E6E6A"/>
                </a:solidFill>
                <a:latin typeface="Calibri" pitchFamily="34" charset="0"/>
                <a:ea typeface="Calibri" pitchFamily="34" charset="-122"/>
                <a:cs typeface="Calibri" pitchFamily="34" charset="-120"/>
              </a:rPr>
              <a:t>Source: SAP Integrated Report 2024/2025, Environmental Performance</a:t>
            </a:r>
            <a:endParaRPr lang="en-US" sz="900" dirty="0"/>
          </a:p>
        </p:txBody>
      </p:sp>
      <p:sp>
        <p:nvSpPr>
          <p:cNvPr id="21" name="Text 16"/>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02  ·  OUR POINT OF VIEW</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Meet Lena: where the inefficient decision is made</a:t>
            </a:r>
            <a:endParaRPr lang="en-US" sz="3000" dirty="0"/>
          </a:p>
        </p:txBody>
      </p:sp>
      <p:sp>
        <p:nvSpPr>
          <p:cNvPr id="4" name="Shape 2"/>
          <p:cNvSpPr/>
          <p:nvPr/>
        </p:nvSpPr>
        <p:spPr>
          <a:xfrm>
            <a:off x="548640" y="1691640"/>
            <a:ext cx="3931920" cy="4343400"/>
          </a:xfrm>
          <a:prstGeom prst="roundRect">
            <a:avLst>
              <a:gd name="adj" fmla="val 2791"/>
            </a:avLst>
          </a:prstGeom>
          <a:solidFill>
            <a:srgbClr val="0B2B26"/>
          </a:solidFill>
          <a:ln w="12700">
            <a:solidFill>
              <a:srgbClr val="0B2B26"/>
            </a:solidFill>
            <a:prstDash val="solid"/>
          </a:ln>
        </p:spPr>
      </p:sp>
      <p:sp>
        <p:nvSpPr>
          <p:cNvPr id="5" name="Shape 3"/>
          <p:cNvSpPr/>
          <p:nvPr/>
        </p:nvSpPr>
        <p:spPr>
          <a:xfrm>
            <a:off x="868680" y="2011680"/>
            <a:ext cx="1097280" cy="1097280"/>
          </a:xfrm>
          <a:prstGeom prst="ellipse">
            <a:avLst/>
          </a:prstGeom>
          <a:solidFill>
            <a:srgbClr val="11604F"/>
          </a:solidFill>
          <a:ln w="25400">
            <a:solidFill>
              <a:srgbClr val="B8E04A"/>
            </a:solidFill>
            <a:prstDash val="solid"/>
          </a:ln>
        </p:spPr>
      </p:sp>
      <p:pic>
        <p:nvPicPr>
          <p:cNvPr id="6" name="Image 0" descr="preencoded.png">    </p:cNvPr>
          <p:cNvPicPr>
            <a:picLocks noChangeAspect="1"/>
          </p:cNvPicPr>
          <p:nvPr/>
        </p:nvPicPr>
        <p:blipFill>
          <a:blip r:embed="rId1"/>
          <a:stretch>
            <a:fillRect/>
          </a:stretch>
        </p:blipFill>
        <p:spPr>
          <a:xfrm>
            <a:off x="1143000" y="2286000"/>
            <a:ext cx="548640" cy="548640"/>
          </a:xfrm>
          <a:prstGeom prst="rect">
            <a:avLst/>
          </a:prstGeom>
        </p:spPr>
      </p:pic>
      <p:sp>
        <p:nvSpPr>
          <p:cNvPr id="7" name="Text 4"/>
          <p:cNvSpPr txBox="1"/>
          <p:nvPr/>
        </p:nvSpPr>
        <p:spPr>
          <a:xfrm>
            <a:off x="2148840" y="2103120"/>
            <a:ext cx="219456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Lena</a:t>
            </a:r>
            <a:endParaRPr lang="en-US" sz="2400" dirty="0"/>
          </a:p>
        </p:txBody>
      </p:sp>
      <p:sp>
        <p:nvSpPr>
          <p:cNvPr id="8" name="Text 5"/>
          <p:cNvSpPr txBox="1"/>
          <p:nvPr/>
        </p:nvSpPr>
        <p:spPr>
          <a:xfrm>
            <a:off x="2148840" y="2560320"/>
            <a:ext cx="2194560" cy="548640"/>
          </a:xfrm>
          <a:prstGeom prst="rect">
            <a:avLst/>
          </a:prstGeom>
          <a:noFill/>
          <a:ln/>
        </p:spPr>
        <p:txBody>
          <a:bodyPr wrap="square" lIns="0" tIns="0" rIns="0" bIns="0" rtlCol="0" anchor="ctr"/>
          <a:lstStyle/>
          <a:p>
            <a:pPr indent="0" marL="0">
              <a:buNone/>
            </a:pPr>
            <a:r>
              <a:rPr lang="en-US" sz="1300" dirty="0">
                <a:solidFill>
                  <a:srgbClr val="C9DCD5"/>
                </a:solidFill>
                <a:latin typeface="Calibri" pitchFamily="34" charset="0"/>
                <a:ea typeface="Calibri" pitchFamily="34" charset="-122"/>
                <a:cs typeface="Calibri" pitchFamily="34" charset="-120"/>
              </a:rPr>
              <a:t>Team Lead, Accounts Payable</a:t>
            </a:r>
            <a:endParaRPr lang="en-US" sz="1300" dirty="0"/>
          </a:p>
          <a:p>
            <a:pPr indent="0" marL="0">
              <a:buNone/>
            </a:pPr>
            <a:r>
              <a:rPr lang="en-US" sz="1300" dirty="0">
                <a:solidFill>
                  <a:srgbClr val="C9DCD5"/>
                </a:solidFill>
                <a:latin typeface="Calibri" pitchFamily="34" charset="0"/>
                <a:ea typeface="Calibri" pitchFamily="34" charset="-122"/>
                <a:cs typeface="Calibri" pitchFamily="34" charset="-120"/>
              </a:rPr>
              <a:t>SAP Finance</a:t>
            </a:r>
            <a:endParaRPr lang="en-US" sz="1300" dirty="0"/>
          </a:p>
        </p:txBody>
      </p:sp>
      <p:sp>
        <p:nvSpPr>
          <p:cNvPr id="9" name="Text 6"/>
          <p:cNvSpPr txBox="1"/>
          <p:nvPr/>
        </p:nvSpPr>
        <p:spPr>
          <a:xfrm>
            <a:off x="868680" y="3474720"/>
            <a:ext cx="3337560" cy="1097280"/>
          </a:xfrm>
          <a:prstGeom prst="rect">
            <a:avLst/>
          </a:prstGeom>
          <a:noFill/>
          <a:ln/>
        </p:spPr>
        <p:txBody>
          <a:bodyPr wrap="square" lIns="0" tIns="0" rIns="0" bIns="0" rtlCol="0" anchor="t"/>
          <a:lstStyle/>
          <a:p>
            <a:pPr indent="0" marL="0">
              <a:buNone/>
            </a:pPr>
            <a:r>
              <a:rPr lang="en-US" sz="1800" b="1" i="1" dirty="0">
                <a:solidFill>
                  <a:srgbClr val="B8E04A"/>
                </a:solidFill>
                <a:latin typeface="Arial" pitchFamily="34" charset="0"/>
                <a:ea typeface="Arial" pitchFamily="34" charset="-122"/>
                <a:cs typeface="Arial" pitchFamily="34" charset="-120"/>
              </a:rPr>
              <a:t>“I just want it automated. I don’t care how.”</a:t>
            </a:r>
            <a:endParaRPr lang="en-US" sz="1800" dirty="0"/>
          </a:p>
        </p:txBody>
      </p:sp>
      <p:sp>
        <p:nvSpPr>
          <p:cNvPr id="10" name="Text 7"/>
          <p:cNvSpPr txBox="1"/>
          <p:nvPr/>
        </p:nvSpPr>
        <p:spPr>
          <a:xfrm>
            <a:off x="868680" y="4663440"/>
            <a:ext cx="3337560" cy="731520"/>
          </a:xfrm>
          <a:prstGeom prst="rect">
            <a:avLst/>
          </a:prstGeom>
          <a:noFill/>
          <a:ln/>
        </p:spPr>
        <p:txBody>
          <a:bodyPr wrap="square" lIns="0" tIns="0" rIns="0" bIns="0" rtlCol="0" anchor="t"/>
          <a:lstStyle/>
          <a:p>
            <a:pPr indent="0" marL="0">
              <a:buNone/>
            </a:pPr>
            <a:r>
              <a:rPr lang="en-US" sz="1300" dirty="0">
                <a:solidFill>
                  <a:srgbClr val="C9DCD5"/>
                </a:solidFill>
                <a:latin typeface="Calibri" pitchFamily="34" charset="0"/>
                <a:ea typeface="Calibri" pitchFamily="34" charset="-122"/>
                <a:cs typeface="Calibri" pitchFamily="34" charset="-120"/>
              </a:rPr>
              <a:t>Process owner: she requests automation and decides what kind gets built.</a:t>
            </a:r>
            <a:endParaRPr lang="en-US" sz="1300" dirty="0"/>
          </a:p>
        </p:txBody>
      </p:sp>
      <p:sp>
        <p:nvSpPr>
          <p:cNvPr id="11" name="Text 8"/>
          <p:cNvSpPr txBox="1"/>
          <p:nvPr/>
        </p:nvSpPr>
        <p:spPr>
          <a:xfrm>
            <a:off x="868680" y="5577840"/>
            <a:ext cx="3337560" cy="274320"/>
          </a:xfrm>
          <a:prstGeom prst="rect">
            <a:avLst/>
          </a:prstGeom>
          <a:noFill/>
          <a:ln/>
        </p:spPr>
        <p:txBody>
          <a:bodyPr wrap="square" lIns="0" tIns="0" rIns="0" bIns="0" rtlCol="0" anchor="ctr"/>
          <a:lstStyle/>
          <a:p>
            <a:pPr indent="0" marL="0">
              <a:buNone/>
            </a:pPr>
            <a:r>
              <a:rPr lang="en-US" sz="1000" i="1" dirty="0">
                <a:solidFill>
                  <a:srgbClr val="8FA8A0"/>
                </a:solidFill>
                <a:latin typeface="Calibri" pitchFamily="34" charset="0"/>
                <a:ea typeface="Calibri" pitchFamily="34" charset="-122"/>
                <a:cs typeface="Calibri" pitchFamily="34" charset="-120"/>
              </a:rPr>
              <a:t>Working persona – hypothesis to validate</a:t>
            </a:r>
            <a:endParaRPr lang="en-US" sz="1000" dirty="0"/>
          </a:p>
        </p:txBody>
      </p:sp>
      <p:sp>
        <p:nvSpPr>
          <p:cNvPr id="12" name="Shape 9"/>
          <p:cNvSpPr/>
          <p:nvPr/>
        </p:nvSpPr>
        <p:spPr>
          <a:xfrm>
            <a:off x="4800600" y="1691640"/>
            <a:ext cx="3200400" cy="1965960"/>
          </a:xfrm>
          <a:prstGeom prst="roundRect">
            <a:avLst>
              <a:gd name="adj" fmla="val 5581"/>
            </a:avLst>
          </a:prstGeom>
          <a:solidFill>
            <a:srgbClr val="EAF4EF"/>
          </a:solidFill>
          <a:ln w="12700">
            <a:solidFill>
              <a:srgbClr val="EAF4EF"/>
            </a:solidFill>
            <a:prstDash val="solid"/>
          </a:ln>
        </p:spPr>
      </p:sp>
      <p:sp>
        <p:nvSpPr>
          <p:cNvPr id="13" name="Shape 10"/>
          <p:cNvSpPr/>
          <p:nvPr/>
        </p:nvSpPr>
        <p:spPr>
          <a:xfrm>
            <a:off x="5074920" y="1965960"/>
            <a:ext cx="502920" cy="502920"/>
          </a:xfrm>
          <a:prstGeom prst="roundRect">
            <a:avLst>
              <a:gd name="adj" fmla="val 22000"/>
            </a:avLst>
          </a:prstGeom>
          <a:solidFill>
            <a:srgbClr val="11604F"/>
          </a:solidFill>
          <a:ln w="12700">
            <a:solidFill>
              <a:srgbClr val="11604F"/>
            </a:solidFill>
            <a:prstDash val="solid"/>
          </a:ln>
        </p:spPr>
      </p:sp>
      <p:pic>
        <p:nvPicPr>
          <p:cNvPr id="14" name="Image 1" descr="preencoded.png">    </p:cNvPr>
          <p:cNvPicPr>
            <a:picLocks noChangeAspect="1"/>
          </p:cNvPicPr>
          <p:nvPr/>
        </p:nvPicPr>
        <p:blipFill>
          <a:blip r:embed="rId2"/>
          <a:stretch>
            <a:fillRect/>
          </a:stretch>
        </p:blipFill>
        <p:spPr>
          <a:xfrm>
            <a:off x="5195621" y="2086661"/>
            <a:ext cx="261518" cy="261518"/>
          </a:xfrm>
          <a:prstGeom prst="rect">
            <a:avLst/>
          </a:prstGeom>
        </p:spPr>
      </p:pic>
      <p:sp>
        <p:nvSpPr>
          <p:cNvPr id="15" name="Text 11"/>
          <p:cNvSpPr txBox="1"/>
          <p:nvPr/>
        </p:nvSpPr>
        <p:spPr>
          <a:xfrm>
            <a:off x="5760720" y="1984248"/>
            <a:ext cx="2103120" cy="457200"/>
          </a:xfrm>
          <a:prstGeom prst="rect">
            <a:avLst/>
          </a:prstGeom>
          <a:noFill/>
          <a:ln/>
        </p:spPr>
        <p:txBody>
          <a:bodyPr wrap="square" lIns="0" tIns="0" rIns="0" bIns="0" rtlCol="0" anchor="ctr"/>
          <a:lstStyle/>
          <a:p>
            <a:pPr indent="0" marL="0">
              <a:buNone/>
            </a:pPr>
            <a:r>
              <a:rPr lang="en-US" sz="1600" b="1" dirty="0">
                <a:solidFill>
                  <a:srgbClr val="1C2B28"/>
                </a:solidFill>
                <a:latin typeface="Arial" pitchFamily="34" charset="0"/>
                <a:ea typeface="Arial" pitchFamily="34" charset="-122"/>
                <a:cs typeface="Arial" pitchFamily="34" charset="-120"/>
              </a:rPr>
              <a:t>Goals</a:t>
            </a:r>
            <a:endParaRPr lang="en-US" sz="1600" dirty="0"/>
          </a:p>
        </p:txBody>
      </p:sp>
      <p:sp>
        <p:nvSpPr>
          <p:cNvPr id="16" name="Text 12"/>
          <p:cNvSpPr txBox="1"/>
          <p:nvPr/>
        </p:nvSpPr>
        <p:spPr>
          <a:xfrm>
            <a:off x="5074920" y="2606040"/>
            <a:ext cx="2697480" cy="914400"/>
          </a:xfrm>
          <a:prstGeom prst="rect">
            <a:avLst/>
          </a:prstGeom>
          <a:noFill/>
          <a:ln/>
        </p:spPr>
        <p:txBody>
          <a:bodyPr wrap="square" lIns="0" tIns="0" rIns="0" bIns="0" rtlCol="0" anchor="t"/>
          <a:lstStyle/>
          <a:p>
            <a:pPr indent="0" marL="0">
              <a:buNone/>
            </a:pPr>
            <a:r>
              <a:rPr lang="en-US" sz="1300" dirty="0">
                <a:solidFill>
                  <a:srgbClr val="1C2B28"/>
                </a:solidFill>
                <a:latin typeface="Calibri" pitchFamily="34" charset="0"/>
                <a:ea typeface="Calibri" pitchFamily="34" charset="-122"/>
                <a:cs typeface="Calibri" pitchFamily="34" charset="-120"/>
              </a:rPr>
              <a:t>Faster invoice processing, fewer manual checks, show her team is innovating</a:t>
            </a:r>
            <a:endParaRPr lang="en-US" sz="1300" dirty="0"/>
          </a:p>
        </p:txBody>
      </p:sp>
      <p:sp>
        <p:nvSpPr>
          <p:cNvPr id="17" name="Shape 13"/>
          <p:cNvSpPr/>
          <p:nvPr/>
        </p:nvSpPr>
        <p:spPr>
          <a:xfrm>
            <a:off x="8275320" y="1691640"/>
            <a:ext cx="3200400" cy="1965960"/>
          </a:xfrm>
          <a:prstGeom prst="roundRect">
            <a:avLst>
              <a:gd name="adj" fmla="val 5581"/>
            </a:avLst>
          </a:prstGeom>
          <a:solidFill>
            <a:srgbClr val="EAF4EF"/>
          </a:solidFill>
          <a:ln w="12700">
            <a:solidFill>
              <a:srgbClr val="EAF4EF"/>
            </a:solidFill>
            <a:prstDash val="solid"/>
          </a:ln>
        </p:spPr>
      </p:sp>
      <p:sp>
        <p:nvSpPr>
          <p:cNvPr id="18" name="Shape 14"/>
          <p:cNvSpPr/>
          <p:nvPr/>
        </p:nvSpPr>
        <p:spPr>
          <a:xfrm>
            <a:off x="8549640" y="1965960"/>
            <a:ext cx="502920" cy="502920"/>
          </a:xfrm>
          <a:prstGeom prst="roundRect">
            <a:avLst>
              <a:gd name="adj" fmla="val 22000"/>
            </a:avLst>
          </a:prstGeom>
          <a:solidFill>
            <a:srgbClr val="11604F"/>
          </a:solidFill>
          <a:ln w="12700">
            <a:solidFill>
              <a:srgbClr val="11604F"/>
            </a:solidFill>
            <a:prstDash val="solid"/>
          </a:ln>
        </p:spPr>
      </p:sp>
      <p:pic>
        <p:nvPicPr>
          <p:cNvPr id="19" name="Image 2" descr="preencoded.png">    </p:cNvPr>
          <p:cNvPicPr>
            <a:picLocks noChangeAspect="1"/>
          </p:cNvPicPr>
          <p:nvPr/>
        </p:nvPicPr>
        <p:blipFill>
          <a:blip r:embed="rId3"/>
          <a:stretch>
            <a:fillRect/>
          </a:stretch>
        </p:blipFill>
        <p:spPr>
          <a:xfrm>
            <a:off x="8670341" y="2086661"/>
            <a:ext cx="261518" cy="261518"/>
          </a:xfrm>
          <a:prstGeom prst="rect">
            <a:avLst/>
          </a:prstGeom>
        </p:spPr>
      </p:pic>
      <p:sp>
        <p:nvSpPr>
          <p:cNvPr id="20" name="Text 15"/>
          <p:cNvSpPr txBox="1"/>
          <p:nvPr/>
        </p:nvSpPr>
        <p:spPr>
          <a:xfrm>
            <a:off x="9235440" y="1984248"/>
            <a:ext cx="2103120" cy="457200"/>
          </a:xfrm>
          <a:prstGeom prst="rect">
            <a:avLst/>
          </a:prstGeom>
          <a:noFill/>
          <a:ln/>
        </p:spPr>
        <p:txBody>
          <a:bodyPr wrap="square" lIns="0" tIns="0" rIns="0" bIns="0" rtlCol="0" anchor="ctr"/>
          <a:lstStyle/>
          <a:p>
            <a:pPr indent="0" marL="0">
              <a:buNone/>
            </a:pPr>
            <a:r>
              <a:rPr lang="en-US" sz="1600" b="1" dirty="0">
                <a:solidFill>
                  <a:srgbClr val="1C2B28"/>
                </a:solidFill>
                <a:latin typeface="Arial" pitchFamily="34" charset="0"/>
                <a:ea typeface="Arial" pitchFamily="34" charset="-122"/>
                <a:cs typeface="Arial" pitchFamily="34" charset="-120"/>
              </a:rPr>
              <a:t>Pains</a:t>
            </a:r>
            <a:endParaRPr lang="en-US" sz="1600" dirty="0"/>
          </a:p>
        </p:txBody>
      </p:sp>
      <p:sp>
        <p:nvSpPr>
          <p:cNvPr id="21" name="Text 16"/>
          <p:cNvSpPr txBox="1"/>
          <p:nvPr/>
        </p:nvSpPr>
        <p:spPr>
          <a:xfrm>
            <a:off x="8549640" y="2606040"/>
            <a:ext cx="2697480" cy="914400"/>
          </a:xfrm>
          <a:prstGeom prst="rect">
            <a:avLst/>
          </a:prstGeom>
          <a:noFill/>
          <a:ln/>
        </p:spPr>
        <p:txBody>
          <a:bodyPr wrap="square" lIns="0" tIns="0" rIns="0" bIns="0" rtlCol="0" anchor="t"/>
          <a:lstStyle/>
          <a:p>
            <a:pPr indent="0" marL="0">
              <a:buNone/>
            </a:pPr>
            <a:r>
              <a:rPr lang="en-US" sz="1300" dirty="0">
                <a:solidFill>
                  <a:srgbClr val="1C2B28"/>
                </a:solidFill>
                <a:latin typeface="Calibri" pitchFamily="34" charset="0"/>
                <a:ea typeface="Calibri" pitchFamily="34" charset="-122"/>
                <a:cs typeface="Calibri" pitchFamily="34" charset="-120"/>
              </a:rPr>
              <a:t>Time pressure, no guidance on which AI tool fits, hype: “everyone’s building agents”</a:t>
            </a:r>
            <a:endParaRPr lang="en-US" sz="1300" dirty="0"/>
          </a:p>
        </p:txBody>
      </p:sp>
      <p:sp>
        <p:nvSpPr>
          <p:cNvPr id="22" name="Shape 17"/>
          <p:cNvSpPr/>
          <p:nvPr/>
        </p:nvSpPr>
        <p:spPr>
          <a:xfrm>
            <a:off x="4800600" y="3931920"/>
            <a:ext cx="3200400" cy="1965960"/>
          </a:xfrm>
          <a:prstGeom prst="roundRect">
            <a:avLst>
              <a:gd name="adj" fmla="val 5581"/>
            </a:avLst>
          </a:prstGeom>
          <a:solidFill>
            <a:srgbClr val="EAF4EF"/>
          </a:solidFill>
          <a:ln w="12700">
            <a:solidFill>
              <a:srgbClr val="EAF4EF"/>
            </a:solidFill>
            <a:prstDash val="solid"/>
          </a:ln>
        </p:spPr>
      </p:sp>
      <p:sp>
        <p:nvSpPr>
          <p:cNvPr id="23" name="Shape 18"/>
          <p:cNvSpPr/>
          <p:nvPr/>
        </p:nvSpPr>
        <p:spPr>
          <a:xfrm>
            <a:off x="5074920" y="4206240"/>
            <a:ext cx="502920" cy="502920"/>
          </a:xfrm>
          <a:prstGeom prst="roundRect">
            <a:avLst>
              <a:gd name="adj" fmla="val 22000"/>
            </a:avLst>
          </a:prstGeom>
          <a:solidFill>
            <a:srgbClr val="11604F"/>
          </a:solidFill>
          <a:ln w="12700">
            <a:solidFill>
              <a:srgbClr val="11604F"/>
            </a:solidFill>
            <a:prstDash val="solid"/>
          </a:ln>
        </p:spPr>
      </p:sp>
      <p:pic>
        <p:nvPicPr>
          <p:cNvPr id="24" name="Image 3" descr="preencoded.png">    </p:cNvPr>
          <p:cNvPicPr>
            <a:picLocks noChangeAspect="1"/>
          </p:cNvPicPr>
          <p:nvPr/>
        </p:nvPicPr>
        <p:blipFill>
          <a:blip r:embed="rId4"/>
          <a:stretch>
            <a:fillRect/>
          </a:stretch>
        </p:blipFill>
        <p:spPr>
          <a:xfrm>
            <a:off x="5195621" y="4326941"/>
            <a:ext cx="261518" cy="261518"/>
          </a:xfrm>
          <a:prstGeom prst="rect">
            <a:avLst/>
          </a:prstGeom>
        </p:spPr>
      </p:pic>
      <p:sp>
        <p:nvSpPr>
          <p:cNvPr id="25" name="Text 19"/>
          <p:cNvSpPr txBox="1"/>
          <p:nvPr/>
        </p:nvSpPr>
        <p:spPr>
          <a:xfrm>
            <a:off x="5760720" y="4224528"/>
            <a:ext cx="2103120" cy="457200"/>
          </a:xfrm>
          <a:prstGeom prst="rect">
            <a:avLst/>
          </a:prstGeom>
          <a:noFill/>
          <a:ln/>
        </p:spPr>
        <p:txBody>
          <a:bodyPr wrap="square" lIns="0" tIns="0" rIns="0" bIns="0" rtlCol="0" anchor="ctr"/>
          <a:lstStyle/>
          <a:p>
            <a:pPr indent="0" marL="0">
              <a:buNone/>
            </a:pPr>
            <a:r>
              <a:rPr lang="en-US" sz="1600" b="1" dirty="0">
                <a:solidFill>
                  <a:srgbClr val="1C2B28"/>
                </a:solidFill>
                <a:latin typeface="Arial" pitchFamily="34" charset="0"/>
                <a:ea typeface="Arial" pitchFamily="34" charset="-122"/>
                <a:cs typeface="Arial" pitchFamily="34" charset="-120"/>
              </a:rPr>
              <a:t>Behaviour</a:t>
            </a:r>
            <a:endParaRPr lang="en-US" sz="1600" dirty="0"/>
          </a:p>
        </p:txBody>
      </p:sp>
      <p:sp>
        <p:nvSpPr>
          <p:cNvPr id="26" name="Text 20"/>
          <p:cNvSpPr txBox="1"/>
          <p:nvPr/>
        </p:nvSpPr>
        <p:spPr>
          <a:xfrm>
            <a:off x="5074920" y="4846320"/>
            <a:ext cx="2697480" cy="914400"/>
          </a:xfrm>
          <a:prstGeom prst="rect">
            <a:avLst/>
          </a:prstGeom>
          <a:noFill/>
          <a:ln/>
        </p:spPr>
        <p:txBody>
          <a:bodyPr wrap="square" lIns="0" tIns="0" rIns="0" bIns="0" rtlCol="0" anchor="t"/>
          <a:lstStyle/>
          <a:p>
            <a:pPr indent="0" marL="0">
              <a:buNone/>
            </a:pPr>
            <a:r>
              <a:rPr lang="en-US" sz="1300" dirty="0">
                <a:solidFill>
                  <a:srgbClr val="1C2B28"/>
                </a:solidFill>
                <a:latin typeface="Calibri" pitchFamily="34" charset="0"/>
                <a:ea typeface="Calibri" pitchFamily="34" charset="-122"/>
                <a:cs typeface="Calibri" pitchFamily="34" charset="-120"/>
              </a:rPr>
              <a:t>Defaults to the most powerful tool and asks for “an agent” by default</a:t>
            </a:r>
            <a:endParaRPr lang="en-US" sz="1300" dirty="0"/>
          </a:p>
        </p:txBody>
      </p:sp>
      <p:sp>
        <p:nvSpPr>
          <p:cNvPr id="27" name="Shape 21"/>
          <p:cNvSpPr/>
          <p:nvPr/>
        </p:nvSpPr>
        <p:spPr>
          <a:xfrm>
            <a:off x="8275320" y="3931920"/>
            <a:ext cx="3200400" cy="1965960"/>
          </a:xfrm>
          <a:prstGeom prst="roundRect">
            <a:avLst>
              <a:gd name="adj" fmla="val 5581"/>
            </a:avLst>
          </a:prstGeom>
          <a:solidFill>
            <a:srgbClr val="EAF4EF"/>
          </a:solidFill>
          <a:ln w="12700">
            <a:solidFill>
              <a:srgbClr val="EAF4EF"/>
            </a:solidFill>
            <a:prstDash val="solid"/>
          </a:ln>
        </p:spPr>
      </p:sp>
      <p:sp>
        <p:nvSpPr>
          <p:cNvPr id="28" name="Shape 22"/>
          <p:cNvSpPr/>
          <p:nvPr/>
        </p:nvSpPr>
        <p:spPr>
          <a:xfrm>
            <a:off x="8549640" y="4206240"/>
            <a:ext cx="502920" cy="502920"/>
          </a:xfrm>
          <a:prstGeom prst="roundRect">
            <a:avLst>
              <a:gd name="adj" fmla="val 22000"/>
            </a:avLst>
          </a:prstGeom>
          <a:solidFill>
            <a:srgbClr val="11604F"/>
          </a:solidFill>
          <a:ln w="12700">
            <a:solidFill>
              <a:srgbClr val="11604F"/>
            </a:solidFill>
            <a:prstDash val="solid"/>
          </a:ln>
        </p:spPr>
      </p:sp>
      <p:pic>
        <p:nvPicPr>
          <p:cNvPr id="29" name="Image 4" descr="preencoded.png">    </p:cNvPr>
          <p:cNvPicPr>
            <a:picLocks noChangeAspect="1"/>
          </p:cNvPicPr>
          <p:nvPr/>
        </p:nvPicPr>
        <p:blipFill>
          <a:blip r:embed="rId5"/>
          <a:stretch>
            <a:fillRect/>
          </a:stretch>
        </p:blipFill>
        <p:spPr>
          <a:xfrm>
            <a:off x="8670341" y="4326941"/>
            <a:ext cx="261518" cy="261518"/>
          </a:xfrm>
          <a:prstGeom prst="rect">
            <a:avLst/>
          </a:prstGeom>
        </p:spPr>
      </p:pic>
      <p:sp>
        <p:nvSpPr>
          <p:cNvPr id="30" name="Text 23"/>
          <p:cNvSpPr txBox="1"/>
          <p:nvPr/>
        </p:nvSpPr>
        <p:spPr>
          <a:xfrm>
            <a:off x="9235440" y="4224528"/>
            <a:ext cx="2103120" cy="457200"/>
          </a:xfrm>
          <a:prstGeom prst="rect">
            <a:avLst/>
          </a:prstGeom>
          <a:noFill/>
          <a:ln/>
        </p:spPr>
        <p:txBody>
          <a:bodyPr wrap="square" lIns="0" tIns="0" rIns="0" bIns="0" rtlCol="0" anchor="ctr"/>
          <a:lstStyle/>
          <a:p>
            <a:pPr indent="0" marL="0">
              <a:buNone/>
            </a:pPr>
            <a:r>
              <a:rPr lang="en-US" sz="1600" b="1" dirty="0">
                <a:solidFill>
                  <a:srgbClr val="1C2B28"/>
                </a:solidFill>
                <a:latin typeface="Arial" pitchFamily="34" charset="0"/>
                <a:ea typeface="Arial" pitchFamily="34" charset="-122"/>
                <a:cs typeface="Arial" pitchFamily="34" charset="-120"/>
              </a:rPr>
              <a:t>Blind spot</a:t>
            </a:r>
            <a:endParaRPr lang="en-US" sz="1600" dirty="0"/>
          </a:p>
        </p:txBody>
      </p:sp>
      <p:sp>
        <p:nvSpPr>
          <p:cNvPr id="31" name="Text 24"/>
          <p:cNvSpPr txBox="1"/>
          <p:nvPr/>
        </p:nvSpPr>
        <p:spPr>
          <a:xfrm>
            <a:off x="8549640" y="4846320"/>
            <a:ext cx="2697480" cy="914400"/>
          </a:xfrm>
          <a:prstGeom prst="rect">
            <a:avLst/>
          </a:prstGeom>
          <a:noFill/>
          <a:ln/>
        </p:spPr>
        <p:txBody>
          <a:bodyPr wrap="square" lIns="0" tIns="0" rIns="0" bIns="0" rtlCol="0" anchor="t"/>
          <a:lstStyle/>
          <a:p>
            <a:pPr indent="0" marL="0">
              <a:buNone/>
            </a:pPr>
            <a:r>
              <a:rPr lang="en-US" sz="1300" dirty="0">
                <a:solidFill>
                  <a:srgbClr val="1C2B28"/>
                </a:solidFill>
                <a:latin typeface="Calibri" pitchFamily="34" charset="0"/>
                <a:ea typeface="Calibri" pitchFamily="34" charset="-122"/>
                <a:cs typeface="Calibri" pitchFamily="34" charset="-120"/>
              </a:rPr>
              <a:t>Never sees the compute or energy cost, and has no incentive to choose lean</a:t>
            </a:r>
            <a:endParaRPr lang="en-US" sz="1300" dirty="0"/>
          </a:p>
        </p:txBody>
      </p:sp>
      <p:sp>
        <p:nvSpPr>
          <p:cNvPr id="32" name="Text 2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03  ·  POINT OF VIEW</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Lena lacks guidance, visibility and an incentive to choose lean</a:t>
            </a:r>
            <a:endParaRPr lang="en-US" sz="3000" dirty="0"/>
          </a:p>
        </p:txBody>
      </p:sp>
      <p:sp>
        <p:nvSpPr>
          <p:cNvPr id="4" name="Shape 2"/>
          <p:cNvSpPr/>
          <p:nvPr/>
        </p:nvSpPr>
        <p:spPr>
          <a:xfrm>
            <a:off x="548640" y="1691640"/>
            <a:ext cx="11094415" cy="1508760"/>
          </a:xfrm>
          <a:prstGeom prst="roundRect">
            <a:avLst>
              <a:gd name="adj" fmla="val 7273"/>
            </a:avLst>
          </a:prstGeom>
          <a:solidFill>
            <a:srgbClr val="EAF4EF"/>
          </a:solidFill>
          <a:ln w="12700">
            <a:solidFill>
              <a:srgbClr val="EAF4EF"/>
            </a:solidFill>
            <a:prstDash val="solid"/>
          </a:ln>
        </p:spPr>
      </p:sp>
      <p:sp>
        <p:nvSpPr>
          <p:cNvPr id="5" name="Text 3"/>
          <p:cNvSpPr txBox="1"/>
          <p:nvPr/>
        </p:nvSpPr>
        <p:spPr>
          <a:xfrm>
            <a:off x="868680" y="1783080"/>
            <a:ext cx="10515600" cy="1325880"/>
          </a:xfrm>
          <a:prstGeom prst="rect">
            <a:avLst/>
          </a:prstGeom>
          <a:noFill/>
          <a:ln/>
        </p:spPr>
        <p:txBody>
          <a:bodyPr wrap="square" lIns="0" tIns="0" rIns="0" bIns="0" rtlCol="0" anchor="ctr"/>
          <a:lstStyle/>
          <a:p>
            <a:pPr indent="0" marL="0">
              <a:buNone/>
            </a:pPr>
            <a:r>
              <a:rPr lang="en-US" sz="1800" b="1" dirty="0">
                <a:solidFill>
                  <a:srgbClr val="11604F"/>
                </a:solidFill>
                <a:latin typeface="Arial" pitchFamily="34" charset="0"/>
                <a:ea typeface="Arial" pitchFamily="34" charset="-122"/>
                <a:cs typeface="Arial" pitchFamily="34" charset="-120"/>
              </a:rPr>
              <a:t>Lena </a:t>
            </a:r>
            <a:pPr indent="0" marL="0">
              <a:buNone/>
            </a:pPr>
            <a:r>
              <a:rPr lang="en-US" sz="1800" dirty="0">
                <a:solidFill>
                  <a:srgbClr val="1C2B28"/>
                </a:solidFill>
                <a:latin typeface="Arial" pitchFamily="34" charset="0"/>
                <a:ea typeface="Arial" pitchFamily="34" charset="-122"/>
                <a:cs typeface="Arial" pitchFamily="34" charset="-120"/>
              </a:rPr>
              <a:t>needs a simple way to pick the right level of automation for each task, </a:t>
            </a:r>
            <a:pPr indent="0" marL="0">
              <a:buNone/>
            </a:pPr>
            <a:r>
              <a:rPr lang="en-US" sz="1800" b="1" dirty="0">
                <a:solidFill>
                  <a:srgbClr val="11604F"/>
                </a:solidFill>
                <a:latin typeface="Arial" pitchFamily="34" charset="0"/>
                <a:ea typeface="Arial" pitchFamily="34" charset="-122"/>
                <a:cs typeface="Arial" pitchFamily="34" charset="-120"/>
              </a:rPr>
              <a:t>because </a:t>
            </a:r>
            <a:pPr indent="0" marL="0">
              <a:buNone/>
            </a:pPr>
            <a:r>
              <a:rPr lang="en-US" sz="1800" dirty="0">
                <a:solidFill>
                  <a:srgbClr val="1C2B28"/>
                </a:solidFill>
                <a:latin typeface="Arial" pitchFamily="34" charset="0"/>
                <a:ea typeface="Arial" pitchFamily="34" charset="-122"/>
                <a:cs typeface="Arial" pitchFamily="34" charset="-120"/>
              </a:rPr>
              <a:t>without guidance, visibility of the footprint and an incentive, she defaults to agents – even where a workflow delivers the same result with far less energy.</a:t>
            </a:r>
            <a:endParaRPr lang="en-US" sz="1800" dirty="0"/>
          </a:p>
        </p:txBody>
      </p:sp>
      <p:sp>
        <p:nvSpPr>
          <p:cNvPr id="6" name="Text 4"/>
          <p:cNvSpPr txBox="1"/>
          <p:nvPr/>
        </p:nvSpPr>
        <p:spPr>
          <a:xfrm>
            <a:off x="548640" y="3474720"/>
            <a:ext cx="5486400" cy="320040"/>
          </a:xfrm>
          <a:prstGeom prst="rect">
            <a:avLst/>
          </a:prstGeom>
          <a:noFill/>
          <a:ln/>
        </p:spPr>
        <p:txBody>
          <a:bodyPr wrap="square" lIns="0" tIns="0" rIns="0" bIns="0" rtlCol="0" anchor="ctr"/>
          <a:lstStyle/>
          <a:p>
            <a:pPr indent="0" marL="0">
              <a:buNone/>
            </a:pPr>
            <a:r>
              <a:rPr lang="en-US" sz="1300" b="1" spc="200" kern="0" dirty="0">
                <a:solidFill>
                  <a:srgbClr val="11604F"/>
                </a:solidFill>
                <a:latin typeface="Arial" pitchFamily="34" charset="0"/>
                <a:ea typeface="Arial" pitchFamily="34" charset="-122"/>
                <a:cs typeface="Arial" pitchFamily="34" charset="-120"/>
              </a:rPr>
              <a:t>HOW MIGHT WE …</a:t>
            </a:r>
            <a:endParaRPr lang="en-US" sz="1300" dirty="0"/>
          </a:p>
        </p:txBody>
      </p:sp>
      <p:sp>
        <p:nvSpPr>
          <p:cNvPr id="7" name="Shape 5"/>
          <p:cNvSpPr/>
          <p:nvPr/>
        </p:nvSpPr>
        <p:spPr>
          <a:xfrm>
            <a:off x="548640" y="3931920"/>
            <a:ext cx="2606040" cy="2148840"/>
          </a:xfrm>
          <a:prstGeom prst="roundRect">
            <a:avLst>
              <a:gd name="adj" fmla="val 5106"/>
            </a:avLst>
          </a:prstGeom>
          <a:solidFill>
            <a:srgbClr val="FFFFFF"/>
          </a:solidFill>
          <a:ln w="12700">
            <a:solidFill>
              <a:srgbClr val="FFFFFF"/>
            </a:solidFill>
            <a:prstDash val="solid"/>
          </a:ln>
        </p:spPr>
      </p:sp>
      <p:sp>
        <p:nvSpPr>
          <p:cNvPr id="8" name="Shape 6"/>
          <p:cNvSpPr/>
          <p:nvPr/>
        </p:nvSpPr>
        <p:spPr>
          <a:xfrm>
            <a:off x="548640" y="3931920"/>
            <a:ext cx="2606040" cy="2148840"/>
          </a:xfrm>
          <a:prstGeom prst="roundRect">
            <a:avLst>
              <a:gd name="adj" fmla="val 5106"/>
            </a:avLst>
          </a:prstGeom>
          <a:solidFill>
            <a:srgbClr val="FFFFFF"/>
          </a:solidFill>
          <a:ln w="15875">
            <a:solidFill>
              <a:srgbClr val="D5EADF"/>
            </a:solidFill>
            <a:prstDash val="solid"/>
          </a:ln>
        </p:spPr>
      </p:sp>
      <p:sp>
        <p:nvSpPr>
          <p:cNvPr id="9" name="Shape 7"/>
          <p:cNvSpPr/>
          <p:nvPr/>
        </p:nvSpPr>
        <p:spPr>
          <a:xfrm>
            <a:off x="777240" y="4160520"/>
            <a:ext cx="502920" cy="502920"/>
          </a:xfrm>
          <a:prstGeom prst="roundRect">
            <a:avLst>
              <a:gd name="adj" fmla="val 22000"/>
            </a:avLst>
          </a:prstGeom>
          <a:solidFill>
            <a:srgbClr val="11604F"/>
          </a:solidFill>
          <a:ln w="12700">
            <a:solidFill>
              <a:srgbClr val="11604F"/>
            </a:solidFill>
            <a:prstDash val="solid"/>
          </a:ln>
        </p:spPr>
      </p:sp>
      <p:pic>
        <p:nvPicPr>
          <p:cNvPr id="10" name="Image 0" descr="preencoded.png">    </p:cNvPr>
          <p:cNvPicPr>
            <a:picLocks noChangeAspect="1"/>
          </p:cNvPicPr>
          <p:nvPr/>
        </p:nvPicPr>
        <p:blipFill>
          <a:blip r:embed="rId1"/>
          <a:stretch>
            <a:fillRect/>
          </a:stretch>
        </p:blipFill>
        <p:spPr>
          <a:xfrm>
            <a:off x="897941" y="4281221"/>
            <a:ext cx="261518" cy="261518"/>
          </a:xfrm>
          <a:prstGeom prst="rect">
            <a:avLst/>
          </a:prstGeom>
        </p:spPr>
      </p:pic>
      <p:sp>
        <p:nvSpPr>
          <p:cNvPr id="11" name="Text 8"/>
          <p:cNvSpPr txBox="1"/>
          <p:nvPr/>
        </p:nvSpPr>
        <p:spPr>
          <a:xfrm>
            <a:off x="777240" y="4800600"/>
            <a:ext cx="2194560" cy="777240"/>
          </a:xfrm>
          <a:prstGeom prst="rect">
            <a:avLst/>
          </a:prstGeom>
          <a:noFill/>
          <a:ln/>
        </p:spPr>
        <p:txBody>
          <a:bodyPr wrap="square" lIns="0" tIns="0" rIns="0" bIns="0" rtlCol="0" anchor="t"/>
          <a:lstStyle/>
          <a:p>
            <a:pPr indent="0" marL="0">
              <a:buNone/>
            </a:pPr>
            <a:r>
              <a:rPr lang="en-US" sz="1400" b="1" dirty="0">
                <a:solidFill>
                  <a:srgbClr val="1C2B28"/>
                </a:solidFill>
                <a:latin typeface="Calibri" pitchFamily="34" charset="0"/>
                <a:ea typeface="Calibri" pitchFamily="34" charset="-122"/>
                <a:cs typeface="Calibri" pitchFamily="34" charset="-120"/>
              </a:rPr>
              <a:t>… help Lena pick the right automation level in minutes?</a:t>
            </a:r>
            <a:endParaRPr lang="en-US" sz="1400" dirty="0"/>
          </a:p>
        </p:txBody>
      </p:sp>
      <p:sp>
        <p:nvSpPr>
          <p:cNvPr id="12" name="Text 9"/>
          <p:cNvSpPr txBox="1"/>
          <p:nvPr/>
        </p:nvSpPr>
        <p:spPr>
          <a:xfrm>
            <a:off x="777240" y="5623560"/>
            <a:ext cx="2194560" cy="320040"/>
          </a:xfrm>
          <a:prstGeom prst="rect">
            <a:avLst/>
          </a:prstGeom>
          <a:noFill/>
          <a:ln/>
        </p:spPr>
        <p:txBody>
          <a:bodyPr wrap="square" lIns="0" tIns="0" rIns="0" bIns="0" rtlCol="0" anchor="ctr"/>
          <a:lstStyle/>
          <a:p>
            <a:pPr indent="0" marL="0">
              <a:buNone/>
            </a:pPr>
            <a:r>
              <a:rPr lang="en-US" sz="1200" dirty="0">
                <a:solidFill>
                  <a:srgbClr val="11604F"/>
                </a:solidFill>
                <a:latin typeface="Calibri" pitchFamily="34" charset="0"/>
                <a:ea typeface="Calibri" pitchFamily="34" charset="-122"/>
                <a:cs typeface="Calibri" pitchFamily="34" charset="-120"/>
              </a:rPr>
              <a:t>→ Automation ladder &amp; triage</a:t>
            </a:r>
            <a:endParaRPr lang="en-US" sz="1200" dirty="0"/>
          </a:p>
        </p:txBody>
      </p:sp>
      <p:sp>
        <p:nvSpPr>
          <p:cNvPr id="13" name="Shape 10"/>
          <p:cNvSpPr/>
          <p:nvPr/>
        </p:nvSpPr>
        <p:spPr>
          <a:xfrm>
            <a:off x="3364992" y="3931920"/>
            <a:ext cx="2606040" cy="2148840"/>
          </a:xfrm>
          <a:prstGeom prst="roundRect">
            <a:avLst>
              <a:gd name="adj" fmla="val 5106"/>
            </a:avLst>
          </a:prstGeom>
          <a:solidFill>
            <a:srgbClr val="FFFFFF"/>
          </a:solidFill>
          <a:ln w="12700">
            <a:solidFill>
              <a:srgbClr val="FFFFFF"/>
            </a:solidFill>
            <a:prstDash val="solid"/>
          </a:ln>
        </p:spPr>
      </p:sp>
      <p:sp>
        <p:nvSpPr>
          <p:cNvPr id="14" name="Shape 11"/>
          <p:cNvSpPr/>
          <p:nvPr/>
        </p:nvSpPr>
        <p:spPr>
          <a:xfrm>
            <a:off x="3364992" y="3931920"/>
            <a:ext cx="2606040" cy="2148840"/>
          </a:xfrm>
          <a:prstGeom prst="roundRect">
            <a:avLst>
              <a:gd name="adj" fmla="val 5106"/>
            </a:avLst>
          </a:prstGeom>
          <a:solidFill>
            <a:srgbClr val="FFFFFF"/>
          </a:solidFill>
          <a:ln w="15875">
            <a:solidFill>
              <a:srgbClr val="D5EADF"/>
            </a:solidFill>
            <a:prstDash val="solid"/>
          </a:ln>
        </p:spPr>
      </p:sp>
      <p:sp>
        <p:nvSpPr>
          <p:cNvPr id="15" name="Shape 12"/>
          <p:cNvSpPr/>
          <p:nvPr/>
        </p:nvSpPr>
        <p:spPr>
          <a:xfrm>
            <a:off x="3593592" y="4160520"/>
            <a:ext cx="502920" cy="502920"/>
          </a:xfrm>
          <a:prstGeom prst="roundRect">
            <a:avLst>
              <a:gd name="adj" fmla="val 22000"/>
            </a:avLst>
          </a:prstGeom>
          <a:solidFill>
            <a:srgbClr val="11604F"/>
          </a:solidFill>
          <a:ln w="12700">
            <a:solidFill>
              <a:srgbClr val="11604F"/>
            </a:solidFill>
            <a:prstDash val="solid"/>
          </a:ln>
        </p:spPr>
      </p:sp>
      <p:pic>
        <p:nvPicPr>
          <p:cNvPr id="16" name="Image 1" descr="preencoded.png">    </p:cNvPr>
          <p:cNvPicPr>
            <a:picLocks noChangeAspect="1"/>
          </p:cNvPicPr>
          <p:nvPr/>
        </p:nvPicPr>
        <p:blipFill>
          <a:blip r:embed="rId2"/>
          <a:stretch>
            <a:fillRect/>
          </a:stretch>
        </p:blipFill>
        <p:spPr>
          <a:xfrm>
            <a:off x="3714293" y="4281221"/>
            <a:ext cx="261518" cy="261518"/>
          </a:xfrm>
          <a:prstGeom prst="rect">
            <a:avLst/>
          </a:prstGeom>
        </p:spPr>
      </p:pic>
      <p:sp>
        <p:nvSpPr>
          <p:cNvPr id="17" name="Text 13"/>
          <p:cNvSpPr txBox="1"/>
          <p:nvPr/>
        </p:nvSpPr>
        <p:spPr>
          <a:xfrm>
            <a:off x="3593592" y="4800600"/>
            <a:ext cx="2194560" cy="777240"/>
          </a:xfrm>
          <a:prstGeom prst="rect">
            <a:avLst/>
          </a:prstGeom>
          <a:noFill/>
          <a:ln/>
        </p:spPr>
        <p:txBody>
          <a:bodyPr wrap="square" lIns="0" tIns="0" rIns="0" bIns="0" rtlCol="0" anchor="t"/>
          <a:lstStyle/>
          <a:p>
            <a:pPr indent="0" marL="0">
              <a:buNone/>
            </a:pPr>
            <a:r>
              <a:rPr lang="en-US" sz="1400" b="1" dirty="0">
                <a:solidFill>
                  <a:srgbClr val="1C2B28"/>
                </a:solidFill>
                <a:latin typeface="Calibri" pitchFamily="34" charset="0"/>
                <a:ea typeface="Calibri" pitchFamily="34" charset="-122"/>
                <a:cs typeface="Calibri" pitchFamily="34" charset="-120"/>
              </a:rPr>
              <a:t>… make the footprint of automation as visible as its cost?</a:t>
            </a:r>
            <a:endParaRPr lang="en-US" sz="1400" dirty="0"/>
          </a:p>
        </p:txBody>
      </p:sp>
      <p:sp>
        <p:nvSpPr>
          <p:cNvPr id="18" name="Text 14"/>
          <p:cNvSpPr txBox="1"/>
          <p:nvPr/>
        </p:nvSpPr>
        <p:spPr>
          <a:xfrm>
            <a:off x="3593592" y="5623560"/>
            <a:ext cx="2194560" cy="320040"/>
          </a:xfrm>
          <a:prstGeom prst="rect">
            <a:avLst/>
          </a:prstGeom>
          <a:noFill/>
          <a:ln/>
        </p:spPr>
        <p:txBody>
          <a:bodyPr wrap="square" lIns="0" tIns="0" rIns="0" bIns="0" rtlCol="0" anchor="ctr"/>
          <a:lstStyle/>
          <a:p>
            <a:pPr indent="0" marL="0">
              <a:buNone/>
            </a:pPr>
            <a:r>
              <a:rPr lang="en-US" sz="1200" dirty="0">
                <a:solidFill>
                  <a:srgbClr val="11604F"/>
                </a:solidFill>
                <a:latin typeface="Calibri" pitchFamily="34" charset="0"/>
                <a:ea typeface="Calibri" pitchFamily="34" charset="-122"/>
                <a:cs typeface="Calibri" pitchFamily="34" charset="-120"/>
              </a:rPr>
              <a:t>→ Measurement from logs</a:t>
            </a:r>
            <a:endParaRPr lang="en-US" sz="1200" dirty="0"/>
          </a:p>
        </p:txBody>
      </p:sp>
      <p:sp>
        <p:nvSpPr>
          <p:cNvPr id="19" name="Shape 15"/>
          <p:cNvSpPr/>
          <p:nvPr/>
        </p:nvSpPr>
        <p:spPr>
          <a:xfrm>
            <a:off x="6181344" y="3931920"/>
            <a:ext cx="2606040" cy="2148840"/>
          </a:xfrm>
          <a:prstGeom prst="roundRect">
            <a:avLst>
              <a:gd name="adj" fmla="val 5106"/>
            </a:avLst>
          </a:prstGeom>
          <a:solidFill>
            <a:srgbClr val="FFFFFF"/>
          </a:solidFill>
          <a:ln w="12700">
            <a:solidFill>
              <a:srgbClr val="FFFFFF"/>
            </a:solidFill>
            <a:prstDash val="solid"/>
          </a:ln>
        </p:spPr>
      </p:sp>
      <p:sp>
        <p:nvSpPr>
          <p:cNvPr id="20" name="Shape 16"/>
          <p:cNvSpPr/>
          <p:nvPr/>
        </p:nvSpPr>
        <p:spPr>
          <a:xfrm>
            <a:off x="6181344" y="3931920"/>
            <a:ext cx="2606040" cy="2148840"/>
          </a:xfrm>
          <a:prstGeom prst="roundRect">
            <a:avLst>
              <a:gd name="adj" fmla="val 5106"/>
            </a:avLst>
          </a:prstGeom>
          <a:solidFill>
            <a:srgbClr val="FFFFFF"/>
          </a:solidFill>
          <a:ln w="15875">
            <a:solidFill>
              <a:srgbClr val="D5EADF"/>
            </a:solidFill>
            <a:prstDash val="solid"/>
          </a:ln>
        </p:spPr>
      </p:sp>
      <p:sp>
        <p:nvSpPr>
          <p:cNvPr id="21" name="Shape 17"/>
          <p:cNvSpPr/>
          <p:nvPr/>
        </p:nvSpPr>
        <p:spPr>
          <a:xfrm>
            <a:off x="6409944" y="4160520"/>
            <a:ext cx="502920" cy="502920"/>
          </a:xfrm>
          <a:prstGeom prst="roundRect">
            <a:avLst>
              <a:gd name="adj" fmla="val 22000"/>
            </a:avLst>
          </a:prstGeom>
          <a:solidFill>
            <a:srgbClr val="11604F"/>
          </a:solidFill>
          <a:ln w="12700">
            <a:solidFill>
              <a:srgbClr val="11604F"/>
            </a:solidFill>
            <a:prstDash val="solid"/>
          </a:ln>
        </p:spPr>
      </p:sp>
      <p:pic>
        <p:nvPicPr>
          <p:cNvPr id="22" name="Image 2" descr="preencoded.png">    </p:cNvPr>
          <p:cNvPicPr>
            <a:picLocks noChangeAspect="1"/>
          </p:cNvPicPr>
          <p:nvPr/>
        </p:nvPicPr>
        <p:blipFill>
          <a:blip r:embed="rId3"/>
          <a:stretch>
            <a:fillRect/>
          </a:stretch>
        </p:blipFill>
        <p:spPr>
          <a:xfrm>
            <a:off x="6530645" y="4281221"/>
            <a:ext cx="261518" cy="261518"/>
          </a:xfrm>
          <a:prstGeom prst="rect">
            <a:avLst/>
          </a:prstGeom>
        </p:spPr>
      </p:pic>
      <p:sp>
        <p:nvSpPr>
          <p:cNvPr id="23" name="Text 18"/>
          <p:cNvSpPr txBox="1"/>
          <p:nvPr/>
        </p:nvSpPr>
        <p:spPr>
          <a:xfrm>
            <a:off x="6409944" y="4800600"/>
            <a:ext cx="2194560" cy="777240"/>
          </a:xfrm>
          <a:prstGeom prst="rect">
            <a:avLst/>
          </a:prstGeom>
          <a:noFill/>
          <a:ln/>
        </p:spPr>
        <p:txBody>
          <a:bodyPr wrap="square" lIns="0" tIns="0" rIns="0" bIns="0" rtlCol="0" anchor="t"/>
          <a:lstStyle/>
          <a:p>
            <a:pPr indent="0" marL="0">
              <a:buNone/>
            </a:pPr>
            <a:r>
              <a:rPr lang="en-US" sz="1400" b="1" dirty="0">
                <a:solidFill>
                  <a:srgbClr val="1C2B28"/>
                </a:solidFill>
                <a:latin typeface="Calibri" pitchFamily="34" charset="0"/>
                <a:ea typeface="Calibri" pitchFamily="34" charset="-122"/>
                <a:cs typeface="Calibri" pitchFamily="34" charset="-120"/>
              </a:rPr>
              <a:t>… make the lean option the easiest option?</a:t>
            </a:r>
            <a:endParaRPr lang="en-US" sz="1400" dirty="0"/>
          </a:p>
        </p:txBody>
      </p:sp>
      <p:sp>
        <p:nvSpPr>
          <p:cNvPr id="24" name="Text 19"/>
          <p:cNvSpPr txBox="1"/>
          <p:nvPr/>
        </p:nvSpPr>
        <p:spPr>
          <a:xfrm>
            <a:off x="6409944" y="5623560"/>
            <a:ext cx="2194560" cy="320040"/>
          </a:xfrm>
          <a:prstGeom prst="rect">
            <a:avLst/>
          </a:prstGeom>
          <a:noFill/>
          <a:ln/>
        </p:spPr>
        <p:txBody>
          <a:bodyPr wrap="square" lIns="0" tIns="0" rIns="0" bIns="0" rtlCol="0" anchor="ctr"/>
          <a:lstStyle/>
          <a:p>
            <a:pPr indent="0" marL="0">
              <a:buNone/>
            </a:pPr>
            <a:r>
              <a:rPr lang="en-US" sz="1200" dirty="0">
                <a:solidFill>
                  <a:srgbClr val="11604F"/>
                </a:solidFill>
                <a:latin typeface="Calibri" pitchFamily="34" charset="0"/>
                <a:ea typeface="Calibri" pitchFamily="34" charset="-122"/>
                <a:cs typeface="Calibri" pitchFamily="34" charset="-120"/>
              </a:rPr>
              <a:t>→ Efficient defaults</a:t>
            </a:r>
            <a:endParaRPr lang="en-US" sz="1200" dirty="0"/>
          </a:p>
        </p:txBody>
      </p:sp>
      <p:sp>
        <p:nvSpPr>
          <p:cNvPr id="25" name="Shape 20"/>
          <p:cNvSpPr/>
          <p:nvPr/>
        </p:nvSpPr>
        <p:spPr>
          <a:xfrm>
            <a:off x="8997696" y="3931920"/>
            <a:ext cx="2606040" cy="2148840"/>
          </a:xfrm>
          <a:prstGeom prst="roundRect">
            <a:avLst>
              <a:gd name="adj" fmla="val 5106"/>
            </a:avLst>
          </a:prstGeom>
          <a:solidFill>
            <a:srgbClr val="FFFFFF"/>
          </a:solidFill>
          <a:ln w="12700">
            <a:solidFill>
              <a:srgbClr val="FFFFFF"/>
            </a:solidFill>
            <a:prstDash val="solid"/>
          </a:ln>
        </p:spPr>
      </p:sp>
      <p:sp>
        <p:nvSpPr>
          <p:cNvPr id="26" name="Shape 21"/>
          <p:cNvSpPr/>
          <p:nvPr/>
        </p:nvSpPr>
        <p:spPr>
          <a:xfrm>
            <a:off x="8997696" y="3931920"/>
            <a:ext cx="2606040" cy="2148840"/>
          </a:xfrm>
          <a:prstGeom prst="roundRect">
            <a:avLst>
              <a:gd name="adj" fmla="val 5106"/>
            </a:avLst>
          </a:prstGeom>
          <a:solidFill>
            <a:srgbClr val="FFFFFF"/>
          </a:solidFill>
          <a:ln w="15875">
            <a:solidFill>
              <a:srgbClr val="D5EADF"/>
            </a:solidFill>
            <a:prstDash val="solid"/>
          </a:ln>
        </p:spPr>
      </p:sp>
      <p:sp>
        <p:nvSpPr>
          <p:cNvPr id="27" name="Shape 22"/>
          <p:cNvSpPr/>
          <p:nvPr/>
        </p:nvSpPr>
        <p:spPr>
          <a:xfrm>
            <a:off x="9226296" y="4160520"/>
            <a:ext cx="502920" cy="502920"/>
          </a:xfrm>
          <a:prstGeom prst="roundRect">
            <a:avLst>
              <a:gd name="adj" fmla="val 22000"/>
            </a:avLst>
          </a:prstGeom>
          <a:solidFill>
            <a:srgbClr val="11604F"/>
          </a:solidFill>
          <a:ln w="12700">
            <a:solidFill>
              <a:srgbClr val="11604F"/>
            </a:solidFill>
            <a:prstDash val="solid"/>
          </a:ln>
        </p:spPr>
      </p:sp>
      <p:pic>
        <p:nvPicPr>
          <p:cNvPr id="28" name="Image 3" descr="preencoded.png">    </p:cNvPr>
          <p:cNvPicPr>
            <a:picLocks noChangeAspect="1"/>
          </p:cNvPicPr>
          <p:nvPr/>
        </p:nvPicPr>
        <p:blipFill>
          <a:blip r:embed="rId4"/>
          <a:stretch>
            <a:fillRect/>
          </a:stretch>
        </p:blipFill>
        <p:spPr>
          <a:xfrm>
            <a:off x="9346997" y="4281221"/>
            <a:ext cx="261518" cy="261518"/>
          </a:xfrm>
          <a:prstGeom prst="rect">
            <a:avLst/>
          </a:prstGeom>
        </p:spPr>
      </p:pic>
      <p:sp>
        <p:nvSpPr>
          <p:cNvPr id="29" name="Text 23"/>
          <p:cNvSpPr txBox="1"/>
          <p:nvPr/>
        </p:nvSpPr>
        <p:spPr>
          <a:xfrm>
            <a:off x="9226296" y="4800600"/>
            <a:ext cx="2194560" cy="777240"/>
          </a:xfrm>
          <a:prstGeom prst="rect">
            <a:avLst/>
          </a:prstGeom>
          <a:noFill/>
          <a:ln/>
        </p:spPr>
        <p:txBody>
          <a:bodyPr wrap="square" lIns="0" tIns="0" rIns="0" bIns="0" rtlCol="0" anchor="t"/>
          <a:lstStyle/>
          <a:p>
            <a:pPr indent="0" marL="0">
              <a:buNone/>
            </a:pPr>
            <a:r>
              <a:rPr lang="en-US" sz="1400" b="1" dirty="0">
                <a:solidFill>
                  <a:srgbClr val="1C2B28"/>
                </a:solidFill>
                <a:latin typeface="Calibri" pitchFamily="34" charset="0"/>
                <a:ea typeface="Calibri" pitchFamily="34" charset="-122"/>
                <a:cs typeface="Calibri" pitchFamily="34" charset="-120"/>
              </a:rPr>
              <a:t>… reward lean rather than impressive automation?</a:t>
            </a:r>
            <a:endParaRPr lang="en-US" sz="1400" dirty="0"/>
          </a:p>
        </p:txBody>
      </p:sp>
      <p:sp>
        <p:nvSpPr>
          <p:cNvPr id="30" name="Text 24"/>
          <p:cNvSpPr txBox="1"/>
          <p:nvPr/>
        </p:nvSpPr>
        <p:spPr>
          <a:xfrm>
            <a:off x="9226296" y="5623560"/>
            <a:ext cx="2194560" cy="320040"/>
          </a:xfrm>
          <a:prstGeom prst="rect">
            <a:avLst/>
          </a:prstGeom>
          <a:noFill/>
          <a:ln/>
        </p:spPr>
        <p:txBody>
          <a:bodyPr wrap="square" lIns="0" tIns="0" rIns="0" bIns="0" rtlCol="0" anchor="ctr"/>
          <a:lstStyle/>
          <a:p>
            <a:pPr indent="0" marL="0">
              <a:buNone/>
            </a:pPr>
            <a:r>
              <a:rPr lang="en-US" sz="1200" dirty="0">
                <a:solidFill>
                  <a:srgbClr val="11604F"/>
                </a:solidFill>
                <a:latin typeface="Calibri" pitchFamily="34" charset="0"/>
                <a:ea typeface="Calibri" pitchFamily="34" charset="-122"/>
                <a:cs typeface="Calibri" pitchFamily="34" charset="-120"/>
              </a:rPr>
              <a:t>→ KPIs &amp; incentives</a:t>
            </a:r>
            <a:endParaRPr lang="en-US" sz="1200" dirty="0"/>
          </a:p>
        </p:txBody>
      </p:sp>
      <p:sp>
        <p:nvSpPr>
          <p:cNvPr id="31" name="Text 2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04  ·  FRAMEWORK</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The automation ladder: always use the lowest step that does the job</a:t>
            </a:r>
            <a:endParaRPr lang="en-US" sz="3000" dirty="0"/>
          </a:p>
        </p:txBody>
      </p:sp>
      <p:sp>
        <p:nvSpPr>
          <p:cNvPr id="4" name="Shape 2"/>
          <p:cNvSpPr/>
          <p:nvPr/>
        </p:nvSpPr>
        <p:spPr>
          <a:xfrm>
            <a:off x="548640" y="4297680"/>
            <a:ext cx="1755648" cy="1691640"/>
          </a:xfrm>
          <a:prstGeom prst="roundRect">
            <a:avLst>
              <a:gd name="adj" fmla="val 5405"/>
            </a:avLst>
          </a:prstGeom>
          <a:solidFill>
            <a:srgbClr val="B8E04A"/>
          </a:solidFill>
          <a:ln w="12700">
            <a:solidFill>
              <a:srgbClr val="B8E04A"/>
            </a:solidFill>
            <a:prstDash val="solid"/>
          </a:ln>
        </p:spPr>
      </p:sp>
      <p:sp>
        <p:nvSpPr>
          <p:cNvPr id="5" name="Text 3"/>
          <p:cNvSpPr txBox="1"/>
          <p:nvPr/>
        </p:nvSpPr>
        <p:spPr>
          <a:xfrm>
            <a:off x="731520" y="4434840"/>
            <a:ext cx="548640" cy="457200"/>
          </a:xfrm>
          <a:prstGeom prst="rect">
            <a:avLst/>
          </a:prstGeom>
          <a:noFill/>
          <a:ln/>
        </p:spPr>
        <p:txBody>
          <a:bodyPr wrap="square" lIns="0" tIns="0" rIns="0" bIns="0" rtlCol="0" anchor="ctr"/>
          <a:lstStyle/>
          <a:p>
            <a:pPr indent="0" marL="0">
              <a:buNone/>
            </a:pPr>
            <a:r>
              <a:rPr lang="en-US" sz="2400" b="1" dirty="0">
                <a:solidFill>
                  <a:srgbClr val="1C2B28"/>
                </a:solidFill>
                <a:latin typeface="Arial" pitchFamily="34" charset="0"/>
                <a:ea typeface="Arial" pitchFamily="34" charset="-122"/>
                <a:cs typeface="Arial" pitchFamily="34" charset="-120"/>
              </a:rPr>
              <a:t>1</a:t>
            </a:r>
            <a:endParaRPr lang="en-US" sz="2400" dirty="0"/>
          </a:p>
        </p:txBody>
      </p:sp>
      <p:sp>
        <p:nvSpPr>
          <p:cNvPr id="6" name="Text 4"/>
          <p:cNvSpPr txBox="1"/>
          <p:nvPr/>
        </p:nvSpPr>
        <p:spPr>
          <a:xfrm>
            <a:off x="731520" y="4937760"/>
            <a:ext cx="1435608" cy="457200"/>
          </a:xfrm>
          <a:prstGeom prst="rect">
            <a:avLst/>
          </a:prstGeom>
          <a:noFill/>
          <a:ln/>
        </p:spPr>
        <p:txBody>
          <a:bodyPr wrap="square" lIns="0" tIns="0" rIns="0" bIns="0" rtlCol="0" anchor="t"/>
          <a:lstStyle/>
          <a:p>
            <a:pPr indent="0" marL="0">
              <a:buNone/>
            </a:pPr>
            <a:r>
              <a:rPr lang="en-US" sz="1500" b="1" dirty="0">
                <a:solidFill>
                  <a:srgbClr val="1C2B28"/>
                </a:solidFill>
                <a:latin typeface="Arial" pitchFamily="34" charset="0"/>
                <a:ea typeface="Arial" pitchFamily="34" charset="-122"/>
                <a:cs typeface="Arial" pitchFamily="34" charset="-120"/>
              </a:rPr>
              <a:t>Rule</a:t>
            </a:r>
            <a:endParaRPr lang="en-US" sz="1500" dirty="0"/>
          </a:p>
        </p:txBody>
      </p:sp>
      <p:sp>
        <p:nvSpPr>
          <p:cNvPr id="7" name="Text 5"/>
          <p:cNvSpPr txBox="1"/>
          <p:nvPr/>
        </p:nvSpPr>
        <p:spPr>
          <a:xfrm>
            <a:off x="731520" y="5394960"/>
            <a:ext cx="1435608" cy="548640"/>
          </a:xfrm>
          <a:prstGeom prst="rect">
            <a:avLst/>
          </a:prstGeom>
          <a:noFill/>
          <a:ln/>
        </p:spPr>
        <p:txBody>
          <a:bodyPr wrap="square" lIns="0" tIns="0" rIns="0" bIns="0" rtlCol="0" anchor="t"/>
          <a:lstStyle/>
          <a:p>
            <a:pPr indent="0" marL="0">
              <a:buNone/>
            </a:pPr>
            <a:r>
              <a:rPr lang="en-US" sz="1100" dirty="0">
                <a:solidFill>
                  <a:srgbClr val="1C2B28"/>
                </a:solidFill>
                <a:latin typeface="Calibri" pitchFamily="34" charset="0"/>
                <a:ea typeface="Calibri" pitchFamily="34" charset="-122"/>
                <a:cs typeface="Calibri" pitchFamily="34" charset="-120"/>
              </a:rPr>
              <a:t>Flag invoices above the approval limit</a:t>
            </a:r>
            <a:endParaRPr lang="en-US" sz="1100" dirty="0"/>
          </a:p>
        </p:txBody>
      </p:sp>
      <p:sp>
        <p:nvSpPr>
          <p:cNvPr id="8" name="Shape 6"/>
          <p:cNvSpPr/>
          <p:nvPr/>
        </p:nvSpPr>
        <p:spPr>
          <a:xfrm>
            <a:off x="2414016" y="3840480"/>
            <a:ext cx="1755648" cy="2148840"/>
          </a:xfrm>
          <a:prstGeom prst="roundRect">
            <a:avLst>
              <a:gd name="adj" fmla="val 5208"/>
            </a:avLst>
          </a:prstGeom>
          <a:solidFill>
            <a:srgbClr val="B8E04A"/>
          </a:solidFill>
          <a:ln w="12700">
            <a:solidFill>
              <a:srgbClr val="B8E04A"/>
            </a:solidFill>
            <a:prstDash val="solid"/>
          </a:ln>
        </p:spPr>
      </p:sp>
      <p:sp>
        <p:nvSpPr>
          <p:cNvPr id="9" name="Text 7"/>
          <p:cNvSpPr txBox="1"/>
          <p:nvPr/>
        </p:nvSpPr>
        <p:spPr>
          <a:xfrm>
            <a:off x="2596896" y="3977640"/>
            <a:ext cx="548640" cy="457200"/>
          </a:xfrm>
          <a:prstGeom prst="rect">
            <a:avLst/>
          </a:prstGeom>
          <a:noFill/>
          <a:ln/>
        </p:spPr>
        <p:txBody>
          <a:bodyPr wrap="square" lIns="0" tIns="0" rIns="0" bIns="0" rtlCol="0" anchor="ctr"/>
          <a:lstStyle/>
          <a:p>
            <a:pPr indent="0" marL="0">
              <a:buNone/>
            </a:pPr>
            <a:r>
              <a:rPr lang="en-US" sz="2400" b="1" dirty="0">
                <a:solidFill>
                  <a:srgbClr val="1C2B28"/>
                </a:solidFill>
                <a:latin typeface="Arial" pitchFamily="34" charset="0"/>
                <a:ea typeface="Arial" pitchFamily="34" charset="-122"/>
                <a:cs typeface="Arial" pitchFamily="34" charset="-120"/>
              </a:rPr>
              <a:t>2</a:t>
            </a:r>
            <a:endParaRPr lang="en-US" sz="2400" dirty="0"/>
          </a:p>
        </p:txBody>
      </p:sp>
      <p:sp>
        <p:nvSpPr>
          <p:cNvPr id="10" name="Text 8"/>
          <p:cNvSpPr txBox="1"/>
          <p:nvPr/>
        </p:nvSpPr>
        <p:spPr>
          <a:xfrm>
            <a:off x="2596896" y="4480560"/>
            <a:ext cx="1435608" cy="457200"/>
          </a:xfrm>
          <a:prstGeom prst="rect">
            <a:avLst/>
          </a:prstGeom>
          <a:noFill/>
          <a:ln/>
        </p:spPr>
        <p:txBody>
          <a:bodyPr wrap="square" lIns="0" tIns="0" rIns="0" bIns="0" rtlCol="0" anchor="t"/>
          <a:lstStyle/>
          <a:p>
            <a:pPr indent="0" marL="0">
              <a:buNone/>
            </a:pPr>
            <a:r>
              <a:rPr lang="en-US" sz="1500" b="1" dirty="0">
                <a:solidFill>
                  <a:srgbClr val="1C2B28"/>
                </a:solidFill>
                <a:latin typeface="Arial" pitchFamily="34" charset="0"/>
                <a:ea typeface="Arial" pitchFamily="34" charset="-122"/>
                <a:cs typeface="Arial" pitchFamily="34" charset="-120"/>
              </a:rPr>
              <a:t>Workflow</a:t>
            </a:r>
            <a:endParaRPr lang="en-US" sz="1500" dirty="0"/>
          </a:p>
        </p:txBody>
      </p:sp>
      <p:sp>
        <p:nvSpPr>
          <p:cNvPr id="11" name="Text 9"/>
          <p:cNvSpPr txBox="1"/>
          <p:nvPr/>
        </p:nvSpPr>
        <p:spPr>
          <a:xfrm>
            <a:off x="2596896" y="4937760"/>
            <a:ext cx="1435608" cy="548640"/>
          </a:xfrm>
          <a:prstGeom prst="rect">
            <a:avLst/>
          </a:prstGeom>
          <a:noFill/>
          <a:ln/>
        </p:spPr>
        <p:txBody>
          <a:bodyPr wrap="square" lIns="0" tIns="0" rIns="0" bIns="0" rtlCol="0" anchor="t"/>
          <a:lstStyle/>
          <a:p>
            <a:pPr indent="0" marL="0">
              <a:buNone/>
            </a:pPr>
            <a:r>
              <a:rPr lang="en-US" sz="1100" dirty="0">
                <a:solidFill>
                  <a:srgbClr val="1C2B28"/>
                </a:solidFill>
                <a:latin typeface="Calibri" pitchFamily="34" charset="0"/>
                <a:ea typeface="Calibri" pitchFamily="34" charset="-122"/>
                <a:cs typeface="Calibri" pitchFamily="34" charset="-120"/>
              </a:rPr>
              <a:t>Route each invoice to the right approver</a:t>
            </a:r>
            <a:endParaRPr lang="en-US" sz="1100" dirty="0"/>
          </a:p>
        </p:txBody>
      </p:sp>
      <p:sp>
        <p:nvSpPr>
          <p:cNvPr id="12" name="Shape 10"/>
          <p:cNvSpPr/>
          <p:nvPr/>
        </p:nvSpPr>
        <p:spPr>
          <a:xfrm>
            <a:off x="4279392" y="3383280"/>
            <a:ext cx="1755648" cy="2606040"/>
          </a:xfrm>
          <a:prstGeom prst="roundRect">
            <a:avLst>
              <a:gd name="adj" fmla="val 5208"/>
            </a:avLst>
          </a:prstGeom>
          <a:solidFill>
            <a:srgbClr val="D5EADF"/>
          </a:solidFill>
          <a:ln w="12700">
            <a:solidFill>
              <a:srgbClr val="D5EADF"/>
            </a:solidFill>
            <a:prstDash val="solid"/>
          </a:ln>
        </p:spPr>
      </p:sp>
      <p:sp>
        <p:nvSpPr>
          <p:cNvPr id="13" name="Text 11"/>
          <p:cNvSpPr txBox="1"/>
          <p:nvPr/>
        </p:nvSpPr>
        <p:spPr>
          <a:xfrm>
            <a:off x="4462272" y="3520440"/>
            <a:ext cx="548640" cy="457200"/>
          </a:xfrm>
          <a:prstGeom prst="rect">
            <a:avLst/>
          </a:prstGeom>
          <a:noFill/>
          <a:ln/>
        </p:spPr>
        <p:txBody>
          <a:bodyPr wrap="square" lIns="0" tIns="0" rIns="0" bIns="0" rtlCol="0" anchor="ctr"/>
          <a:lstStyle/>
          <a:p>
            <a:pPr indent="0" marL="0">
              <a:buNone/>
            </a:pPr>
            <a:r>
              <a:rPr lang="en-US" sz="2400" b="1" dirty="0">
                <a:solidFill>
                  <a:srgbClr val="1C2B28"/>
                </a:solidFill>
                <a:latin typeface="Arial" pitchFamily="34" charset="0"/>
                <a:ea typeface="Arial" pitchFamily="34" charset="-122"/>
                <a:cs typeface="Arial" pitchFamily="34" charset="-120"/>
              </a:rPr>
              <a:t>3</a:t>
            </a:r>
            <a:endParaRPr lang="en-US" sz="2400" dirty="0"/>
          </a:p>
        </p:txBody>
      </p:sp>
      <p:sp>
        <p:nvSpPr>
          <p:cNvPr id="14" name="Text 12"/>
          <p:cNvSpPr txBox="1"/>
          <p:nvPr/>
        </p:nvSpPr>
        <p:spPr>
          <a:xfrm>
            <a:off x="4462272" y="4023360"/>
            <a:ext cx="1435608" cy="457200"/>
          </a:xfrm>
          <a:prstGeom prst="rect">
            <a:avLst/>
          </a:prstGeom>
          <a:noFill/>
          <a:ln/>
        </p:spPr>
        <p:txBody>
          <a:bodyPr wrap="square" lIns="0" tIns="0" rIns="0" bIns="0" rtlCol="0" anchor="t"/>
          <a:lstStyle/>
          <a:p>
            <a:pPr indent="0" marL="0">
              <a:buNone/>
            </a:pPr>
            <a:r>
              <a:rPr lang="en-US" sz="1500" b="1" dirty="0">
                <a:solidFill>
                  <a:srgbClr val="1C2B28"/>
                </a:solidFill>
                <a:latin typeface="Arial" pitchFamily="34" charset="0"/>
                <a:ea typeface="Arial" pitchFamily="34" charset="-122"/>
                <a:cs typeface="Arial" pitchFamily="34" charset="-120"/>
              </a:rPr>
              <a:t>Classic ML</a:t>
            </a:r>
            <a:endParaRPr lang="en-US" sz="1500" dirty="0"/>
          </a:p>
        </p:txBody>
      </p:sp>
      <p:sp>
        <p:nvSpPr>
          <p:cNvPr id="15" name="Text 13"/>
          <p:cNvSpPr txBox="1"/>
          <p:nvPr/>
        </p:nvSpPr>
        <p:spPr>
          <a:xfrm>
            <a:off x="4462272" y="4480560"/>
            <a:ext cx="1435608" cy="548640"/>
          </a:xfrm>
          <a:prstGeom prst="rect">
            <a:avLst/>
          </a:prstGeom>
          <a:noFill/>
          <a:ln/>
        </p:spPr>
        <p:txBody>
          <a:bodyPr wrap="square" lIns="0" tIns="0" rIns="0" bIns="0" rtlCol="0" anchor="t"/>
          <a:lstStyle/>
          <a:p>
            <a:pPr indent="0" marL="0">
              <a:buNone/>
            </a:pPr>
            <a:r>
              <a:rPr lang="en-US" sz="1100" dirty="0">
                <a:solidFill>
                  <a:srgbClr val="1C2B28"/>
                </a:solidFill>
                <a:latin typeface="Calibri" pitchFamily="34" charset="0"/>
                <a:ea typeface="Calibri" pitchFamily="34" charset="-122"/>
                <a:cs typeface="Calibri" pitchFamily="34" charset="-120"/>
              </a:rPr>
              <a:t>Detect duplicate or unusual invoices</a:t>
            </a:r>
            <a:endParaRPr lang="en-US" sz="1100" dirty="0"/>
          </a:p>
        </p:txBody>
      </p:sp>
      <p:sp>
        <p:nvSpPr>
          <p:cNvPr id="16" name="Shape 14"/>
          <p:cNvSpPr/>
          <p:nvPr/>
        </p:nvSpPr>
        <p:spPr>
          <a:xfrm>
            <a:off x="6144768" y="2926080"/>
            <a:ext cx="1755648" cy="3063240"/>
          </a:xfrm>
          <a:prstGeom prst="roundRect">
            <a:avLst>
              <a:gd name="adj" fmla="val 5208"/>
            </a:avLst>
          </a:prstGeom>
          <a:solidFill>
            <a:srgbClr val="D5EADF"/>
          </a:solidFill>
          <a:ln w="12700">
            <a:solidFill>
              <a:srgbClr val="D5EADF"/>
            </a:solidFill>
            <a:prstDash val="solid"/>
          </a:ln>
        </p:spPr>
      </p:sp>
      <p:sp>
        <p:nvSpPr>
          <p:cNvPr id="17" name="Text 15"/>
          <p:cNvSpPr txBox="1"/>
          <p:nvPr/>
        </p:nvSpPr>
        <p:spPr>
          <a:xfrm>
            <a:off x="6327648" y="3063240"/>
            <a:ext cx="548640" cy="457200"/>
          </a:xfrm>
          <a:prstGeom prst="rect">
            <a:avLst/>
          </a:prstGeom>
          <a:noFill/>
          <a:ln/>
        </p:spPr>
        <p:txBody>
          <a:bodyPr wrap="square" lIns="0" tIns="0" rIns="0" bIns="0" rtlCol="0" anchor="ctr"/>
          <a:lstStyle/>
          <a:p>
            <a:pPr indent="0" marL="0">
              <a:buNone/>
            </a:pPr>
            <a:r>
              <a:rPr lang="en-US" sz="2400" b="1" dirty="0">
                <a:solidFill>
                  <a:srgbClr val="1C2B28"/>
                </a:solidFill>
                <a:latin typeface="Arial" pitchFamily="34" charset="0"/>
                <a:ea typeface="Arial" pitchFamily="34" charset="-122"/>
                <a:cs typeface="Arial" pitchFamily="34" charset="-120"/>
              </a:rPr>
              <a:t>4</a:t>
            </a:r>
            <a:endParaRPr lang="en-US" sz="2400" dirty="0"/>
          </a:p>
        </p:txBody>
      </p:sp>
      <p:sp>
        <p:nvSpPr>
          <p:cNvPr id="18" name="Text 16"/>
          <p:cNvSpPr txBox="1"/>
          <p:nvPr/>
        </p:nvSpPr>
        <p:spPr>
          <a:xfrm>
            <a:off x="6327648" y="3566160"/>
            <a:ext cx="1435608" cy="457200"/>
          </a:xfrm>
          <a:prstGeom prst="rect">
            <a:avLst/>
          </a:prstGeom>
          <a:noFill/>
          <a:ln/>
        </p:spPr>
        <p:txBody>
          <a:bodyPr wrap="square" lIns="0" tIns="0" rIns="0" bIns="0" rtlCol="0" anchor="t"/>
          <a:lstStyle/>
          <a:p>
            <a:pPr indent="0" marL="0">
              <a:buNone/>
            </a:pPr>
            <a:r>
              <a:rPr lang="en-US" sz="1500" b="1" dirty="0">
                <a:solidFill>
                  <a:srgbClr val="1C2B28"/>
                </a:solidFill>
                <a:latin typeface="Arial" pitchFamily="34" charset="0"/>
                <a:ea typeface="Arial" pitchFamily="34" charset="-122"/>
                <a:cs typeface="Arial" pitchFamily="34" charset="-120"/>
              </a:rPr>
              <a:t>GenAI call</a:t>
            </a:r>
            <a:endParaRPr lang="en-US" sz="1500" dirty="0"/>
          </a:p>
        </p:txBody>
      </p:sp>
      <p:sp>
        <p:nvSpPr>
          <p:cNvPr id="19" name="Text 17"/>
          <p:cNvSpPr txBox="1"/>
          <p:nvPr/>
        </p:nvSpPr>
        <p:spPr>
          <a:xfrm>
            <a:off x="6327648" y="4023360"/>
            <a:ext cx="1435608" cy="548640"/>
          </a:xfrm>
          <a:prstGeom prst="rect">
            <a:avLst/>
          </a:prstGeom>
          <a:noFill/>
          <a:ln/>
        </p:spPr>
        <p:txBody>
          <a:bodyPr wrap="square" lIns="0" tIns="0" rIns="0" bIns="0" rtlCol="0" anchor="t"/>
          <a:lstStyle/>
          <a:p>
            <a:pPr indent="0" marL="0">
              <a:buNone/>
            </a:pPr>
            <a:r>
              <a:rPr lang="en-US" sz="1100" dirty="0">
                <a:solidFill>
                  <a:srgbClr val="1C2B28"/>
                </a:solidFill>
                <a:latin typeface="Calibri" pitchFamily="34" charset="0"/>
                <a:ea typeface="Calibri" pitchFamily="34" charset="-122"/>
                <a:cs typeface="Calibri" pitchFamily="34" charset="-120"/>
              </a:rPr>
              <a:t>Extract data from a free-text invoice email</a:t>
            </a:r>
            <a:endParaRPr lang="en-US" sz="1100" dirty="0"/>
          </a:p>
        </p:txBody>
      </p:sp>
      <p:sp>
        <p:nvSpPr>
          <p:cNvPr id="20" name="Shape 18"/>
          <p:cNvSpPr/>
          <p:nvPr/>
        </p:nvSpPr>
        <p:spPr>
          <a:xfrm>
            <a:off x="8010144" y="2468880"/>
            <a:ext cx="1755648" cy="3520440"/>
          </a:xfrm>
          <a:prstGeom prst="roundRect">
            <a:avLst>
              <a:gd name="adj" fmla="val 5208"/>
            </a:avLst>
          </a:prstGeom>
          <a:solidFill>
            <a:srgbClr val="11604F"/>
          </a:solidFill>
          <a:ln w="12700">
            <a:solidFill>
              <a:srgbClr val="11604F"/>
            </a:solidFill>
            <a:prstDash val="solid"/>
          </a:ln>
        </p:spPr>
      </p:sp>
      <p:sp>
        <p:nvSpPr>
          <p:cNvPr id="21" name="Text 19"/>
          <p:cNvSpPr txBox="1"/>
          <p:nvPr/>
        </p:nvSpPr>
        <p:spPr>
          <a:xfrm>
            <a:off x="8193024" y="2606040"/>
            <a:ext cx="54864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22" name="Text 20"/>
          <p:cNvSpPr txBox="1"/>
          <p:nvPr/>
        </p:nvSpPr>
        <p:spPr>
          <a:xfrm>
            <a:off x="8193024" y="3108960"/>
            <a:ext cx="1435608" cy="4572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Agent</a:t>
            </a:r>
            <a:endParaRPr lang="en-US" sz="1500" dirty="0"/>
          </a:p>
        </p:txBody>
      </p:sp>
      <p:sp>
        <p:nvSpPr>
          <p:cNvPr id="23" name="Text 21"/>
          <p:cNvSpPr txBox="1"/>
          <p:nvPr/>
        </p:nvSpPr>
        <p:spPr>
          <a:xfrm>
            <a:off x="8193024" y="3566160"/>
            <a:ext cx="1435608" cy="5486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Resolve a price mismatch across PO, contract and supplier emails</a:t>
            </a:r>
            <a:endParaRPr lang="en-US" sz="1100" dirty="0"/>
          </a:p>
        </p:txBody>
      </p:sp>
      <p:sp>
        <p:nvSpPr>
          <p:cNvPr id="24" name="Shape 22"/>
          <p:cNvSpPr/>
          <p:nvPr/>
        </p:nvSpPr>
        <p:spPr>
          <a:xfrm>
            <a:off x="9875520" y="2011680"/>
            <a:ext cx="1755648" cy="3977640"/>
          </a:xfrm>
          <a:prstGeom prst="roundRect">
            <a:avLst>
              <a:gd name="adj" fmla="val 5208"/>
            </a:avLst>
          </a:prstGeom>
          <a:solidFill>
            <a:srgbClr val="11604F"/>
          </a:solidFill>
          <a:ln w="12700">
            <a:solidFill>
              <a:srgbClr val="11604F"/>
            </a:solidFill>
            <a:prstDash val="solid"/>
          </a:ln>
        </p:spPr>
      </p:sp>
      <p:sp>
        <p:nvSpPr>
          <p:cNvPr id="25" name="Text 23"/>
          <p:cNvSpPr txBox="1"/>
          <p:nvPr/>
        </p:nvSpPr>
        <p:spPr>
          <a:xfrm>
            <a:off x="10058400" y="2148840"/>
            <a:ext cx="54864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26" name="Text 24"/>
          <p:cNvSpPr txBox="1"/>
          <p:nvPr/>
        </p:nvSpPr>
        <p:spPr>
          <a:xfrm>
            <a:off x="10058400" y="2651760"/>
            <a:ext cx="1435608" cy="4572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Multi-agent</a:t>
            </a:r>
            <a:endParaRPr lang="en-US" sz="1500" dirty="0"/>
          </a:p>
        </p:txBody>
      </p:sp>
      <p:sp>
        <p:nvSpPr>
          <p:cNvPr id="27" name="Text 25"/>
          <p:cNvSpPr txBox="1"/>
          <p:nvPr/>
        </p:nvSpPr>
        <p:spPr>
          <a:xfrm>
            <a:off x="10058400" y="3108960"/>
            <a:ext cx="1435608" cy="5486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Handle an end-to-end supplier dispute incl. negotiation</a:t>
            </a:r>
            <a:endParaRPr lang="en-US" sz="1100" dirty="0"/>
          </a:p>
        </p:txBody>
      </p:sp>
      <p:sp>
        <p:nvSpPr>
          <p:cNvPr id="28" name="Shape 26"/>
          <p:cNvSpPr/>
          <p:nvPr/>
        </p:nvSpPr>
        <p:spPr>
          <a:xfrm>
            <a:off x="548640" y="1783080"/>
            <a:ext cx="3840480" cy="0"/>
          </a:xfrm>
          <a:prstGeom prst="line">
            <a:avLst/>
          </a:prstGeom>
          <a:noFill/>
          <a:ln w="25400">
            <a:solidFill>
              <a:srgbClr val="E07A3F"/>
            </a:solidFill>
            <a:prstDash val="solid"/>
            <a:tailEnd type="triangle"/>
          </a:ln>
        </p:spPr>
      </p:sp>
      <p:sp>
        <p:nvSpPr>
          <p:cNvPr id="29" name="Text 27"/>
          <p:cNvSpPr txBox="1"/>
          <p:nvPr/>
        </p:nvSpPr>
        <p:spPr>
          <a:xfrm>
            <a:off x="548640" y="1874520"/>
            <a:ext cx="4572000" cy="320040"/>
          </a:xfrm>
          <a:prstGeom prst="rect">
            <a:avLst/>
          </a:prstGeom>
          <a:noFill/>
          <a:ln/>
        </p:spPr>
        <p:txBody>
          <a:bodyPr wrap="square" lIns="0" tIns="0" rIns="0" bIns="0" rtlCol="0" anchor="ctr"/>
          <a:lstStyle/>
          <a:p>
            <a:pPr indent="0" marL="0">
              <a:buNone/>
            </a:pPr>
            <a:r>
              <a:rPr lang="en-US" sz="1300" i="1" dirty="0">
                <a:solidFill>
                  <a:srgbClr val="E07A3F"/>
                </a:solidFill>
                <a:latin typeface="Calibri" pitchFamily="34" charset="0"/>
                <a:ea typeface="Calibri" pitchFamily="34" charset="-122"/>
                <a:cs typeface="Calibri" pitchFamily="34" charset="-120"/>
              </a:rPr>
              <a:t>Compute &amp; energy need rise with every step</a:t>
            </a:r>
            <a:endParaRPr lang="en-US" sz="1300" dirty="0"/>
          </a:p>
        </p:txBody>
      </p:sp>
      <p:sp>
        <p:nvSpPr>
          <p:cNvPr id="30" name="Text 28"/>
          <p:cNvSpPr txBox="1"/>
          <p:nvPr/>
        </p:nvSpPr>
        <p:spPr>
          <a:xfrm>
            <a:off x="548640" y="2240280"/>
            <a:ext cx="4572000" cy="320040"/>
          </a:xfrm>
          <a:prstGeom prst="rect">
            <a:avLst/>
          </a:prstGeom>
          <a:noFill/>
          <a:ln/>
        </p:spPr>
        <p:txBody>
          <a:bodyPr wrap="square" lIns="0" tIns="0" rIns="0" bIns="0" rtlCol="0" anchor="ctr"/>
          <a:lstStyle/>
          <a:p>
            <a:pPr indent="0" marL="0">
              <a:buNone/>
            </a:pPr>
            <a:r>
              <a:rPr lang="en-US" sz="1300" dirty="0">
                <a:solidFill>
                  <a:srgbClr val="5E6E6A"/>
                </a:solidFill>
                <a:latin typeface="Calibri" pitchFamily="34" charset="0"/>
                <a:ea typeface="Calibri" pitchFamily="34" charset="-122"/>
                <a:cs typeface="Calibri" pitchFamily="34" charset="-120"/>
              </a:rPr>
              <a:t>Example: Lena’s invoice process</a:t>
            </a:r>
            <a:endParaRPr lang="en-US" sz="1300" dirty="0"/>
          </a:p>
        </p:txBody>
      </p:sp>
      <p:sp>
        <p:nvSpPr>
          <p:cNvPr id="31" name="Text 29"/>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05  ·  SOLUTION</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We meet Lena at every step of her automation journey</a:t>
            </a:r>
            <a:endParaRPr lang="en-US" sz="3000" dirty="0"/>
          </a:p>
        </p:txBody>
      </p:sp>
      <p:sp>
        <p:nvSpPr>
          <p:cNvPr id="4" name="Shape 2"/>
          <p:cNvSpPr/>
          <p:nvPr/>
        </p:nvSpPr>
        <p:spPr>
          <a:xfrm>
            <a:off x="548640" y="1737360"/>
            <a:ext cx="2240280" cy="685800"/>
          </a:xfrm>
          <a:prstGeom prst="chevron">
            <a:avLst/>
          </a:prstGeom>
          <a:solidFill>
            <a:srgbClr val="11604F"/>
          </a:solidFill>
          <a:ln w="12700">
            <a:solidFill>
              <a:srgbClr val="FFFFFF"/>
            </a:solidFill>
            <a:prstDash val="solid"/>
          </a:ln>
        </p:spPr>
      </p:sp>
      <p:sp>
        <p:nvSpPr>
          <p:cNvPr id="5" name="Text 3"/>
          <p:cNvSpPr txBox="1"/>
          <p:nvPr/>
        </p:nvSpPr>
        <p:spPr>
          <a:xfrm>
            <a:off x="868680" y="1737360"/>
            <a:ext cx="173736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Idea</a:t>
            </a:r>
            <a:endParaRPr lang="en-US" sz="1600" dirty="0"/>
          </a:p>
        </p:txBody>
      </p:sp>
      <p:sp>
        <p:nvSpPr>
          <p:cNvPr id="6" name="Text 4"/>
          <p:cNvSpPr txBox="1"/>
          <p:nvPr/>
        </p:nvSpPr>
        <p:spPr>
          <a:xfrm>
            <a:off x="548640" y="2697480"/>
            <a:ext cx="2103120" cy="274320"/>
          </a:xfrm>
          <a:prstGeom prst="rect">
            <a:avLst/>
          </a:prstGeom>
          <a:noFill/>
          <a:ln/>
        </p:spPr>
        <p:txBody>
          <a:bodyPr wrap="square" lIns="0" tIns="0" rIns="0" bIns="0" rtlCol="0" anchor="ctr"/>
          <a:lstStyle/>
          <a:p>
            <a:pPr indent="0" marL="0">
              <a:buNone/>
            </a:pPr>
            <a:r>
              <a:rPr lang="en-US" sz="1000" b="1" spc="200" kern="0" dirty="0">
                <a:solidFill>
                  <a:srgbClr val="5E6E6A"/>
                </a:solidFill>
                <a:latin typeface="Arial" pitchFamily="34" charset="0"/>
                <a:ea typeface="Arial" pitchFamily="34" charset="-122"/>
                <a:cs typeface="Arial" pitchFamily="34" charset="-120"/>
              </a:rPr>
              <a:t>LENA</a:t>
            </a:r>
            <a:endParaRPr lang="en-US" sz="1000" dirty="0"/>
          </a:p>
        </p:txBody>
      </p:sp>
      <p:sp>
        <p:nvSpPr>
          <p:cNvPr id="7" name="Text 5"/>
          <p:cNvSpPr txBox="1"/>
          <p:nvPr/>
        </p:nvSpPr>
        <p:spPr>
          <a:xfrm>
            <a:off x="548640" y="2971800"/>
            <a:ext cx="2011680" cy="685800"/>
          </a:xfrm>
          <a:prstGeom prst="rect">
            <a:avLst/>
          </a:prstGeom>
          <a:noFill/>
          <a:ln/>
        </p:spPr>
        <p:txBody>
          <a:bodyPr wrap="square" lIns="0" tIns="0" rIns="0" bIns="0" rtlCol="0" anchor="t"/>
          <a:lstStyle/>
          <a:p>
            <a:pPr indent="0" marL="0">
              <a:buNone/>
            </a:pPr>
            <a:r>
              <a:rPr lang="en-US" sz="1400" i="1" dirty="0">
                <a:solidFill>
                  <a:srgbClr val="1C2B28"/>
                </a:solidFill>
                <a:latin typeface="Calibri" pitchFamily="34" charset="0"/>
                <a:ea typeface="Calibri" pitchFamily="34" charset="-122"/>
                <a:cs typeface="Calibri" pitchFamily="34" charset="-120"/>
              </a:rPr>
              <a:t>“Let’s automate invoice checks”</a:t>
            </a:r>
            <a:endParaRPr lang="en-US" sz="1400" dirty="0"/>
          </a:p>
        </p:txBody>
      </p:sp>
      <p:sp>
        <p:nvSpPr>
          <p:cNvPr id="8" name="Shape 6"/>
          <p:cNvSpPr/>
          <p:nvPr/>
        </p:nvSpPr>
        <p:spPr>
          <a:xfrm>
            <a:off x="548640" y="3840480"/>
            <a:ext cx="2103120" cy="2194560"/>
          </a:xfrm>
          <a:prstGeom prst="roundRect">
            <a:avLst>
              <a:gd name="adj" fmla="val 5217"/>
            </a:avLst>
          </a:prstGeom>
          <a:solidFill>
            <a:srgbClr val="EAF4EF"/>
          </a:solidFill>
          <a:ln w="12700">
            <a:solidFill>
              <a:srgbClr val="EAF4EF"/>
            </a:solidFill>
            <a:prstDash val="solid"/>
          </a:ln>
        </p:spPr>
      </p:sp>
      <p:sp>
        <p:nvSpPr>
          <p:cNvPr id="9" name="Shape 7"/>
          <p:cNvSpPr/>
          <p:nvPr/>
        </p:nvSpPr>
        <p:spPr>
          <a:xfrm>
            <a:off x="777240" y="4069080"/>
            <a:ext cx="502920" cy="502920"/>
          </a:xfrm>
          <a:prstGeom prst="roundRect">
            <a:avLst>
              <a:gd name="adj" fmla="val 22000"/>
            </a:avLst>
          </a:prstGeom>
          <a:solidFill>
            <a:srgbClr val="11604F"/>
          </a:solidFill>
          <a:ln w="12700">
            <a:solidFill>
              <a:srgbClr val="11604F"/>
            </a:solidFill>
            <a:prstDash val="solid"/>
          </a:ln>
        </p:spPr>
      </p:sp>
      <p:pic>
        <p:nvPicPr>
          <p:cNvPr id="10" name="Image 0" descr="preencoded.png">    </p:cNvPr>
          <p:cNvPicPr>
            <a:picLocks noChangeAspect="1"/>
          </p:cNvPicPr>
          <p:nvPr/>
        </p:nvPicPr>
        <p:blipFill>
          <a:blip r:embed="rId1"/>
          <a:stretch>
            <a:fillRect/>
          </a:stretch>
        </p:blipFill>
        <p:spPr>
          <a:xfrm>
            <a:off x="897941" y="4189781"/>
            <a:ext cx="261518" cy="261518"/>
          </a:xfrm>
          <a:prstGeom prst="rect">
            <a:avLst/>
          </a:prstGeom>
        </p:spPr>
      </p:pic>
      <p:sp>
        <p:nvSpPr>
          <p:cNvPr id="11" name="Text 8"/>
          <p:cNvSpPr txBox="1"/>
          <p:nvPr/>
        </p:nvSpPr>
        <p:spPr>
          <a:xfrm>
            <a:off x="777240" y="4709160"/>
            <a:ext cx="1737360" cy="274320"/>
          </a:xfrm>
          <a:prstGeom prst="rect">
            <a:avLst/>
          </a:prstGeom>
          <a:noFill/>
          <a:ln/>
        </p:spPr>
        <p:txBody>
          <a:bodyPr wrap="square" lIns="0" tIns="0" rIns="0" bIns="0" rtlCol="0" anchor="ctr"/>
          <a:lstStyle/>
          <a:p>
            <a:pPr indent="0" marL="0">
              <a:buNone/>
            </a:pPr>
            <a:r>
              <a:rPr lang="en-US" sz="1000" b="1" spc="200" kern="0" dirty="0">
                <a:solidFill>
                  <a:srgbClr val="11604F"/>
                </a:solidFill>
                <a:latin typeface="Arial" pitchFamily="34" charset="0"/>
                <a:ea typeface="Arial" pitchFamily="34" charset="-122"/>
                <a:cs typeface="Arial" pitchFamily="34" charset="-120"/>
              </a:rPr>
              <a:t>OUR SOLUTION</a:t>
            </a:r>
            <a:endParaRPr lang="en-US" sz="1000" dirty="0"/>
          </a:p>
        </p:txBody>
      </p:sp>
      <p:sp>
        <p:nvSpPr>
          <p:cNvPr id="12" name="Text 9"/>
          <p:cNvSpPr txBox="1"/>
          <p:nvPr/>
        </p:nvSpPr>
        <p:spPr>
          <a:xfrm>
            <a:off x="777240" y="4983480"/>
            <a:ext cx="1691640" cy="960120"/>
          </a:xfrm>
          <a:prstGeom prst="rect">
            <a:avLst/>
          </a:prstGeom>
          <a:noFill/>
          <a:ln/>
        </p:spPr>
        <p:txBody>
          <a:bodyPr wrap="square" lIns="0" tIns="0" rIns="0" bIns="0" rtlCol="0" anchor="t"/>
          <a:lstStyle/>
          <a:p>
            <a:pPr indent="0" marL="0">
              <a:buNone/>
            </a:pPr>
            <a:r>
              <a:rPr lang="en-US" sz="1300" b="1" dirty="0">
                <a:solidFill>
                  <a:srgbClr val="1C2B28"/>
                </a:solidFill>
                <a:latin typeface="Calibri" pitchFamily="34" charset="0"/>
                <a:ea typeface="Calibri" pitchFamily="34" charset="-122"/>
                <a:cs typeface="Calibri" pitchFamily="34" charset="-120"/>
              </a:rPr>
              <a:t>Training: Lena knows the automation ladder</a:t>
            </a:r>
            <a:endParaRPr lang="en-US" sz="1300" dirty="0"/>
          </a:p>
        </p:txBody>
      </p:sp>
      <p:sp>
        <p:nvSpPr>
          <p:cNvPr id="13" name="Shape 10"/>
          <p:cNvSpPr/>
          <p:nvPr/>
        </p:nvSpPr>
        <p:spPr>
          <a:xfrm>
            <a:off x="2796235" y="1737360"/>
            <a:ext cx="2240280" cy="685800"/>
          </a:xfrm>
          <a:prstGeom prst="chevron">
            <a:avLst/>
          </a:prstGeom>
          <a:solidFill>
            <a:srgbClr val="B8E04A"/>
          </a:solidFill>
          <a:ln w="12700">
            <a:solidFill>
              <a:srgbClr val="FFFFFF"/>
            </a:solidFill>
            <a:prstDash val="solid"/>
          </a:ln>
        </p:spPr>
      </p:sp>
      <p:sp>
        <p:nvSpPr>
          <p:cNvPr id="14" name="Text 11"/>
          <p:cNvSpPr txBox="1"/>
          <p:nvPr/>
        </p:nvSpPr>
        <p:spPr>
          <a:xfrm>
            <a:off x="3116275" y="1737360"/>
            <a:ext cx="1737360" cy="685800"/>
          </a:xfrm>
          <a:prstGeom prst="rect">
            <a:avLst/>
          </a:prstGeom>
          <a:noFill/>
          <a:ln/>
        </p:spPr>
        <p:txBody>
          <a:bodyPr wrap="square" lIns="0" tIns="0" rIns="0" bIns="0" rtlCol="0" anchor="ctr"/>
          <a:lstStyle/>
          <a:p>
            <a:pPr algn="ctr" indent="0" marL="0">
              <a:buNone/>
            </a:pPr>
            <a:r>
              <a:rPr lang="en-US" sz="1600" b="1" dirty="0">
                <a:solidFill>
                  <a:srgbClr val="1C2B28"/>
                </a:solidFill>
                <a:latin typeface="Arial" pitchFamily="34" charset="0"/>
                <a:ea typeface="Arial" pitchFamily="34" charset="-122"/>
                <a:cs typeface="Arial" pitchFamily="34" charset="-120"/>
              </a:rPr>
              <a:t>Decide</a:t>
            </a:r>
            <a:endParaRPr lang="en-US" sz="1600" dirty="0"/>
          </a:p>
        </p:txBody>
      </p:sp>
      <p:sp>
        <p:nvSpPr>
          <p:cNvPr id="15" name="Text 12"/>
          <p:cNvSpPr txBox="1"/>
          <p:nvPr/>
        </p:nvSpPr>
        <p:spPr>
          <a:xfrm>
            <a:off x="2796235" y="2697480"/>
            <a:ext cx="2103120" cy="274320"/>
          </a:xfrm>
          <a:prstGeom prst="rect">
            <a:avLst/>
          </a:prstGeom>
          <a:noFill/>
          <a:ln/>
        </p:spPr>
        <p:txBody>
          <a:bodyPr wrap="square" lIns="0" tIns="0" rIns="0" bIns="0" rtlCol="0" anchor="ctr"/>
          <a:lstStyle/>
          <a:p>
            <a:pPr indent="0" marL="0">
              <a:buNone/>
            </a:pPr>
            <a:r>
              <a:rPr lang="en-US" sz="1000" b="1" spc="200" kern="0" dirty="0">
                <a:solidFill>
                  <a:srgbClr val="5E6E6A"/>
                </a:solidFill>
                <a:latin typeface="Arial" pitchFamily="34" charset="0"/>
                <a:ea typeface="Arial" pitchFamily="34" charset="-122"/>
                <a:cs typeface="Arial" pitchFamily="34" charset="-120"/>
              </a:rPr>
              <a:t>LENA</a:t>
            </a:r>
            <a:endParaRPr lang="en-US" sz="1000" dirty="0"/>
          </a:p>
        </p:txBody>
      </p:sp>
      <p:sp>
        <p:nvSpPr>
          <p:cNvPr id="16" name="Text 13"/>
          <p:cNvSpPr txBox="1"/>
          <p:nvPr/>
        </p:nvSpPr>
        <p:spPr>
          <a:xfrm>
            <a:off x="2796235" y="2971800"/>
            <a:ext cx="2011680" cy="685800"/>
          </a:xfrm>
          <a:prstGeom prst="rect">
            <a:avLst/>
          </a:prstGeom>
          <a:noFill/>
          <a:ln/>
        </p:spPr>
        <p:txBody>
          <a:bodyPr wrap="square" lIns="0" tIns="0" rIns="0" bIns="0" rtlCol="0" anchor="t"/>
          <a:lstStyle/>
          <a:p>
            <a:pPr indent="0" marL="0">
              <a:buNone/>
            </a:pPr>
            <a:r>
              <a:rPr lang="en-US" sz="1400" i="1" dirty="0">
                <a:solidFill>
                  <a:srgbClr val="1C2B28"/>
                </a:solidFill>
                <a:latin typeface="Calibri" pitchFamily="34" charset="0"/>
                <a:ea typeface="Calibri" pitchFamily="34" charset="-122"/>
                <a:cs typeface="Calibri" pitchFamily="34" charset="-120"/>
              </a:rPr>
              <a:t>Chooses how to automate</a:t>
            </a:r>
            <a:endParaRPr lang="en-US" sz="1400" dirty="0"/>
          </a:p>
        </p:txBody>
      </p:sp>
      <p:sp>
        <p:nvSpPr>
          <p:cNvPr id="17" name="Shape 14"/>
          <p:cNvSpPr/>
          <p:nvPr/>
        </p:nvSpPr>
        <p:spPr>
          <a:xfrm>
            <a:off x="2796235" y="3840480"/>
            <a:ext cx="2103120" cy="2194560"/>
          </a:xfrm>
          <a:prstGeom prst="roundRect">
            <a:avLst>
              <a:gd name="adj" fmla="val 5217"/>
            </a:avLst>
          </a:prstGeom>
          <a:solidFill>
            <a:srgbClr val="EAF4EF"/>
          </a:solidFill>
          <a:ln w="12700">
            <a:solidFill>
              <a:srgbClr val="EAF4EF"/>
            </a:solidFill>
            <a:prstDash val="solid"/>
          </a:ln>
        </p:spPr>
      </p:sp>
      <p:sp>
        <p:nvSpPr>
          <p:cNvPr id="18" name="Shape 15"/>
          <p:cNvSpPr/>
          <p:nvPr/>
        </p:nvSpPr>
        <p:spPr>
          <a:xfrm>
            <a:off x="3024835" y="4069080"/>
            <a:ext cx="502920" cy="502920"/>
          </a:xfrm>
          <a:prstGeom prst="roundRect">
            <a:avLst>
              <a:gd name="adj" fmla="val 22000"/>
            </a:avLst>
          </a:prstGeom>
          <a:solidFill>
            <a:srgbClr val="11604F"/>
          </a:solidFill>
          <a:ln w="12700">
            <a:solidFill>
              <a:srgbClr val="11604F"/>
            </a:solidFill>
            <a:prstDash val="solid"/>
          </a:ln>
        </p:spPr>
      </p:sp>
      <p:pic>
        <p:nvPicPr>
          <p:cNvPr id="19" name="Image 1" descr="preencoded.png">    </p:cNvPr>
          <p:cNvPicPr>
            <a:picLocks noChangeAspect="1"/>
          </p:cNvPicPr>
          <p:nvPr/>
        </p:nvPicPr>
        <p:blipFill>
          <a:blip r:embed="rId2"/>
          <a:stretch>
            <a:fillRect/>
          </a:stretch>
        </p:blipFill>
        <p:spPr>
          <a:xfrm>
            <a:off x="3145536" y="4189781"/>
            <a:ext cx="261518" cy="261518"/>
          </a:xfrm>
          <a:prstGeom prst="rect">
            <a:avLst/>
          </a:prstGeom>
        </p:spPr>
      </p:pic>
      <p:sp>
        <p:nvSpPr>
          <p:cNvPr id="20" name="Text 16"/>
          <p:cNvSpPr txBox="1"/>
          <p:nvPr/>
        </p:nvSpPr>
        <p:spPr>
          <a:xfrm>
            <a:off x="3024835" y="4709160"/>
            <a:ext cx="1737360" cy="274320"/>
          </a:xfrm>
          <a:prstGeom prst="rect">
            <a:avLst/>
          </a:prstGeom>
          <a:noFill/>
          <a:ln/>
        </p:spPr>
        <p:txBody>
          <a:bodyPr wrap="square" lIns="0" tIns="0" rIns="0" bIns="0" rtlCol="0" anchor="ctr"/>
          <a:lstStyle/>
          <a:p>
            <a:pPr indent="0" marL="0">
              <a:buNone/>
            </a:pPr>
            <a:r>
              <a:rPr lang="en-US" sz="1000" b="1" spc="200" kern="0" dirty="0">
                <a:solidFill>
                  <a:srgbClr val="11604F"/>
                </a:solidFill>
                <a:latin typeface="Arial" pitchFamily="34" charset="0"/>
                <a:ea typeface="Arial" pitchFamily="34" charset="-122"/>
                <a:cs typeface="Arial" pitchFamily="34" charset="-120"/>
              </a:rPr>
              <a:t>OUR SOLUTION</a:t>
            </a:r>
            <a:endParaRPr lang="en-US" sz="1000" dirty="0"/>
          </a:p>
        </p:txBody>
      </p:sp>
      <p:sp>
        <p:nvSpPr>
          <p:cNvPr id="21" name="Text 17"/>
          <p:cNvSpPr txBox="1"/>
          <p:nvPr/>
        </p:nvSpPr>
        <p:spPr>
          <a:xfrm>
            <a:off x="3024835" y="4983480"/>
            <a:ext cx="1691640" cy="960120"/>
          </a:xfrm>
          <a:prstGeom prst="rect">
            <a:avLst/>
          </a:prstGeom>
          <a:noFill/>
          <a:ln/>
        </p:spPr>
        <p:txBody>
          <a:bodyPr wrap="square" lIns="0" tIns="0" rIns="0" bIns="0" rtlCol="0" anchor="t"/>
          <a:lstStyle/>
          <a:p>
            <a:pPr indent="0" marL="0">
              <a:buNone/>
            </a:pPr>
            <a:r>
              <a:rPr lang="en-US" sz="1300" b="1" dirty="0">
                <a:solidFill>
                  <a:srgbClr val="1C2B28"/>
                </a:solidFill>
                <a:latin typeface="Calibri" pitchFamily="34" charset="0"/>
                <a:ea typeface="Calibri" pitchFamily="34" charset="-122"/>
                <a:cs typeface="Calibri" pitchFamily="34" charset="-120"/>
              </a:rPr>
              <a:t>Triage decision tree + efficient defaults</a:t>
            </a:r>
            <a:endParaRPr lang="en-US" sz="1300" dirty="0"/>
          </a:p>
        </p:txBody>
      </p:sp>
      <p:sp>
        <p:nvSpPr>
          <p:cNvPr id="22" name="Shape 18"/>
          <p:cNvSpPr/>
          <p:nvPr/>
        </p:nvSpPr>
        <p:spPr>
          <a:xfrm>
            <a:off x="5043830" y="1737360"/>
            <a:ext cx="2240280" cy="685800"/>
          </a:xfrm>
          <a:prstGeom prst="chevron">
            <a:avLst/>
          </a:prstGeom>
          <a:solidFill>
            <a:srgbClr val="11604F"/>
          </a:solidFill>
          <a:ln w="12700">
            <a:solidFill>
              <a:srgbClr val="FFFFFF"/>
            </a:solidFill>
            <a:prstDash val="solid"/>
          </a:ln>
        </p:spPr>
      </p:sp>
      <p:sp>
        <p:nvSpPr>
          <p:cNvPr id="23" name="Text 19"/>
          <p:cNvSpPr txBox="1"/>
          <p:nvPr/>
        </p:nvSpPr>
        <p:spPr>
          <a:xfrm>
            <a:off x="5363870" y="1737360"/>
            <a:ext cx="173736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Build</a:t>
            </a:r>
            <a:endParaRPr lang="en-US" sz="1600" dirty="0"/>
          </a:p>
        </p:txBody>
      </p:sp>
      <p:sp>
        <p:nvSpPr>
          <p:cNvPr id="24" name="Text 20"/>
          <p:cNvSpPr txBox="1"/>
          <p:nvPr/>
        </p:nvSpPr>
        <p:spPr>
          <a:xfrm>
            <a:off x="5043830" y="2697480"/>
            <a:ext cx="2103120" cy="274320"/>
          </a:xfrm>
          <a:prstGeom prst="rect">
            <a:avLst/>
          </a:prstGeom>
          <a:noFill/>
          <a:ln/>
        </p:spPr>
        <p:txBody>
          <a:bodyPr wrap="square" lIns="0" tIns="0" rIns="0" bIns="0" rtlCol="0" anchor="ctr"/>
          <a:lstStyle/>
          <a:p>
            <a:pPr indent="0" marL="0">
              <a:buNone/>
            </a:pPr>
            <a:r>
              <a:rPr lang="en-US" sz="1000" b="1" spc="200" kern="0" dirty="0">
                <a:solidFill>
                  <a:srgbClr val="5E6E6A"/>
                </a:solidFill>
                <a:latin typeface="Arial" pitchFamily="34" charset="0"/>
                <a:ea typeface="Arial" pitchFamily="34" charset="-122"/>
                <a:cs typeface="Arial" pitchFamily="34" charset="-120"/>
              </a:rPr>
              <a:t>LENA</a:t>
            </a:r>
            <a:endParaRPr lang="en-US" sz="1000" dirty="0"/>
          </a:p>
        </p:txBody>
      </p:sp>
      <p:sp>
        <p:nvSpPr>
          <p:cNvPr id="25" name="Text 21"/>
          <p:cNvSpPr txBox="1"/>
          <p:nvPr/>
        </p:nvSpPr>
        <p:spPr>
          <a:xfrm>
            <a:off x="5043830" y="2971800"/>
            <a:ext cx="2011680" cy="685800"/>
          </a:xfrm>
          <a:prstGeom prst="rect">
            <a:avLst/>
          </a:prstGeom>
          <a:noFill/>
          <a:ln/>
        </p:spPr>
        <p:txBody>
          <a:bodyPr wrap="square" lIns="0" tIns="0" rIns="0" bIns="0" rtlCol="0" anchor="t"/>
          <a:lstStyle/>
          <a:p>
            <a:pPr indent="0" marL="0">
              <a:buNone/>
            </a:pPr>
            <a:r>
              <a:rPr lang="en-US" sz="1400" i="1" dirty="0">
                <a:solidFill>
                  <a:srgbClr val="1C2B28"/>
                </a:solidFill>
                <a:latin typeface="Calibri" pitchFamily="34" charset="0"/>
                <a:ea typeface="Calibri" pitchFamily="34" charset="-122"/>
                <a:cs typeface="Calibri" pitchFamily="34" charset="-120"/>
              </a:rPr>
              <a:t>A developer builds it</a:t>
            </a:r>
            <a:endParaRPr lang="en-US" sz="1400" dirty="0"/>
          </a:p>
        </p:txBody>
      </p:sp>
      <p:sp>
        <p:nvSpPr>
          <p:cNvPr id="26" name="Shape 22"/>
          <p:cNvSpPr/>
          <p:nvPr/>
        </p:nvSpPr>
        <p:spPr>
          <a:xfrm>
            <a:off x="5043830" y="3840480"/>
            <a:ext cx="2103120" cy="2194560"/>
          </a:xfrm>
          <a:prstGeom prst="roundRect">
            <a:avLst>
              <a:gd name="adj" fmla="val 5217"/>
            </a:avLst>
          </a:prstGeom>
          <a:solidFill>
            <a:srgbClr val="EAF4EF"/>
          </a:solidFill>
          <a:ln w="12700">
            <a:solidFill>
              <a:srgbClr val="EAF4EF"/>
            </a:solidFill>
            <a:prstDash val="solid"/>
          </a:ln>
        </p:spPr>
      </p:sp>
      <p:sp>
        <p:nvSpPr>
          <p:cNvPr id="27" name="Shape 23"/>
          <p:cNvSpPr/>
          <p:nvPr/>
        </p:nvSpPr>
        <p:spPr>
          <a:xfrm>
            <a:off x="5272430" y="4069080"/>
            <a:ext cx="502920" cy="502920"/>
          </a:xfrm>
          <a:prstGeom prst="roundRect">
            <a:avLst>
              <a:gd name="adj" fmla="val 22000"/>
            </a:avLst>
          </a:prstGeom>
          <a:solidFill>
            <a:srgbClr val="11604F"/>
          </a:solidFill>
          <a:ln w="12700">
            <a:solidFill>
              <a:srgbClr val="11604F"/>
            </a:solidFill>
            <a:prstDash val="solid"/>
          </a:ln>
        </p:spPr>
      </p:sp>
      <p:pic>
        <p:nvPicPr>
          <p:cNvPr id="28" name="Image 2" descr="preencoded.png">    </p:cNvPr>
          <p:cNvPicPr>
            <a:picLocks noChangeAspect="1"/>
          </p:cNvPicPr>
          <p:nvPr/>
        </p:nvPicPr>
        <p:blipFill>
          <a:blip r:embed="rId3"/>
          <a:stretch>
            <a:fillRect/>
          </a:stretch>
        </p:blipFill>
        <p:spPr>
          <a:xfrm>
            <a:off x="5393131" y="4189781"/>
            <a:ext cx="261518" cy="261518"/>
          </a:xfrm>
          <a:prstGeom prst="rect">
            <a:avLst/>
          </a:prstGeom>
        </p:spPr>
      </p:pic>
      <p:sp>
        <p:nvSpPr>
          <p:cNvPr id="29" name="Text 24"/>
          <p:cNvSpPr txBox="1"/>
          <p:nvPr/>
        </p:nvSpPr>
        <p:spPr>
          <a:xfrm>
            <a:off x="5272430" y="4709160"/>
            <a:ext cx="1737360" cy="274320"/>
          </a:xfrm>
          <a:prstGeom prst="rect">
            <a:avLst/>
          </a:prstGeom>
          <a:noFill/>
          <a:ln/>
        </p:spPr>
        <p:txBody>
          <a:bodyPr wrap="square" lIns="0" tIns="0" rIns="0" bIns="0" rtlCol="0" anchor="ctr"/>
          <a:lstStyle/>
          <a:p>
            <a:pPr indent="0" marL="0">
              <a:buNone/>
            </a:pPr>
            <a:r>
              <a:rPr lang="en-US" sz="1000" b="1" spc="200" kern="0" dirty="0">
                <a:solidFill>
                  <a:srgbClr val="11604F"/>
                </a:solidFill>
                <a:latin typeface="Arial" pitchFamily="34" charset="0"/>
                <a:ea typeface="Arial" pitchFamily="34" charset="-122"/>
                <a:cs typeface="Arial" pitchFamily="34" charset="-120"/>
              </a:rPr>
              <a:t>OUR SOLUTION</a:t>
            </a:r>
            <a:endParaRPr lang="en-US" sz="1000" dirty="0"/>
          </a:p>
        </p:txBody>
      </p:sp>
      <p:sp>
        <p:nvSpPr>
          <p:cNvPr id="30" name="Text 25"/>
          <p:cNvSpPr txBox="1"/>
          <p:nvPr/>
        </p:nvSpPr>
        <p:spPr>
          <a:xfrm>
            <a:off x="5272430" y="4983480"/>
            <a:ext cx="1691640" cy="960120"/>
          </a:xfrm>
          <a:prstGeom prst="rect">
            <a:avLst/>
          </a:prstGeom>
          <a:noFill/>
          <a:ln/>
        </p:spPr>
        <p:txBody>
          <a:bodyPr wrap="square" lIns="0" tIns="0" rIns="0" bIns="0" rtlCol="0" anchor="t"/>
          <a:lstStyle/>
          <a:p>
            <a:pPr indent="0" marL="0">
              <a:buNone/>
            </a:pPr>
            <a:r>
              <a:rPr lang="en-US" sz="1300" b="1" dirty="0">
                <a:solidFill>
                  <a:srgbClr val="1C2B28"/>
                </a:solidFill>
                <a:latin typeface="Calibri" pitchFamily="34" charset="0"/>
                <a:ea typeface="Calibri" pitchFamily="34" charset="-122"/>
                <a:cs typeface="Calibri" pitchFamily="34" charset="-120"/>
              </a:rPr>
              <a:t>Small models, routing, reuse from the agent library</a:t>
            </a:r>
            <a:endParaRPr lang="en-US" sz="1300" dirty="0"/>
          </a:p>
        </p:txBody>
      </p:sp>
      <p:sp>
        <p:nvSpPr>
          <p:cNvPr id="31" name="Shape 26"/>
          <p:cNvSpPr/>
          <p:nvPr/>
        </p:nvSpPr>
        <p:spPr>
          <a:xfrm>
            <a:off x="7291426" y="1737360"/>
            <a:ext cx="2240280" cy="685800"/>
          </a:xfrm>
          <a:prstGeom prst="chevron">
            <a:avLst/>
          </a:prstGeom>
          <a:solidFill>
            <a:srgbClr val="11604F"/>
          </a:solidFill>
          <a:ln w="12700">
            <a:solidFill>
              <a:srgbClr val="FFFFFF"/>
            </a:solidFill>
            <a:prstDash val="solid"/>
          </a:ln>
        </p:spPr>
      </p:sp>
      <p:sp>
        <p:nvSpPr>
          <p:cNvPr id="32" name="Text 27"/>
          <p:cNvSpPr txBox="1"/>
          <p:nvPr/>
        </p:nvSpPr>
        <p:spPr>
          <a:xfrm>
            <a:off x="7611466" y="1737360"/>
            <a:ext cx="173736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Run</a:t>
            </a:r>
            <a:endParaRPr lang="en-US" sz="1600" dirty="0"/>
          </a:p>
        </p:txBody>
      </p:sp>
      <p:sp>
        <p:nvSpPr>
          <p:cNvPr id="33" name="Text 28"/>
          <p:cNvSpPr txBox="1"/>
          <p:nvPr/>
        </p:nvSpPr>
        <p:spPr>
          <a:xfrm>
            <a:off x="7291426" y="2697480"/>
            <a:ext cx="2103120" cy="274320"/>
          </a:xfrm>
          <a:prstGeom prst="rect">
            <a:avLst/>
          </a:prstGeom>
          <a:noFill/>
          <a:ln/>
        </p:spPr>
        <p:txBody>
          <a:bodyPr wrap="square" lIns="0" tIns="0" rIns="0" bIns="0" rtlCol="0" anchor="ctr"/>
          <a:lstStyle/>
          <a:p>
            <a:pPr indent="0" marL="0">
              <a:buNone/>
            </a:pPr>
            <a:r>
              <a:rPr lang="en-US" sz="1000" b="1" spc="200" kern="0" dirty="0">
                <a:solidFill>
                  <a:srgbClr val="5E6E6A"/>
                </a:solidFill>
                <a:latin typeface="Arial" pitchFamily="34" charset="0"/>
                <a:ea typeface="Arial" pitchFamily="34" charset="-122"/>
                <a:cs typeface="Arial" pitchFamily="34" charset="-120"/>
              </a:rPr>
              <a:t>LENA</a:t>
            </a:r>
            <a:endParaRPr lang="en-US" sz="1000" dirty="0"/>
          </a:p>
        </p:txBody>
      </p:sp>
      <p:sp>
        <p:nvSpPr>
          <p:cNvPr id="34" name="Text 29"/>
          <p:cNvSpPr txBox="1"/>
          <p:nvPr/>
        </p:nvSpPr>
        <p:spPr>
          <a:xfrm>
            <a:off x="7291426" y="2971800"/>
            <a:ext cx="2011680" cy="685800"/>
          </a:xfrm>
          <a:prstGeom prst="rect">
            <a:avLst/>
          </a:prstGeom>
          <a:noFill/>
          <a:ln/>
        </p:spPr>
        <p:txBody>
          <a:bodyPr wrap="square" lIns="0" tIns="0" rIns="0" bIns="0" rtlCol="0" anchor="t"/>
          <a:lstStyle/>
          <a:p>
            <a:pPr indent="0" marL="0">
              <a:buNone/>
            </a:pPr>
            <a:r>
              <a:rPr lang="en-US" sz="1400" i="1" dirty="0">
                <a:solidFill>
                  <a:srgbClr val="1C2B28"/>
                </a:solidFill>
                <a:latin typeface="Calibri" pitchFamily="34" charset="0"/>
                <a:ea typeface="Calibri" pitchFamily="34" charset="-122"/>
                <a:cs typeface="Calibri" pitchFamily="34" charset="-120"/>
              </a:rPr>
              <a:t>Her team uses it daily</a:t>
            </a:r>
            <a:endParaRPr lang="en-US" sz="1400" dirty="0"/>
          </a:p>
        </p:txBody>
      </p:sp>
      <p:sp>
        <p:nvSpPr>
          <p:cNvPr id="35" name="Shape 30"/>
          <p:cNvSpPr/>
          <p:nvPr/>
        </p:nvSpPr>
        <p:spPr>
          <a:xfrm>
            <a:off x="7291426" y="3840480"/>
            <a:ext cx="2103120" cy="2194560"/>
          </a:xfrm>
          <a:prstGeom prst="roundRect">
            <a:avLst>
              <a:gd name="adj" fmla="val 5217"/>
            </a:avLst>
          </a:prstGeom>
          <a:solidFill>
            <a:srgbClr val="EAF4EF"/>
          </a:solidFill>
          <a:ln w="12700">
            <a:solidFill>
              <a:srgbClr val="EAF4EF"/>
            </a:solidFill>
            <a:prstDash val="solid"/>
          </a:ln>
        </p:spPr>
      </p:sp>
      <p:sp>
        <p:nvSpPr>
          <p:cNvPr id="36" name="Shape 31"/>
          <p:cNvSpPr/>
          <p:nvPr/>
        </p:nvSpPr>
        <p:spPr>
          <a:xfrm>
            <a:off x="7520026" y="4069080"/>
            <a:ext cx="502920" cy="502920"/>
          </a:xfrm>
          <a:prstGeom prst="roundRect">
            <a:avLst>
              <a:gd name="adj" fmla="val 22000"/>
            </a:avLst>
          </a:prstGeom>
          <a:solidFill>
            <a:srgbClr val="11604F"/>
          </a:solidFill>
          <a:ln w="12700">
            <a:solidFill>
              <a:srgbClr val="11604F"/>
            </a:solidFill>
            <a:prstDash val="solid"/>
          </a:ln>
        </p:spPr>
      </p:sp>
      <p:pic>
        <p:nvPicPr>
          <p:cNvPr id="37" name="Image 3" descr="preencoded.png">    </p:cNvPr>
          <p:cNvPicPr>
            <a:picLocks noChangeAspect="1"/>
          </p:cNvPicPr>
          <p:nvPr/>
        </p:nvPicPr>
        <p:blipFill>
          <a:blip r:embed="rId4"/>
          <a:stretch>
            <a:fillRect/>
          </a:stretch>
        </p:blipFill>
        <p:spPr>
          <a:xfrm>
            <a:off x="7640726" y="4189781"/>
            <a:ext cx="261518" cy="261518"/>
          </a:xfrm>
          <a:prstGeom prst="rect">
            <a:avLst/>
          </a:prstGeom>
        </p:spPr>
      </p:pic>
      <p:sp>
        <p:nvSpPr>
          <p:cNvPr id="38" name="Text 32"/>
          <p:cNvSpPr txBox="1"/>
          <p:nvPr/>
        </p:nvSpPr>
        <p:spPr>
          <a:xfrm>
            <a:off x="7520026" y="4709160"/>
            <a:ext cx="1737360" cy="274320"/>
          </a:xfrm>
          <a:prstGeom prst="rect">
            <a:avLst/>
          </a:prstGeom>
          <a:noFill/>
          <a:ln/>
        </p:spPr>
        <p:txBody>
          <a:bodyPr wrap="square" lIns="0" tIns="0" rIns="0" bIns="0" rtlCol="0" anchor="ctr"/>
          <a:lstStyle/>
          <a:p>
            <a:pPr indent="0" marL="0">
              <a:buNone/>
            </a:pPr>
            <a:r>
              <a:rPr lang="en-US" sz="1000" b="1" spc="200" kern="0" dirty="0">
                <a:solidFill>
                  <a:srgbClr val="11604F"/>
                </a:solidFill>
                <a:latin typeface="Arial" pitchFamily="34" charset="0"/>
                <a:ea typeface="Arial" pitchFamily="34" charset="-122"/>
                <a:cs typeface="Arial" pitchFamily="34" charset="-120"/>
              </a:rPr>
              <a:t>OUR SOLUTION</a:t>
            </a:r>
            <a:endParaRPr lang="en-US" sz="1000" dirty="0"/>
          </a:p>
        </p:txBody>
      </p:sp>
      <p:sp>
        <p:nvSpPr>
          <p:cNvPr id="39" name="Text 33"/>
          <p:cNvSpPr txBox="1"/>
          <p:nvPr/>
        </p:nvSpPr>
        <p:spPr>
          <a:xfrm>
            <a:off x="7520026" y="4983480"/>
            <a:ext cx="1691640" cy="960120"/>
          </a:xfrm>
          <a:prstGeom prst="rect">
            <a:avLst/>
          </a:prstGeom>
          <a:noFill/>
          <a:ln/>
        </p:spPr>
        <p:txBody>
          <a:bodyPr wrap="square" lIns="0" tIns="0" rIns="0" bIns="0" rtlCol="0" anchor="t"/>
          <a:lstStyle/>
          <a:p>
            <a:pPr indent="0" marL="0">
              <a:buNone/>
            </a:pPr>
            <a:r>
              <a:rPr lang="en-US" sz="1300" b="1" dirty="0">
                <a:solidFill>
                  <a:srgbClr val="1C2B28"/>
                </a:solidFill>
                <a:latin typeface="Calibri" pitchFamily="34" charset="0"/>
                <a:ea typeface="Calibri" pitchFamily="34" charset="-122"/>
                <a:cs typeface="Calibri" pitchFamily="34" charset="-120"/>
              </a:rPr>
              <a:t>Footprint visible, carbon-aware scheduling</a:t>
            </a:r>
            <a:endParaRPr lang="en-US" sz="1300" dirty="0"/>
          </a:p>
        </p:txBody>
      </p:sp>
      <p:sp>
        <p:nvSpPr>
          <p:cNvPr id="40" name="Shape 34"/>
          <p:cNvSpPr/>
          <p:nvPr/>
        </p:nvSpPr>
        <p:spPr>
          <a:xfrm>
            <a:off x="9539021" y="1737360"/>
            <a:ext cx="2240280" cy="685800"/>
          </a:xfrm>
          <a:prstGeom prst="chevron">
            <a:avLst/>
          </a:prstGeom>
          <a:solidFill>
            <a:srgbClr val="11604F"/>
          </a:solidFill>
          <a:ln w="12700">
            <a:solidFill>
              <a:srgbClr val="FFFFFF"/>
            </a:solidFill>
            <a:prstDash val="solid"/>
          </a:ln>
        </p:spPr>
      </p:sp>
      <p:sp>
        <p:nvSpPr>
          <p:cNvPr id="41" name="Text 35"/>
          <p:cNvSpPr txBox="1"/>
          <p:nvPr/>
        </p:nvSpPr>
        <p:spPr>
          <a:xfrm>
            <a:off x="9859061" y="1737360"/>
            <a:ext cx="173736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Review</a:t>
            </a:r>
            <a:endParaRPr lang="en-US" sz="1600" dirty="0"/>
          </a:p>
        </p:txBody>
      </p:sp>
      <p:sp>
        <p:nvSpPr>
          <p:cNvPr id="42" name="Text 36"/>
          <p:cNvSpPr txBox="1"/>
          <p:nvPr/>
        </p:nvSpPr>
        <p:spPr>
          <a:xfrm>
            <a:off x="9539021" y="2697480"/>
            <a:ext cx="2103120" cy="274320"/>
          </a:xfrm>
          <a:prstGeom prst="rect">
            <a:avLst/>
          </a:prstGeom>
          <a:noFill/>
          <a:ln/>
        </p:spPr>
        <p:txBody>
          <a:bodyPr wrap="square" lIns="0" tIns="0" rIns="0" bIns="0" rtlCol="0" anchor="ctr"/>
          <a:lstStyle/>
          <a:p>
            <a:pPr indent="0" marL="0">
              <a:buNone/>
            </a:pPr>
            <a:r>
              <a:rPr lang="en-US" sz="1000" b="1" spc="200" kern="0" dirty="0">
                <a:solidFill>
                  <a:srgbClr val="5E6E6A"/>
                </a:solidFill>
                <a:latin typeface="Arial" pitchFamily="34" charset="0"/>
                <a:ea typeface="Arial" pitchFamily="34" charset="-122"/>
                <a:cs typeface="Arial" pitchFamily="34" charset="-120"/>
              </a:rPr>
              <a:t>LENA</a:t>
            </a:r>
            <a:endParaRPr lang="en-US" sz="1000" dirty="0"/>
          </a:p>
        </p:txBody>
      </p:sp>
      <p:sp>
        <p:nvSpPr>
          <p:cNvPr id="43" name="Text 37"/>
          <p:cNvSpPr txBox="1"/>
          <p:nvPr/>
        </p:nvSpPr>
        <p:spPr>
          <a:xfrm>
            <a:off x="9539021" y="2971800"/>
            <a:ext cx="2011680" cy="685800"/>
          </a:xfrm>
          <a:prstGeom prst="rect">
            <a:avLst/>
          </a:prstGeom>
          <a:noFill/>
          <a:ln/>
        </p:spPr>
        <p:txBody>
          <a:bodyPr wrap="square" lIns="0" tIns="0" rIns="0" bIns="0" rtlCol="0" anchor="t"/>
          <a:lstStyle/>
          <a:p>
            <a:pPr indent="0" marL="0">
              <a:buNone/>
            </a:pPr>
            <a:r>
              <a:rPr lang="en-US" sz="1400" i="1" dirty="0">
                <a:solidFill>
                  <a:srgbClr val="1C2B28"/>
                </a:solidFill>
                <a:latin typeface="Calibri" pitchFamily="34" charset="0"/>
                <a:ea typeface="Calibri" pitchFamily="34" charset="-122"/>
                <a:cs typeface="Calibri" pitchFamily="34" charset="-120"/>
              </a:rPr>
              <a:t>Is it still worth it?</a:t>
            </a:r>
            <a:endParaRPr lang="en-US" sz="1400" dirty="0"/>
          </a:p>
        </p:txBody>
      </p:sp>
      <p:sp>
        <p:nvSpPr>
          <p:cNvPr id="44" name="Shape 38"/>
          <p:cNvSpPr/>
          <p:nvPr/>
        </p:nvSpPr>
        <p:spPr>
          <a:xfrm>
            <a:off x="9539021" y="3840480"/>
            <a:ext cx="2103120" cy="2194560"/>
          </a:xfrm>
          <a:prstGeom prst="roundRect">
            <a:avLst>
              <a:gd name="adj" fmla="val 5217"/>
            </a:avLst>
          </a:prstGeom>
          <a:solidFill>
            <a:srgbClr val="EAF4EF"/>
          </a:solidFill>
          <a:ln w="12700">
            <a:solidFill>
              <a:srgbClr val="EAF4EF"/>
            </a:solidFill>
            <a:prstDash val="solid"/>
          </a:ln>
        </p:spPr>
      </p:sp>
      <p:sp>
        <p:nvSpPr>
          <p:cNvPr id="45" name="Shape 39"/>
          <p:cNvSpPr/>
          <p:nvPr/>
        </p:nvSpPr>
        <p:spPr>
          <a:xfrm>
            <a:off x="9767621" y="4069080"/>
            <a:ext cx="502920" cy="502920"/>
          </a:xfrm>
          <a:prstGeom prst="roundRect">
            <a:avLst>
              <a:gd name="adj" fmla="val 22000"/>
            </a:avLst>
          </a:prstGeom>
          <a:solidFill>
            <a:srgbClr val="11604F"/>
          </a:solidFill>
          <a:ln w="12700">
            <a:solidFill>
              <a:srgbClr val="11604F"/>
            </a:solidFill>
            <a:prstDash val="solid"/>
          </a:ln>
        </p:spPr>
      </p:sp>
      <p:pic>
        <p:nvPicPr>
          <p:cNvPr id="46" name="Image 4" descr="preencoded.png">    </p:cNvPr>
          <p:cNvPicPr>
            <a:picLocks noChangeAspect="1"/>
          </p:cNvPicPr>
          <p:nvPr/>
        </p:nvPicPr>
        <p:blipFill>
          <a:blip r:embed="rId5"/>
          <a:stretch>
            <a:fillRect/>
          </a:stretch>
        </p:blipFill>
        <p:spPr>
          <a:xfrm>
            <a:off x="9888322" y="4189781"/>
            <a:ext cx="261518" cy="261518"/>
          </a:xfrm>
          <a:prstGeom prst="rect">
            <a:avLst/>
          </a:prstGeom>
        </p:spPr>
      </p:pic>
      <p:sp>
        <p:nvSpPr>
          <p:cNvPr id="47" name="Text 40"/>
          <p:cNvSpPr txBox="1"/>
          <p:nvPr/>
        </p:nvSpPr>
        <p:spPr>
          <a:xfrm>
            <a:off x="9767621" y="4709160"/>
            <a:ext cx="1737360" cy="274320"/>
          </a:xfrm>
          <a:prstGeom prst="rect">
            <a:avLst/>
          </a:prstGeom>
          <a:noFill/>
          <a:ln/>
        </p:spPr>
        <p:txBody>
          <a:bodyPr wrap="square" lIns="0" tIns="0" rIns="0" bIns="0" rtlCol="0" anchor="ctr"/>
          <a:lstStyle/>
          <a:p>
            <a:pPr indent="0" marL="0">
              <a:buNone/>
            </a:pPr>
            <a:r>
              <a:rPr lang="en-US" sz="1000" b="1" spc="200" kern="0" dirty="0">
                <a:solidFill>
                  <a:srgbClr val="11604F"/>
                </a:solidFill>
                <a:latin typeface="Arial" pitchFamily="34" charset="0"/>
                <a:ea typeface="Arial" pitchFamily="34" charset="-122"/>
                <a:cs typeface="Arial" pitchFamily="34" charset="-120"/>
              </a:rPr>
              <a:t>OUR SOLUTION</a:t>
            </a:r>
            <a:endParaRPr lang="en-US" sz="1000" dirty="0"/>
          </a:p>
        </p:txBody>
      </p:sp>
      <p:sp>
        <p:nvSpPr>
          <p:cNvPr id="48" name="Text 41"/>
          <p:cNvSpPr txBox="1"/>
          <p:nvPr/>
        </p:nvSpPr>
        <p:spPr>
          <a:xfrm>
            <a:off x="9767621" y="4983480"/>
            <a:ext cx="1691640" cy="960120"/>
          </a:xfrm>
          <a:prstGeom prst="rect">
            <a:avLst/>
          </a:prstGeom>
          <a:noFill/>
          <a:ln/>
        </p:spPr>
        <p:txBody>
          <a:bodyPr wrap="square" lIns="0" tIns="0" rIns="0" bIns="0" rtlCol="0" anchor="t"/>
          <a:lstStyle/>
          <a:p>
            <a:pPr indent="0" marL="0">
              <a:buNone/>
            </a:pPr>
            <a:r>
              <a:rPr lang="en-US" sz="1300" b="1" dirty="0">
                <a:solidFill>
                  <a:srgbClr val="1C2B28"/>
                </a:solidFill>
                <a:latin typeface="Calibri" pitchFamily="34" charset="0"/>
                <a:ea typeface="Calibri" pitchFamily="34" charset="-122"/>
                <a:cs typeface="Calibri" pitchFamily="34" charset="-120"/>
              </a:rPr>
              <a:t>Path-variance check, distillation, retire unused agents</a:t>
            </a:r>
            <a:endParaRPr lang="en-US" sz="1300" dirty="0"/>
          </a:p>
        </p:txBody>
      </p:sp>
      <p:sp>
        <p:nvSpPr>
          <p:cNvPr id="49" name="Text 42"/>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06  ·  LEVERS</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Training alone fails – build efficiency into how SAP works</a:t>
            </a:r>
            <a:endParaRPr lang="en-US" sz="3000" dirty="0"/>
          </a:p>
        </p:txBody>
      </p:sp>
      <p:sp>
        <p:nvSpPr>
          <p:cNvPr id="4" name="Shape 2"/>
          <p:cNvSpPr/>
          <p:nvPr/>
        </p:nvSpPr>
        <p:spPr>
          <a:xfrm>
            <a:off x="548640" y="1691640"/>
            <a:ext cx="5120640" cy="4389120"/>
          </a:xfrm>
          <a:prstGeom prst="roundRect">
            <a:avLst>
              <a:gd name="adj" fmla="val 2500"/>
            </a:avLst>
          </a:prstGeom>
          <a:solidFill>
            <a:srgbClr val="0B2B26"/>
          </a:solidFill>
          <a:ln w="12700">
            <a:solidFill>
              <a:srgbClr val="0B2B26"/>
            </a:solidFill>
            <a:prstDash val="solid"/>
          </a:ln>
        </p:spPr>
      </p:sp>
      <p:sp>
        <p:nvSpPr>
          <p:cNvPr id="5" name="Text 3"/>
          <p:cNvSpPr txBox="1"/>
          <p:nvPr/>
        </p:nvSpPr>
        <p:spPr>
          <a:xfrm>
            <a:off x="868680" y="1920240"/>
            <a:ext cx="4572000" cy="411480"/>
          </a:xfrm>
          <a:prstGeom prst="rect">
            <a:avLst/>
          </a:prstGeom>
          <a:noFill/>
          <a:ln/>
        </p:spPr>
        <p:txBody>
          <a:bodyPr wrap="square" lIns="0" tIns="0" rIns="0" bIns="0" rtlCol="0" anchor="ctr"/>
          <a:lstStyle/>
          <a:p>
            <a:pPr indent="0" marL="0">
              <a:buNone/>
            </a:pPr>
            <a:r>
              <a:rPr lang="en-US" sz="2000" b="1" dirty="0">
                <a:solidFill>
                  <a:srgbClr val="B8E04A"/>
                </a:solidFill>
                <a:latin typeface="Arial" pitchFamily="34" charset="0"/>
                <a:ea typeface="Arial" pitchFamily="34" charset="-122"/>
                <a:cs typeface="Arial" pitchFamily="34" charset="-120"/>
              </a:rPr>
              <a:t>Choose right</a:t>
            </a:r>
            <a:endParaRPr lang="en-US" sz="2000" dirty="0"/>
          </a:p>
        </p:txBody>
      </p:sp>
      <p:sp>
        <p:nvSpPr>
          <p:cNvPr id="6" name="Text 4"/>
          <p:cNvSpPr txBox="1"/>
          <p:nvPr/>
        </p:nvSpPr>
        <p:spPr>
          <a:xfrm>
            <a:off x="868680" y="2331720"/>
            <a:ext cx="4572000" cy="320040"/>
          </a:xfrm>
          <a:prstGeom prst="rect">
            <a:avLst/>
          </a:prstGeom>
          <a:noFill/>
          <a:ln/>
        </p:spPr>
        <p:txBody>
          <a:bodyPr wrap="square" lIns="0" tIns="0" rIns="0" bIns="0" rtlCol="0" anchor="ctr"/>
          <a:lstStyle/>
          <a:p>
            <a:pPr indent="0" marL="0">
              <a:buNone/>
            </a:pPr>
            <a:r>
              <a:rPr lang="en-US" sz="1300" dirty="0">
                <a:solidFill>
                  <a:srgbClr val="C9DCD5"/>
                </a:solidFill>
                <a:latin typeface="Calibri" pitchFamily="34" charset="0"/>
                <a:ea typeface="Calibri" pitchFamily="34" charset="-122"/>
                <a:cs typeface="Calibri" pitchFamily="34" charset="-120"/>
              </a:rPr>
              <a:t>For Lena, the process owner</a:t>
            </a:r>
            <a:endParaRPr lang="en-US" sz="1300" dirty="0"/>
          </a:p>
        </p:txBody>
      </p:sp>
      <p:sp>
        <p:nvSpPr>
          <p:cNvPr id="7" name="Shape 5"/>
          <p:cNvSpPr/>
          <p:nvPr/>
        </p:nvSpPr>
        <p:spPr>
          <a:xfrm>
            <a:off x="868680" y="2834640"/>
            <a:ext cx="502920" cy="502920"/>
          </a:xfrm>
          <a:prstGeom prst="roundRect">
            <a:avLst>
              <a:gd name="adj" fmla="val 22000"/>
            </a:avLst>
          </a:prstGeom>
          <a:solidFill>
            <a:srgbClr val="11604F"/>
          </a:solidFill>
          <a:ln w="12700">
            <a:solidFill>
              <a:srgbClr val="11604F"/>
            </a:solidFill>
            <a:prstDash val="solid"/>
          </a:ln>
        </p:spPr>
      </p:sp>
      <p:pic>
        <p:nvPicPr>
          <p:cNvPr id="8" name="Image 0" descr="preencoded.png">    </p:cNvPr>
          <p:cNvPicPr>
            <a:picLocks noChangeAspect="1"/>
          </p:cNvPicPr>
          <p:nvPr/>
        </p:nvPicPr>
        <p:blipFill>
          <a:blip r:embed="rId1"/>
          <a:stretch>
            <a:fillRect/>
          </a:stretch>
        </p:blipFill>
        <p:spPr>
          <a:xfrm>
            <a:off x="989381" y="2955341"/>
            <a:ext cx="261518" cy="261518"/>
          </a:xfrm>
          <a:prstGeom prst="rect">
            <a:avLst/>
          </a:prstGeom>
        </p:spPr>
      </p:pic>
      <p:sp>
        <p:nvSpPr>
          <p:cNvPr id="9" name="Text 6"/>
          <p:cNvSpPr txBox="1"/>
          <p:nvPr/>
        </p:nvSpPr>
        <p:spPr>
          <a:xfrm>
            <a:off x="1554480" y="2816352"/>
            <a:ext cx="384048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Triage before build</a:t>
            </a:r>
            <a:endParaRPr lang="en-US" sz="1400" dirty="0"/>
          </a:p>
        </p:txBody>
      </p:sp>
      <p:sp>
        <p:nvSpPr>
          <p:cNvPr id="10" name="Text 7"/>
          <p:cNvSpPr txBox="1"/>
          <p:nvPr/>
        </p:nvSpPr>
        <p:spPr>
          <a:xfrm>
            <a:off x="1554480" y="3136392"/>
            <a:ext cx="3840480" cy="640080"/>
          </a:xfrm>
          <a:prstGeom prst="rect">
            <a:avLst/>
          </a:prstGeom>
          <a:noFill/>
          <a:ln/>
        </p:spPr>
        <p:txBody>
          <a:bodyPr wrap="square" lIns="0" tIns="0" rIns="0" bIns="0" rtlCol="0" anchor="t"/>
          <a:lstStyle/>
          <a:p>
            <a:pPr indent="0" marL="0">
              <a:buNone/>
            </a:pPr>
            <a:r>
              <a:rPr lang="en-US" sz="1200" dirty="0">
                <a:solidFill>
                  <a:srgbClr val="C9DCD5"/>
                </a:solidFill>
                <a:latin typeface="Calibri" pitchFamily="34" charset="0"/>
                <a:ea typeface="Calibri" pitchFamily="34" charset="-122"/>
                <a:cs typeface="Calibri" pitchFamily="34" charset="-120"/>
              </a:rPr>
              <a:t>Short decision tree for every new AI use case: “Are the steps always the same? → workflow”</a:t>
            </a:r>
            <a:endParaRPr lang="en-US" sz="1200" dirty="0"/>
          </a:p>
        </p:txBody>
      </p:sp>
      <p:sp>
        <p:nvSpPr>
          <p:cNvPr id="11" name="Shape 8"/>
          <p:cNvSpPr/>
          <p:nvPr/>
        </p:nvSpPr>
        <p:spPr>
          <a:xfrm>
            <a:off x="868680" y="3886200"/>
            <a:ext cx="502920" cy="502920"/>
          </a:xfrm>
          <a:prstGeom prst="roundRect">
            <a:avLst>
              <a:gd name="adj" fmla="val 22000"/>
            </a:avLst>
          </a:prstGeom>
          <a:solidFill>
            <a:srgbClr val="11604F"/>
          </a:solidFill>
          <a:ln w="12700">
            <a:solidFill>
              <a:srgbClr val="11604F"/>
            </a:solidFill>
            <a:prstDash val="solid"/>
          </a:ln>
        </p:spPr>
      </p:sp>
      <p:pic>
        <p:nvPicPr>
          <p:cNvPr id="12" name="Image 1" descr="preencoded.png">    </p:cNvPr>
          <p:cNvPicPr>
            <a:picLocks noChangeAspect="1"/>
          </p:cNvPicPr>
          <p:nvPr/>
        </p:nvPicPr>
        <p:blipFill>
          <a:blip r:embed="rId2"/>
          <a:stretch>
            <a:fillRect/>
          </a:stretch>
        </p:blipFill>
        <p:spPr>
          <a:xfrm>
            <a:off x="989381" y="4006901"/>
            <a:ext cx="261518" cy="261518"/>
          </a:xfrm>
          <a:prstGeom prst="rect">
            <a:avLst/>
          </a:prstGeom>
        </p:spPr>
      </p:pic>
      <p:sp>
        <p:nvSpPr>
          <p:cNvPr id="13" name="Text 9"/>
          <p:cNvSpPr txBox="1"/>
          <p:nvPr/>
        </p:nvSpPr>
        <p:spPr>
          <a:xfrm>
            <a:off x="1554480" y="3867912"/>
            <a:ext cx="384048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Efficient defaults</a:t>
            </a:r>
            <a:endParaRPr lang="en-US" sz="1400" dirty="0"/>
          </a:p>
        </p:txBody>
      </p:sp>
      <p:sp>
        <p:nvSpPr>
          <p:cNvPr id="14" name="Text 10"/>
          <p:cNvSpPr txBox="1"/>
          <p:nvPr/>
        </p:nvSpPr>
        <p:spPr>
          <a:xfrm>
            <a:off x="1554480" y="4187952"/>
            <a:ext cx="3840480" cy="640080"/>
          </a:xfrm>
          <a:prstGeom prst="rect">
            <a:avLst/>
          </a:prstGeom>
          <a:noFill/>
          <a:ln/>
        </p:spPr>
        <p:txBody>
          <a:bodyPr wrap="square" lIns="0" tIns="0" rIns="0" bIns="0" rtlCol="0" anchor="t"/>
          <a:lstStyle/>
          <a:p>
            <a:pPr indent="0" marL="0">
              <a:buNone/>
            </a:pPr>
            <a:r>
              <a:rPr lang="en-US" sz="1200" dirty="0">
                <a:solidFill>
                  <a:srgbClr val="C9DCD5"/>
                </a:solidFill>
                <a:latin typeface="Calibri" pitchFamily="34" charset="0"/>
                <a:ea typeface="Calibri" pitchFamily="34" charset="-122"/>
                <a:cs typeface="Calibri" pitchFamily="34" charset="-120"/>
              </a:rPr>
              <a:t>The internal platform offers workflows and small models first; agents need a reason</a:t>
            </a:r>
            <a:endParaRPr lang="en-US" sz="1200" dirty="0"/>
          </a:p>
        </p:txBody>
      </p:sp>
      <p:sp>
        <p:nvSpPr>
          <p:cNvPr id="15" name="Shape 11"/>
          <p:cNvSpPr/>
          <p:nvPr/>
        </p:nvSpPr>
        <p:spPr>
          <a:xfrm>
            <a:off x="868680" y="4937760"/>
            <a:ext cx="502920" cy="502920"/>
          </a:xfrm>
          <a:prstGeom prst="roundRect">
            <a:avLst>
              <a:gd name="adj" fmla="val 22000"/>
            </a:avLst>
          </a:prstGeom>
          <a:solidFill>
            <a:srgbClr val="11604F"/>
          </a:solidFill>
          <a:ln w="12700">
            <a:solidFill>
              <a:srgbClr val="11604F"/>
            </a:solidFill>
            <a:prstDash val="solid"/>
          </a:ln>
        </p:spPr>
      </p:sp>
      <p:pic>
        <p:nvPicPr>
          <p:cNvPr id="16" name="Image 2" descr="preencoded.png">    </p:cNvPr>
          <p:cNvPicPr>
            <a:picLocks noChangeAspect="1"/>
          </p:cNvPicPr>
          <p:nvPr/>
        </p:nvPicPr>
        <p:blipFill>
          <a:blip r:embed="rId3"/>
          <a:stretch>
            <a:fillRect/>
          </a:stretch>
        </p:blipFill>
        <p:spPr>
          <a:xfrm>
            <a:off x="989381" y="5058461"/>
            <a:ext cx="261518" cy="261518"/>
          </a:xfrm>
          <a:prstGeom prst="rect">
            <a:avLst/>
          </a:prstGeom>
        </p:spPr>
      </p:pic>
      <p:sp>
        <p:nvSpPr>
          <p:cNvPr id="17" name="Text 12"/>
          <p:cNvSpPr txBox="1"/>
          <p:nvPr/>
        </p:nvSpPr>
        <p:spPr>
          <a:xfrm>
            <a:off x="1554480" y="4919472"/>
            <a:ext cx="384048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Visible footprint</a:t>
            </a:r>
            <a:endParaRPr lang="en-US" sz="1400" dirty="0"/>
          </a:p>
        </p:txBody>
      </p:sp>
      <p:sp>
        <p:nvSpPr>
          <p:cNvPr id="18" name="Text 13"/>
          <p:cNvSpPr txBox="1"/>
          <p:nvPr/>
        </p:nvSpPr>
        <p:spPr>
          <a:xfrm>
            <a:off x="1554480" y="5239512"/>
            <a:ext cx="3840480" cy="640080"/>
          </a:xfrm>
          <a:prstGeom prst="rect">
            <a:avLst/>
          </a:prstGeom>
          <a:noFill/>
          <a:ln/>
        </p:spPr>
        <p:txBody>
          <a:bodyPr wrap="square" lIns="0" tIns="0" rIns="0" bIns="0" rtlCol="0" anchor="t"/>
          <a:lstStyle/>
          <a:p>
            <a:pPr indent="0" marL="0">
              <a:buNone/>
            </a:pPr>
            <a:r>
              <a:rPr lang="en-US" sz="1200" dirty="0">
                <a:solidFill>
                  <a:srgbClr val="C9DCD5"/>
                </a:solidFill>
                <a:latin typeface="Calibri" pitchFamily="34" charset="0"/>
                <a:ea typeface="Calibri" pitchFamily="34" charset="-122"/>
                <a:cs typeface="Calibri" pitchFamily="34" charset="-120"/>
              </a:rPr>
              <a:t>Compute and energy shown next to cost – “GreenOps” like FinOps</a:t>
            </a:r>
            <a:endParaRPr lang="en-US" sz="1200" dirty="0"/>
          </a:p>
        </p:txBody>
      </p:sp>
      <p:sp>
        <p:nvSpPr>
          <p:cNvPr id="19" name="Text 14"/>
          <p:cNvSpPr txBox="1"/>
          <p:nvPr/>
        </p:nvSpPr>
        <p:spPr>
          <a:xfrm>
            <a:off x="6035040" y="1783080"/>
            <a:ext cx="5486400" cy="411480"/>
          </a:xfrm>
          <a:prstGeom prst="rect">
            <a:avLst/>
          </a:prstGeom>
          <a:noFill/>
          <a:ln/>
        </p:spPr>
        <p:txBody>
          <a:bodyPr wrap="square" lIns="0" tIns="0" rIns="0" bIns="0" rtlCol="0" anchor="ctr"/>
          <a:lstStyle/>
          <a:p>
            <a:pPr indent="0" marL="0">
              <a:buNone/>
            </a:pPr>
            <a:r>
              <a:rPr lang="en-US" sz="2000" b="1" dirty="0">
                <a:solidFill>
                  <a:srgbClr val="11604F"/>
                </a:solidFill>
                <a:latin typeface="Arial" pitchFamily="34" charset="0"/>
                <a:ea typeface="Arial" pitchFamily="34" charset="-122"/>
                <a:cs typeface="Arial" pitchFamily="34" charset="-120"/>
              </a:rPr>
              <a:t>Run lean</a:t>
            </a:r>
            <a:endParaRPr lang="en-US" sz="2000" dirty="0"/>
          </a:p>
        </p:txBody>
      </p:sp>
      <p:sp>
        <p:nvSpPr>
          <p:cNvPr id="20" name="Text 15"/>
          <p:cNvSpPr txBox="1"/>
          <p:nvPr/>
        </p:nvSpPr>
        <p:spPr>
          <a:xfrm>
            <a:off x="6035040" y="2194560"/>
            <a:ext cx="5486400" cy="320040"/>
          </a:xfrm>
          <a:prstGeom prst="rect">
            <a:avLst/>
          </a:prstGeom>
          <a:noFill/>
          <a:ln/>
        </p:spPr>
        <p:txBody>
          <a:bodyPr wrap="square" lIns="0" tIns="0" rIns="0" bIns="0" rtlCol="0" anchor="ctr"/>
          <a:lstStyle/>
          <a:p>
            <a:pPr indent="0" marL="0">
              <a:buNone/>
            </a:pPr>
            <a:r>
              <a:rPr lang="en-US" sz="1300" dirty="0">
                <a:solidFill>
                  <a:srgbClr val="5E6E6A"/>
                </a:solidFill>
                <a:latin typeface="Calibri" pitchFamily="34" charset="0"/>
                <a:ea typeface="Calibri" pitchFamily="34" charset="-122"/>
                <a:cs typeface="Calibri" pitchFamily="34" charset="-120"/>
              </a:rPr>
              <a:t>For the developer, once an agent is justified</a:t>
            </a:r>
            <a:endParaRPr lang="en-US" sz="1300" dirty="0"/>
          </a:p>
        </p:txBody>
      </p:sp>
      <p:sp>
        <p:nvSpPr>
          <p:cNvPr id="21" name="Shape 16"/>
          <p:cNvSpPr/>
          <p:nvPr/>
        </p:nvSpPr>
        <p:spPr>
          <a:xfrm>
            <a:off x="6035040" y="2697480"/>
            <a:ext cx="2697480" cy="1554480"/>
          </a:xfrm>
          <a:prstGeom prst="roundRect">
            <a:avLst>
              <a:gd name="adj" fmla="val 7059"/>
            </a:avLst>
          </a:prstGeom>
          <a:solidFill>
            <a:srgbClr val="EAF4EF"/>
          </a:solidFill>
          <a:ln w="12700">
            <a:solidFill>
              <a:srgbClr val="EAF4EF"/>
            </a:solidFill>
            <a:prstDash val="solid"/>
          </a:ln>
        </p:spPr>
      </p:sp>
      <p:sp>
        <p:nvSpPr>
          <p:cNvPr id="22" name="Shape 17"/>
          <p:cNvSpPr/>
          <p:nvPr/>
        </p:nvSpPr>
        <p:spPr>
          <a:xfrm>
            <a:off x="6263640" y="2926080"/>
            <a:ext cx="457200" cy="457200"/>
          </a:xfrm>
          <a:prstGeom prst="roundRect">
            <a:avLst>
              <a:gd name="adj" fmla="val 22000"/>
            </a:avLst>
          </a:prstGeom>
          <a:solidFill>
            <a:srgbClr val="11604F"/>
          </a:solidFill>
          <a:ln w="12700">
            <a:solidFill>
              <a:srgbClr val="11604F"/>
            </a:solidFill>
            <a:prstDash val="solid"/>
          </a:ln>
        </p:spPr>
      </p:sp>
      <p:pic>
        <p:nvPicPr>
          <p:cNvPr id="23" name="Image 3" descr="preencoded.png">    </p:cNvPr>
          <p:cNvPicPr>
            <a:picLocks noChangeAspect="1"/>
          </p:cNvPicPr>
          <p:nvPr/>
        </p:nvPicPr>
        <p:blipFill>
          <a:blip r:embed="rId4"/>
          <a:stretch>
            <a:fillRect/>
          </a:stretch>
        </p:blipFill>
        <p:spPr>
          <a:xfrm>
            <a:off x="6373368" y="3035808"/>
            <a:ext cx="237744" cy="237744"/>
          </a:xfrm>
          <a:prstGeom prst="rect">
            <a:avLst/>
          </a:prstGeom>
        </p:spPr>
      </p:pic>
      <p:sp>
        <p:nvSpPr>
          <p:cNvPr id="24" name="Text 18"/>
          <p:cNvSpPr txBox="1"/>
          <p:nvPr/>
        </p:nvSpPr>
        <p:spPr>
          <a:xfrm>
            <a:off x="6858000" y="2926080"/>
            <a:ext cx="1737360" cy="457200"/>
          </a:xfrm>
          <a:prstGeom prst="rect">
            <a:avLst/>
          </a:prstGeom>
          <a:noFill/>
          <a:ln/>
        </p:spPr>
        <p:txBody>
          <a:bodyPr wrap="square" lIns="0" tIns="0" rIns="0" bIns="0" rtlCol="0" anchor="ctr"/>
          <a:lstStyle/>
          <a:p>
            <a:pPr indent="0" marL="0">
              <a:buNone/>
            </a:pPr>
            <a:r>
              <a:rPr lang="en-US" sz="1500" b="1" dirty="0">
                <a:solidFill>
                  <a:srgbClr val="1C2B28"/>
                </a:solidFill>
                <a:latin typeface="Arial" pitchFamily="34" charset="0"/>
                <a:ea typeface="Arial" pitchFamily="34" charset="-122"/>
                <a:cs typeface="Arial" pitchFamily="34" charset="-120"/>
              </a:rPr>
              <a:t>Design</a:t>
            </a:r>
            <a:endParaRPr lang="en-US" sz="1500" dirty="0"/>
          </a:p>
        </p:txBody>
      </p:sp>
      <p:sp>
        <p:nvSpPr>
          <p:cNvPr id="25" name="Text 19"/>
          <p:cNvSpPr txBox="1"/>
          <p:nvPr/>
        </p:nvSpPr>
        <p:spPr>
          <a:xfrm>
            <a:off x="6263640" y="3474720"/>
            <a:ext cx="2286000" cy="731520"/>
          </a:xfrm>
          <a:prstGeom prst="rect">
            <a:avLst/>
          </a:prstGeom>
          <a:noFill/>
          <a:ln/>
        </p:spPr>
        <p:txBody>
          <a:bodyPr wrap="square" lIns="0" tIns="0" rIns="0" bIns="0" rtlCol="0" anchor="t"/>
          <a:lstStyle/>
          <a:p>
            <a:pPr indent="0" marL="0">
              <a:buNone/>
            </a:pPr>
            <a:r>
              <a:rPr lang="en-US" sz="1200" dirty="0">
                <a:solidFill>
                  <a:srgbClr val="1C2B28"/>
                </a:solidFill>
                <a:latin typeface="Calibri" pitchFamily="34" charset="0"/>
                <a:ea typeface="Calibri" pitchFamily="34" charset="-122"/>
                <a:cs typeface="Calibri" pitchFamily="34" charset="-120"/>
              </a:rPr>
              <a:t>Route simple steps to small models, cap loops, cache answers</a:t>
            </a:r>
            <a:endParaRPr lang="en-US" sz="1200" dirty="0"/>
          </a:p>
        </p:txBody>
      </p:sp>
      <p:sp>
        <p:nvSpPr>
          <p:cNvPr id="26" name="Shape 20"/>
          <p:cNvSpPr/>
          <p:nvPr/>
        </p:nvSpPr>
        <p:spPr>
          <a:xfrm>
            <a:off x="8869680" y="2697480"/>
            <a:ext cx="2697480" cy="1554480"/>
          </a:xfrm>
          <a:prstGeom prst="roundRect">
            <a:avLst>
              <a:gd name="adj" fmla="val 7059"/>
            </a:avLst>
          </a:prstGeom>
          <a:solidFill>
            <a:srgbClr val="EAF4EF"/>
          </a:solidFill>
          <a:ln w="12700">
            <a:solidFill>
              <a:srgbClr val="EAF4EF"/>
            </a:solidFill>
            <a:prstDash val="solid"/>
          </a:ln>
        </p:spPr>
      </p:sp>
      <p:sp>
        <p:nvSpPr>
          <p:cNvPr id="27" name="Shape 21"/>
          <p:cNvSpPr/>
          <p:nvPr/>
        </p:nvSpPr>
        <p:spPr>
          <a:xfrm>
            <a:off x="9098280" y="2926080"/>
            <a:ext cx="457200" cy="457200"/>
          </a:xfrm>
          <a:prstGeom prst="roundRect">
            <a:avLst>
              <a:gd name="adj" fmla="val 22000"/>
            </a:avLst>
          </a:prstGeom>
          <a:solidFill>
            <a:srgbClr val="11604F"/>
          </a:solidFill>
          <a:ln w="12700">
            <a:solidFill>
              <a:srgbClr val="11604F"/>
            </a:solidFill>
            <a:prstDash val="solid"/>
          </a:ln>
        </p:spPr>
      </p:sp>
      <p:pic>
        <p:nvPicPr>
          <p:cNvPr id="28" name="Image 4" descr="preencoded.png">    </p:cNvPr>
          <p:cNvPicPr>
            <a:picLocks noChangeAspect="1"/>
          </p:cNvPicPr>
          <p:nvPr/>
        </p:nvPicPr>
        <p:blipFill>
          <a:blip r:embed="rId5"/>
          <a:stretch>
            <a:fillRect/>
          </a:stretch>
        </p:blipFill>
        <p:spPr>
          <a:xfrm>
            <a:off x="9208008" y="3035808"/>
            <a:ext cx="237744" cy="237744"/>
          </a:xfrm>
          <a:prstGeom prst="rect">
            <a:avLst/>
          </a:prstGeom>
        </p:spPr>
      </p:pic>
      <p:sp>
        <p:nvSpPr>
          <p:cNvPr id="29" name="Text 22"/>
          <p:cNvSpPr txBox="1"/>
          <p:nvPr/>
        </p:nvSpPr>
        <p:spPr>
          <a:xfrm>
            <a:off x="9692640" y="2926080"/>
            <a:ext cx="1737360" cy="457200"/>
          </a:xfrm>
          <a:prstGeom prst="rect">
            <a:avLst/>
          </a:prstGeom>
          <a:noFill/>
          <a:ln/>
        </p:spPr>
        <p:txBody>
          <a:bodyPr wrap="square" lIns="0" tIns="0" rIns="0" bIns="0" rtlCol="0" anchor="ctr"/>
          <a:lstStyle/>
          <a:p>
            <a:pPr indent="0" marL="0">
              <a:buNone/>
            </a:pPr>
            <a:r>
              <a:rPr lang="en-US" sz="1500" b="1" dirty="0">
                <a:solidFill>
                  <a:srgbClr val="1C2B28"/>
                </a:solidFill>
                <a:latin typeface="Arial" pitchFamily="34" charset="0"/>
                <a:ea typeface="Arial" pitchFamily="34" charset="-122"/>
                <a:cs typeface="Arial" pitchFamily="34" charset="-120"/>
              </a:rPr>
              <a:t>Platform</a:t>
            </a:r>
            <a:endParaRPr lang="en-US" sz="1500" dirty="0"/>
          </a:p>
        </p:txBody>
      </p:sp>
      <p:sp>
        <p:nvSpPr>
          <p:cNvPr id="30" name="Text 23"/>
          <p:cNvSpPr txBox="1"/>
          <p:nvPr/>
        </p:nvSpPr>
        <p:spPr>
          <a:xfrm>
            <a:off x="9098280" y="3474720"/>
            <a:ext cx="2286000" cy="731520"/>
          </a:xfrm>
          <a:prstGeom prst="rect">
            <a:avLst/>
          </a:prstGeom>
          <a:noFill/>
          <a:ln/>
        </p:spPr>
        <p:txBody>
          <a:bodyPr wrap="square" lIns="0" tIns="0" rIns="0" bIns="0" rtlCol="0" anchor="t"/>
          <a:lstStyle/>
          <a:p>
            <a:pPr indent="0" marL="0">
              <a:buNone/>
            </a:pPr>
            <a:r>
              <a:rPr lang="en-US" sz="1200" dirty="0">
                <a:solidFill>
                  <a:srgbClr val="1C2B28"/>
                </a:solidFill>
                <a:latin typeface="Calibri" pitchFamily="34" charset="0"/>
                <a:ea typeface="Calibri" pitchFamily="34" charset="-122"/>
                <a:cs typeface="Calibri" pitchFamily="34" charset="-120"/>
              </a:rPr>
              <a:t>Shared agent library, lifecycle management against agent sprawl</a:t>
            </a:r>
            <a:endParaRPr lang="en-US" sz="1200" dirty="0"/>
          </a:p>
        </p:txBody>
      </p:sp>
      <p:sp>
        <p:nvSpPr>
          <p:cNvPr id="31" name="Shape 24"/>
          <p:cNvSpPr/>
          <p:nvPr/>
        </p:nvSpPr>
        <p:spPr>
          <a:xfrm>
            <a:off x="6035040" y="4434840"/>
            <a:ext cx="2697480" cy="1554480"/>
          </a:xfrm>
          <a:prstGeom prst="roundRect">
            <a:avLst>
              <a:gd name="adj" fmla="val 7059"/>
            </a:avLst>
          </a:prstGeom>
          <a:solidFill>
            <a:srgbClr val="EAF4EF"/>
          </a:solidFill>
          <a:ln w="12700">
            <a:solidFill>
              <a:srgbClr val="EAF4EF"/>
            </a:solidFill>
            <a:prstDash val="solid"/>
          </a:ln>
        </p:spPr>
      </p:sp>
      <p:sp>
        <p:nvSpPr>
          <p:cNvPr id="32" name="Shape 25"/>
          <p:cNvSpPr/>
          <p:nvPr/>
        </p:nvSpPr>
        <p:spPr>
          <a:xfrm>
            <a:off x="6263640" y="4663440"/>
            <a:ext cx="457200" cy="457200"/>
          </a:xfrm>
          <a:prstGeom prst="roundRect">
            <a:avLst>
              <a:gd name="adj" fmla="val 22000"/>
            </a:avLst>
          </a:prstGeom>
          <a:solidFill>
            <a:srgbClr val="11604F"/>
          </a:solidFill>
          <a:ln w="12700">
            <a:solidFill>
              <a:srgbClr val="11604F"/>
            </a:solidFill>
            <a:prstDash val="solid"/>
          </a:ln>
        </p:spPr>
      </p:sp>
      <p:pic>
        <p:nvPicPr>
          <p:cNvPr id="33" name="Image 5" descr="preencoded.png">    </p:cNvPr>
          <p:cNvPicPr>
            <a:picLocks noChangeAspect="1"/>
          </p:cNvPicPr>
          <p:nvPr/>
        </p:nvPicPr>
        <p:blipFill>
          <a:blip r:embed="rId6"/>
          <a:stretch>
            <a:fillRect/>
          </a:stretch>
        </p:blipFill>
        <p:spPr>
          <a:xfrm>
            <a:off x="6373368" y="4773168"/>
            <a:ext cx="237744" cy="237744"/>
          </a:xfrm>
          <a:prstGeom prst="rect">
            <a:avLst/>
          </a:prstGeom>
        </p:spPr>
      </p:pic>
      <p:sp>
        <p:nvSpPr>
          <p:cNvPr id="34" name="Text 26"/>
          <p:cNvSpPr txBox="1"/>
          <p:nvPr/>
        </p:nvSpPr>
        <p:spPr>
          <a:xfrm>
            <a:off x="6858000" y="4663440"/>
            <a:ext cx="1737360" cy="457200"/>
          </a:xfrm>
          <a:prstGeom prst="rect">
            <a:avLst/>
          </a:prstGeom>
          <a:noFill/>
          <a:ln/>
        </p:spPr>
        <p:txBody>
          <a:bodyPr wrap="square" lIns="0" tIns="0" rIns="0" bIns="0" rtlCol="0" anchor="ctr"/>
          <a:lstStyle/>
          <a:p>
            <a:pPr indent="0" marL="0">
              <a:buNone/>
            </a:pPr>
            <a:r>
              <a:rPr lang="en-US" sz="1500" b="1" dirty="0">
                <a:solidFill>
                  <a:srgbClr val="1C2B28"/>
                </a:solidFill>
                <a:latin typeface="Arial" pitchFamily="34" charset="0"/>
                <a:ea typeface="Arial" pitchFamily="34" charset="-122"/>
                <a:cs typeface="Arial" pitchFamily="34" charset="-120"/>
              </a:rPr>
              <a:t>Infrastructure</a:t>
            </a:r>
            <a:endParaRPr lang="en-US" sz="1500" dirty="0"/>
          </a:p>
        </p:txBody>
      </p:sp>
      <p:sp>
        <p:nvSpPr>
          <p:cNvPr id="35" name="Text 27"/>
          <p:cNvSpPr txBox="1"/>
          <p:nvPr/>
        </p:nvSpPr>
        <p:spPr>
          <a:xfrm>
            <a:off x="6263640" y="5212080"/>
            <a:ext cx="2286000" cy="731520"/>
          </a:xfrm>
          <a:prstGeom prst="rect">
            <a:avLst/>
          </a:prstGeom>
          <a:noFill/>
          <a:ln/>
        </p:spPr>
        <p:txBody>
          <a:bodyPr wrap="square" lIns="0" tIns="0" rIns="0" bIns="0" rtlCol="0" anchor="t"/>
          <a:lstStyle/>
          <a:p>
            <a:pPr indent="0" marL="0">
              <a:buNone/>
            </a:pPr>
            <a:r>
              <a:rPr lang="en-US" sz="1200" dirty="0">
                <a:solidFill>
                  <a:srgbClr val="1C2B28"/>
                </a:solidFill>
                <a:latin typeface="Calibri" pitchFamily="34" charset="0"/>
                <a:ea typeface="Calibri" pitchFamily="34" charset="-122"/>
                <a:cs typeface="Calibri" pitchFamily="34" charset="-120"/>
              </a:rPr>
              <a:t>Renewable regions; non-urgent jobs when green energy is available</a:t>
            </a:r>
            <a:endParaRPr lang="en-US" sz="1200" dirty="0"/>
          </a:p>
        </p:txBody>
      </p:sp>
      <p:sp>
        <p:nvSpPr>
          <p:cNvPr id="36" name="Shape 28"/>
          <p:cNvSpPr/>
          <p:nvPr/>
        </p:nvSpPr>
        <p:spPr>
          <a:xfrm>
            <a:off x="8869680" y="4434840"/>
            <a:ext cx="2697480" cy="1554480"/>
          </a:xfrm>
          <a:prstGeom prst="roundRect">
            <a:avLst>
              <a:gd name="adj" fmla="val 7059"/>
            </a:avLst>
          </a:prstGeom>
          <a:solidFill>
            <a:srgbClr val="EAF4EF"/>
          </a:solidFill>
          <a:ln w="12700">
            <a:solidFill>
              <a:srgbClr val="EAF4EF"/>
            </a:solidFill>
            <a:prstDash val="solid"/>
          </a:ln>
        </p:spPr>
      </p:sp>
      <p:sp>
        <p:nvSpPr>
          <p:cNvPr id="37" name="Shape 29"/>
          <p:cNvSpPr/>
          <p:nvPr/>
        </p:nvSpPr>
        <p:spPr>
          <a:xfrm>
            <a:off x="9098280" y="4663440"/>
            <a:ext cx="457200" cy="457200"/>
          </a:xfrm>
          <a:prstGeom prst="roundRect">
            <a:avLst>
              <a:gd name="adj" fmla="val 22000"/>
            </a:avLst>
          </a:prstGeom>
          <a:solidFill>
            <a:srgbClr val="11604F"/>
          </a:solidFill>
          <a:ln w="12700">
            <a:solidFill>
              <a:srgbClr val="11604F"/>
            </a:solidFill>
            <a:prstDash val="solid"/>
          </a:ln>
        </p:spPr>
      </p:sp>
      <p:pic>
        <p:nvPicPr>
          <p:cNvPr id="38" name="Image 6" descr="preencoded.png">    </p:cNvPr>
          <p:cNvPicPr>
            <a:picLocks noChangeAspect="1"/>
          </p:cNvPicPr>
          <p:nvPr/>
        </p:nvPicPr>
        <p:blipFill>
          <a:blip r:embed="rId7"/>
          <a:stretch>
            <a:fillRect/>
          </a:stretch>
        </p:blipFill>
        <p:spPr>
          <a:xfrm>
            <a:off x="9208008" y="4773168"/>
            <a:ext cx="237744" cy="237744"/>
          </a:xfrm>
          <a:prstGeom prst="rect">
            <a:avLst/>
          </a:prstGeom>
        </p:spPr>
      </p:pic>
      <p:sp>
        <p:nvSpPr>
          <p:cNvPr id="39" name="Text 30"/>
          <p:cNvSpPr txBox="1"/>
          <p:nvPr/>
        </p:nvSpPr>
        <p:spPr>
          <a:xfrm>
            <a:off x="9692640" y="4663440"/>
            <a:ext cx="1737360" cy="457200"/>
          </a:xfrm>
          <a:prstGeom prst="rect">
            <a:avLst/>
          </a:prstGeom>
          <a:noFill/>
          <a:ln/>
        </p:spPr>
        <p:txBody>
          <a:bodyPr wrap="square" lIns="0" tIns="0" rIns="0" bIns="0" rtlCol="0" anchor="ctr"/>
          <a:lstStyle/>
          <a:p>
            <a:pPr indent="0" marL="0">
              <a:buNone/>
            </a:pPr>
            <a:r>
              <a:rPr lang="en-US" sz="1500" b="1" dirty="0">
                <a:solidFill>
                  <a:srgbClr val="1C2B28"/>
                </a:solidFill>
                <a:latin typeface="Arial" pitchFamily="34" charset="0"/>
                <a:ea typeface="Arial" pitchFamily="34" charset="-122"/>
                <a:cs typeface="Arial" pitchFamily="34" charset="-120"/>
              </a:rPr>
              <a:t>Governance</a:t>
            </a:r>
            <a:endParaRPr lang="en-US" sz="1500" dirty="0"/>
          </a:p>
        </p:txBody>
      </p:sp>
      <p:sp>
        <p:nvSpPr>
          <p:cNvPr id="40" name="Text 31"/>
          <p:cNvSpPr txBox="1"/>
          <p:nvPr/>
        </p:nvSpPr>
        <p:spPr>
          <a:xfrm>
            <a:off x="9098280" y="5212080"/>
            <a:ext cx="2286000" cy="731520"/>
          </a:xfrm>
          <a:prstGeom prst="rect">
            <a:avLst/>
          </a:prstGeom>
          <a:noFill/>
          <a:ln/>
        </p:spPr>
        <p:txBody>
          <a:bodyPr wrap="square" lIns="0" tIns="0" rIns="0" bIns="0" rtlCol="0" anchor="t"/>
          <a:lstStyle/>
          <a:p>
            <a:pPr indent="0" marL="0">
              <a:buNone/>
            </a:pPr>
            <a:r>
              <a:rPr lang="en-US" sz="1200" dirty="0">
                <a:solidFill>
                  <a:srgbClr val="1C2B28"/>
                </a:solidFill>
                <a:latin typeface="Calibri" pitchFamily="34" charset="0"/>
                <a:ea typeface="Calibri" pitchFamily="34" charset="-122"/>
                <a:cs typeface="Calibri" pitchFamily="34" charset="-120"/>
              </a:rPr>
              <a:t>Footprint as approval criterion; a named owner per agent</a:t>
            </a:r>
            <a:endParaRPr lang="en-US" sz="1200" dirty="0"/>
          </a:p>
        </p:txBody>
      </p:sp>
      <p:sp>
        <p:nvSpPr>
          <p:cNvPr id="41" name="Text 32"/>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07  ·  KEY IDEA</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Agent-to-workflow distillation: agents explore, workflows execute</a:t>
            </a:r>
            <a:endParaRPr lang="en-US" sz="3000" dirty="0"/>
          </a:p>
        </p:txBody>
      </p:sp>
      <p:sp>
        <p:nvSpPr>
          <p:cNvPr id="4" name="Shape 2"/>
          <p:cNvSpPr/>
          <p:nvPr/>
        </p:nvSpPr>
        <p:spPr>
          <a:xfrm>
            <a:off x="1828800" y="2423160"/>
            <a:ext cx="3749040" cy="2880360"/>
          </a:xfrm>
          <a:prstGeom prst="ellipse">
            <a:avLst/>
          </a:prstGeom>
          <a:solidFill>
            <a:srgbClr val="FFFFFF"/>
          </a:solidFill>
          <a:ln w="38100">
            <a:solidFill>
              <a:srgbClr val="D5EADF"/>
            </a:solidFill>
            <a:prstDash val="dash"/>
          </a:ln>
        </p:spPr>
      </p:sp>
      <p:sp>
        <p:nvSpPr>
          <p:cNvPr id="5" name="Text 3"/>
          <p:cNvSpPr txBox="1"/>
          <p:nvPr/>
        </p:nvSpPr>
        <p:spPr>
          <a:xfrm>
            <a:off x="2880360" y="3337560"/>
            <a:ext cx="1645920" cy="914400"/>
          </a:xfrm>
          <a:prstGeom prst="rect">
            <a:avLst/>
          </a:prstGeom>
          <a:noFill/>
          <a:ln/>
        </p:spPr>
        <p:txBody>
          <a:bodyPr wrap="square" lIns="0" tIns="0" rIns="0" bIns="0" rtlCol="0" anchor="ctr"/>
          <a:lstStyle/>
          <a:p>
            <a:pPr algn="ctr" indent="0" marL="0">
              <a:buNone/>
            </a:pPr>
            <a:r>
              <a:rPr lang="en-US" sz="1400" b="1" dirty="0">
                <a:solidFill>
                  <a:srgbClr val="11604F"/>
                </a:solidFill>
                <a:latin typeface="Arial" pitchFamily="34" charset="0"/>
                <a:ea typeface="Arial" pitchFamily="34" charset="-122"/>
                <a:cs typeface="Arial" pitchFamily="34" charset="-120"/>
              </a:rPr>
              <a:t>Agents explore.</a:t>
            </a:r>
            <a:endParaRPr lang="en-US" sz="1400" dirty="0"/>
          </a:p>
          <a:p>
            <a:pPr algn="ctr" indent="0" marL="0">
              <a:buNone/>
            </a:pPr>
            <a:r>
              <a:rPr lang="en-US" sz="1400" b="1" dirty="0">
                <a:solidFill>
                  <a:srgbClr val="1C2B28"/>
                </a:solidFill>
                <a:latin typeface="Arial" pitchFamily="34" charset="0"/>
                <a:ea typeface="Arial" pitchFamily="34" charset="-122"/>
                <a:cs typeface="Arial" pitchFamily="34" charset="-120"/>
              </a:rPr>
              <a:t>Workflows execute.</a:t>
            </a:r>
            <a:endParaRPr lang="en-US" sz="1400" dirty="0"/>
          </a:p>
        </p:txBody>
      </p:sp>
      <p:sp>
        <p:nvSpPr>
          <p:cNvPr id="6" name="Shape 4"/>
          <p:cNvSpPr/>
          <p:nvPr/>
        </p:nvSpPr>
        <p:spPr>
          <a:xfrm>
            <a:off x="2514600" y="1737360"/>
            <a:ext cx="2377440" cy="868680"/>
          </a:xfrm>
          <a:prstGeom prst="roundRect">
            <a:avLst>
              <a:gd name="adj" fmla="val 12632"/>
            </a:avLst>
          </a:prstGeom>
          <a:solidFill>
            <a:srgbClr val="EAF4EF"/>
          </a:solidFill>
          <a:ln w="12700">
            <a:solidFill>
              <a:srgbClr val="EAF4EF"/>
            </a:solidFill>
            <a:prstDash val="solid"/>
          </a:ln>
        </p:spPr>
      </p:sp>
      <p:sp>
        <p:nvSpPr>
          <p:cNvPr id="7" name="Shape 5"/>
          <p:cNvSpPr/>
          <p:nvPr/>
        </p:nvSpPr>
        <p:spPr>
          <a:xfrm>
            <a:off x="2651760" y="1874520"/>
            <a:ext cx="548640" cy="548640"/>
          </a:xfrm>
          <a:prstGeom prst="roundRect">
            <a:avLst>
              <a:gd name="adj" fmla="val 22000"/>
            </a:avLst>
          </a:prstGeom>
          <a:solidFill>
            <a:srgbClr val="11604F"/>
          </a:solidFill>
          <a:ln w="12700">
            <a:solidFill>
              <a:srgbClr val="11604F"/>
            </a:solidFill>
            <a:prstDash val="solid"/>
          </a:ln>
        </p:spPr>
      </p:sp>
      <p:pic>
        <p:nvPicPr>
          <p:cNvPr id="8" name="Image 0" descr="preencoded.png">    </p:cNvPr>
          <p:cNvPicPr>
            <a:picLocks noChangeAspect="1"/>
          </p:cNvPicPr>
          <p:nvPr/>
        </p:nvPicPr>
        <p:blipFill>
          <a:blip r:embed="rId1"/>
          <a:stretch>
            <a:fillRect/>
          </a:stretch>
        </p:blipFill>
        <p:spPr>
          <a:xfrm>
            <a:off x="2783434" y="2006194"/>
            <a:ext cx="285293" cy="285293"/>
          </a:xfrm>
          <a:prstGeom prst="rect">
            <a:avLst/>
          </a:prstGeom>
        </p:spPr>
      </p:pic>
      <p:sp>
        <p:nvSpPr>
          <p:cNvPr id="9" name="Text 6"/>
          <p:cNvSpPr txBox="1"/>
          <p:nvPr/>
        </p:nvSpPr>
        <p:spPr>
          <a:xfrm>
            <a:off x="3337560" y="1737360"/>
            <a:ext cx="1463040" cy="868680"/>
          </a:xfrm>
          <a:prstGeom prst="rect">
            <a:avLst/>
          </a:prstGeom>
          <a:noFill/>
          <a:ln/>
        </p:spPr>
        <p:txBody>
          <a:bodyPr wrap="square" lIns="0" tIns="0" rIns="0" bIns="0" rtlCol="0" anchor="ctr"/>
          <a:lstStyle/>
          <a:p>
            <a:pPr indent="0" marL="0">
              <a:buNone/>
            </a:pPr>
            <a:r>
              <a:rPr lang="en-US" sz="1200" b="1" dirty="0">
                <a:solidFill>
                  <a:srgbClr val="1C2B28"/>
                </a:solidFill>
                <a:latin typeface="Calibri" pitchFamily="34" charset="0"/>
                <a:ea typeface="Calibri" pitchFamily="34" charset="-122"/>
                <a:cs typeface="Calibri" pitchFamily="34" charset="-120"/>
              </a:rPr>
              <a:t>1  Agent handles new, messy cases</a:t>
            </a:r>
            <a:endParaRPr lang="en-US" sz="1200" dirty="0"/>
          </a:p>
        </p:txBody>
      </p:sp>
      <p:sp>
        <p:nvSpPr>
          <p:cNvPr id="10" name="Shape 7"/>
          <p:cNvSpPr/>
          <p:nvPr/>
        </p:nvSpPr>
        <p:spPr>
          <a:xfrm>
            <a:off x="4709160" y="3383280"/>
            <a:ext cx="2377440" cy="868680"/>
          </a:xfrm>
          <a:prstGeom prst="roundRect">
            <a:avLst>
              <a:gd name="adj" fmla="val 12632"/>
            </a:avLst>
          </a:prstGeom>
          <a:solidFill>
            <a:srgbClr val="EAF4EF"/>
          </a:solidFill>
          <a:ln w="12700">
            <a:solidFill>
              <a:srgbClr val="EAF4EF"/>
            </a:solidFill>
            <a:prstDash val="solid"/>
          </a:ln>
        </p:spPr>
      </p:sp>
      <p:sp>
        <p:nvSpPr>
          <p:cNvPr id="11" name="Shape 8"/>
          <p:cNvSpPr/>
          <p:nvPr/>
        </p:nvSpPr>
        <p:spPr>
          <a:xfrm>
            <a:off x="4846320" y="3520440"/>
            <a:ext cx="548640" cy="548640"/>
          </a:xfrm>
          <a:prstGeom prst="roundRect">
            <a:avLst>
              <a:gd name="adj" fmla="val 22000"/>
            </a:avLst>
          </a:prstGeom>
          <a:solidFill>
            <a:srgbClr val="11604F"/>
          </a:solidFill>
          <a:ln w="12700">
            <a:solidFill>
              <a:srgbClr val="11604F"/>
            </a:solidFill>
            <a:prstDash val="solid"/>
          </a:ln>
        </p:spPr>
      </p:sp>
      <p:pic>
        <p:nvPicPr>
          <p:cNvPr id="12" name="Image 1" descr="preencoded.png">    </p:cNvPr>
          <p:cNvPicPr>
            <a:picLocks noChangeAspect="1"/>
          </p:cNvPicPr>
          <p:nvPr/>
        </p:nvPicPr>
        <p:blipFill>
          <a:blip r:embed="rId2"/>
          <a:stretch>
            <a:fillRect/>
          </a:stretch>
        </p:blipFill>
        <p:spPr>
          <a:xfrm>
            <a:off x="4977994" y="3652114"/>
            <a:ext cx="285293" cy="285293"/>
          </a:xfrm>
          <a:prstGeom prst="rect">
            <a:avLst/>
          </a:prstGeom>
        </p:spPr>
      </p:pic>
      <p:sp>
        <p:nvSpPr>
          <p:cNvPr id="13" name="Text 9"/>
          <p:cNvSpPr txBox="1"/>
          <p:nvPr/>
        </p:nvSpPr>
        <p:spPr>
          <a:xfrm>
            <a:off x="5532120" y="3383280"/>
            <a:ext cx="1463040" cy="868680"/>
          </a:xfrm>
          <a:prstGeom prst="rect">
            <a:avLst/>
          </a:prstGeom>
          <a:noFill/>
          <a:ln/>
        </p:spPr>
        <p:txBody>
          <a:bodyPr wrap="square" lIns="0" tIns="0" rIns="0" bIns="0" rtlCol="0" anchor="ctr"/>
          <a:lstStyle/>
          <a:p>
            <a:pPr indent="0" marL="0">
              <a:buNone/>
            </a:pPr>
            <a:r>
              <a:rPr lang="en-US" sz="1200" b="1" dirty="0">
                <a:solidFill>
                  <a:srgbClr val="1C2B28"/>
                </a:solidFill>
                <a:latin typeface="Calibri" pitchFamily="34" charset="0"/>
                <a:ea typeface="Calibri" pitchFamily="34" charset="-122"/>
                <a:cs typeface="Calibri" pitchFamily="34" charset="-120"/>
              </a:rPr>
              <a:t>2  Logs show a repeated path</a:t>
            </a:r>
            <a:endParaRPr lang="en-US" sz="1200" dirty="0"/>
          </a:p>
        </p:txBody>
      </p:sp>
      <p:sp>
        <p:nvSpPr>
          <p:cNvPr id="14" name="Shape 10"/>
          <p:cNvSpPr/>
          <p:nvPr/>
        </p:nvSpPr>
        <p:spPr>
          <a:xfrm>
            <a:off x="2514600" y="4937760"/>
            <a:ext cx="2377440" cy="868680"/>
          </a:xfrm>
          <a:prstGeom prst="roundRect">
            <a:avLst>
              <a:gd name="adj" fmla="val 12632"/>
            </a:avLst>
          </a:prstGeom>
          <a:solidFill>
            <a:srgbClr val="B8E04A"/>
          </a:solidFill>
          <a:ln w="12700">
            <a:solidFill>
              <a:srgbClr val="B8E04A"/>
            </a:solidFill>
            <a:prstDash val="solid"/>
          </a:ln>
        </p:spPr>
      </p:sp>
      <p:sp>
        <p:nvSpPr>
          <p:cNvPr id="15" name="Shape 11"/>
          <p:cNvSpPr/>
          <p:nvPr/>
        </p:nvSpPr>
        <p:spPr>
          <a:xfrm>
            <a:off x="2651760" y="5074920"/>
            <a:ext cx="548640" cy="548640"/>
          </a:xfrm>
          <a:prstGeom prst="roundRect">
            <a:avLst>
              <a:gd name="adj" fmla="val 22000"/>
            </a:avLst>
          </a:prstGeom>
          <a:solidFill>
            <a:srgbClr val="11604F"/>
          </a:solidFill>
          <a:ln w="12700">
            <a:solidFill>
              <a:srgbClr val="11604F"/>
            </a:solidFill>
            <a:prstDash val="solid"/>
          </a:ln>
        </p:spPr>
      </p:sp>
      <p:pic>
        <p:nvPicPr>
          <p:cNvPr id="16" name="Image 2" descr="preencoded.png">    </p:cNvPr>
          <p:cNvPicPr>
            <a:picLocks noChangeAspect="1"/>
          </p:cNvPicPr>
          <p:nvPr/>
        </p:nvPicPr>
        <p:blipFill>
          <a:blip r:embed="rId3"/>
          <a:stretch>
            <a:fillRect/>
          </a:stretch>
        </p:blipFill>
        <p:spPr>
          <a:xfrm>
            <a:off x="2783434" y="5206594"/>
            <a:ext cx="285293" cy="285293"/>
          </a:xfrm>
          <a:prstGeom prst="rect">
            <a:avLst/>
          </a:prstGeom>
        </p:spPr>
      </p:pic>
      <p:sp>
        <p:nvSpPr>
          <p:cNvPr id="17" name="Text 12"/>
          <p:cNvSpPr txBox="1"/>
          <p:nvPr/>
        </p:nvSpPr>
        <p:spPr>
          <a:xfrm>
            <a:off x="3337560" y="4937760"/>
            <a:ext cx="1463040" cy="868680"/>
          </a:xfrm>
          <a:prstGeom prst="rect">
            <a:avLst/>
          </a:prstGeom>
          <a:noFill/>
          <a:ln/>
        </p:spPr>
        <p:txBody>
          <a:bodyPr wrap="square" lIns="0" tIns="0" rIns="0" bIns="0" rtlCol="0" anchor="ctr"/>
          <a:lstStyle/>
          <a:p>
            <a:pPr indent="0" marL="0">
              <a:buNone/>
            </a:pPr>
            <a:r>
              <a:rPr lang="en-US" sz="1200" b="1" dirty="0">
                <a:solidFill>
                  <a:srgbClr val="1C2B28"/>
                </a:solidFill>
                <a:latin typeface="Calibri" pitchFamily="34" charset="0"/>
                <a:ea typeface="Calibri" pitchFamily="34" charset="-122"/>
                <a:cs typeface="Calibri" pitchFamily="34" charset="-120"/>
              </a:rPr>
              <a:t>3  Path is frozen into a workflow</a:t>
            </a:r>
            <a:endParaRPr lang="en-US" sz="1200" dirty="0"/>
          </a:p>
        </p:txBody>
      </p:sp>
      <p:sp>
        <p:nvSpPr>
          <p:cNvPr id="18" name="Shape 13"/>
          <p:cNvSpPr/>
          <p:nvPr/>
        </p:nvSpPr>
        <p:spPr>
          <a:xfrm>
            <a:off x="320040" y="3383280"/>
            <a:ext cx="2377440" cy="868680"/>
          </a:xfrm>
          <a:prstGeom prst="roundRect">
            <a:avLst>
              <a:gd name="adj" fmla="val 12632"/>
            </a:avLst>
          </a:prstGeom>
          <a:solidFill>
            <a:srgbClr val="EAF4EF"/>
          </a:solidFill>
          <a:ln w="12700">
            <a:solidFill>
              <a:srgbClr val="EAF4EF"/>
            </a:solidFill>
            <a:prstDash val="solid"/>
          </a:ln>
        </p:spPr>
      </p:sp>
      <p:sp>
        <p:nvSpPr>
          <p:cNvPr id="19" name="Shape 14"/>
          <p:cNvSpPr/>
          <p:nvPr/>
        </p:nvSpPr>
        <p:spPr>
          <a:xfrm>
            <a:off x="457200" y="3520440"/>
            <a:ext cx="548640" cy="548640"/>
          </a:xfrm>
          <a:prstGeom prst="roundRect">
            <a:avLst>
              <a:gd name="adj" fmla="val 22000"/>
            </a:avLst>
          </a:prstGeom>
          <a:solidFill>
            <a:srgbClr val="11604F"/>
          </a:solidFill>
          <a:ln w="12700">
            <a:solidFill>
              <a:srgbClr val="11604F"/>
            </a:solidFill>
            <a:prstDash val="solid"/>
          </a:ln>
        </p:spPr>
      </p:sp>
      <p:pic>
        <p:nvPicPr>
          <p:cNvPr id="20" name="Image 3" descr="preencoded.png">    </p:cNvPr>
          <p:cNvPicPr>
            <a:picLocks noChangeAspect="1"/>
          </p:cNvPicPr>
          <p:nvPr/>
        </p:nvPicPr>
        <p:blipFill>
          <a:blip r:embed="rId4"/>
          <a:stretch>
            <a:fillRect/>
          </a:stretch>
        </p:blipFill>
        <p:spPr>
          <a:xfrm>
            <a:off x="588874" y="3652114"/>
            <a:ext cx="285293" cy="285293"/>
          </a:xfrm>
          <a:prstGeom prst="rect">
            <a:avLst/>
          </a:prstGeom>
        </p:spPr>
      </p:pic>
      <p:sp>
        <p:nvSpPr>
          <p:cNvPr id="21" name="Text 15"/>
          <p:cNvSpPr txBox="1"/>
          <p:nvPr/>
        </p:nvSpPr>
        <p:spPr>
          <a:xfrm>
            <a:off x="1143000" y="3383280"/>
            <a:ext cx="1463040" cy="868680"/>
          </a:xfrm>
          <a:prstGeom prst="rect">
            <a:avLst/>
          </a:prstGeom>
          <a:noFill/>
          <a:ln/>
        </p:spPr>
        <p:txBody>
          <a:bodyPr wrap="square" lIns="0" tIns="0" rIns="0" bIns="0" rtlCol="0" anchor="ctr"/>
          <a:lstStyle/>
          <a:p>
            <a:pPr indent="0" marL="0">
              <a:buNone/>
            </a:pPr>
            <a:r>
              <a:rPr lang="en-US" sz="1200" b="1" dirty="0">
                <a:solidFill>
                  <a:srgbClr val="1C2B28"/>
                </a:solidFill>
                <a:latin typeface="Calibri" pitchFamily="34" charset="0"/>
                <a:ea typeface="Calibri" pitchFamily="34" charset="-122"/>
                <a:cs typeface="Calibri" pitchFamily="34" charset="-120"/>
              </a:rPr>
              <a:t>4  Agent is freed for the next new problem</a:t>
            </a:r>
            <a:endParaRPr lang="en-US" sz="1200" dirty="0"/>
          </a:p>
        </p:txBody>
      </p:sp>
      <p:sp>
        <p:nvSpPr>
          <p:cNvPr id="22" name="Shape 16"/>
          <p:cNvSpPr/>
          <p:nvPr/>
        </p:nvSpPr>
        <p:spPr>
          <a:xfrm>
            <a:off x="7315200" y="1783080"/>
            <a:ext cx="4327855" cy="4206240"/>
          </a:xfrm>
          <a:prstGeom prst="roundRect">
            <a:avLst>
              <a:gd name="adj" fmla="val 2609"/>
            </a:avLst>
          </a:prstGeom>
          <a:solidFill>
            <a:srgbClr val="0B2B26"/>
          </a:solidFill>
          <a:ln w="12700">
            <a:solidFill>
              <a:srgbClr val="0B2B26"/>
            </a:solidFill>
            <a:prstDash val="solid"/>
          </a:ln>
        </p:spPr>
      </p:sp>
      <p:sp>
        <p:nvSpPr>
          <p:cNvPr id="23" name="Text 17"/>
          <p:cNvSpPr txBox="1"/>
          <p:nvPr/>
        </p:nvSpPr>
        <p:spPr>
          <a:xfrm>
            <a:off x="7635240" y="2011680"/>
            <a:ext cx="3749040" cy="274320"/>
          </a:xfrm>
          <a:prstGeom prst="rect">
            <a:avLst/>
          </a:prstGeom>
          <a:noFill/>
          <a:ln/>
        </p:spPr>
        <p:txBody>
          <a:bodyPr wrap="square" lIns="0" tIns="0" rIns="0" bIns="0" rtlCol="0" anchor="ctr"/>
          <a:lstStyle/>
          <a:p>
            <a:pPr indent="0" marL="0">
              <a:buNone/>
            </a:pPr>
            <a:r>
              <a:rPr lang="en-US" sz="1100" b="1" spc="200" kern="0" dirty="0">
                <a:solidFill>
                  <a:srgbClr val="B8E04A"/>
                </a:solidFill>
                <a:latin typeface="Arial" pitchFamily="34" charset="0"/>
                <a:ea typeface="Arial" pitchFamily="34" charset="-122"/>
                <a:cs typeface="Arial" pitchFamily="34" charset="-120"/>
              </a:rPr>
              <a:t>IN LENA’S PROCESS</a:t>
            </a:r>
            <a:endParaRPr lang="en-US" sz="1100" dirty="0"/>
          </a:p>
        </p:txBody>
      </p:sp>
      <p:sp>
        <p:nvSpPr>
          <p:cNvPr id="24" name="Text 18"/>
          <p:cNvSpPr txBox="1"/>
          <p:nvPr/>
        </p:nvSpPr>
        <p:spPr>
          <a:xfrm>
            <a:off x="7635240" y="2423160"/>
            <a:ext cx="3703320" cy="24688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An agent starts resolving price mismatches between invoice, purchase order and contract.</a:t>
            </a:r>
            <a:endParaRPr lang="en-US" sz="1400" dirty="0"/>
          </a:p>
          <a:p>
            <a:pPr indent="0" marL="0">
              <a:buNone/>
            </a:pPr>
            <a:r>
              <a:rPr lang="en-US" sz="600" dirty="0">
                <a:solidFill>
                  <a:srgbClr val="FFFFFF"/>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After some weeks, the logs show most cases follow the same few steps.</a:t>
            </a:r>
            <a:endParaRPr lang="en-US" sz="1400" dirty="0"/>
          </a:p>
          <a:p>
            <a:pPr indent="0" marL="0">
              <a:buNone/>
            </a:pPr>
            <a:r>
              <a:rPr lang="en-US" sz="600" dirty="0">
                <a:solidFill>
                  <a:srgbClr val="FFFFFF"/>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Those steps become a fixed workflow. The agent now only handles the real exceptions.</a:t>
            </a:r>
            <a:endParaRPr lang="en-US" sz="1400" dirty="0"/>
          </a:p>
        </p:txBody>
      </p:sp>
      <p:sp>
        <p:nvSpPr>
          <p:cNvPr id="25" name="Text 19"/>
          <p:cNvSpPr txBox="1"/>
          <p:nvPr/>
        </p:nvSpPr>
        <p:spPr>
          <a:xfrm>
            <a:off x="7635240" y="5074920"/>
            <a:ext cx="3703320" cy="685800"/>
          </a:xfrm>
          <a:prstGeom prst="rect">
            <a:avLst/>
          </a:prstGeom>
          <a:noFill/>
          <a:ln/>
        </p:spPr>
        <p:txBody>
          <a:bodyPr wrap="square" lIns="0" tIns="0" rIns="0" bIns="0" rtlCol="0" anchor="t"/>
          <a:lstStyle/>
          <a:p>
            <a:pPr indent="0" marL="0">
              <a:buNone/>
            </a:pPr>
            <a:r>
              <a:rPr lang="en-US" sz="1500" b="1" i="1" dirty="0">
                <a:solidFill>
                  <a:srgbClr val="B8E04A"/>
                </a:solidFill>
                <a:latin typeface="Arial" pitchFamily="34" charset="0"/>
                <a:ea typeface="Arial" pitchFamily="34" charset="-122"/>
                <a:cs typeface="Arial" pitchFamily="34" charset="-120"/>
              </a:rPr>
              <a:t>The ladder becomes a cycle, not a one-off choice.</a:t>
            </a:r>
            <a:endParaRPr lang="en-US" sz="1500" dirty="0"/>
          </a:p>
        </p:txBody>
      </p:sp>
      <p:sp>
        <p:nvSpPr>
          <p:cNvPr id="26" name="Text 2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08  ·  MEASUREMENT</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How we know it works: measure from logs, not with more AI</a:t>
            </a:r>
            <a:endParaRPr lang="en-US" sz="3000" dirty="0"/>
          </a:p>
        </p:txBody>
      </p:sp>
      <p:sp>
        <p:nvSpPr>
          <p:cNvPr id="4" name="Shape 2"/>
          <p:cNvSpPr/>
          <p:nvPr/>
        </p:nvSpPr>
        <p:spPr>
          <a:xfrm>
            <a:off x="548640" y="1737360"/>
            <a:ext cx="6766560" cy="731520"/>
          </a:xfrm>
          <a:prstGeom prst="roundRect">
            <a:avLst>
              <a:gd name="adj" fmla="val 15000"/>
            </a:avLst>
          </a:prstGeom>
          <a:solidFill>
            <a:srgbClr val="EAF4EF"/>
          </a:solidFill>
          <a:ln w="12700">
            <a:solidFill>
              <a:srgbClr val="EAF4EF"/>
            </a:solidFill>
            <a:prstDash val="solid"/>
          </a:ln>
        </p:spPr>
      </p:sp>
      <p:sp>
        <p:nvSpPr>
          <p:cNvPr id="5" name="Text 3"/>
          <p:cNvSpPr txBox="1"/>
          <p:nvPr/>
        </p:nvSpPr>
        <p:spPr>
          <a:xfrm>
            <a:off x="777240" y="1737360"/>
            <a:ext cx="2011680" cy="73152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Path-variance check</a:t>
            </a:r>
            <a:endParaRPr lang="en-US" sz="1400" dirty="0"/>
          </a:p>
        </p:txBody>
      </p:sp>
      <p:sp>
        <p:nvSpPr>
          <p:cNvPr id="6" name="Text 4"/>
          <p:cNvSpPr txBox="1"/>
          <p:nvPr/>
        </p:nvSpPr>
        <p:spPr>
          <a:xfrm>
            <a:off x="2834640" y="1737360"/>
            <a:ext cx="3017520" cy="73152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An agent taking the same steps every time is a workflow in disguise</a:t>
            </a:r>
            <a:endParaRPr lang="en-US" sz="1200" dirty="0"/>
          </a:p>
        </p:txBody>
      </p:sp>
      <p:sp>
        <p:nvSpPr>
          <p:cNvPr id="7" name="Shape 5"/>
          <p:cNvSpPr/>
          <p:nvPr/>
        </p:nvSpPr>
        <p:spPr>
          <a:xfrm>
            <a:off x="5943600" y="1920240"/>
            <a:ext cx="1234440" cy="365760"/>
          </a:xfrm>
          <a:prstGeom prst="roundRect">
            <a:avLst>
              <a:gd name="adj" fmla="val 50000"/>
            </a:avLst>
          </a:prstGeom>
          <a:solidFill>
            <a:srgbClr val="B8E04A"/>
          </a:solidFill>
          <a:ln w="12700">
            <a:solidFill>
              <a:srgbClr val="B8E04A"/>
            </a:solidFill>
            <a:prstDash val="solid"/>
          </a:ln>
        </p:spPr>
      </p:sp>
      <p:sp>
        <p:nvSpPr>
          <p:cNvPr id="8" name="Text 6"/>
          <p:cNvSpPr txBox="1"/>
          <p:nvPr/>
        </p:nvSpPr>
        <p:spPr>
          <a:xfrm>
            <a:off x="5943600" y="1920240"/>
            <a:ext cx="1234440" cy="365760"/>
          </a:xfrm>
          <a:prstGeom prst="rect">
            <a:avLst/>
          </a:prstGeom>
          <a:noFill/>
          <a:ln/>
        </p:spPr>
        <p:txBody>
          <a:bodyPr wrap="square" lIns="0" tIns="0" rIns="0" bIns="0" rtlCol="0" anchor="ctr"/>
          <a:lstStyle/>
          <a:p>
            <a:pPr algn="ctr" indent="0" marL="0">
              <a:buNone/>
            </a:pPr>
            <a:r>
              <a:rPr lang="en-US" sz="1000" b="1" dirty="0">
                <a:solidFill>
                  <a:srgbClr val="1C2B28"/>
                </a:solidFill>
                <a:latin typeface="Calibri" pitchFamily="34" charset="0"/>
                <a:ea typeface="Calibri" pitchFamily="34" charset="-122"/>
                <a:cs typeface="Calibri" pitchFamily="34" charset="-120"/>
              </a:rPr>
              <a:t>Very low</a:t>
            </a:r>
            <a:endParaRPr lang="en-US" sz="1000" dirty="0"/>
          </a:p>
        </p:txBody>
      </p:sp>
      <p:sp>
        <p:nvSpPr>
          <p:cNvPr id="9" name="Shape 7"/>
          <p:cNvSpPr/>
          <p:nvPr/>
        </p:nvSpPr>
        <p:spPr>
          <a:xfrm>
            <a:off x="548640" y="2606040"/>
            <a:ext cx="6766560" cy="731520"/>
          </a:xfrm>
          <a:prstGeom prst="roundRect">
            <a:avLst>
              <a:gd name="adj" fmla="val 15000"/>
            </a:avLst>
          </a:prstGeom>
          <a:solidFill>
            <a:srgbClr val="EAF4EF"/>
          </a:solidFill>
          <a:ln w="12700">
            <a:solidFill>
              <a:srgbClr val="EAF4EF"/>
            </a:solidFill>
            <a:prstDash val="solid"/>
          </a:ln>
        </p:spPr>
      </p:sp>
      <p:sp>
        <p:nvSpPr>
          <p:cNvPr id="10" name="Text 8"/>
          <p:cNvSpPr txBox="1"/>
          <p:nvPr/>
        </p:nvSpPr>
        <p:spPr>
          <a:xfrm>
            <a:off x="777240" y="2606040"/>
            <a:ext cx="2011680" cy="73152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Process mining</a:t>
            </a:r>
            <a:endParaRPr lang="en-US" sz="1400" dirty="0"/>
          </a:p>
        </p:txBody>
      </p:sp>
      <p:sp>
        <p:nvSpPr>
          <p:cNvPr id="11" name="Text 9"/>
          <p:cNvSpPr txBox="1"/>
          <p:nvPr/>
        </p:nvSpPr>
        <p:spPr>
          <a:xfrm>
            <a:off x="2834640" y="2606040"/>
            <a:ext cx="3017520" cy="73152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Event logs show how processes really run – SAP already has the tooling</a:t>
            </a:r>
            <a:endParaRPr lang="en-US" sz="1200" dirty="0"/>
          </a:p>
        </p:txBody>
      </p:sp>
      <p:sp>
        <p:nvSpPr>
          <p:cNvPr id="12" name="Shape 10"/>
          <p:cNvSpPr/>
          <p:nvPr/>
        </p:nvSpPr>
        <p:spPr>
          <a:xfrm>
            <a:off x="5943600" y="2788920"/>
            <a:ext cx="1234440" cy="365760"/>
          </a:xfrm>
          <a:prstGeom prst="roundRect">
            <a:avLst>
              <a:gd name="adj" fmla="val 50000"/>
            </a:avLst>
          </a:prstGeom>
          <a:solidFill>
            <a:srgbClr val="B8E04A"/>
          </a:solidFill>
          <a:ln w="12700">
            <a:solidFill>
              <a:srgbClr val="B8E04A"/>
            </a:solidFill>
            <a:prstDash val="solid"/>
          </a:ln>
        </p:spPr>
      </p:sp>
      <p:sp>
        <p:nvSpPr>
          <p:cNvPr id="13" name="Text 11"/>
          <p:cNvSpPr txBox="1"/>
          <p:nvPr/>
        </p:nvSpPr>
        <p:spPr>
          <a:xfrm>
            <a:off x="5943600" y="2788920"/>
            <a:ext cx="1234440" cy="365760"/>
          </a:xfrm>
          <a:prstGeom prst="rect">
            <a:avLst/>
          </a:prstGeom>
          <a:noFill/>
          <a:ln/>
        </p:spPr>
        <p:txBody>
          <a:bodyPr wrap="square" lIns="0" tIns="0" rIns="0" bIns="0" rtlCol="0" anchor="ctr"/>
          <a:lstStyle/>
          <a:p>
            <a:pPr algn="ctr" indent="0" marL="0">
              <a:buNone/>
            </a:pPr>
            <a:r>
              <a:rPr lang="en-US" sz="1000" b="1" dirty="0">
                <a:solidFill>
                  <a:srgbClr val="1C2B28"/>
                </a:solidFill>
                <a:latin typeface="Calibri" pitchFamily="34" charset="0"/>
                <a:ea typeface="Calibri" pitchFamily="34" charset="-122"/>
                <a:cs typeface="Calibri" pitchFamily="34" charset="-120"/>
              </a:rPr>
              <a:t>Low</a:t>
            </a:r>
            <a:endParaRPr lang="en-US" sz="1000" dirty="0"/>
          </a:p>
        </p:txBody>
      </p:sp>
      <p:sp>
        <p:nvSpPr>
          <p:cNvPr id="14" name="Shape 12"/>
          <p:cNvSpPr/>
          <p:nvPr/>
        </p:nvSpPr>
        <p:spPr>
          <a:xfrm>
            <a:off x="548640" y="3474720"/>
            <a:ext cx="6766560" cy="731520"/>
          </a:xfrm>
          <a:prstGeom prst="roundRect">
            <a:avLst>
              <a:gd name="adj" fmla="val 15000"/>
            </a:avLst>
          </a:prstGeom>
          <a:solidFill>
            <a:srgbClr val="EAF4EF"/>
          </a:solidFill>
          <a:ln w="12700">
            <a:solidFill>
              <a:srgbClr val="EAF4EF"/>
            </a:solidFill>
            <a:prstDash val="solid"/>
          </a:ln>
        </p:spPr>
      </p:sp>
      <p:sp>
        <p:nvSpPr>
          <p:cNvPr id="15" name="Text 13"/>
          <p:cNvSpPr txBox="1"/>
          <p:nvPr/>
        </p:nvSpPr>
        <p:spPr>
          <a:xfrm>
            <a:off x="777240" y="3474720"/>
            <a:ext cx="2011680" cy="73152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Triage vs reality</a:t>
            </a:r>
            <a:endParaRPr lang="en-US" sz="1400" dirty="0"/>
          </a:p>
        </p:txBody>
      </p:sp>
      <p:sp>
        <p:nvSpPr>
          <p:cNvPr id="16" name="Text 14"/>
          <p:cNvSpPr txBox="1"/>
          <p:nvPr/>
        </p:nvSpPr>
        <p:spPr>
          <a:xfrm>
            <a:off x="2834640" y="3474720"/>
            <a:ext cx="3017520" cy="73152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Compare the chosen ladder step with actual behaviour</a:t>
            </a:r>
            <a:endParaRPr lang="en-US" sz="1200" dirty="0"/>
          </a:p>
        </p:txBody>
      </p:sp>
      <p:sp>
        <p:nvSpPr>
          <p:cNvPr id="17" name="Shape 15"/>
          <p:cNvSpPr/>
          <p:nvPr/>
        </p:nvSpPr>
        <p:spPr>
          <a:xfrm>
            <a:off x="5943600" y="3657600"/>
            <a:ext cx="1234440" cy="365760"/>
          </a:xfrm>
          <a:prstGeom prst="roundRect">
            <a:avLst>
              <a:gd name="adj" fmla="val 50000"/>
            </a:avLst>
          </a:prstGeom>
          <a:solidFill>
            <a:srgbClr val="B8E04A"/>
          </a:solidFill>
          <a:ln w="12700">
            <a:solidFill>
              <a:srgbClr val="B8E04A"/>
            </a:solidFill>
            <a:prstDash val="solid"/>
          </a:ln>
        </p:spPr>
      </p:sp>
      <p:sp>
        <p:nvSpPr>
          <p:cNvPr id="18" name="Text 16"/>
          <p:cNvSpPr txBox="1"/>
          <p:nvPr/>
        </p:nvSpPr>
        <p:spPr>
          <a:xfrm>
            <a:off x="5943600" y="3657600"/>
            <a:ext cx="1234440" cy="365760"/>
          </a:xfrm>
          <a:prstGeom prst="rect">
            <a:avLst/>
          </a:prstGeom>
          <a:noFill/>
          <a:ln/>
        </p:spPr>
        <p:txBody>
          <a:bodyPr wrap="square" lIns="0" tIns="0" rIns="0" bIns="0" rtlCol="0" anchor="ctr"/>
          <a:lstStyle/>
          <a:p>
            <a:pPr algn="ctr" indent="0" marL="0">
              <a:buNone/>
            </a:pPr>
            <a:r>
              <a:rPr lang="en-US" sz="1000" b="1" dirty="0">
                <a:solidFill>
                  <a:srgbClr val="1C2B28"/>
                </a:solidFill>
                <a:latin typeface="Calibri" pitchFamily="34" charset="0"/>
                <a:ea typeface="Calibri" pitchFamily="34" charset="-122"/>
                <a:cs typeface="Calibri" pitchFamily="34" charset="-120"/>
              </a:rPr>
              <a:t>Low</a:t>
            </a:r>
            <a:endParaRPr lang="en-US" sz="1000" dirty="0"/>
          </a:p>
        </p:txBody>
      </p:sp>
      <p:sp>
        <p:nvSpPr>
          <p:cNvPr id="19" name="Shape 17"/>
          <p:cNvSpPr/>
          <p:nvPr/>
        </p:nvSpPr>
        <p:spPr>
          <a:xfrm>
            <a:off x="548640" y="4343400"/>
            <a:ext cx="6766560" cy="731520"/>
          </a:xfrm>
          <a:prstGeom prst="roundRect">
            <a:avLst>
              <a:gd name="adj" fmla="val 15000"/>
            </a:avLst>
          </a:prstGeom>
          <a:solidFill>
            <a:srgbClr val="FFFFFF"/>
          </a:solidFill>
          <a:ln w="12700">
            <a:solidFill>
              <a:srgbClr val="FFFFFF"/>
            </a:solidFill>
            <a:prstDash val="solid"/>
          </a:ln>
        </p:spPr>
      </p:sp>
      <p:sp>
        <p:nvSpPr>
          <p:cNvPr id="20" name="Shape 18"/>
          <p:cNvSpPr/>
          <p:nvPr/>
        </p:nvSpPr>
        <p:spPr>
          <a:xfrm>
            <a:off x="548640" y="4343400"/>
            <a:ext cx="6766560" cy="731520"/>
          </a:xfrm>
          <a:prstGeom prst="roundRect">
            <a:avLst>
              <a:gd name="adj" fmla="val 15000"/>
            </a:avLst>
          </a:prstGeom>
          <a:solidFill>
            <a:srgbClr val="FFFFFF"/>
          </a:solidFill>
          <a:ln w="15875">
            <a:solidFill>
              <a:srgbClr val="D5EADF"/>
            </a:solidFill>
            <a:prstDash val="solid"/>
          </a:ln>
        </p:spPr>
      </p:sp>
      <p:sp>
        <p:nvSpPr>
          <p:cNvPr id="21" name="Text 19"/>
          <p:cNvSpPr txBox="1"/>
          <p:nvPr/>
        </p:nvSpPr>
        <p:spPr>
          <a:xfrm>
            <a:off x="777240" y="4343400"/>
            <a:ext cx="2011680" cy="73152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Pilot comparison</a:t>
            </a:r>
            <a:endParaRPr lang="en-US" sz="1400" dirty="0"/>
          </a:p>
        </p:txBody>
      </p:sp>
      <p:sp>
        <p:nvSpPr>
          <p:cNvPr id="22" name="Text 20"/>
          <p:cNvSpPr txBox="1"/>
          <p:nvPr/>
        </p:nvSpPr>
        <p:spPr>
          <a:xfrm>
            <a:off x="2834640" y="4343400"/>
            <a:ext cx="3017520" cy="73152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Run workflow and agent side by side for high-impact cases</a:t>
            </a:r>
            <a:endParaRPr lang="en-US" sz="1200" dirty="0"/>
          </a:p>
        </p:txBody>
      </p:sp>
      <p:sp>
        <p:nvSpPr>
          <p:cNvPr id="23" name="Shape 21"/>
          <p:cNvSpPr/>
          <p:nvPr/>
        </p:nvSpPr>
        <p:spPr>
          <a:xfrm>
            <a:off x="5943600" y="4526280"/>
            <a:ext cx="1234440" cy="365760"/>
          </a:xfrm>
          <a:prstGeom prst="roundRect">
            <a:avLst>
              <a:gd name="adj" fmla="val 50000"/>
            </a:avLst>
          </a:prstGeom>
          <a:solidFill>
            <a:srgbClr val="D5EADF"/>
          </a:solidFill>
          <a:ln w="12700">
            <a:solidFill>
              <a:srgbClr val="D5EADF"/>
            </a:solidFill>
            <a:prstDash val="solid"/>
          </a:ln>
        </p:spPr>
      </p:sp>
      <p:sp>
        <p:nvSpPr>
          <p:cNvPr id="24" name="Text 22"/>
          <p:cNvSpPr txBox="1"/>
          <p:nvPr/>
        </p:nvSpPr>
        <p:spPr>
          <a:xfrm>
            <a:off x="5943600" y="4526280"/>
            <a:ext cx="1234440" cy="365760"/>
          </a:xfrm>
          <a:prstGeom prst="rect">
            <a:avLst/>
          </a:prstGeom>
          <a:noFill/>
          <a:ln/>
        </p:spPr>
        <p:txBody>
          <a:bodyPr wrap="square" lIns="0" tIns="0" rIns="0" bIns="0" rtlCol="0" anchor="ctr"/>
          <a:lstStyle/>
          <a:p>
            <a:pPr algn="ctr" indent="0" marL="0">
              <a:buNone/>
            </a:pPr>
            <a:r>
              <a:rPr lang="en-US" sz="1000" b="1" dirty="0">
                <a:solidFill>
                  <a:srgbClr val="1C2B28"/>
                </a:solidFill>
                <a:latin typeface="Calibri" pitchFamily="34" charset="0"/>
                <a:ea typeface="Calibri" pitchFamily="34" charset="-122"/>
                <a:cs typeface="Calibri" pitchFamily="34" charset="-120"/>
              </a:rPr>
              <a:t>Medium, one-off</a:t>
            </a:r>
            <a:endParaRPr lang="en-US" sz="1000" dirty="0"/>
          </a:p>
        </p:txBody>
      </p:sp>
      <p:sp>
        <p:nvSpPr>
          <p:cNvPr id="25" name="Shape 23"/>
          <p:cNvSpPr/>
          <p:nvPr/>
        </p:nvSpPr>
        <p:spPr>
          <a:xfrm>
            <a:off x="548640" y="5212080"/>
            <a:ext cx="6766560" cy="731520"/>
          </a:xfrm>
          <a:prstGeom prst="roundRect">
            <a:avLst>
              <a:gd name="adj" fmla="val 15000"/>
            </a:avLst>
          </a:prstGeom>
          <a:solidFill>
            <a:srgbClr val="FFFFFF"/>
          </a:solidFill>
          <a:ln w="12700">
            <a:solidFill>
              <a:srgbClr val="FFFFFF"/>
            </a:solidFill>
            <a:prstDash val="solid"/>
          </a:ln>
        </p:spPr>
      </p:sp>
      <p:sp>
        <p:nvSpPr>
          <p:cNvPr id="26" name="Shape 24"/>
          <p:cNvSpPr/>
          <p:nvPr/>
        </p:nvSpPr>
        <p:spPr>
          <a:xfrm>
            <a:off x="548640" y="5212080"/>
            <a:ext cx="6766560" cy="731520"/>
          </a:xfrm>
          <a:prstGeom prst="roundRect">
            <a:avLst>
              <a:gd name="adj" fmla="val 15000"/>
            </a:avLst>
          </a:prstGeom>
          <a:solidFill>
            <a:srgbClr val="FFFFFF"/>
          </a:solidFill>
          <a:ln w="15875">
            <a:solidFill>
              <a:srgbClr val="D5EADF"/>
            </a:solidFill>
            <a:prstDash val="solid"/>
          </a:ln>
        </p:spPr>
      </p:sp>
      <p:sp>
        <p:nvSpPr>
          <p:cNvPr id="27" name="Text 25"/>
          <p:cNvSpPr txBox="1"/>
          <p:nvPr/>
        </p:nvSpPr>
        <p:spPr>
          <a:xfrm>
            <a:off x="777240" y="5212080"/>
            <a:ext cx="2011680" cy="73152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Targeted AI review</a:t>
            </a:r>
            <a:endParaRPr lang="en-US" sz="1400" dirty="0"/>
          </a:p>
        </p:txBody>
      </p:sp>
      <p:sp>
        <p:nvSpPr>
          <p:cNvPr id="28" name="Text 26"/>
          <p:cNvSpPr txBox="1"/>
          <p:nvPr/>
        </p:nvSpPr>
        <p:spPr>
          <a:xfrm>
            <a:off x="2834640" y="5212080"/>
            <a:ext cx="3017520" cy="73152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Small model reviews only flagged, high-consumption cases</a:t>
            </a:r>
            <a:endParaRPr lang="en-US" sz="1200" dirty="0"/>
          </a:p>
        </p:txBody>
      </p:sp>
      <p:sp>
        <p:nvSpPr>
          <p:cNvPr id="29" name="Shape 27"/>
          <p:cNvSpPr/>
          <p:nvPr/>
        </p:nvSpPr>
        <p:spPr>
          <a:xfrm>
            <a:off x="5943600" y="5394960"/>
            <a:ext cx="1234440" cy="365760"/>
          </a:xfrm>
          <a:prstGeom prst="roundRect">
            <a:avLst>
              <a:gd name="adj" fmla="val 50000"/>
            </a:avLst>
          </a:prstGeom>
          <a:solidFill>
            <a:srgbClr val="D5EADF"/>
          </a:solidFill>
          <a:ln w="12700">
            <a:solidFill>
              <a:srgbClr val="D5EADF"/>
            </a:solidFill>
            <a:prstDash val="solid"/>
          </a:ln>
        </p:spPr>
      </p:sp>
      <p:sp>
        <p:nvSpPr>
          <p:cNvPr id="30" name="Text 28"/>
          <p:cNvSpPr txBox="1"/>
          <p:nvPr/>
        </p:nvSpPr>
        <p:spPr>
          <a:xfrm>
            <a:off x="5943600" y="5394960"/>
            <a:ext cx="1234440" cy="365760"/>
          </a:xfrm>
          <a:prstGeom prst="rect">
            <a:avLst/>
          </a:prstGeom>
          <a:noFill/>
          <a:ln/>
        </p:spPr>
        <p:txBody>
          <a:bodyPr wrap="square" lIns="0" tIns="0" rIns="0" bIns="0" rtlCol="0" anchor="ctr"/>
          <a:lstStyle/>
          <a:p>
            <a:pPr algn="ctr" indent="0" marL="0">
              <a:buNone/>
            </a:pPr>
            <a:r>
              <a:rPr lang="en-US" sz="1000" b="1" dirty="0">
                <a:solidFill>
                  <a:srgbClr val="1C2B28"/>
                </a:solidFill>
                <a:latin typeface="Calibri" pitchFamily="34" charset="0"/>
                <a:ea typeface="Calibri" pitchFamily="34" charset="-122"/>
                <a:cs typeface="Calibri" pitchFamily="34" charset="-120"/>
              </a:rPr>
              <a:t>Medium, sampled</a:t>
            </a:r>
            <a:endParaRPr lang="en-US" sz="1000" dirty="0"/>
          </a:p>
        </p:txBody>
      </p:sp>
      <p:sp>
        <p:nvSpPr>
          <p:cNvPr id="31" name="Text 29"/>
          <p:cNvSpPr txBox="1"/>
          <p:nvPr/>
        </p:nvSpPr>
        <p:spPr>
          <a:xfrm>
            <a:off x="548640" y="6126480"/>
            <a:ext cx="2743200" cy="274320"/>
          </a:xfrm>
          <a:prstGeom prst="rect">
            <a:avLst/>
          </a:prstGeom>
          <a:noFill/>
          <a:ln/>
        </p:spPr>
        <p:txBody>
          <a:bodyPr wrap="square" lIns="0" tIns="0" rIns="0" bIns="0" rtlCol="0" anchor="ctr"/>
          <a:lstStyle/>
          <a:p>
            <a:pPr indent="0" marL="0">
              <a:buNone/>
            </a:pPr>
            <a:r>
              <a:rPr lang="en-US" sz="1100" i="1" dirty="0">
                <a:solidFill>
                  <a:srgbClr val="5E6E6A"/>
                </a:solidFill>
                <a:latin typeface="Calibri" pitchFamily="34" charset="0"/>
                <a:ea typeface="Calibri" pitchFamily="34" charset="-122"/>
                <a:cs typeface="Calibri" pitchFamily="34" charset="-120"/>
              </a:rPr>
              <a:t>cheapest first ↓</a:t>
            </a:r>
            <a:endParaRPr lang="en-US" sz="1100" dirty="0"/>
          </a:p>
        </p:txBody>
      </p:sp>
      <p:sp>
        <p:nvSpPr>
          <p:cNvPr id="32" name="Shape 30"/>
          <p:cNvSpPr/>
          <p:nvPr/>
        </p:nvSpPr>
        <p:spPr>
          <a:xfrm>
            <a:off x="7680960" y="1737360"/>
            <a:ext cx="3962095" cy="4206240"/>
          </a:xfrm>
          <a:prstGeom prst="roundRect">
            <a:avLst>
              <a:gd name="adj" fmla="val 2769"/>
            </a:avLst>
          </a:prstGeom>
          <a:solidFill>
            <a:srgbClr val="0B2B26"/>
          </a:solidFill>
          <a:ln w="12700">
            <a:solidFill>
              <a:srgbClr val="0B2B26"/>
            </a:solidFill>
            <a:prstDash val="solid"/>
          </a:ln>
        </p:spPr>
      </p:sp>
      <p:sp>
        <p:nvSpPr>
          <p:cNvPr id="33" name="Shape 31"/>
          <p:cNvSpPr/>
          <p:nvPr/>
        </p:nvSpPr>
        <p:spPr>
          <a:xfrm>
            <a:off x="7955280" y="2011680"/>
            <a:ext cx="548640" cy="548640"/>
          </a:xfrm>
          <a:prstGeom prst="roundRect">
            <a:avLst>
              <a:gd name="adj" fmla="val 22000"/>
            </a:avLst>
          </a:prstGeom>
          <a:solidFill>
            <a:srgbClr val="11604F"/>
          </a:solidFill>
          <a:ln w="12700">
            <a:solidFill>
              <a:srgbClr val="11604F"/>
            </a:solidFill>
            <a:prstDash val="solid"/>
          </a:ln>
        </p:spPr>
      </p:sp>
      <p:pic>
        <p:nvPicPr>
          <p:cNvPr id="34" name="Image 0" descr="preencoded.png">    </p:cNvPr>
          <p:cNvPicPr>
            <a:picLocks noChangeAspect="1"/>
          </p:cNvPicPr>
          <p:nvPr/>
        </p:nvPicPr>
        <p:blipFill>
          <a:blip r:embed="rId1"/>
          <a:stretch>
            <a:fillRect/>
          </a:stretch>
        </p:blipFill>
        <p:spPr>
          <a:xfrm>
            <a:off x="8086954" y="2143354"/>
            <a:ext cx="285293" cy="285293"/>
          </a:xfrm>
          <a:prstGeom prst="rect">
            <a:avLst/>
          </a:prstGeom>
        </p:spPr>
      </p:pic>
      <p:sp>
        <p:nvSpPr>
          <p:cNvPr id="35" name="Text 32"/>
          <p:cNvSpPr txBox="1"/>
          <p:nvPr/>
        </p:nvSpPr>
        <p:spPr>
          <a:xfrm>
            <a:off x="7955280" y="2743200"/>
            <a:ext cx="347472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“Why not let AI check AI?”</a:t>
            </a:r>
            <a:endParaRPr lang="en-US" sz="1700" dirty="0"/>
          </a:p>
        </p:txBody>
      </p:sp>
      <p:sp>
        <p:nvSpPr>
          <p:cNvPr id="36" name="Text 33"/>
          <p:cNvSpPr txBox="1"/>
          <p:nvPr/>
        </p:nvSpPr>
        <p:spPr>
          <a:xfrm>
            <a:off x="7955280" y="3291840"/>
            <a:ext cx="3474720" cy="2468880"/>
          </a:xfrm>
          <a:prstGeom prst="rect">
            <a:avLst/>
          </a:prstGeom>
          <a:noFill/>
          <a:ln/>
        </p:spPr>
        <p:txBody>
          <a:bodyPr wrap="square" lIns="0" tIns="0" rIns="0" bIns="0" rtlCol="0" anchor="t"/>
          <a:lstStyle/>
          <a:p>
            <a:pPr indent="0" marL="0">
              <a:buNone/>
            </a:pPr>
            <a:r>
              <a:rPr lang="en-US" sz="1400" dirty="0">
                <a:solidFill>
                  <a:srgbClr val="E3EEE9"/>
                </a:solidFill>
                <a:latin typeface="Calibri" pitchFamily="34" charset="0"/>
                <a:ea typeface="Calibri" pitchFamily="34" charset="-122"/>
                <a:cs typeface="Calibri" pitchFamily="34" charset="-120"/>
              </a:rPr>
              <a:t>Logs already exist – analysing them with rules and statistics is almost free.</a:t>
            </a:r>
            <a:endParaRPr lang="en-US" sz="1400" dirty="0"/>
          </a:p>
          <a:p>
            <a:pPr indent="0" marL="0">
              <a:buNone/>
            </a:pPr>
            <a:r>
              <a:rPr lang="en-US" sz="600" dirty="0">
                <a:solidFill>
                  <a:srgbClr val="E3EEE9"/>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B8E04A"/>
                </a:solidFill>
                <a:latin typeface="Calibri" pitchFamily="34" charset="0"/>
                <a:ea typeface="Calibri" pitchFamily="34" charset="-122"/>
                <a:cs typeface="Calibri" pitchFamily="34" charset="-120"/>
              </a:rPr>
              <a:t>A review costs once; an inefficient agent costs every day.</a:t>
            </a:r>
            <a:endParaRPr lang="en-US" sz="1400" dirty="0"/>
          </a:p>
          <a:p>
            <a:pPr indent="0" marL="0">
              <a:buNone/>
            </a:pPr>
            <a:r>
              <a:rPr lang="en-US" sz="600" dirty="0">
                <a:solidFill>
                  <a:srgbClr val="E3EEE9"/>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E3EEE9"/>
                </a:solidFill>
                <a:latin typeface="Calibri" pitchFamily="34" charset="0"/>
                <a:ea typeface="Calibri" pitchFamily="34" charset="-122"/>
                <a:cs typeface="Calibri" pitchFamily="34" charset="-120"/>
              </a:rPr>
              <a:t>So AI review only where it pays off: sample, target, use small models.</a:t>
            </a:r>
            <a:endParaRPr lang="en-US" sz="1400" dirty="0"/>
          </a:p>
        </p:txBody>
      </p:sp>
      <p:sp>
        <p:nvSpPr>
          <p:cNvPr id="37" name="Text 34"/>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09  ·  STEERING</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KPIs and incentives give Lena a reason to choose lean</a:t>
            </a:r>
            <a:endParaRPr lang="en-US" sz="3000" dirty="0"/>
          </a:p>
        </p:txBody>
      </p:sp>
      <p:sp>
        <p:nvSpPr>
          <p:cNvPr id="4" name="Text 2"/>
          <p:cNvSpPr txBox="1"/>
          <p:nvPr/>
        </p:nvSpPr>
        <p:spPr>
          <a:xfrm>
            <a:off x="548640" y="1691640"/>
            <a:ext cx="5486400" cy="365760"/>
          </a:xfrm>
          <a:prstGeom prst="rect">
            <a:avLst/>
          </a:prstGeom>
          <a:noFill/>
          <a:ln/>
        </p:spPr>
        <p:txBody>
          <a:bodyPr wrap="square" lIns="0" tIns="0" rIns="0" bIns="0" rtlCol="0" anchor="ctr"/>
          <a:lstStyle/>
          <a:p>
            <a:pPr indent="0" marL="0">
              <a:buNone/>
            </a:pPr>
            <a:r>
              <a:rPr lang="en-US" sz="1700" b="1" dirty="0">
                <a:solidFill>
                  <a:srgbClr val="11604F"/>
                </a:solidFill>
                <a:latin typeface="Arial" pitchFamily="34" charset="0"/>
                <a:ea typeface="Arial" pitchFamily="34" charset="-122"/>
                <a:cs typeface="Arial" pitchFamily="34" charset="-120"/>
              </a:rPr>
              <a:t>KPIs – what we track</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760720" cy="914400"/>
        </p:xfrm>
        <a:graphic>
          <a:graphicData uri="http://schemas.openxmlformats.org/drawingml/2006/table">
            <a:tbl>
              <a:tblPr/>
              <a:tblGrid>
                <a:gridCol w="1463040"/>
                <a:gridCol w="3200400"/>
                <a:gridCol w="109728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1160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shows</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1160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11604F"/>
                    </a:solidFill>
                  </a:tcPr>
                </a:tc>
              </a:tr>
              <a:tr h="411480">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Efficiency</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Resource use per completed task</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Lagging</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Task success, time saved, escalations</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Lagging</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Right-sizing</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Use cases on the lowest suitable step</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Leading</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Hygiene</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Agents reviewed, agents retired</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Leading</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Behaviour</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Use cases triaged, people trained</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c>
                  <a:txBody>
                    <a:bodyPr/>
                    <a:lstStyle/>
                    <a:p>
                      <a:pPr indent="0" marL="0">
                        <a:buNone/>
                      </a:pPr>
                      <a:r>
                        <a:rPr lang="en-US" sz="1200" dirty="0">
                          <a:solidFill>
                            <a:srgbClr val="1C2B28"/>
                          </a:solidFill>
                          <a:latin typeface="Calibri" pitchFamily="34" charset="0"/>
                          <a:ea typeface="Calibri" pitchFamily="34" charset="-122"/>
                          <a:cs typeface="Calibri" pitchFamily="34" charset="-120"/>
                        </a:rPr>
                        <a:t>Leading</a:t>
                      </a:r>
                      <a:endParaRPr lang="en-US" sz="1200" dirty="0">
                        <a:latin typeface="Calibri" charset="0"/>
                        <a:ea typeface="Calibri" charset="0"/>
                        <a:cs typeface="Calibri" charset="0"/>
                      </a:endParaRPr>
                    </a:p>
                  </a:txBody>
                  <a:tcPr marL="73152" marR="73152" marT="73152" marB="73152" anchor="ctr">
                    <a:lnL w="9525" cap="flat" cmpd="sng" algn="ctr">
                      <a:solidFill>
                        <a:srgbClr val="D5EADF"/>
                      </a:solidFill>
                      <a:prstDash val="solid"/>
                      <a:round/>
                      <a:headEnd type="none" w="med" len="med"/>
                      <a:tailEnd type="none" w="med" len="med"/>
                    </a:lnL>
                    <a:lnR w="9525" cap="flat" cmpd="sng" algn="ctr">
                      <a:solidFill>
                        <a:srgbClr val="D5EADF"/>
                      </a:solidFill>
                      <a:prstDash val="solid"/>
                      <a:round/>
                      <a:headEnd type="none" w="med" len="med"/>
                      <a:tailEnd type="none" w="med" len="med"/>
                    </a:lnR>
                    <a:lnT w="9525" cap="flat" cmpd="sng" algn="ctr">
                      <a:solidFill>
                        <a:srgbClr val="D5EADF"/>
                      </a:solidFill>
                      <a:prstDash val="solid"/>
                      <a:round/>
                      <a:headEnd type="none" w="med" len="med"/>
                      <a:tailEnd type="none" w="med" len="med"/>
                    </a:lnT>
                    <a:lnB w="9525" cap="flat" cmpd="sng" algn="ctr">
                      <a:solidFill>
                        <a:srgbClr val="D5EADF"/>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46320"/>
            <a:ext cx="5760720" cy="1143000"/>
          </a:xfrm>
          <a:prstGeom prst="roundRect">
            <a:avLst>
              <a:gd name="adj" fmla="val 9600"/>
            </a:avLst>
          </a:prstGeom>
          <a:solidFill>
            <a:srgbClr val="EAF4EF"/>
          </a:solidFill>
          <a:ln w="12700">
            <a:solidFill>
              <a:srgbClr val="EAF4EF"/>
            </a:solidFill>
            <a:prstDash val="solid"/>
          </a:ln>
        </p:spPr>
      </p:sp>
      <p:pic>
        <p:nvPicPr>
          <p:cNvPr id="7" name="Image 0" descr="preencoded.png">    </p:cNvPr>
          <p:cNvPicPr>
            <a:picLocks noChangeAspect="1"/>
          </p:cNvPicPr>
          <p:nvPr/>
        </p:nvPicPr>
        <p:blipFill>
          <a:blip r:embed="rId1"/>
          <a:stretch>
            <a:fillRect/>
          </a:stretch>
        </p:blipFill>
        <p:spPr>
          <a:xfrm>
            <a:off x="777240" y="5029200"/>
            <a:ext cx="365760" cy="365760"/>
          </a:xfrm>
          <a:prstGeom prst="rect">
            <a:avLst/>
          </a:prstGeom>
        </p:spPr>
      </p:pic>
      <p:sp>
        <p:nvSpPr>
          <p:cNvPr id="8" name="Text 4"/>
          <p:cNvSpPr txBox="1"/>
          <p:nvPr/>
        </p:nvSpPr>
        <p:spPr>
          <a:xfrm>
            <a:off x="1325880" y="4937760"/>
            <a:ext cx="4846320" cy="960120"/>
          </a:xfrm>
          <a:prstGeom prst="rect">
            <a:avLst/>
          </a:prstGeom>
          <a:noFill/>
          <a:ln/>
        </p:spPr>
        <p:txBody>
          <a:bodyPr wrap="square" lIns="0" tIns="0" rIns="0" bIns="0" rtlCol="0" anchor="ctr"/>
          <a:lstStyle/>
          <a:p>
            <a:pPr indent="0" marL="0">
              <a:buNone/>
            </a:pPr>
            <a:r>
              <a:rPr lang="en-US" sz="1300" b="1" dirty="0">
                <a:solidFill>
                  <a:srgbClr val="1C2B28"/>
                </a:solidFill>
                <a:latin typeface="Calibri" pitchFamily="34" charset="0"/>
                <a:ea typeface="Calibri" pitchFamily="34" charset="-122"/>
                <a:cs typeface="Calibri" pitchFamily="34" charset="-120"/>
              </a:rPr>
              <a:t>Always pair efficiency with value. </a:t>
            </a:r>
            <a:pPr indent="0" marL="0">
              <a:buNone/>
            </a:pPr>
            <a:r>
              <a:rPr lang="en-US" sz="1300" dirty="0">
                <a:solidFill>
                  <a:srgbClr val="1C2B28"/>
                </a:solidFill>
                <a:latin typeface="Calibri" pitchFamily="34" charset="0"/>
                <a:ea typeface="Calibri" pitchFamily="34" charset="-122"/>
                <a:cs typeface="Calibri" pitchFamily="34" charset="-120"/>
              </a:rPr>
              <a:t>If teams are judged on low compute alone, they avoid AI even where it helps (Goodhart’s law).</a:t>
            </a:r>
            <a:endParaRPr lang="en-US" sz="1300" dirty="0"/>
          </a:p>
        </p:txBody>
      </p:sp>
      <p:sp>
        <p:nvSpPr>
          <p:cNvPr id="9" name="Text 5"/>
          <p:cNvSpPr txBox="1"/>
          <p:nvPr/>
        </p:nvSpPr>
        <p:spPr>
          <a:xfrm>
            <a:off x="6766560" y="1691640"/>
            <a:ext cx="4846320" cy="365760"/>
          </a:xfrm>
          <a:prstGeom prst="rect">
            <a:avLst/>
          </a:prstGeom>
          <a:noFill/>
          <a:ln/>
        </p:spPr>
        <p:txBody>
          <a:bodyPr wrap="square" lIns="0" tIns="0" rIns="0" bIns="0" rtlCol="0" anchor="ctr"/>
          <a:lstStyle/>
          <a:p>
            <a:pPr indent="0" marL="0">
              <a:buNone/>
            </a:pPr>
            <a:r>
              <a:rPr lang="en-US" sz="1700" b="1" dirty="0">
                <a:solidFill>
                  <a:srgbClr val="11604F"/>
                </a:solidFill>
                <a:latin typeface="Arial" pitchFamily="34" charset="0"/>
                <a:ea typeface="Arial" pitchFamily="34" charset="-122"/>
                <a:cs typeface="Arial" pitchFamily="34" charset="-120"/>
              </a:rPr>
              <a:t>Incentives – how we steer</a:t>
            </a:r>
            <a:endParaRPr lang="en-US" sz="1700" dirty="0"/>
          </a:p>
        </p:txBody>
      </p:sp>
      <p:sp>
        <p:nvSpPr>
          <p:cNvPr id="10" name="Shape 6"/>
          <p:cNvSpPr/>
          <p:nvPr/>
        </p:nvSpPr>
        <p:spPr>
          <a:xfrm>
            <a:off x="6766560" y="2148840"/>
            <a:ext cx="502920" cy="502920"/>
          </a:xfrm>
          <a:prstGeom prst="roundRect">
            <a:avLst>
              <a:gd name="adj" fmla="val 22000"/>
            </a:avLst>
          </a:prstGeom>
          <a:solidFill>
            <a:srgbClr val="11604F"/>
          </a:solidFill>
          <a:ln w="12700">
            <a:solidFill>
              <a:srgbClr val="11604F"/>
            </a:solidFill>
            <a:prstDash val="solid"/>
          </a:ln>
        </p:spPr>
      </p:sp>
      <p:pic>
        <p:nvPicPr>
          <p:cNvPr id="11" name="Image 1" descr="preencoded.png">    </p:cNvPr>
          <p:cNvPicPr>
            <a:picLocks noChangeAspect="1"/>
          </p:cNvPicPr>
          <p:nvPr/>
        </p:nvPicPr>
        <p:blipFill>
          <a:blip r:embed="rId2"/>
          <a:stretch>
            <a:fillRect/>
          </a:stretch>
        </p:blipFill>
        <p:spPr>
          <a:xfrm>
            <a:off x="6887261" y="2269541"/>
            <a:ext cx="261518" cy="261518"/>
          </a:xfrm>
          <a:prstGeom prst="rect">
            <a:avLst/>
          </a:prstGeom>
        </p:spPr>
      </p:pic>
      <p:sp>
        <p:nvSpPr>
          <p:cNvPr id="12" name="Text 7"/>
          <p:cNvSpPr txBox="1"/>
          <p:nvPr/>
        </p:nvSpPr>
        <p:spPr>
          <a:xfrm>
            <a:off x="7452360" y="2112264"/>
            <a:ext cx="4114800" cy="292608"/>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Showback</a:t>
            </a:r>
            <a:endParaRPr lang="en-US" sz="1400" dirty="0"/>
          </a:p>
        </p:txBody>
      </p:sp>
      <p:sp>
        <p:nvSpPr>
          <p:cNvPr id="13" name="Text 8"/>
          <p:cNvSpPr txBox="1"/>
          <p:nvPr/>
        </p:nvSpPr>
        <p:spPr>
          <a:xfrm>
            <a:off x="7452360" y="2404872"/>
            <a:ext cx="4114800" cy="292608"/>
          </a:xfrm>
          <a:prstGeom prst="rect">
            <a:avLst/>
          </a:prstGeom>
          <a:noFill/>
          <a:ln/>
        </p:spPr>
        <p:txBody>
          <a:bodyPr wrap="square" lIns="0" tIns="0" rIns="0" bIns="0" rtlCol="0" anchor="ctr"/>
          <a:lstStyle/>
          <a:p>
            <a:pPr indent="0" marL="0">
              <a:buNone/>
            </a:pPr>
            <a:r>
              <a:rPr lang="en-US" sz="1200" dirty="0">
                <a:solidFill>
                  <a:srgbClr val="5E6E6A"/>
                </a:solidFill>
                <a:latin typeface="Calibri" pitchFamily="34" charset="0"/>
                <a:ea typeface="Calibri" pitchFamily="34" charset="-122"/>
                <a:cs typeface="Calibri" pitchFamily="34" charset="-120"/>
              </a:rPr>
              <a:t>Every team sees its AI footprint</a:t>
            </a:r>
            <a:endParaRPr lang="en-US" sz="1200" dirty="0"/>
          </a:p>
        </p:txBody>
      </p:sp>
      <p:sp>
        <p:nvSpPr>
          <p:cNvPr id="14" name="Shape 9"/>
          <p:cNvSpPr/>
          <p:nvPr/>
        </p:nvSpPr>
        <p:spPr>
          <a:xfrm>
            <a:off x="6766560" y="2916936"/>
            <a:ext cx="502920" cy="502920"/>
          </a:xfrm>
          <a:prstGeom prst="roundRect">
            <a:avLst>
              <a:gd name="adj" fmla="val 22000"/>
            </a:avLst>
          </a:prstGeom>
          <a:solidFill>
            <a:srgbClr val="11604F"/>
          </a:solidFill>
          <a:ln w="12700">
            <a:solidFill>
              <a:srgbClr val="11604F"/>
            </a:solidFill>
            <a:prstDash val="solid"/>
          </a:ln>
        </p:spPr>
      </p:sp>
      <p:pic>
        <p:nvPicPr>
          <p:cNvPr id="15" name="Image 2" descr="preencoded.png">    </p:cNvPr>
          <p:cNvPicPr>
            <a:picLocks noChangeAspect="1"/>
          </p:cNvPicPr>
          <p:nvPr/>
        </p:nvPicPr>
        <p:blipFill>
          <a:blip r:embed="rId3"/>
          <a:stretch>
            <a:fillRect/>
          </a:stretch>
        </p:blipFill>
        <p:spPr>
          <a:xfrm>
            <a:off x="6887261" y="3037637"/>
            <a:ext cx="261518" cy="261518"/>
          </a:xfrm>
          <a:prstGeom prst="rect">
            <a:avLst/>
          </a:prstGeom>
        </p:spPr>
      </p:pic>
      <p:sp>
        <p:nvSpPr>
          <p:cNvPr id="16" name="Text 10"/>
          <p:cNvSpPr txBox="1"/>
          <p:nvPr/>
        </p:nvSpPr>
        <p:spPr>
          <a:xfrm>
            <a:off x="7452360" y="2880360"/>
            <a:ext cx="4114800" cy="292608"/>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Compute &amp; carbon budgets</a:t>
            </a:r>
            <a:endParaRPr lang="en-US" sz="1400" dirty="0"/>
          </a:p>
        </p:txBody>
      </p:sp>
      <p:sp>
        <p:nvSpPr>
          <p:cNvPr id="17" name="Text 11"/>
          <p:cNvSpPr txBox="1"/>
          <p:nvPr/>
        </p:nvSpPr>
        <p:spPr>
          <a:xfrm>
            <a:off x="7452360" y="3172968"/>
            <a:ext cx="4114800" cy="292608"/>
          </a:xfrm>
          <a:prstGeom prst="rect">
            <a:avLst/>
          </a:prstGeom>
          <a:noFill/>
          <a:ln/>
        </p:spPr>
        <p:txBody>
          <a:bodyPr wrap="square" lIns="0" tIns="0" rIns="0" bIns="0" rtlCol="0" anchor="ctr"/>
          <a:lstStyle/>
          <a:p>
            <a:pPr indent="0" marL="0">
              <a:buNone/>
            </a:pPr>
            <a:r>
              <a:rPr lang="en-US" sz="1200" dirty="0">
                <a:solidFill>
                  <a:srgbClr val="5E6E6A"/>
                </a:solidFill>
                <a:latin typeface="Calibri" pitchFamily="34" charset="0"/>
                <a:ea typeface="Calibri" pitchFamily="34" charset="-122"/>
                <a:cs typeface="Calibri" pitchFamily="34" charset="-120"/>
              </a:rPr>
              <a:t>Unused budget can be reinvested</a:t>
            </a:r>
            <a:endParaRPr lang="en-US" sz="1200" dirty="0"/>
          </a:p>
        </p:txBody>
      </p:sp>
      <p:sp>
        <p:nvSpPr>
          <p:cNvPr id="18" name="Shape 12"/>
          <p:cNvSpPr/>
          <p:nvPr/>
        </p:nvSpPr>
        <p:spPr>
          <a:xfrm>
            <a:off x="6766560" y="3685032"/>
            <a:ext cx="502920" cy="502920"/>
          </a:xfrm>
          <a:prstGeom prst="roundRect">
            <a:avLst>
              <a:gd name="adj" fmla="val 22000"/>
            </a:avLst>
          </a:prstGeom>
          <a:solidFill>
            <a:srgbClr val="11604F"/>
          </a:solidFill>
          <a:ln w="12700">
            <a:solidFill>
              <a:srgbClr val="11604F"/>
            </a:solidFill>
            <a:prstDash val="solid"/>
          </a:ln>
        </p:spPr>
      </p:sp>
      <p:pic>
        <p:nvPicPr>
          <p:cNvPr id="19" name="Image 3" descr="preencoded.png">    </p:cNvPr>
          <p:cNvPicPr>
            <a:picLocks noChangeAspect="1"/>
          </p:cNvPicPr>
          <p:nvPr/>
        </p:nvPicPr>
        <p:blipFill>
          <a:blip r:embed="rId4"/>
          <a:stretch>
            <a:fillRect/>
          </a:stretch>
        </p:blipFill>
        <p:spPr>
          <a:xfrm>
            <a:off x="6887261" y="3805733"/>
            <a:ext cx="261518" cy="261518"/>
          </a:xfrm>
          <a:prstGeom prst="rect">
            <a:avLst/>
          </a:prstGeom>
        </p:spPr>
      </p:pic>
      <p:sp>
        <p:nvSpPr>
          <p:cNvPr id="20" name="Text 13"/>
          <p:cNvSpPr txBox="1"/>
          <p:nvPr/>
        </p:nvSpPr>
        <p:spPr>
          <a:xfrm>
            <a:off x="7452360" y="3648456"/>
            <a:ext cx="4114800" cy="292608"/>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Team targets</a:t>
            </a:r>
            <a:endParaRPr lang="en-US" sz="1400" dirty="0"/>
          </a:p>
        </p:txBody>
      </p:sp>
      <p:sp>
        <p:nvSpPr>
          <p:cNvPr id="21" name="Text 14"/>
          <p:cNvSpPr txBox="1"/>
          <p:nvPr/>
        </p:nvSpPr>
        <p:spPr>
          <a:xfrm>
            <a:off x="7452360" y="3941064"/>
            <a:ext cx="4114800" cy="292608"/>
          </a:xfrm>
          <a:prstGeom prst="rect">
            <a:avLst/>
          </a:prstGeom>
          <a:noFill/>
          <a:ln/>
        </p:spPr>
        <p:txBody>
          <a:bodyPr wrap="square" lIns="0" tIns="0" rIns="0" bIns="0" rtlCol="0" anchor="ctr"/>
          <a:lstStyle/>
          <a:p>
            <a:pPr indent="0" marL="0">
              <a:buNone/>
            </a:pPr>
            <a:r>
              <a:rPr lang="en-US" sz="1200" dirty="0">
                <a:solidFill>
                  <a:srgbClr val="5E6E6A"/>
                </a:solidFill>
                <a:latin typeface="Calibri" pitchFamily="34" charset="0"/>
                <a:ea typeface="Calibri" pitchFamily="34" charset="-122"/>
                <a:cs typeface="Calibri" pitchFamily="34" charset="-120"/>
              </a:rPr>
              <a:t>Cascade the executive net zero incentive down to teams</a:t>
            </a:r>
            <a:endParaRPr lang="en-US" sz="1200" dirty="0"/>
          </a:p>
        </p:txBody>
      </p:sp>
      <p:sp>
        <p:nvSpPr>
          <p:cNvPr id="22" name="Shape 15"/>
          <p:cNvSpPr/>
          <p:nvPr/>
        </p:nvSpPr>
        <p:spPr>
          <a:xfrm>
            <a:off x="6766560" y="4453128"/>
            <a:ext cx="502920" cy="502920"/>
          </a:xfrm>
          <a:prstGeom prst="roundRect">
            <a:avLst>
              <a:gd name="adj" fmla="val 22000"/>
            </a:avLst>
          </a:prstGeom>
          <a:solidFill>
            <a:srgbClr val="11604F"/>
          </a:solidFill>
          <a:ln w="12700">
            <a:solidFill>
              <a:srgbClr val="11604F"/>
            </a:solidFill>
            <a:prstDash val="solid"/>
          </a:ln>
        </p:spPr>
      </p:sp>
      <p:pic>
        <p:nvPicPr>
          <p:cNvPr id="23" name="Image 4" descr="preencoded.png">    </p:cNvPr>
          <p:cNvPicPr>
            <a:picLocks noChangeAspect="1"/>
          </p:cNvPicPr>
          <p:nvPr/>
        </p:nvPicPr>
        <p:blipFill>
          <a:blip r:embed="rId5"/>
          <a:stretch>
            <a:fillRect/>
          </a:stretch>
        </p:blipFill>
        <p:spPr>
          <a:xfrm>
            <a:off x="6887261" y="4573829"/>
            <a:ext cx="261518" cy="261518"/>
          </a:xfrm>
          <a:prstGeom prst="rect">
            <a:avLst/>
          </a:prstGeom>
        </p:spPr>
      </p:pic>
      <p:sp>
        <p:nvSpPr>
          <p:cNvPr id="24" name="Text 16"/>
          <p:cNvSpPr txBox="1"/>
          <p:nvPr/>
        </p:nvSpPr>
        <p:spPr>
          <a:xfrm>
            <a:off x="7452360" y="4416552"/>
            <a:ext cx="4114800" cy="292608"/>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Recognition</a:t>
            </a:r>
            <a:endParaRPr lang="en-US" sz="1400" dirty="0"/>
          </a:p>
        </p:txBody>
      </p:sp>
      <p:sp>
        <p:nvSpPr>
          <p:cNvPr id="25" name="Text 17"/>
          <p:cNvSpPr txBox="1"/>
          <p:nvPr/>
        </p:nvSpPr>
        <p:spPr>
          <a:xfrm>
            <a:off x="7452360" y="4709160"/>
            <a:ext cx="4114800" cy="292608"/>
          </a:xfrm>
          <a:prstGeom prst="rect">
            <a:avLst/>
          </a:prstGeom>
          <a:noFill/>
          <a:ln/>
        </p:spPr>
        <p:txBody>
          <a:bodyPr wrap="square" lIns="0" tIns="0" rIns="0" bIns="0" rtlCol="0" anchor="ctr"/>
          <a:lstStyle/>
          <a:p>
            <a:pPr indent="0" marL="0">
              <a:buNone/>
            </a:pPr>
            <a:r>
              <a:rPr lang="en-US" sz="1200" dirty="0">
                <a:solidFill>
                  <a:srgbClr val="5E6E6A"/>
                </a:solidFill>
                <a:latin typeface="Calibri" pitchFamily="34" charset="0"/>
                <a:ea typeface="Calibri" pitchFamily="34" charset="-122"/>
                <a:cs typeface="Calibri" pitchFamily="34" charset="-120"/>
              </a:rPr>
              <a:t>Showcase teams that replaced agents with lean solutions</a:t>
            </a:r>
            <a:endParaRPr lang="en-US" sz="1200" dirty="0"/>
          </a:p>
        </p:txBody>
      </p:sp>
      <p:sp>
        <p:nvSpPr>
          <p:cNvPr id="26" name="Shape 18"/>
          <p:cNvSpPr/>
          <p:nvPr/>
        </p:nvSpPr>
        <p:spPr>
          <a:xfrm>
            <a:off x="6766560" y="5221224"/>
            <a:ext cx="502920" cy="502920"/>
          </a:xfrm>
          <a:prstGeom prst="roundRect">
            <a:avLst>
              <a:gd name="adj" fmla="val 22000"/>
            </a:avLst>
          </a:prstGeom>
          <a:solidFill>
            <a:srgbClr val="11604F"/>
          </a:solidFill>
          <a:ln w="12700">
            <a:solidFill>
              <a:srgbClr val="11604F"/>
            </a:solidFill>
            <a:prstDash val="solid"/>
          </a:ln>
        </p:spPr>
      </p:sp>
      <p:pic>
        <p:nvPicPr>
          <p:cNvPr id="27" name="Image 5" descr="preencoded.png">    </p:cNvPr>
          <p:cNvPicPr>
            <a:picLocks noChangeAspect="1"/>
          </p:cNvPicPr>
          <p:nvPr/>
        </p:nvPicPr>
        <p:blipFill>
          <a:blip r:embed="rId6"/>
          <a:stretch>
            <a:fillRect/>
          </a:stretch>
        </p:blipFill>
        <p:spPr>
          <a:xfrm>
            <a:off x="6887261" y="5341925"/>
            <a:ext cx="261518" cy="261518"/>
          </a:xfrm>
          <a:prstGeom prst="rect">
            <a:avLst/>
          </a:prstGeom>
        </p:spPr>
      </p:pic>
      <p:sp>
        <p:nvSpPr>
          <p:cNvPr id="28" name="Text 19"/>
          <p:cNvSpPr txBox="1"/>
          <p:nvPr/>
        </p:nvSpPr>
        <p:spPr>
          <a:xfrm>
            <a:off x="7452360" y="5184648"/>
            <a:ext cx="4114800" cy="292608"/>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Innovation sandbox</a:t>
            </a:r>
            <a:endParaRPr lang="en-US" sz="1400" dirty="0"/>
          </a:p>
        </p:txBody>
      </p:sp>
      <p:sp>
        <p:nvSpPr>
          <p:cNvPr id="29" name="Text 20"/>
          <p:cNvSpPr txBox="1"/>
          <p:nvPr/>
        </p:nvSpPr>
        <p:spPr>
          <a:xfrm>
            <a:off x="7452360" y="5477256"/>
            <a:ext cx="4114800" cy="292608"/>
          </a:xfrm>
          <a:prstGeom prst="rect">
            <a:avLst/>
          </a:prstGeom>
          <a:noFill/>
          <a:ln/>
        </p:spPr>
        <p:txBody>
          <a:bodyPr wrap="square" lIns="0" tIns="0" rIns="0" bIns="0" rtlCol="0" anchor="ctr"/>
          <a:lstStyle/>
          <a:p>
            <a:pPr indent="0" marL="0">
              <a:buNone/>
            </a:pPr>
            <a:r>
              <a:rPr lang="en-US" sz="1200" dirty="0">
                <a:solidFill>
                  <a:srgbClr val="5E6E6A"/>
                </a:solidFill>
                <a:latin typeface="Calibri" pitchFamily="34" charset="0"/>
                <a:ea typeface="Calibri" pitchFamily="34" charset="-122"/>
                <a:cs typeface="Calibri" pitchFamily="34" charset="-120"/>
              </a:rPr>
              <a:t>Free experimentation within a fixed budget</a:t>
            </a:r>
            <a:endParaRPr lang="en-US" sz="1200" dirty="0"/>
          </a:p>
        </p:txBody>
      </p:sp>
      <p:sp>
        <p:nvSpPr>
          <p:cNvPr id="30" name="Text 21"/>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10  ·  ROADMAP</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From one pilot to SAP’s standard way of automating</a:t>
            </a:r>
            <a:endParaRPr lang="en-US" sz="3000" dirty="0"/>
          </a:p>
        </p:txBody>
      </p:sp>
      <p:sp>
        <p:nvSpPr>
          <p:cNvPr id="4" name="Shape 2"/>
          <p:cNvSpPr/>
          <p:nvPr/>
        </p:nvSpPr>
        <p:spPr>
          <a:xfrm>
            <a:off x="548640" y="1737360"/>
            <a:ext cx="3566160" cy="4297680"/>
          </a:xfrm>
          <a:prstGeom prst="roundRect">
            <a:avLst>
              <a:gd name="adj" fmla="val 3077"/>
            </a:avLst>
          </a:prstGeom>
          <a:solidFill>
            <a:srgbClr val="EAF4EF"/>
          </a:solidFill>
          <a:ln w="12700">
            <a:solidFill>
              <a:srgbClr val="EAF4EF"/>
            </a:solidFill>
            <a:prstDash val="solid"/>
          </a:ln>
        </p:spPr>
      </p:sp>
      <p:sp>
        <p:nvSpPr>
          <p:cNvPr id="5" name="Shape 3"/>
          <p:cNvSpPr/>
          <p:nvPr/>
        </p:nvSpPr>
        <p:spPr>
          <a:xfrm>
            <a:off x="822960" y="2011680"/>
            <a:ext cx="594360" cy="594360"/>
          </a:xfrm>
          <a:prstGeom prst="roundRect">
            <a:avLst>
              <a:gd name="adj" fmla="val 22000"/>
            </a:avLst>
          </a:prstGeom>
          <a:solidFill>
            <a:srgbClr val="11604F"/>
          </a:solidFill>
          <a:ln w="12700">
            <a:solidFill>
              <a:srgbClr val="11604F"/>
            </a:solidFill>
            <a:prstDash val="solid"/>
          </a:ln>
        </p:spPr>
      </p:sp>
      <p:pic>
        <p:nvPicPr>
          <p:cNvPr id="6" name="Image 0" descr="preencoded.png">    </p:cNvPr>
          <p:cNvPicPr>
            <a:picLocks noChangeAspect="1"/>
          </p:cNvPicPr>
          <p:nvPr/>
        </p:nvPicPr>
        <p:blipFill>
          <a:blip r:embed="rId1"/>
          <a:stretch>
            <a:fillRect/>
          </a:stretch>
        </p:blipFill>
        <p:spPr>
          <a:xfrm>
            <a:off x="965606" y="2154326"/>
            <a:ext cx="309067" cy="309067"/>
          </a:xfrm>
          <a:prstGeom prst="rect">
            <a:avLst/>
          </a:prstGeom>
        </p:spPr>
      </p:pic>
      <p:sp>
        <p:nvSpPr>
          <p:cNvPr id="7" name="Text 4"/>
          <p:cNvSpPr txBox="1"/>
          <p:nvPr/>
        </p:nvSpPr>
        <p:spPr>
          <a:xfrm>
            <a:off x="1600200" y="2011680"/>
            <a:ext cx="2377440" cy="274320"/>
          </a:xfrm>
          <a:prstGeom prst="rect">
            <a:avLst/>
          </a:prstGeom>
          <a:noFill/>
          <a:ln/>
        </p:spPr>
        <p:txBody>
          <a:bodyPr wrap="square" lIns="0" tIns="0" rIns="0" bIns="0" rtlCol="0" anchor="ctr"/>
          <a:lstStyle/>
          <a:p>
            <a:pPr indent="0" marL="0">
              <a:buNone/>
            </a:pPr>
            <a:r>
              <a:rPr lang="en-US" sz="1000" b="1" spc="100" kern="0" dirty="0">
                <a:solidFill>
                  <a:srgbClr val="11604F"/>
                </a:solidFill>
                <a:latin typeface="Arial" pitchFamily="34" charset="0"/>
                <a:ea typeface="Arial" pitchFamily="34" charset="-122"/>
                <a:cs typeface="Arial" pitchFamily="34" charset="-120"/>
              </a:rPr>
              <a:t>PHASE 1  ·  FOUNDATION</a:t>
            </a:r>
            <a:endParaRPr lang="en-US" sz="1000" dirty="0"/>
          </a:p>
        </p:txBody>
      </p:sp>
      <p:sp>
        <p:nvSpPr>
          <p:cNvPr id="8" name="Text 5"/>
          <p:cNvSpPr txBox="1"/>
          <p:nvPr/>
        </p:nvSpPr>
        <p:spPr>
          <a:xfrm>
            <a:off x="1600200" y="2286000"/>
            <a:ext cx="2377440" cy="411480"/>
          </a:xfrm>
          <a:prstGeom prst="rect">
            <a:avLst/>
          </a:prstGeom>
          <a:noFill/>
          <a:ln/>
        </p:spPr>
        <p:txBody>
          <a:bodyPr wrap="square" lIns="0" tIns="0" rIns="0" bIns="0" rtlCol="0" anchor="ctr"/>
          <a:lstStyle/>
          <a:p>
            <a:pPr indent="0" marL="0">
              <a:buNone/>
            </a:pPr>
            <a:r>
              <a:rPr lang="en-US" sz="2200" b="1" dirty="0">
                <a:solidFill>
                  <a:srgbClr val="1C2B28"/>
                </a:solidFill>
                <a:latin typeface="Arial" pitchFamily="34" charset="0"/>
                <a:ea typeface="Arial" pitchFamily="34" charset="-122"/>
                <a:cs typeface="Arial" pitchFamily="34" charset="-120"/>
              </a:rPr>
              <a:t>Pilot</a:t>
            </a:r>
            <a:endParaRPr lang="en-US" sz="2200" dirty="0"/>
          </a:p>
        </p:txBody>
      </p:sp>
      <p:sp>
        <p:nvSpPr>
          <p:cNvPr id="9" name="Text 6"/>
          <p:cNvSpPr txBox="1"/>
          <p:nvPr/>
        </p:nvSpPr>
        <p:spPr>
          <a:xfrm>
            <a:off x="822960" y="3017520"/>
            <a:ext cx="30632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C2B28"/>
                </a:solidFill>
                <a:latin typeface="Calibri" pitchFamily="34" charset="0"/>
                <a:ea typeface="Calibri" pitchFamily="34" charset="-122"/>
                <a:cs typeface="Calibri" pitchFamily="34" charset="-120"/>
              </a:rPr>
              <a:t>One unit: Finance / Accounts Payable</a:t>
            </a:r>
            <a:endParaRPr lang="en-US" sz="1400" dirty="0"/>
          </a:p>
          <a:p>
            <a:pPr marL="342900" indent="-342900">
              <a:spcAft>
                <a:spcPts val="800"/>
              </a:spcAft>
              <a:buSzPct val="100000"/>
              <a:buChar char="•"/>
            </a:pPr>
            <a:r>
              <a:rPr lang="en-US" sz="1400" dirty="0">
                <a:solidFill>
                  <a:srgbClr val="1C2B28"/>
                </a:solidFill>
                <a:latin typeface="Calibri" pitchFamily="34" charset="0"/>
                <a:ea typeface="Calibri" pitchFamily="34" charset="-122"/>
                <a:cs typeface="Calibri" pitchFamily="34" charset="-120"/>
              </a:rPr>
              <a:t>Automation ladder training</a:t>
            </a:r>
            <a:endParaRPr lang="en-US" sz="1400" dirty="0"/>
          </a:p>
          <a:p>
            <a:pPr marL="342900" indent="-342900">
              <a:spcAft>
                <a:spcPts val="800"/>
              </a:spcAft>
              <a:buSzPct val="100000"/>
              <a:buChar char="•"/>
            </a:pPr>
            <a:r>
              <a:rPr lang="en-US" sz="1400" dirty="0">
                <a:solidFill>
                  <a:srgbClr val="1C2B28"/>
                </a:solidFill>
                <a:latin typeface="Calibri" pitchFamily="34" charset="0"/>
                <a:ea typeface="Calibri" pitchFamily="34" charset="-122"/>
                <a:cs typeface="Calibri" pitchFamily="34" charset="-120"/>
              </a:rPr>
              <a:t>Triage step + showback</a:t>
            </a:r>
            <a:endParaRPr lang="en-US" sz="1400" dirty="0"/>
          </a:p>
          <a:p>
            <a:pPr marL="342900" indent="-342900">
              <a:spcAft>
                <a:spcPts val="800"/>
              </a:spcAft>
              <a:buSzPct val="100000"/>
              <a:buChar char="•"/>
            </a:pPr>
            <a:r>
              <a:rPr lang="en-US" sz="1400" dirty="0">
                <a:solidFill>
                  <a:srgbClr val="1C2B28"/>
                </a:solidFill>
                <a:latin typeface="Calibri" pitchFamily="34" charset="0"/>
                <a:ea typeface="Calibri" pitchFamily="34" charset="-122"/>
                <a:cs typeface="Calibri" pitchFamily="34" charset="-120"/>
              </a:rPr>
              <a:t>Log-based measurement set up</a:t>
            </a:r>
            <a:endParaRPr lang="en-US" sz="1400" dirty="0"/>
          </a:p>
        </p:txBody>
      </p:sp>
      <p:sp>
        <p:nvSpPr>
          <p:cNvPr id="10" name="Shape 7"/>
          <p:cNvSpPr/>
          <p:nvPr/>
        </p:nvSpPr>
        <p:spPr>
          <a:xfrm>
            <a:off x="4306824" y="1737360"/>
            <a:ext cx="3566160" cy="4297680"/>
          </a:xfrm>
          <a:prstGeom prst="roundRect">
            <a:avLst>
              <a:gd name="adj" fmla="val 3077"/>
            </a:avLst>
          </a:prstGeom>
          <a:solidFill>
            <a:srgbClr val="EAF4EF"/>
          </a:solidFill>
          <a:ln w="12700">
            <a:solidFill>
              <a:srgbClr val="EAF4EF"/>
            </a:solidFill>
            <a:prstDash val="solid"/>
          </a:ln>
        </p:spPr>
      </p:sp>
      <p:sp>
        <p:nvSpPr>
          <p:cNvPr id="11" name="Shape 8"/>
          <p:cNvSpPr/>
          <p:nvPr/>
        </p:nvSpPr>
        <p:spPr>
          <a:xfrm>
            <a:off x="4581144" y="2011680"/>
            <a:ext cx="594360" cy="594360"/>
          </a:xfrm>
          <a:prstGeom prst="roundRect">
            <a:avLst>
              <a:gd name="adj" fmla="val 22000"/>
            </a:avLst>
          </a:prstGeom>
          <a:solidFill>
            <a:srgbClr val="11604F"/>
          </a:solidFill>
          <a:ln w="12700">
            <a:solidFill>
              <a:srgbClr val="11604F"/>
            </a:solidFill>
            <a:prstDash val="solid"/>
          </a:ln>
        </p:spPr>
      </p:sp>
      <p:pic>
        <p:nvPicPr>
          <p:cNvPr id="12" name="Image 1" descr="preencoded.png">    </p:cNvPr>
          <p:cNvPicPr>
            <a:picLocks noChangeAspect="1"/>
          </p:cNvPicPr>
          <p:nvPr/>
        </p:nvPicPr>
        <p:blipFill>
          <a:blip r:embed="rId2"/>
          <a:stretch>
            <a:fillRect/>
          </a:stretch>
        </p:blipFill>
        <p:spPr>
          <a:xfrm>
            <a:off x="4723790" y="2154326"/>
            <a:ext cx="309067" cy="309067"/>
          </a:xfrm>
          <a:prstGeom prst="rect">
            <a:avLst/>
          </a:prstGeom>
        </p:spPr>
      </p:pic>
      <p:sp>
        <p:nvSpPr>
          <p:cNvPr id="13" name="Text 9"/>
          <p:cNvSpPr txBox="1"/>
          <p:nvPr/>
        </p:nvSpPr>
        <p:spPr>
          <a:xfrm>
            <a:off x="5358384" y="2011680"/>
            <a:ext cx="2377440" cy="274320"/>
          </a:xfrm>
          <a:prstGeom prst="rect">
            <a:avLst/>
          </a:prstGeom>
          <a:noFill/>
          <a:ln/>
        </p:spPr>
        <p:txBody>
          <a:bodyPr wrap="square" lIns="0" tIns="0" rIns="0" bIns="0" rtlCol="0" anchor="ctr"/>
          <a:lstStyle/>
          <a:p>
            <a:pPr indent="0" marL="0">
              <a:buNone/>
            </a:pPr>
            <a:r>
              <a:rPr lang="en-US" sz="1000" b="1" spc="100" kern="0" dirty="0">
                <a:solidFill>
                  <a:srgbClr val="11604F"/>
                </a:solidFill>
                <a:latin typeface="Arial" pitchFamily="34" charset="0"/>
                <a:ea typeface="Arial" pitchFamily="34" charset="-122"/>
                <a:cs typeface="Arial" pitchFamily="34" charset="-120"/>
              </a:rPr>
              <a:t>PHASE 2  ·  PLATFORM</a:t>
            </a:r>
            <a:endParaRPr lang="en-US" sz="1000" dirty="0"/>
          </a:p>
        </p:txBody>
      </p:sp>
      <p:sp>
        <p:nvSpPr>
          <p:cNvPr id="14" name="Text 10"/>
          <p:cNvSpPr txBox="1"/>
          <p:nvPr/>
        </p:nvSpPr>
        <p:spPr>
          <a:xfrm>
            <a:off x="5358384" y="2286000"/>
            <a:ext cx="2377440" cy="411480"/>
          </a:xfrm>
          <a:prstGeom prst="rect">
            <a:avLst/>
          </a:prstGeom>
          <a:noFill/>
          <a:ln/>
        </p:spPr>
        <p:txBody>
          <a:bodyPr wrap="square" lIns="0" tIns="0" rIns="0" bIns="0" rtlCol="0" anchor="ctr"/>
          <a:lstStyle/>
          <a:p>
            <a:pPr indent="0" marL="0">
              <a:buNone/>
            </a:pPr>
            <a:r>
              <a:rPr lang="en-US" sz="2200" b="1" dirty="0">
                <a:solidFill>
                  <a:srgbClr val="1C2B28"/>
                </a:solidFill>
                <a:latin typeface="Arial" pitchFamily="34" charset="0"/>
                <a:ea typeface="Arial" pitchFamily="34" charset="-122"/>
                <a:cs typeface="Arial" pitchFamily="34" charset="-120"/>
              </a:rPr>
              <a:t>Scale</a:t>
            </a:r>
            <a:endParaRPr lang="en-US" sz="2200" dirty="0"/>
          </a:p>
        </p:txBody>
      </p:sp>
      <p:sp>
        <p:nvSpPr>
          <p:cNvPr id="15" name="Text 11"/>
          <p:cNvSpPr txBox="1"/>
          <p:nvPr/>
        </p:nvSpPr>
        <p:spPr>
          <a:xfrm>
            <a:off x="4581144" y="3017520"/>
            <a:ext cx="30632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C2B28"/>
                </a:solidFill>
                <a:latin typeface="Calibri" pitchFamily="34" charset="0"/>
                <a:ea typeface="Calibri" pitchFamily="34" charset="-122"/>
                <a:cs typeface="Calibri" pitchFamily="34" charset="-120"/>
              </a:rPr>
              <a:t>SAP-wide platform with efficient defaults</a:t>
            </a:r>
            <a:endParaRPr lang="en-US" sz="1400" dirty="0"/>
          </a:p>
          <a:p>
            <a:pPr marL="342900" indent="-342900">
              <a:spcAft>
                <a:spcPts val="800"/>
              </a:spcAft>
              <a:buSzPct val="100000"/>
              <a:buChar char="•"/>
            </a:pPr>
            <a:r>
              <a:rPr lang="en-US" sz="1400" dirty="0">
                <a:solidFill>
                  <a:srgbClr val="1C2B28"/>
                </a:solidFill>
                <a:latin typeface="Calibri" pitchFamily="34" charset="0"/>
                <a:ea typeface="Calibri" pitchFamily="34" charset="-122"/>
                <a:cs typeface="Calibri" pitchFamily="34" charset="-120"/>
              </a:rPr>
              <a:t>Shared agent library + lifecycle</a:t>
            </a:r>
            <a:endParaRPr lang="en-US" sz="1400" dirty="0"/>
          </a:p>
          <a:p>
            <a:pPr marL="342900" indent="-342900">
              <a:spcAft>
                <a:spcPts val="800"/>
              </a:spcAft>
              <a:buSzPct val="100000"/>
              <a:buChar char="•"/>
            </a:pPr>
            <a:r>
              <a:rPr lang="en-US" sz="1400" dirty="0">
                <a:solidFill>
                  <a:srgbClr val="1C2B28"/>
                </a:solidFill>
                <a:latin typeface="Calibri" pitchFamily="34" charset="0"/>
                <a:ea typeface="Calibri" pitchFamily="34" charset="-122"/>
                <a:cs typeface="Calibri" pitchFamily="34" charset="-120"/>
              </a:rPr>
              <a:t>Distillation cycle running</a:t>
            </a:r>
            <a:endParaRPr lang="en-US" sz="1400" dirty="0"/>
          </a:p>
          <a:p>
            <a:pPr marL="342900" indent="-342900">
              <a:spcAft>
                <a:spcPts val="800"/>
              </a:spcAft>
              <a:buSzPct val="100000"/>
              <a:buChar char="•"/>
            </a:pPr>
            <a:r>
              <a:rPr lang="en-US" sz="1400" dirty="0">
                <a:solidFill>
                  <a:srgbClr val="1C2B28"/>
                </a:solidFill>
                <a:latin typeface="Calibri" pitchFamily="34" charset="0"/>
                <a:ea typeface="Calibri" pitchFamily="34" charset="-122"/>
                <a:cs typeface="Calibri" pitchFamily="34" charset="-120"/>
              </a:rPr>
              <a:t>Budgets and team targets</a:t>
            </a:r>
            <a:endParaRPr lang="en-US" sz="1400" dirty="0"/>
          </a:p>
        </p:txBody>
      </p:sp>
      <p:sp>
        <p:nvSpPr>
          <p:cNvPr id="16" name="Shape 12"/>
          <p:cNvSpPr/>
          <p:nvPr/>
        </p:nvSpPr>
        <p:spPr>
          <a:xfrm>
            <a:off x="8065008" y="1737360"/>
            <a:ext cx="3566160" cy="4297680"/>
          </a:xfrm>
          <a:prstGeom prst="roundRect">
            <a:avLst>
              <a:gd name="adj" fmla="val 3077"/>
            </a:avLst>
          </a:prstGeom>
          <a:solidFill>
            <a:srgbClr val="0B2B26"/>
          </a:solidFill>
          <a:ln w="12700">
            <a:solidFill>
              <a:srgbClr val="0B2B26"/>
            </a:solidFill>
            <a:prstDash val="solid"/>
          </a:ln>
        </p:spPr>
      </p:sp>
      <p:sp>
        <p:nvSpPr>
          <p:cNvPr id="17" name="Shape 13"/>
          <p:cNvSpPr/>
          <p:nvPr/>
        </p:nvSpPr>
        <p:spPr>
          <a:xfrm>
            <a:off x="8339328" y="2011680"/>
            <a:ext cx="594360" cy="594360"/>
          </a:xfrm>
          <a:prstGeom prst="roundRect">
            <a:avLst>
              <a:gd name="adj" fmla="val 22000"/>
            </a:avLst>
          </a:prstGeom>
          <a:solidFill>
            <a:srgbClr val="11604F"/>
          </a:solidFill>
          <a:ln w="12700">
            <a:solidFill>
              <a:srgbClr val="11604F"/>
            </a:solidFill>
            <a:prstDash val="solid"/>
          </a:ln>
        </p:spPr>
      </p:sp>
      <p:pic>
        <p:nvPicPr>
          <p:cNvPr id="18" name="Image 2" descr="preencoded.png">    </p:cNvPr>
          <p:cNvPicPr>
            <a:picLocks noChangeAspect="1"/>
          </p:cNvPicPr>
          <p:nvPr/>
        </p:nvPicPr>
        <p:blipFill>
          <a:blip r:embed="rId3"/>
          <a:stretch>
            <a:fillRect/>
          </a:stretch>
        </p:blipFill>
        <p:spPr>
          <a:xfrm>
            <a:off x="8481974" y="2154326"/>
            <a:ext cx="309067" cy="309067"/>
          </a:xfrm>
          <a:prstGeom prst="rect">
            <a:avLst/>
          </a:prstGeom>
        </p:spPr>
      </p:pic>
      <p:sp>
        <p:nvSpPr>
          <p:cNvPr id="19" name="Text 14"/>
          <p:cNvSpPr txBox="1"/>
          <p:nvPr/>
        </p:nvSpPr>
        <p:spPr>
          <a:xfrm>
            <a:off x="9116568" y="2011680"/>
            <a:ext cx="2377440" cy="274320"/>
          </a:xfrm>
          <a:prstGeom prst="rect">
            <a:avLst/>
          </a:prstGeom>
          <a:noFill/>
          <a:ln/>
        </p:spPr>
        <p:txBody>
          <a:bodyPr wrap="square" lIns="0" tIns="0" rIns="0" bIns="0" rtlCol="0" anchor="ctr"/>
          <a:lstStyle/>
          <a:p>
            <a:pPr indent="0" marL="0">
              <a:buNone/>
            </a:pPr>
            <a:r>
              <a:rPr lang="en-US" sz="1000" b="1" spc="100" kern="0" dirty="0">
                <a:solidFill>
                  <a:srgbClr val="B8E04A"/>
                </a:solidFill>
                <a:latin typeface="Arial" pitchFamily="34" charset="0"/>
                <a:ea typeface="Arial" pitchFamily="34" charset="-122"/>
                <a:cs typeface="Arial" pitchFamily="34" charset="-120"/>
              </a:rPr>
              <a:t>PHASE 3  ·  UPSIDE</a:t>
            </a:r>
            <a:endParaRPr lang="en-US" sz="1000" dirty="0"/>
          </a:p>
        </p:txBody>
      </p:sp>
      <p:sp>
        <p:nvSpPr>
          <p:cNvPr id="20" name="Text 15"/>
          <p:cNvSpPr txBox="1"/>
          <p:nvPr/>
        </p:nvSpPr>
        <p:spPr>
          <a:xfrm>
            <a:off x="9116568" y="2286000"/>
            <a:ext cx="237744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Lead</a:t>
            </a:r>
            <a:endParaRPr lang="en-US" sz="2200" dirty="0"/>
          </a:p>
        </p:txBody>
      </p:sp>
      <p:sp>
        <p:nvSpPr>
          <p:cNvPr id="21" name="Text 16"/>
          <p:cNvSpPr txBox="1"/>
          <p:nvPr/>
        </p:nvSpPr>
        <p:spPr>
          <a:xfrm>
            <a:off x="8339328" y="3017520"/>
            <a:ext cx="30632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3EEE9"/>
                </a:solidFill>
                <a:latin typeface="Calibri" pitchFamily="34" charset="0"/>
                <a:ea typeface="Calibri" pitchFamily="34" charset="-122"/>
                <a:cs typeface="Calibri" pitchFamily="34" charset="-120"/>
              </a:rPr>
              <a:t>Agents that cut SAP’s own emissions: cloud capacity, travel, procurement</a:t>
            </a:r>
            <a:endParaRPr lang="en-US" sz="1400" dirty="0"/>
          </a:p>
          <a:p>
            <a:pPr marL="342900" indent="-342900">
              <a:spcAft>
                <a:spcPts val="800"/>
              </a:spcAft>
              <a:buSzPct val="100000"/>
              <a:buChar char="•"/>
            </a:pPr>
            <a:r>
              <a:rPr lang="en-US" sz="1400" dirty="0">
                <a:solidFill>
                  <a:srgbClr val="E3EEE9"/>
                </a:solidFill>
                <a:latin typeface="Calibri" pitchFamily="34" charset="0"/>
                <a:ea typeface="Calibri" pitchFamily="34" charset="-122"/>
                <a:cs typeface="Calibri" pitchFamily="34" charset="-120"/>
              </a:rPr>
              <a:t>“Right AI” as the default way SAP automates</a:t>
            </a:r>
            <a:endParaRPr lang="en-US" sz="1400" dirty="0"/>
          </a:p>
        </p:txBody>
      </p:sp>
      <p:sp>
        <p:nvSpPr>
          <p:cNvPr id="22" name="Text 17"/>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B26"/>
        </a:solidFill>
      </p:bgPr>
    </p:bg>
    <p:spTree>
      <p:nvGrpSpPr>
        <p:cNvPr id="1" name=""/>
        <p:cNvGrpSpPr/>
        <p:nvPr/>
      </p:nvGrpSpPr>
      <p:grpSpPr>
        <a:xfrm>
          <a:off x="0" y="0"/>
          <a:ext cx="0" cy="0"/>
          <a:chOff x="0" y="0"/>
          <a:chExt cx="0" cy="0"/>
        </a:xfrm>
      </p:grpSpPr>
      <p:sp>
        <p:nvSpPr>
          <p:cNvPr id="2" name="Text 0"/>
          <p:cNvSpPr txBox="1"/>
          <p:nvPr/>
        </p:nvSpPr>
        <p:spPr>
          <a:xfrm>
            <a:off x="731520" y="822960"/>
            <a:ext cx="5486400" cy="320040"/>
          </a:xfrm>
          <a:prstGeom prst="rect">
            <a:avLst/>
          </a:prstGeom>
          <a:noFill/>
          <a:ln/>
        </p:spPr>
        <p:txBody>
          <a:bodyPr wrap="square" lIns="0" tIns="0" rIns="0" bIns="0" rtlCol="0" anchor="ctr"/>
          <a:lstStyle/>
          <a:p>
            <a:pPr indent="0" marL="0">
              <a:buNone/>
            </a:pPr>
            <a:r>
              <a:rPr lang="en-US" sz="1200" b="1" spc="200" kern="0" dirty="0">
                <a:solidFill>
                  <a:srgbClr val="B8E04A"/>
                </a:solidFill>
                <a:latin typeface="Arial" pitchFamily="34" charset="0"/>
                <a:ea typeface="Arial" pitchFamily="34" charset="-122"/>
                <a:cs typeface="Arial" pitchFamily="34" charset="-120"/>
              </a:rPr>
              <a:t>IN ONE SENTENCE</a:t>
            </a:r>
            <a:endParaRPr lang="en-US" sz="1200" dirty="0"/>
          </a:p>
        </p:txBody>
      </p:sp>
      <p:sp>
        <p:nvSpPr>
          <p:cNvPr id="3" name="Text 1"/>
          <p:cNvSpPr txBox="1"/>
          <p:nvPr/>
        </p:nvSpPr>
        <p:spPr>
          <a:xfrm>
            <a:off x="731520" y="1234440"/>
            <a:ext cx="10515600" cy="11887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Lena chooses lean because it is the easiest choice.</a:t>
            </a:r>
            <a:endParaRPr lang="en-US" sz="3600" dirty="0"/>
          </a:p>
        </p:txBody>
      </p:sp>
      <p:sp>
        <p:nvSpPr>
          <p:cNvPr id="4" name="Shape 2"/>
          <p:cNvSpPr/>
          <p:nvPr/>
        </p:nvSpPr>
        <p:spPr>
          <a:xfrm>
            <a:off x="731520" y="2880360"/>
            <a:ext cx="3383280" cy="1737360"/>
          </a:xfrm>
          <a:prstGeom prst="roundRect">
            <a:avLst>
              <a:gd name="adj" fmla="val 6316"/>
            </a:avLst>
          </a:prstGeom>
          <a:solidFill>
            <a:srgbClr val="11604F"/>
          </a:solidFill>
          <a:ln w="12700">
            <a:solidFill>
              <a:srgbClr val="11604F"/>
            </a:solidFill>
            <a:prstDash val="solid"/>
          </a:ln>
        </p:spPr>
      </p:sp>
      <p:sp>
        <p:nvSpPr>
          <p:cNvPr id="5" name="Shape 3"/>
          <p:cNvSpPr/>
          <p:nvPr/>
        </p:nvSpPr>
        <p:spPr>
          <a:xfrm>
            <a:off x="1005840" y="3154680"/>
            <a:ext cx="548640" cy="548640"/>
          </a:xfrm>
          <a:prstGeom prst="roundRect">
            <a:avLst>
              <a:gd name="adj" fmla="val 22000"/>
            </a:avLst>
          </a:prstGeom>
          <a:solidFill>
            <a:srgbClr val="0B2B26"/>
          </a:solidFill>
          <a:ln w="12700">
            <a:solidFill>
              <a:srgbClr val="0B2B26"/>
            </a:solidFill>
            <a:prstDash val="solid"/>
          </a:ln>
        </p:spPr>
      </p:sp>
      <p:pic>
        <p:nvPicPr>
          <p:cNvPr id="6" name="Image 0" descr="preencoded.png">    </p:cNvPr>
          <p:cNvPicPr>
            <a:picLocks noChangeAspect="1"/>
          </p:cNvPicPr>
          <p:nvPr/>
        </p:nvPicPr>
        <p:blipFill>
          <a:blip r:embed="rId1"/>
          <a:stretch>
            <a:fillRect/>
          </a:stretch>
        </p:blipFill>
        <p:spPr>
          <a:xfrm>
            <a:off x="1137514" y="3286354"/>
            <a:ext cx="285293" cy="285293"/>
          </a:xfrm>
          <a:prstGeom prst="rect">
            <a:avLst/>
          </a:prstGeom>
        </p:spPr>
      </p:pic>
      <p:sp>
        <p:nvSpPr>
          <p:cNvPr id="7" name="Text 4"/>
          <p:cNvSpPr txBox="1"/>
          <p:nvPr/>
        </p:nvSpPr>
        <p:spPr>
          <a:xfrm>
            <a:off x="1737360" y="3154680"/>
            <a:ext cx="224028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Right tool</a:t>
            </a:r>
            <a:endParaRPr lang="en-US" sz="1700" dirty="0"/>
          </a:p>
        </p:txBody>
      </p:sp>
      <p:sp>
        <p:nvSpPr>
          <p:cNvPr id="8" name="Text 5"/>
          <p:cNvSpPr txBox="1"/>
          <p:nvPr/>
        </p:nvSpPr>
        <p:spPr>
          <a:xfrm>
            <a:off x="1005840" y="3886200"/>
            <a:ext cx="2880360" cy="594360"/>
          </a:xfrm>
          <a:prstGeom prst="rect">
            <a:avLst/>
          </a:prstGeom>
          <a:noFill/>
          <a:ln/>
        </p:spPr>
        <p:txBody>
          <a:bodyPr wrap="square" lIns="0" tIns="0" rIns="0" bIns="0" rtlCol="0" anchor="t"/>
          <a:lstStyle/>
          <a:p>
            <a:pPr indent="0" marL="0">
              <a:buNone/>
            </a:pPr>
            <a:r>
              <a:rPr lang="en-US" sz="1300" dirty="0">
                <a:solidFill>
                  <a:srgbClr val="E3EEE9"/>
                </a:solidFill>
                <a:latin typeface="Calibri" pitchFamily="34" charset="0"/>
                <a:ea typeface="Calibri" pitchFamily="34" charset="-122"/>
                <a:cs typeface="Calibri" pitchFamily="34" charset="-120"/>
              </a:rPr>
              <a:t>Automation ladder, triage and distillation</a:t>
            </a:r>
            <a:endParaRPr lang="en-US" sz="1300" dirty="0"/>
          </a:p>
        </p:txBody>
      </p:sp>
      <p:sp>
        <p:nvSpPr>
          <p:cNvPr id="9" name="Shape 6"/>
          <p:cNvSpPr/>
          <p:nvPr/>
        </p:nvSpPr>
        <p:spPr>
          <a:xfrm>
            <a:off x="4343400" y="2880360"/>
            <a:ext cx="3383280" cy="1737360"/>
          </a:xfrm>
          <a:prstGeom prst="roundRect">
            <a:avLst>
              <a:gd name="adj" fmla="val 6316"/>
            </a:avLst>
          </a:prstGeom>
          <a:solidFill>
            <a:srgbClr val="11604F"/>
          </a:solidFill>
          <a:ln w="12700">
            <a:solidFill>
              <a:srgbClr val="11604F"/>
            </a:solidFill>
            <a:prstDash val="solid"/>
          </a:ln>
        </p:spPr>
      </p:sp>
      <p:sp>
        <p:nvSpPr>
          <p:cNvPr id="10" name="Shape 7"/>
          <p:cNvSpPr/>
          <p:nvPr/>
        </p:nvSpPr>
        <p:spPr>
          <a:xfrm>
            <a:off x="4617720" y="3154680"/>
            <a:ext cx="548640" cy="548640"/>
          </a:xfrm>
          <a:prstGeom prst="roundRect">
            <a:avLst>
              <a:gd name="adj" fmla="val 22000"/>
            </a:avLst>
          </a:prstGeom>
          <a:solidFill>
            <a:srgbClr val="0B2B26"/>
          </a:solidFill>
          <a:ln w="12700">
            <a:solidFill>
              <a:srgbClr val="0B2B26"/>
            </a:solidFill>
            <a:prstDash val="solid"/>
          </a:ln>
        </p:spPr>
      </p:sp>
      <p:pic>
        <p:nvPicPr>
          <p:cNvPr id="11" name="Image 1" descr="preencoded.png">    </p:cNvPr>
          <p:cNvPicPr>
            <a:picLocks noChangeAspect="1"/>
          </p:cNvPicPr>
          <p:nvPr/>
        </p:nvPicPr>
        <p:blipFill>
          <a:blip r:embed="rId2"/>
          <a:stretch>
            <a:fillRect/>
          </a:stretch>
        </p:blipFill>
        <p:spPr>
          <a:xfrm>
            <a:off x="4749394" y="3286354"/>
            <a:ext cx="285293" cy="285293"/>
          </a:xfrm>
          <a:prstGeom prst="rect">
            <a:avLst/>
          </a:prstGeom>
        </p:spPr>
      </p:pic>
      <p:sp>
        <p:nvSpPr>
          <p:cNvPr id="12" name="Text 8"/>
          <p:cNvSpPr txBox="1"/>
          <p:nvPr/>
        </p:nvSpPr>
        <p:spPr>
          <a:xfrm>
            <a:off x="5349240" y="3154680"/>
            <a:ext cx="224028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Right incentives</a:t>
            </a:r>
            <a:endParaRPr lang="en-US" sz="1700" dirty="0"/>
          </a:p>
        </p:txBody>
      </p:sp>
      <p:sp>
        <p:nvSpPr>
          <p:cNvPr id="13" name="Text 9"/>
          <p:cNvSpPr txBox="1"/>
          <p:nvPr/>
        </p:nvSpPr>
        <p:spPr>
          <a:xfrm>
            <a:off x="4617720" y="3886200"/>
            <a:ext cx="2880360" cy="594360"/>
          </a:xfrm>
          <a:prstGeom prst="rect">
            <a:avLst/>
          </a:prstGeom>
          <a:noFill/>
          <a:ln/>
        </p:spPr>
        <p:txBody>
          <a:bodyPr wrap="square" lIns="0" tIns="0" rIns="0" bIns="0" rtlCol="0" anchor="t"/>
          <a:lstStyle/>
          <a:p>
            <a:pPr indent="0" marL="0">
              <a:buNone/>
            </a:pPr>
            <a:r>
              <a:rPr lang="en-US" sz="1300" dirty="0">
                <a:solidFill>
                  <a:srgbClr val="E3EEE9"/>
                </a:solidFill>
                <a:latin typeface="Calibri" pitchFamily="34" charset="0"/>
                <a:ea typeface="Calibri" pitchFamily="34" charset="-122"/>
                <a:cs typeface="Calibri" pitchFamily="34" charset="-120"/>
              </a:rPr>
              <a:t>Visibility, budgets and team targets</a:t>
            </a:r>
            <a:endParaRPr lang="en-US" sz="1300" dirty="0"/>
          </a:p>
        </p:txBody>
      </p:sp>
      <p:sp>
        <p:nvSpPr>
          <p:cNvPr id="14" name="Shape 10"/>
          <p:cNvSpPr/>
          <p:nvPr/>
        </p:nvSpPr>
        <p:spPr>
          <a:xfrm>
            <a:off x="7955280" y="2880360"/>
            <a:ext cx="3383280" cy="1737360"/>
          </a:xfrm>
          <a:prstGeom prst="roundRect">
            <a:avLst>
              <a:gd name="adj" fmla="val 6316"/>
            </a:avLst>
          </a:prstGeom>
          <a:solidFill>
            <a:srgbClr val="11604F"/>
          </a:solidFill>
          <a:ln w="12700">
            <a:solidFill>
              <a:srgbClr val="11604F"/>
            </a:solidFill>
            <a:prstDash val="solid"/>
          </a:ln>
        </p:spPr>
      </p:sp>
      <p:sp>
        <p:nvSpPr>
          <p:cNvPr id="15" name="Shape 11"/>
          <p:cNvSpPr/>
          <p:nvPr/>
        </p:nvSpPr>
        <p:spPr>
          <a:xfrm>
            <a:off x="8229600" y="3154680"/>
            <a:ext cx="548640" cy="548640"/>
          </a:xfrm>
          <a:prstGeom prst="roundRect">
            <a:avLst>
              <a:gd name="adj" fmla="val 22000"/>
            </a:avLst>
          </a:prstGeom>
          <a:solidFill>
            <a:srgbClr val="0B2B26"/>
          </a:solidFill>
          <a:ln w="12700">
            <a:solidFill>
              <a:srgbClr val="0B2B26"/>
            </a:solidFill>
            <a:prstDash val="solid"/>
          </a:ln>
        </p:spPr>
      </p:sp>
      <p:pic>
        <p:nvPicPr>
          <p:cNvPr id="16" name="Image 2" descr="preencoded.png">    </p:cNvPr>
          <p:cNvPicPr>
            <a:picLocks noChangeAspect="1"/>
          </p:cNvPicPr>
          <p:nvPr/>
        </p:nvPicPr>
        <p:blipFill>
          <a:blip r:embed="rId3"/>
          <a:stretch>
            <a:fillRect/>
          </a:stretch>
        </p:blipFill>
        <p:spPr>
          <a:xfrm>
            <a:off x="8361274" y="3286354"/>
            <a:ext cx="285293" cy="285293"/>
          </a:xfrm>
          <a:prstGeom prst="rect">
            <a:avLst/>
          </a:prstGeom>
        </p:spPr>
      </p:pic>
      <p:sp>
        <p:nvSpPr>
          <p:cNvPr id="17" name="Text 12"/>
          <p:cNvSpPr txBox="1"/>
          <p:nvPr/>
        </p:nvSpPr>
        <p:spPr>
          <a:xfrm>
            <a:off x="8961120" y="3154680"/>
            <a:ext cx="224028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Right proof</a:t>
            </a:r>
            <a:endParaRPr lang="en-US" sz="1700" dirty="0"/>
          </a:p>
        </p:txBody>
      </p:sp>
      <p:sp>
        <p:nvSpPr>
          <p:cNvPr id="18" name="Text 13"/>
          <p:cNvSpPr txBox="1"/>
          <p:nvPr/>
        </p:nvSpPr>
        <p:spPr>
          <a:xfrm>
            <a:off x="8229600" y="3886200"/>
            <a:ext cx="2880360" cy="594360"/>
          </a:xfrm>
          <a:prstGeom prst="rect">
            <a:avLst/>
          </a:prstGeom>
          <a:noFill/>
          <a:ln/>
        </p:spPr>
        <p:txBody>
          <a:bodyPr wrap="square" lIns="0" tIns="0" rIns="0" bIns="0" rtlCol="0" anchor="t"/>
          <a:lstStyle/>
          <a:p>
            <a:pPr indent="0" marL="0">
              <a:buNone/>
            </a:pPr>
            <a:r>
              <a:rPr lang="en-US" sz="1300" dirty="0">
                <a:solidFill>
                  <a:srgbClr val="E3EEE9"/>
                </a:solidFill>
                <a:latin typeface="Calibri" pitchFamily="34" charset="0"/>
                <a:ea typeface="Calibri" pitchFamily="34" charset="-122"/>
                <a:cs typeface="Calibri" pitchFamily="34" charset="-120"/>
              </a:rPr>
              <a:t>Measured from logs, not with more AI</a:t>
            </a:r>
            <a:endParaRPr lang="en-US" sz="1300" dirty="0"/>
          </a:p>
        </p:txBody>
      </p:sp>
      <p:sp>
        <p:nvSpPr>
          <p:cNvPr id="19" name="Text 14"/>
          <p:cNvSpPr txBox="1"/>
          <p:nvPr/>
        </p:nvSpPr>
        <p:spPr>
          <a:xfrm>
            <a:off x="731520" y="5074920"/>
            <a:ext cx="10515600" cy="914400"/>
          </a:xfrm>
          <a:prstGeom prst="rect">
            <a:avLst/>
          </a:prstGeom>
          <a:noFill/>
          <a:ln/>
        </p:spPr>
        <p:txBody>
          <a:bodyPr wrap="square" lIns="0" tIns="0" rIns="0" bIns="0" rtlCol="0" anchor="t"/>
          <a:lstStyle/>
          <a:p>
            <a:pPr indent="0" marL="0">
              <a:buNone/>
            </a:pPr>
            <a:r>
              <a:rPr lang="en-US" sz="2000" b="1" dirty="0">
                <a:solidFill>
                  <a:srgbClr val="B8E04A"/>
                </a:solidFill>
                <a:latin typeface="Arial" pitchFamily="34" charset="0"/>
                <a:ea typeface="Arial" pitchFamily="34" charset="-122"/>
                <a:cs typeface="Arial" pitchFamily="34" charset="-120"/>
              </a:rPr>
              <a:t>Not more AI, but the right AI.</a:t>
            </a:r>
            <a:endParaRPr lang="en-US" sz="2000" dirty="0"/>
          </a:p>
          <a:p>
            <a:pPr indent="0" marL="0">
              <a:buNone/>
            </a:pPr>
            <a:r>
              <a:rPr lang="en-US" sz="2000" dirty="0">
                <a:solidFill>
                  <a:srgbClr val="C9DCD5"/>
                </a:solidFill>
                <a:latin typeface="Arial" pitchFamily="34" charset="0"/>
                <a:ea typeface="Arial" pitchFamily="34" charset="-122"/>
                <a:cs typeface="Arial" pitchFamily="34" charset="-120"/>
              </a:rPr>
              <a:t>Business impact at worst neutral – at best positive.</a:t>
            </a:r>
            <a:endParaRPr lang="en-US" sz="2000" dirty="0"/>
          </a:p>
        </p:txBody>
      </p:sp>
      <p:sp>
        <p:nvSpPr>
          <p:cNvPr id="20" name="Text 1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8FA8A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A1  ·  APPENDIX</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Prioritisation: not every use case deserves autonomy</a:t>
            </a:r>
            <a:endParaRPr lang="en-US" sz="3000" dirty="0"/>
          </a:p>
        </p:txBody>
      </p:sp>
      <p:sp>
        <p:nvSpPr>
          <p:cNvPr id="4" name="Shape 2"/>
          <p:cNvSpPr/>
          <p:nvPr/>
        </p:nvSpPr>
        <p:spPr>
          <a:xfrm>
            <a:off x="2011680" y="1783080"/>
            <a:ext cx="4206240" cy="2011680"/>
          </a:xfrm>
          <a:prstGeom prst="roundRect">
            <a:avLst>
              <a:gd name="adj" fmla="val 5455"/>
            </a:avLst>
          </a:prstGeom>
          <a:solidFill>
            <a:srgbClr val="D5EADF"/>
          </a:solidFill>
          <a:ln w="12700">
            <a:solidFill>
              <a:srgbClr val="D5EADF"/>
            </a:solidFill>
            <a:prstDash val="solid"/>
          </a:ln>
        </p:spPr>
      </p:sp>
      <p:sp>
        <p:nvSpPr>
          <p:cNvPr id="5" name="Text 3"/>
          <p:cNvSpPr txBox="1"/>
          <p:nvPr/>
        </p:nvSpPr>
        <p:spPr>
          <a:xfrm>
            <a:off x="2286000" y="2057400"/>
            <a:ext cx="3657600" cy="457200"/>
          </a:xfrm>
          <a:prstGeom prst="rect">
            <a:avLst/>
          </a:prstGeom>
          <a:noFill/>
          <a:ln/>
        </p:spPr>
        <p:txBody>
          <a:bodyPr wrap="square" lIns="0" tIns="0" rIns="0" bIns="0" rtlCol="0" anchor="ctr"/>
          <a:lstStyle/>
          <a:p>
            <a:pPr indent="0" marL="0">
              <a:buNone/>
            </a:pPr>
            <a:r>
              <a:rPr lang="en-US" sz="2000" b="1" dirty="0">
                <a:solidFill>
                  <a:srgbClr val="1C2B28"/>
                </a:solidFill>
                <a:latin typeface="Arial" pitchFamily="34" charset="0"/>
                <a:ea typeface="Arial" pitchFamily="34" charset="-122"/>
                <a:cs typeface="Arial" pitchFamily="34" charset="-120"/>
              </a:rPr>
              <a:t>Optimise, then scale</a:t>
            </a:r>
            <a:endParaRPr lang="en-US" sz="2000" dirty="0"/>
          </a:p>
        </p:txBody>
      </p:sp>
      <p:sp>
        <p:nvSpPr>
          <p:cNvPr id="6" name="Text 4"/>
          <p:cNvSpPr txBox="1"/>
          <p:nvPr/>
        </p:nvSpPr>
        <p:spPr>
          <a:xfrm>
            <a:off x="2286000" y="2606040"/>
            <a:ext cx="3657600" cy="822960"/>
          </a:xfrm>
          <a:prstGeom prst="rect">
            <a:avLst/>
          </a:prstGeom>
          <a:noFill/>
          <a:ln/>
        </p:spPr>
        <p:txBody>
          <a:bodyPr wrap="square" lIns="0" tIns="0" rIns="0" bIns="0" rtlCol="0" anchor="t"/>
          <a:lstStyle/>
          <a:p>
            <a:pPr indent="0" marL="0">
              <a:buNone/>
            </a:pPr>
            <a:r>
              <a:rPr lang="en-US" sz="1400" dirty="0">
                <a:solidFill>
                  <a:srgbClr val="1C2B28"/>
                </a:solidFill>
                <a:latin typeface="Calibri" pitchFamily="34" charset="0"/>
                <a:ea typeface="Calibri" pitchFamily="34" charset="-122"/>
                <a:cs typeface="Calibri" pitchFamily="34" charset="-120"/>
              </a:rPr>
              <a:t>High value, high intensity – right-size the agent first</a:t>
            </a:r>
            <a:endParaRPr lang="en-US" sz="1400" dirty="0"/>
          </a:p>
        </p:txBody>
      </p:sp>
      <p:sp>
        <p:nvSpPr>
          <p:cNvPr id="7" name="Shape 5"/>
          <p:cNvSpPr/>
          <p:nvPr/>
        </p:nvSpPr>
        <p:spPr>
          <a:xfrm>
            <a:off x="6355080" y="1783080"/>
            <a:ext cx="4206240" cy="2011680"/>
          </a:xfrm>
          <a:prstGeom prst="roundRect">
            <a:avLst>
              <a:gd name="adj" fmla="val 5455"/>
            </a:avLst>
          </a:prstGeom>
          <a:solidFill>
            <a:srgbClr val="B8E04A"/>
          </a:solidFill>
          <a:ln w="12700">
            <a:solidFill>
              <a:srgbClr val="B8E04A"/>
            </a:solidFill>
            <a:prstDash val="solid"/>
          </a:ln>
        </p:spPr>
      </p:sp>
      <p:sp>
        <p:nvSpPr>
          <p:cNvPr id="8" name="Text 6"/>
          <p:cNvSpPr txBox="1"/>
          <p:nvPr/>
        </p:nvSpPr>
        <p:spPr>
          <a:xfrm>
            <a:off x="6629400" y="2057400"/>
            <a:ext cx="3657600" cy="457200"/>
          </a:xfrm>
          <a:prstGeom prst="rect">
            <a:avLst/>
          </a:prstGeom>
          <a:noFill/>
          <a:ln/>
        </p:spPr>
        <p:txBody>
          <a:bodyPr wrap="square" lIns="0" tIns="0" rIns="0" bIns="0" rtlCol="0" anchor="ctr"/>
          <a:lstStyle/>
          <a:p>
            <a:pPr indent="0" marL="0">
              <a:buNone/>
            </a:pPr>
            <a:r>
              <a:rPr lang="en-US" sz="2000" b="1" dirty="0">
                <a:solidFill>
                  <a:srgbClr val="1C2B28"/>
                </a:solidFill>
                <a:latin typeface="Arial" pitchFamily="34" charset="0"/>
                <a:ea typeface="Arial" pitchFamily="34" charset="-122"/>
                <a:cs typeface="Arial" pitchFamily="34" charset="-120"/>
              </a:rPr>
              <a:t>Scale up</a:t>
            </a:r>
            <a:endParaRPr lang="en-US" sz="2000" dirty="0"/>
          </a:p>
        </p:txBody>
      </p:sp>
      <p:sp>
        <p:nvSpPr>
          <p:cNvPr id="9" name="Text 7"/>
          <p:cNvSpPr txBox="1"/>
          <p:nvPr/>
        </p:nvSpPr>
        <p:spPr>
          <a:xfrm>
            <a:off x="6629400" y="2606040"/>
            <a:ext cx="3657600" cy="822960"/>
          </a:xfrm>
          <a:prstGeom prst="rect">
            <a:avLst/>
          </a:prstGeom>
          <a:noFill/>
          <a:ln/>
        </p:spPr>
        <p:txBody>
          <a:bodyPr wrap="square" lIns="0" tIns="0" rIns="0" bIns="0" rtlCol="0" anchor="t"/>
          <a:lstStyle/>
          <a:p>
            <a:pPr indent="0" marL="0">
              <a:buNone/>
            </a:pPr>
            <a:r>
              <a:rPr lang="en-US" sz="1400" dirty="0">
                <a:solidFill>
                  <a:srgbClr val="1C2B28"/>
                </a:solidFill>
                <a:latin typeface="Calibri" pitchFamily="34" charset="0"/>
                <a:ea typeface="Calibri" pitchFamily="34" charset="-122"/>
                <a:cs typeface="Calibri" pitchFamily="34" charset="-120"/>
              </a:rPr>
              <a:t>High value, low intensity – the sweet spot</a:t>
            </a:r>
            <a:endParaRPr lang="en-US" sz="1400" dirty="0"/>
          </a:p>
        </p:txBody>
      </p:sp>
      <p:sp>
        <p:nvSpPr>
          <p:cNvPr id="10" name="Shape 8"/>
          <p:cNvSpPr/>
          <p:nvPr/>
        </p:nvSpPr>
        <p:spPr>
          <a:xfrm>
            <a:off x="2011680" y="3931920"/>
            <a:ext cx="4206240" cy="2011680"/>
          </a:xfrm>
          <a:prstGeom prst="roundRect">
            <a:avLst>
              <a:gd name="adj" fmla="val 5455"/>
            </a:avLst>
          </a:prstGeom>
          <a:solidFill>
            <a:srgbClr val="E07A3F"/>
          </a:solidFill>
          <a:ln w="12700">
            <a:solidFill>
              <a:srgbClr val="E07A3F"/>
            </a:solidFill>
            <a:prstDash val="solid"/>
          </a:ln>
        </p:spPr>
      </p:sp>
      <p:sp>
        <p:nvSpPr>
          <p:cNvPr id="11" name="Text 9"/>
          <p:cNvSpPr txBox="1"/>
          <p:nvPr/>
        </p:nvSpPr>
        <p:spPr>
          <a:xfrm>
            <a:off x="2286000" y="420624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Stop or don’t start</a:t>
            </a:r>
            <a:endParaRPr lang="en-US" sz="2000" dirty="0"/>
          </a:p>
        </p:txBody>
      </p:sp>
      <p:sp>
        <p:nvSpPr>
          <p:cNvPr id="12" name="Text 10"/>
          <p:cNvSpPr txBox="1"/>
          <p:nvPr/>
        </p:nvSpPr>
        <p:spPr>
          <a:xfrm>
            <a:off x="2286000" y="4754880"/>
            <a:ext cx="3657600"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Low value, high intensity</a:t>
            </a:r>
            <a:endParaRPr lang="en-US" sz="1400" dirty="0"/>
          </a:p>
        </p:txBody>
      </p:sp>
      <p:sp>
        <p:nvSpPr>
          <p:cNvPr id="13" name="Shape 11"/>
          <p:cNvSpPr/>
          <p:nvPr/>
        </p:nvSpPr>
        <p:spPr>
          <a:xfrm>
            <a:off x="6355080" y="3931920"/>
            <a:ext cx="4206240" cy="2011680"/>
          </a:xfrm>
          <a:prstGeom prst="roundRect">
            <a:avLst>
              <a:gd name="adj" fmla="val 5455"/>
            </a:avLst>
          </a:prstGeom>
          <a:solidFill>
            <a:srgbClr val="EAF4EF"/>
          </a:solidFill>
          <a:ln w="12700">
            <a:solidFill>
              <a:srgbClr val="EAF4EF"/>
            </a:solidFill>
            <a:prstDash val="solid"/>
          </a:ln>
        </p:spPr>
      </p:sp>
      <p:sp>
        <p:nvSpPr>
          <p:cNvPr id="14" name="Text 12"/>
          <p:cNvSpPr txBox="1"/>
          <p:nvPr/>
        </p:nvSpPr>
        <p:spPr>
          <a:xfrm>
            <a:off x="6629400" y="4206240"/>
            <a:ext cx="3657600" cy="457200"/>
          </a:xfrm>
          <a:prstGeom prst="rect">
            <a:avLst/>
          </a:prstGeom>
          <a:noFill/>
          <a:ln/>
        </p:spPr>
        <p:txBody>
          <a:bodyPr wrap="square" lIns="0" tIns="0" rIns="0" bIns="0" rtlCol="0" anchor="ctr"/>
          <a:lstStyle/>
          <a:p>
            <a:pPr indent="0" marL="0">
              <a:buNone/>
            </a:pPr>
            <a:r>
              <a:rPr lang="en-US" sz="2000" b="1" dirty="0">
                <a:solidFill>
                  <a:srgbClr val="1C2B28"/>
                </a:solidFill>
                <a:latin typeface="Arial" pitchFamily="34" charset="0"/>
                <a:ea typeface="Arial" pitchFamily="34" charset="-122"/>
                <a:cs typeface="Arial" pitchFamily="34" charset="-120"/>
              </a:rPr>
              <a:t>Simplify</a:t>
            </a:r>
            <a:endParaRPr lang="en-US" sz="2000" dirty="0"/>
          </a:p>
        </p:txBody>
      </p:sp>
      <p:sp>
        <p:nvSpPr>
          <p:cNvPr id="15" name="Text 13"/>
          <p:cNvSpPr txBox="1"/>
          <p:nvPr/>
        </p:nvSpPr>
        <p:spPr>
          <a:xfrm>
            <a:off x="6629400" y="4754880"/>
            <a:ext cx="3657600" cy="822960"/>
          </a:xfrm>
          <a:prstGeom prst="rect">
            <a:avLst/>
          </a:prstGeom>
          <a:noFill/>
          <a:ln/>
        </p:spPr>
        <p:txBody>
          <a:bodyPr wrap="square" lIns="0" tIns="0" rIns="0" bIns="0" rtlCol="0" anchor="t"/>
          <a:lstStyle/>
          <a:p>
            <a:pPr indent="0" marL="0">
              <a:buNone/>
            </a:pPr>
            <a:r>
              <a:rPr lang="en-US" sz="1400" dirty="0">
                <a:solidFill>
                  <a:srgbClr val="1C2B28"/>
                </a:solidFill>
                <a:latin typeface="Calibri" pitchFamily="34" charset="0"/>
                <a:ea typeface="Calibri" pitchFamily="34" charset="-122"/>
                <a:cs typeface="Calibri" pitchFamily="34" charset="-120"/>
              </a:rPr>
              <a:t>Low value, low intensity – rule or workflow</a:t>
            </a:r>
            <a:endParaRPr lang="en-US" sz="1400" dirty="0"/>
          </a:p>
        </p:txBody>
      </p:sp>
      <p:sp>
        <p:nvSpPr>
          <p:cNvPr id="16" name="Text 14"/>
          <p:cNvSpPr txBox="1"/>
          <p:nvPr/>
        </p:nvSpPr>
        <p:spPr>
          <a:xfrm>
            <a:off x="365760" y="1783080"/>
            <a:ext cx="457200" cy="4160520"/>
          </a:xfrm>
          <a:prstGeom prst="rect">
            <a:avLst/>
          </a:prstGeom>
          <a:noFill/>
          <a:ln/>
        </p:spPr>
        <p:txBody>
          <a:bodyPr wrap="square" lIns="0" tIns="0" rIns="0" bIns="0" rtlCol="0" anchor="ctr" vert="vert270"/>
          <a:lstStyle/>
          <a:p>
            <a:pPr algn="ctr" indent="0" marL="0">
              <a:buNone/>
            </a:pPr>
            <a:r>
              <a:rPr lang="en-US" sz="1300" b="1" dirty="0">
                <a:solidFill>
                  <a:srgbClr val="5E6E6A"/>
                </a:solidFill>
                <a:latin typeface="Arial" pitchFamily="34" charset="0"/>
                <a:ea typeface="Arial" pitchFamily="34" charset="-122"/>
                <a:cs typeface="Arial" pitchFamily="34" charset="-120"/>
              </a:rPr>
              <a:t>Business value →</a:t>
            </a:r>
            <a:endParaRPr lang="en-US" sz="1300" dirty="0"/>
          </a:p>
        </p:txBody>
      </p:sp>
      <p:sp>
        <p:nvSpPr>
          <p:cNvPr id="17" name="Text 15"/>
          <p:cNvSpPr txBox="1"/>
          <p:nvPr/>
        </p:nvSpPr>
        <p:spPr>
          <a:xfrm>
            <a:off x="960120" y="1965960"/>
            <a:ext cx="914400" cy="274320"/>
          </a:xfrm>
          <a:prstGeom prst="rect">
            <a:avLst/>
          </a:prstGeom>
          <a:noFill/>
          <a:ln/>
        </p:spPr>
        <p:txBody>
          <a:bodyPr wrap="square" lIns="0" tIns="0" rIns="0" bIns="0" rtlCol="0" anchor="ctr"/>
          <a:lstStyle/>
          <a:p>
            <a:pPr algn="r" indent="0" marL="0">
              <a:buNone/>
            </a:pPr>
            <a:r>
              <a:rPr lang="en-US" sz="1100" dirty="0">
                <a:solidFill>
                  <a:srgbClr val="5E6E6A"/>
                </a:solidFill>
                <a:latin typeface="Calibri" pitchFamily="34" charset="0"/>
                <a:ea typeface="Calibri" pitchFamily="34" charset="-122"/>
                <a:cs typeface="Calibri" pitchFamily="34" charset="-120"/>
              </a:rPr>
              <a:t>high</a:t>
            </a:r>
            <a:endParaRPr lang="en-US" sz="1100" dirty="0"/>
          </a:p>
        </p:txBody>
      </p:sp>
      <p:sp>
        <p:nvSpPr>
          <p:cNvPr id="18" name="Text 16"/>
          <p:cNvSpPr txBox="1"/>
          <p:nvPr/>
        </p:nvSpPr>
        <p:spPr>
          <a:xfrm>
            <a:off x="960120" y="5532120"/>
            <a:ext cx="914400" cy="274320"/>
          </a:xfrm>
          <a:prstGeom prst="rect">
            <a:avLst/>
          </a:prstGeom>
          <a:noFill/>
          <a:ln/>
        </p:spPr>
        <p:txBody>
          <a:bodyPr wrap="square" lIns="0" tIns="0" rIns="0" bIns="0" rtlCol="0" anchor="ctr"/>
          <a:lstStyle/>
          <a:p>
            <a:pPr algn="r" indent="0" marL="0">
              <a:buNone/>
            </a:pPr>
            <a:r>
              <a:rPr lang="en-US" sz="1100" dirty="0">
                <a:solidFill>
                  <a:srgbClr val="5E6E6A"/>
                </a:solidFill>
                <a:latin typeface="Calibri" pitchFamily="34" charset="0"/>
                <a:ea typeface="Calibri" pitchFamily="34" charset="-122"/>
                <a:cs typeface="Calibri" pitchFamily="34" charset="-120"/>
              </a:rPr>
              <a:t>low</a:t>
            </a:r>
            <a:endParaRPr lang="en-US" sz="1100" dirty="0"/>
          </a:p>
        </p:txBody>
      </p:sp>
      <p:sp>
        <p:nvSpPr>
          <p:cNvPr id="19" name="Text 17"/>
          <p:cNvSpPr txBox="1"/>
          <p:nvPr/>
        </p:nvSpPr>
        <p:spPr>
          <a:xfrm>
            <a:off x="2011680" y="6080760"/>
            <a:ext cx="8549640" cy="320040"/>
          </a:xfrm>
          <a:prstGeom prst="rect">
            <a:avLst/>
          </a:prstGeom>
          <a:noFill/>
          <a:ln/>
        </p:spPr>
        <p:txBody>
          <a:bodyPr wrap="square" lIns="0" tIns="0" rIns="0" bIns="0" rtlCol="0" anchor="ctr"/>
          <a:lstStyle/>
          <a:p>
            <a:pPr algn="ctr" indent="0" marL="0">
              <a:buNone/>
            </a:pPr>
            <a:r>
              <a:rPr lang="en-US" sz="1300" b="1" dirty="0">
                <a:solidFill>
                  <a:srgbClr val="5E6E6A"/>
                </a:solidFill>
                <a:latin typeface="Arial" pitchFamily="34" charset="0"/>
                <a:ea typeface="Arial" pitchFamily="34" charset="-122"/>
                <a:cs typeface="Arial" pitchFamily="34" charset="-120"/>
              </a:rPr>
              <a:t>high   ←   Resource intensity   →   low</a:t>
            </a:r>
            <a:endParaRPr lang="en-US" sz="1300" dirty="0"/>
          </a:p>
        </p:txBody>
      </p:sp>
      <p:sp>
        <p:nvSpPr>
          <p:cNvPr id="20" name="Text 18"/>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A2  ·  APPENDIX</a:t>
            </a:r>
            <a:endParaRPr lang="en-US" sz="1100" dirty="0"/>
          </a:p>
        </p:txBody>
      </p:sp>
      <p:sp>
        <p:nvSpPr>
          <p:cNvPr id="3" name="Text 1"/>
          <p:cNvSpPr txBox="1"/>
          <p:nvPr/>
        </p:nvSpPr>
        <p:spPr>
          <a:xfrm>
            <a:off x="548640" y="640080"/>
            <a:ext cx="11064240" cy="822960"/>
          </a:xfrm>
          <a:prstGeom prst="rect">
            <a:avLst/>
          </a:prstGeom>
          <a:noFill/>
          <a:ln/>
        </p:spPr>
        <p:txBody>
          <a:bodyPr wrap="square" lIns="0" tIns="0" rIns="0" bIns="0" rtlCol="0" anchor="t"/>
          <a:lstStyle/>
          <a:p>
            <a:pPr indent="0" marL="0">
              <a:buNone/>
            </a:pPr>
            <a:r>
              <a:rPr lang="en-US" sz="3000" b="1" dirty="0">
                <a:solidFill>
                  <a:srgbClr val="1C2B28"/>
                </a:solidFill>
                <a:latin typeface="Arial" pitchFamily="34" charset="0"/>
                <a:ea typeface="Arial" pitchFamily="34" charset="-122"/>
                <a:cs typeface="Arial" pitchFamily="34" charset="-120"/>
              </a:rPr>
              <a:t>Risks and trade-offs we have considered</a:t>
            </a:r>
            <a:endParaRPr lang="en-US" sz="3000" dirty="0"/>
          </a:p>
        </p:txBody>
      </p:sp>
      <p:sp>
        <p:nvSpPr>
          <p:cNvPr id="4" name="Text 2"/>
          <p:cNvSpPr txBox="1"/>
          <p:nvPr/>
        </p:nvSpPr>
        <p:spPr>
          <a:xfrm>
            <a:off x="548640" y="1691640"/>
            <a:ext cx="2743200" cy="274320"/>
          </a:xfrm>
          <a:prstGeom prst="rect">
            <a:avLst/>
          </a:prstGeom>
          <a:noFill/>
          <a:ln/>
        </p:spPr>
        <p:txBody>
          <a:bodyPr wrap="square" lIns="0" tIns="0" rIns="0" bIns="0" rtlCol="0" anchor="ctr"/>
          <a:lstStyle/>
          <a:p>
            <a:pPr indent="0" marL="0">
              <a:buNone/>
            </a:pPr>
            <a:r>
              <a:rPr lang="en-US" sz="1100" b="1" spc="200" kern="0" dirty="0">
                <a:solidFill>
                  <a:srgbClr val="5E6E6A"/>
                </a:solidFill>
                <a:latin typeface="Arial" pitchFamily="34" charset="0"/>
                <a:ea typeface="Arial" pitchFamily="34" charset="-122"/>
                <a:cs typeface="Arial" pitchFamily="34" charset="-120"/>
              </a:rPr>
              <a:t>RISK</a:t>
            </a:r>
            <a:endParaRPr lang="en-US" sz="1100" dirty="0"/>
          </a:p>
        </p:txBody>
      </p:sp>
      <p:sp>
        <p:nvSpPr>
          <p:cNvPr id="5" name="Text 3"/>
          <p:cNvSpPr txBox="1"/>
          <p:nvPr/>
        </p:nvSpPr>
        <p:spPr>
          <a:xfrm>
            <a:off x="6766560" y="1691640"/>
            <a:ext cx="2743200" cy="274320"/>
          </a:xfrm>
          <a:prstGeom prst="rect">
            <a:avLst/>
          </a:prstGeom>
          <a:noFill/>
          <a:ln/>
        </p:spPr>
        <p:txBody>
          <a:bodyPr wrap="square" lIns="0" tIns="0" rIns="0" bIns="0" rtlCol="0" anchor="ctr"/>
          <a:lstStyle/>
          <a:p>
            <a:pPr indent="0" marL="0">
              <a:buNone/>
            </a:pPr>
            <a:r>
              <a:rPr lang="en-US" sz="1100" b="1" spc="200" kern="0" dirty="0">
                <a:solidFill>
                  <a:srgbClr val="11604F"/>
                </a:solidFill>
                <a:latin typeface="Arial" pitchFamily="34" charset="0"/>
                <a:ea typeface="Arial" pitchFamily="34" charset="-122"/>
                <a:cs typeface="Arial" pitchFamily="34" charset="-120"/>
              </a:rPr>
              <a:t>MITIGATION</a:t>
            </a:r>
            <a:endParaRPr lang="en-US" sz="1100" dirty="0"/>
          </a:p>
        </p:txBody>
      </p:sp>
      <p:sp>
        <p:nvSpPr>
          <p:cNvPr id="6" name="Shape 4"/>
          <p:cNvSpPr/>
          <p:nvPr/>
        </p:nvSpPr>
        <p:spPr>
          <a:xfrm>
            <a:off x="548640" y="2057400"/>
            <a:ext cx="5760720" cy="685800"/>
          </a:xfrm>
          <a:prstGeom prst="roundRect">
            <a:avLst>
              <a:gd name="adj" fmla="val 16000"/>
            </a:avLst>
          </a:prstGeom>
          <a:solidFill>
            <a:srgbClr val="EAF4EF"/>
          </a:solidFill>
          <a:ln w="12700">
            <a:solidFill>
              <a:srgbClr val="EAF4EF"/>
            </a:solidFill>
            <a:prstDash val="solid"/>
          </a:ln>
        </p:spPr>
      </p:sp>
      <p:sp>
        <p:nvSpPr>
          <p:cNvPr id="7" name="Text 5"/>
          <p:cNvSpPr txBox="1"/>
          <p:nvPr/>
        </p:nvSpPr>
        <p:spPr>
          <a:xfrm>
            <a:off x="777240" y="2057400"/>
            <a:ext cx="2011680" cy="68580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Slower innovation</a:t>
            </a:r>
            <a:endParaRPr lang="en-US" sz="1400" dirty="0"/>
          </a:p>
        </p:txBody>
      </p:sp>
      <p:sp>
        <p:nvSpPr>
          <p:cNvPr id="8" name="Text 6"/>
          <p:cNvSpPr txBox="1"/>
          <p:nvPr/>
        </p:nvSpPr>
        <p:spPr>
          <a:xfrm>
            <a:off x="2834640" y="2057400"/>
            <a:ext cx="3383280" cy="68580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Strict rules discourage experimentation</a:t>
            </a:r>
            <a:endParaRPr lang="en-US" sz="1200" dirty="0"/>
          </a:p>
        </p:txBody>
      </p:sp>
      <p:pic>
        <p:nvPicPr>
          <p:cNvPr id="9" name="Image 0" descr="preencoded.png">    </p:cNvPr>
          <p:cNvPicPr>
            <a:picLocks noChangeAspect="1"/>
          </p:cNvPicPr>
          <p:nvPr/>
        </p:nvPicPr>
        <p:blipFill>
          <a:blip r:embed="rId1"/>
          <a:stretch>
            <a:fillRect/>
          </a:stretch>
        </p:blipFill>
        <p:spPr>
          <a:xfrm>
            <a:off x="6382512" y="2258568"/>
            <a:ext cx="292608" cy="292608"/>
          </a:xfrm>
          <a:prstGeom prst="rect">
            <a:avLst/>
          </a:prstGeom>
        </p:spPr>
      </p:pic>
      <p:sp>
        <p:nvSpPr>
          <p:cNvPr id="10" name="Shape 7"/>
          <p:cNvSpPr/>
          <p:nvPr/>
        </p:nvSpPr>
        <p:spPr>
          <a:xfrm>
            <a:off x="6766560" y="2057400"/>
            <a:ext cx="4876495" cy="685800"/>
          </a:xfrm>
          <a:prstGeom prst="roundRect">
            <a:avLst>
              <a:gd name="adj" fmla="val 16000"/>
            </a:avLst>
          </a:prstGeom>
          <a:solidFill>
            <a:srgbClr val="0B2B26"/>
          </a:solidFill>
          <a:ln w="12700">
            <a:solidFill>
              <a:srgbClr val="0B2B26"/>
            </a:solidFill>
            <a:prstDash val="solid"/>
          </a:ln>
        </p:spPr>
      </p:sp>
      <p:sp>
        <p:nvSpPr>
          <p:cNvPr id="11" name="Text 8"/>
          <p:cNvSpPr txBox="1"/>
          <p:nvPr/>
        </p:nvSpPr>
        <p:spPr>
          <a:xfrm>
            <a:off x="6995160" y="2057400"/>
            <a:ext cx="448056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Innovation sandbox with a fixed resource budget</a:t>
            </a:r>
            <a:endParaRPr lang="en-US" sz="1300" dirty="0"/>
          </a:p>
        </p:txBody>
      </p:sp>
      <p:sp>
        <p:nvSpPr>
          <p:cNvPr id="12" name="Shape 9"/>
          <p:cNvSpPr/>
          <p:nvPr/>
        </p:nvSpPr>
        <p:spPr>
          <a:xfrm>
            <a:off x="548640" y="2862072"/>
            <a:ext cx="5760720" cy="685800"/>
          </a:xfrm>
          <a:prstGeom prst="roundRect">
            <a:avLst>
              <a:gd name="adj" fmla="val 16000"/>
            </a:avLst>
          </a:prstGeom>
          <a:solidFill>
            <a:srgbClr val="EAF4EF"/>
          </a:solidFill>
          <a:ln w="12700">
            <a:solidFill>
              <a:srgbClr val="EAF4EF"/>
            </a:solidFill>
            <a:prstDash val="solid"/>
          </a:ln>
        </p:spPr>
      </p:sp>
      <p:sp>
        <p:nvSpPr>
          <p:cNvPr id="13" name="Text 10"/>
          <p:cNvSpPr txBox="1"/>
          <p:nvPr/>
        </p:nvSpPr>
        <p:spPr>
          <a:xfrm>
            <a:off x="777240" y="2862072"/>
            <a:ext cx="2011680" cy="68580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Gaming the KPIs</a:t>
            </a:r>
            <a:endParaRPr lang="en-US" sz="1400" dirty="0"/>
          </a:p>
        </p:txBody>
      </p:sp>
      <p:sp>
        <p:nvSpPr>
          <p:cNvPr id="14" name="Text 11"/>
          <p:cNvSpPr txBox="1"/>
          <p:nvPr/>
        </p:nvSpPr>
        <p:spPr>
          <a:xfrm>
            <a:off x="2834640" y="2862072"/>
            <a:ext cx="3383280" cy="68580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Teams avoid AI to look efficient</a:t>
            </a:r>
            <a:endParaRPr lang="en-US" sz="1200" dirty="0"/>
          </a:p>
        </p:txBody>
      </p:sp>
      <p:pic>
        <p:nvPicPr>
          <p:cNvPr id="15" name="Image 1" descr="preencoded.png">    </p:cNvPr>
          <p:cNvPicPr>
            <a:picLocks noChangeAspect="1"/>
          </p:cNvPicPr>
          <p:nvPr/>
        </p:nvPicPr>
        <p:blipFill>
          <a:blip r:embed="rId2"/>
          <a:stretch>
            <a:fillRect/>
          </a:stretch>
        </p:blipFill>
        <p:spPr>
          <a:xfrm>
            <a:off x="6382512" y="3063240"/>
            <a:ext cx="292608" cy="292608"/>
          </a:xfrm>
          <a:prstGeom prst="rect">
            <a:avLst/>
          </a:prstGeom>
        </p:spPr>
      </p:pic>
      <p:sp>
        <p:nvSpPr>
          <p:cNvPr id="16" name="Shape 12"/>
          <p:cNvSpPr/>
          <p:nvPr/>
        </p:nvSpPr>
        <p:spPr>
          <a:xfrm>
            <a:off x="6766560" y="2862072"/>
            <a:ext cx="4876495" cy="685800"/>
          </a:xfrm>
          <a:prstGeom prst="roundRect">
            <a:avLst>
              <a:gd name="adj" fmla="val 16000"/>
            </a:avLst>
          </a:prstGeom>
          <a:solidFill>
            <a:srgbClr val="0B2B26"/>
          </a:solidFill>
          <a:ln w="12700">
            <a:solidFill>
              <a:srgbClr val="0B2B26"/>
            </a:solidFill>
            <a:prstDash val="solid"/>
          </a:ln>
        </p:spPr>
      </p:sp>
      <p:sp>
        <p:nvSpPr>
          <p:cNvPr id="17" name="Text 13"/>
          <p:cNvSpPr txBox="1"/>
          <p:nvPr/>
        </p:nvSpPr>
        <p:spPr>
          <a:xfrm>
            <a:off x="6995160" y="2862072"/>
            <a:ext cx="448056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Always pair efficiency KPIs with value KPIs</a:t>
            </a:r>
            <a:endParaRPr lang="en-US" sz="1300" dirty="0"/>
          </a:p>
        </p:txBody>
      </p:sp>
      <p:sp>
        <p:nvSpPr>
          <p:cNvPr id="18" name="Shape 14"/>
          <p:cNvSpPr/>
          <p:nvPr/>
        </p:nvSpPr>
        <p:spPr>
          <a:xfrm>
            <a:off x="548640" y="3666744"/>
            <a:ext cx="5760720" cy="685800"/>
          </a:xfrm>
          <a:prstGeom prst="roundRect">
            <a:avLst>
              <a:gd name="adj" fmla="val 16000"/>
            </a:avLst>
          </a:prstGeom>
          <a:solidFill>
            <a:srgbClr val="EAF4EF"/>
          </a:solidFill>
          <a:ln w="12700">
            <a:solidFill>
              <a:srgbClr val="EAF4EF"/>
            </a:solidFill>
            <a:prstDash val="solid"/>
          </a:ln>
        </p:spPr>
      </p:sp>
      <p:sp>
        <p:nvSpPr>
          <p:cNvPr id="19" name="Text 15"/>
          <p:cNvSpPr txBox="1"/>
          <p:nvPr/>
        </p:nvSpPr>
        <p:spPr>
          <a:xfrm>
            <a:off x="777240" y="3666744"/>
            <a:ext cx="2011680" cy="68580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Agent sprawl</a:t>
            </a:r>
            <a:endParaRPr lang="en-US" sz="1400" dirty="0"/>
          </a:p>
        </p:txBody>
      </p:sp>
      <p:sp>
        <p:nvSpPr>
          <p:cNvPr id="20" name="Text 16"/>
          <p:cNvSpPr txBox="1"/>
          <p:nvPr/>
        </p:nvSpPr>
        <p:spPr>
          <a:xfrm>
            <a:off x="2834640" y="3666744"/>
            <a:ext cx="3383280" cy="68580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Unused agents keep consuming resources</a:t>
            </a:r>
            <a:endParaRPr lang="en-US" sz="1200" dirty="0"/>
          </a:p>
        </p:txBody>
      </p:sp>
      <p:pic>
        <p:nvPicPr>
          <p:cNvPr id="21" name="Image 2" descr="preencoded.png">    </p:cNvPr>
          <p:cNvPicPr>
            <a:picLocks noChangeAspect="1"/>
          </p:cNvPicPr>
          <p:nvPr/>
        </p:nvPicPr>
        <p:blipFill>
          <a:blip r:embed="rId3"/>
          <a:stretch>
            <a:fillRect/>
          </a:stretch>
        </p:blipFill>
        <p:spPr>
          <a:xfrm>
            <a:off x="6382512" y="3867912"/>
            <a:ext cx="292608" cy="292608"/>
          </a:xfrm>
          <a:prstGeom prst="rect">
            <a:avLst/>
          </a:prstGeom>
        </p:spPr>
      </p:pic>
      <p:sp>
        <p:nvSpPr>
          <p:cNvPr id="22" name="Shape 17"/>
          <p:cNvSpPr/>
          <p:nvPr/>
        </p:nvSpPr>
        <p:spPr>
          <a:xfrm>
            <a:off x="6766560" y="3666744"/>
            <a:ext cx="4876495" cy="685800"/>
          </a:xfrm>
          <a:prstGeom prst="roundRect">
            <a:avLst>
              <a:gd name="adj" fmla="val 16000"/>
            </a:avLst>
          </a:prstGeom>
          <a:solidFill>
            <a:srgbClr val="0B2B26"/>
          </a:solidFill>
          <a:ln w="12700">
            <a:solidFill>
              <a:srgbClr val="0B2B26"/>
            </a:solidFill>
            <a:prstDash val="solid"/>
          </a:ln>
        </p:spPr>
      </p:sp>
      <p:sp>
        <p:nvSpPr>
          <p:cNvPr id="23" name="Text 18"/>
          <p:cNvSpPr txBox="1"/>
          <p:nvPr/>
        </p:nvSpPr>
        <p:spPr>
          <a:xfrm>
            <a:off x="6995160" y="3666744"/>
            <a:ext cx="448056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Named owners, lifecycle reviews, retirement</a:t>
            </a:r>
            <a:endParaRPr lang="en-US" sz="1300" dirty="0"/>
          </a:p>
        </p:txBody>
      </p:sp>
      <p:sp>
        <p:nvSpPr>
          <p:cNvPr id="24" name="Shape 19"/>
          <p:cNvSpPr/>
          <p:nvPr/>
        </p:nvSpPr>
        <p:spPr>
          <a:xfrm>
            <a:off x="548640" y="4471416"/>
            <a:ext cx="5760720" cy="685800"/>
          </a:xfrm>
          <a:prstGeom prst="roundRect">
            <a:avLst>
              <a:gd name="adj" fmla="val 16000"/>
            </a:avLst>
          </a:prstGeom>
          <a:solidFill>
            <a:srgbClr val="EAF4EF"/>
          </a:solidFill>
          <a:ln w="12700">
            <a:solidFill>
              <a:srgbClr val="EAF4EF"/>
            </a:solidFill>
            <a:prstDash val="solid"/>
          </a:ln>
        </p:spPr>
      </p:sp>
      <p:sp>
        <p:nvSpPr>
          <p:cNvPr id="25" name="Text 20"/>
          <p:cNvSpPr txBox="1"/>
          <p:nvPr/>
        </p:nvSpPr>
        <p:spPr>
          <a:xfrm>
            <a:off x="777240" y="4471416"/>
            <a:ext cx="2011680" cy="68580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Review cost</a:t>
            </a:r>
            <a:endParaRPr lang="en-US" sz="1400" dirty="0"/>
          </a:p>
        </p:txBody>
      </p:sp>
      <p:sp>
        <p:nvSpPr>
          <p:cNvPr id="26" name="Text 21"/>
          <p:cNvSpPr txBox="1"/>
          <p:nvPr/>
        </p:nvSpPr>
        <p:spPr>
          <a:xfrm>
            <a:off x="2834640" y="4471416"/>
            <a:ext cx="3383280" cy="68580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Checking efficiency consumes compute too</a:t>
            </a:r>
            <a:endParaRPr lang="en-US" sz="1200" dirty="0"/>
          </a:p>
        </p:txBody>
      </p:sp>
      <p:pic>
        <p:nvPicPr>
          <p:cNvPr id="27" name="Image 3" descr="preencoded.png">    </p:cNvPr>
          <p:cNvPicPr>
            <a:picLocks noChangeAspect="1"/>
          </p:cNvPicPr>
          <p:nvPr/>
        </p:nvPicPr>
        <p:blipFill>
          <a:blip r:embed="rId4"/>
          <a:stretch>
            <a:fillRect/>
          </a:stretch>
        </p:blipFill>
        <p:spPr>
          <a:xfrm>
            <a:off x="6382512" y="4672584"/>
            <a:ext cx="292608" cy="292608"/>
          </a:xfrm>
          <a:prstGeom prst="rect">
            <a:avLst/>
          </a:prstGeom>
        </p:spPr>
      </p:pic>
      <p:sp>
        <p:nvSpPr>
          <p:cNvPr id="28" name="Shape 22"/>
          <p:cNvSpPr/>
          <p:nvPr/>
        </p:nvSpPr>
        <p:spPr>
          <a:xfrm>
            <a:off x="6766560" y="4471416"/>
            <a:ext cx="4876495" cy="685800"/>
          </a:xfrm>
          <a:prstGeom prst="roundRect">
            <a:avLst>
              <a:gd name="adj" fmla="val 16000"/>
            </a:avLst>
          </a:prstGeom>
          <a:solidFill>
            <a:srgbClr val="0B2B26"/>
          </a:solidFill>
          <a:ln w="12700">
            <a:solidFill>
              <a:srgbClr val="0B2B26"/>
            </a:solidFill>
            <a:prstDash val="solid"/>
          </a:ln>
        </p:spPr>
      </p:sp>
      <p:sp>
        <p:nvSpPr>
          <p:cNvPr id="29" name="Text 23"/>
          <p:cNvSpPr txBox="1"/>
          <p:nvPr/>
        </p:nvSpPr>
        <p:spPr>
          <a:xfrm>
            <a:off x="6995160" y="4471416"/>
            <a:ext cx="448056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Log analysis first; sampled, small-model AI review</a:t>
            </a:r>
            <a:endParaRPr lang="en-US" sz="1300" dirty="0"/>
          </a:p>
        </p:txBody>
      </p:sp>
      <p:sp>
        <p:nvSpPr>
          <p:cNvPr id="30" name="Shape 24"/>
          <p:cNvSpPr/>
          <p:nvPr/>
        </p:nvSpPr>
        <p:spPr>
          <a:xfrm>
            <a:off x="548640" y="5276088"/>
            <a:ext cx="5760720" cy="685800"/>
          </a:xfrm>
          <a:prstGeom prst="roundRect">
            <a:avLst>
              <a:gd name="adj" fmla="val 16000"/>
            </a:avLst>
          </a:prstGeom>
          <a:solidFill>
            <a:srgbClr val="EAF4EF"/>
          </a:solidFill>
          <a:ln w="12700">
            <a:solidFill>
              <a:srgbClr val="EAF4EF"/>
            </a:solidFill>
            <a:prstDash val="solid"/>
          </a:ln>
        </p:spPr>
      </p:sp>
      <p:sp>
        <p:nvSpPr>
          <p:cNvPr id="31" name="Text 25"/>
          <p:cNvSpPr txBox="1"/>
          <p:nvPr/>
        </p:nvSpPr>
        <p:spPr>
          <a:xfrm>
            <a:off x="777240" y="5276088"/>
            <a:ext cx="2011680" cy="685800"/>
          </a:xfrm>
          <a:prstGeom prst="rect">
            <a:avLst/>
          </a:prstGeom>
          <a:noFill/>
          <a:ln/>
        </p:spPr>
        <p:txBody>
          <a:bodyPr wrap="square" lIns="0" tIns="0" rIns="0" bIns="0" rtlCol="0" anchor="ctr"/>
          <a:lstStyle/>
          <a:p>
            <a:pPr indent="0" marL="0">
              <a:buNone/>
            </a:pPr>
            <a:r>
              <a:rPr lang="en-US" sz="1400" b="1" dirty="0">
                <a:solidFill>
                  <a:srgbClr val="1C2B28"/>
                </a:solidFill>
                <a:latin typeface="Arial" pitchFamily="34" charset="0"/>
                <a:ea typeface="Arial" pitchFamily="34" charset="-122"/>
                <a:cs typeface="Arial" pitchFamily="34" charset="-120"/>
              </a:rPr>
              <a:t>Rebound effect</a:t>
            </a:r>
            <a:endParaRPr lang="en-US" sz="1400" dirty="0"/>
          </a:p>
        </p:txBody>
      </p:sp>
      <p:sp>
        <p:nvSpPr>
          <p:cNvPr id="32" name="Text 26"/>
          <p:cNvSpPr txBox="1"/>
          <p:nvPr/>
        </p:nvSpPr>
        <p:spPr>
          <a:xfrm>
            <a:off x="2834640" y="5276088"/>
            <a:ext cx="3383280" cy="685800"/>
          </a:xfrm>
          <a:prstGeom prst="rect">
            <a:avLst/>
          </a:prstGeom>
          <a:noFill/>
          <a:ln/>
        </p:spPr>
        <p:txBody>
          <a:bodyPr wrap="square" lIns="0" tIns="0" rIns="0" bIns="0" rtlCol="0" anchor="ctr"/>
          <a:lstStyle/>
          <a:p>
            <a:pPr indent="0" marL="0">
              <a:buNone/>
            </a:pPr>
            <a:r>
              <a:rPr lang="en-US" sz="1200" dirty="0">
                <a:solidFill>
                  <a:srgbClr val="1C2B28"/>
                </a:solidFill>
                <a:latin typeface="Calibri" pitchFamily="34" charset="0"/>
                <a:ea typeface="Calibri" pitchFamily="34" charset="-122"/>
                <a:cs typeface="Calibri" pitchFamily="34" charset="-120"/>
              </a:rPr>
              <a:t>Cheaper AI leads to more AI use overall</a:t>
            </a:r>
            <a:endParaRPr lang="en-US" sz="1200" dirty="0"/>
          </a:p>
        </p:txBody>
      </p:sp>
      <p:pic>
        <p:nvPicPr>
          <p:cNvPr id="33" name="Image 4" descr="preencoded.png">    </p:cNvPr>
          <p:cNvPicPr>
            <a:picLocks noChangeAspect="1"/>
          </p:cNvPicPr>
          <p:nvPr/>
        </p:nvPicPr>
        <p:blipFill>
          <a:blip r:embed="rId5"/>
          <a:stretch>
            <a:fillRect/>
          </a:stretch>
        </p:blipFill>
        <p:spPr>
          <a:xfrm>
            <a:off x="6382512" y="5477256"/>
            <a:ext cx="292608" cy="292608"/>
          </a:xfrm>
          <a:prstGeom prst="rect">
            <a:avLst/>
          </a:prstGeom>
        </p:spPr>
      </p:pic>
      <p:sp>
        <p:nvSpPr>
          <p:cNvPr id="34" name="Shape 27"/>
          <p:cNvSpPr/>
          <p:nvPr/>
        </p:nvSpPr>
        <p:spPr>
          <a:xfrm>
            <a:off x="6766560" y="5276088"/>
            <a:ext cx="4876495" cy="685800"/>
          </a:xfrm>
          <a:prstGeom prst="roundRect">
            <a:avLst>
              <a:gd name="adj" fmla="val 16000"/>
            </a:avLst>
          </a:prstGeom>
          <a:solidFill>
            <a:srgbClr val="0B2B26"/>
          </a:solidFill>
          <a:ln w="12700">
            <a:solidFill>
              <a:srgbClr val="0B2B26"/>
            </a:solidFill>
            <a:prstDash val="solid"/>
          </a:ln>
        </p:spPr>
      </p:sp>
      <p:sp>
        <p:nvSpPr>
          <p:cNvPr id="35" name="Text 28"/>
          <p:cNvSpPr txBox="1"/>
          <p:nvPr/>
        </p:nvSpPr>
        <p:spPr>
          <a:xfrm>
            <a:off x="6995160" y="5276088"/>
            <a:ext cx="448056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Budgets cap total use; footprint stays visible</a:t>
            </a:r>
            <a:endParaRPr lang="en-US" sz="1300" dirty="0"/>
          </a:p>
        </p:txBody>
      </p:sp>
      <p:sp>
        <p:nvSpPr>
          <p:cNvPr id="36" name="Text 29"/>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5E6E6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more AI, but the right AI</dc:title>
  <dc:subject>PptxGenJS Presentation</dc:subject>
  <dc:creator>PptxGenJS</dc:creator>
  <cp:lastModifiedBy>PptxGenJS</cp:lastModifiedBy>
  <cp:revision>1</cp:revision>
  <dcterms:created xsi:type="dcterms:W3CDTF">2026-10-01T09:41:51Z</dcterms:created>
  <dcterms:modified xsi:type="dcterms:W3CDTF">2026-10-01T09:41:51Z</dcterms:modified>
</cp:coreProperties>
</file>